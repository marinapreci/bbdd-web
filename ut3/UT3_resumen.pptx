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07bd99e7-acf1-14ed-28ba-a2e93670d5f0}">
          <p14:sldIdLst>
            <p14:sldId id="256"/>
            <p14:sldId id="257"/>
          </p14:sldIdLst>
        </p14:section>
        <p14:section name="01 · El modelo relacional" id="{fcd46d7a-9be6-a1ef-7f35-9b5a1c6c5abe}">
          <p14:sldIdLst>
            <p14:sldId id="258"/>
            <p14:sldId id="259"/>
            <p14:sldId id="260"/>
            <p14:sldId id="261"/>
            <p14:sldId id="262"/>
            <p14:sldId id="263"/>
            <p14:sldId id="264"/>
            <p14:sldId id="265"/>
            <p14:sldId id="266"/>
            <p14:sldId id="267"/>
            <p14:sldId id="268"/>
            <p14:sldId id="269"/>
          </p14:sldIdLst>
        </p14:section>
        <p14:section name="02 · Claves" id="{f8f05acc-3563-bc2c-0baf-7ad0a546ebd8}">
          <p14:sldIdLst>
            <p14:sldId id="270"/>
            <p14:sldId id="271"/>
            <p14:sldId id="272"/>
            <p14:sldId id="273"/>
            <p14:sldId id="274"/>
            <p14:sldId id="275"/>
            <p14:sldId id="276"/>
            <p14:sldId id="277"/>
            <p14:sldId id="278"/>
          </p14:sldIdLst>
        </p14:section>
        <p14:section name="03 · Restricciones e integridad referencial" id="{f9c7d7c9-80c2-2fdc-4c7f-0e19c58c9213}">
          <p14:sldIdLst>
            <p14:sldId id="279"/>
            <p14:sldId id="280"/>
            <p14:sldId id="281"/>
            <p14:sldId id="282"/>
            <p14:sldId id="283"/>
            <p14:sldId id="284"/>
            <p14:sldId id="285"/>
            <p14:sldId id="286"/>
          </p14:sldIdLst>
        </p14:section>
        <p14:section name="04 · Paso a tablas: reglas básicas" id="{7f5bc291-640a-dd61-7939-a806288b8c49}">
          <p14:sldIdLst>
            <p14:sldId id="287"/>
            <p14:sldId id="288"/>
            <p14:sldId id="289"/>
            <p14:sldId id="290"/>
            <p14:sldId id="291"/>
            <p14:sldId id="292"/>
            <p14:sldId id="293"/>
            <p14:sldId id="294"/>
            <p14:sldId id="295"/>
            <p14:sldId id="296"/>
            <p14:sldId id="297"/>
            <p14:sldId id="298"/>
            <p14:sldId id="299"/>
          </p14:sldIdLst>
        </p14:section>
        <p14:section name="05 · Reflexivas, ternarias y jerarquías" id="{7c443777-9c65-9317-1b31-4b88dcb97eea}">
          <p14:sldIdLst>
            <p14:sldId id="300"/>
            <p14:sldId id="301"/>
            <p14:sldId id="302"/>
            <p14:sldId id="303"/>
            <p14:sldId id="304"/>
            <p14:sldId id="305"/>
            <p14:sldId id="306"/>
          </p14:sldIdLst>
        </p14:section>
        <p14:section name="06 · Dependencias funcionales" id="{c80acf4b-4423-72c9-9d4e-3b673b03bca1}">
          <p14:sldIdLst>
            <p14:sldId id="307"/>
            <p14:sldId id="308"/>
            <p14:sldId id="309"/>
            <p14:sldId id="310"/>
          </p14:sldIdLst>
        </p14:section>
        <p14:section name="07 · Formas normales: 1FN a FNBC" id="{25e4c257-9c8c-e001-1292-138c98a69fcc}">
          <p14:sldIdLst>
            <p14:sldId id="311"/>
            <p14:sldId id="312"/>
            <p14:sldId id="313"/>
            <p14:sldId id="314"/>
            <p14:sldId id="315"/>
            <p14:sldId id="316"/>
          </p14:sldIdLst>
        </p14:section>
        <p14:section name="08 · Ejemplo completo: StarVoice" id="{ab415249-85e0-68a9-7764-ae8a36efcaf4}">
          <p14:sldIdLst>
            <p14:sldId id="317"/>
          </p14:sldIdLst>
        </p14:section>
        <p14:section name="En resumen" id="{28d49434-d542-b223-937f-93c38da632a7}">
          <p14:sldIdLst>
            <p14:sldId id="3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 Databases · 1st year DAM bilingual programme
Logical design
EN: Unit 3 · Databases · 1st year DAM bilingual programme Logical design Relational model, mapping to tables and normalisation Marina Preciados Agapito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Contents
What we'll cover
EN: Contents What we'll cover 01 The relational model 02 Keys 03 Constraints and referential integrity 04 Mapping to tables: the basic rules 05 Reflexive, ternary and hierarchies 06 Functional dependencies 07 Normal forms: 1NF to BCNF 08 Complete example: StarVoice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From diagrams to tables
EN: 01 — The relational model From diagrams to tables 1 · conceptual E/R model → 2 · logical Relational model → 3 Normalisation → 4 · physical SQL in a DBMS In Unit 2 we drew the problem; now we translate it into tables a relational DBMS understands, and check those tables don't store data clumsily. This unit is the bridge between the drawing and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A relation is a table
EN: The relational model represents the database as a set of interrelated relations. Each relation is a table: every column is an attribute and every row is a tuple (or record). Each cell holds a value. The primary key (here NIF) identifies each tuple.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Relational model terminology
EN: Tuple: each row of a table, also called a record. Attribute: each column of a table (name, date, code...). Domain: the range of possible values of an attribute, e.g. integers for a code, any text string for a name. Degree: the number of attributes. Cardinality: the number of tuples, i.e. the number of records in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Three vocabularies for the same thing
EN: 01 — The relational model Three vocabularies for the same thing RELATIONAL Relation · tuple · attribute Codd's formal language: a relation is a set of tuples; each attribute takes values from a domain. TABLE Table · row · column The vocabulary of SQL and everyday work: the one we'll mostly use. FILE File · record · field The vocabulary of the physical level, inherited from files: it appears when we talk about storage. Degree = number of attributes (columns). Cardinality = number of tuples (rows). Domain = a data type and the range of values allowed for an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The domain is the data type
EN: Every attribute has a domain: the set of values its rows can take, determined by its data type. Numbers (integer and decimal), character strings, dates and times, logical values and objects. In FILM, the domain of TITLE is text and that of YEAR and DURATION, integers. In SQL: CHAR(n), VARCHAR(n), INT, NUMERIC(p,s), DATE,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Degree, cardinality and domain
EN: ? Individual activity Degree, cardinality and domain BOOK isbn title year price A-101 Don Quijote 1605 12.5 A-102 La Regenta 1885 14.0 B-201 Rayuela 1963 11.9 B-202 Pedro Páramo 1955 9.5 Degree and cardinality of the relation? What reasonable domain would you give anio and precio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Four and four (by chance)
EN: ✓ Solution Four and four (by chance) DEGREE 4 — isbn, titulo, anio, precio. CARDINALITY 4 tuples. They match by chance: nothing to do with the degree. DOMAINS anio : integer between 1400 and the current year. precio : decimal ≥ 0 with two decimals.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Test yourself: vehicles
EN: Which relational-model term do the names Brand, Model, Year and Price belong to? a) Attribute b) Tuple c) Title 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Test yourself: the museum
EN: MUSEUM: what are the degree and the cardinality? The relation name, the attributes, the tuples? A reasonable domain for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Attributes, degree 4, cardinality 3
EN: Vehicles: Brand, Model, Year and Price are attributes (column names); the rows are tuples. Museum: relation MUSEUM, degree 4 (Name, Address, Area, Rooms), cardinality 3 (three museums); domain of Rooms: integers &gt;=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Properties of a relation (I)
EN: 01 — The relational model Properties of a relation (I): distinct name; fixed number of attributes; distinct attribute names; one domain per attribute.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relational model
Properties of a relation (II)
EN: 01 — The relational model Properties of a relation (II): atomic values; no duplicate tuples; column order does not matter; row order does not matter. If a table breaks any of the eight, it is not a relation in the strict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What a key is and how to classify it
EN: A key is an attribute, or a set of attributes, that uniquely identifies a tuple. Simple key: one attribute (a person's ID). Composite key: two or more attributes (ID + Code in ENROLLED). Primary keys can never be null. By type: primary, candidate, alternate or foreign.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Four kinds of key
EN: 02 — Keys Four kinds of key CANDIDATE Attribute or set that identifies each row unambiguously. Every table has at least one. PRIMARY The chosen candidate. Unique and never null . Only one per table. ALTERNATE The candidates not chosen. In SQL: UNIQUE NOT NULL . FOREIGN Attribute pointing to another table's primary key (or the same table's). It can be null. Choosing the primary key depends on context: short, stable and always present. If no candidate fits, an artificial one ( id ) is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Choosing the primary key
EN: The primary key uniquely identifies the tuples of a relation. Which of these fields works? ID is unique and mandatory: it is the key. First name and surname repeat (there are two Andrés): they identify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Candidates and alternates
EN: Candidate keys: attributes that qualify to be the primary key (here PlateNo and EngineNo). Primary key: the chosen one, PlateNo. Alternate key: the candidate that was not chosen, EngineNo. A car can be identified by its plate number or by its engine number. In SQL, alternates are declared UNIQUE NOT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Foreign key: two examples
EN: The foreign key (FK) is an attribute, or set of attributes, that is the primary key of another relation. CITY.Country points to COUNTRY and PRODUCTS.TaxID to SUPPLIERS: they only accept values that exist in the origin table (referential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Keys
The foreign key in action
EN: 02 — Keys The foreign key in action Each player stores only the number of their team: the name and city aren't repeated. The arrow goes from the foreign key to the primary key it points to. NULL is neither 0 nor empty: it's the absence of a value . A null foreign key means “no team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Test yourself: keys (I)
EN: Which field of PERSON is the primary key? Which fields of CLIENT qualify as candidate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Test yourself: keys (II)
EN: Which attribute is a foreign key? What do we call the set of attributes that are the primary key of another relation and must be related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Four answers
EN: Primary: ID. Candidates: client code and ID. Foreign key: client code in ORDER. The set of attributes that are the primary key of another relation is called a foreign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Constraints
Null values
EN: The null value (NULL) is the absence of a value in an attribute of a tuple. NULL is not 0: the skimmed milk has sold 0 units; for the napkin pack we know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Constraints
Inherent restrictions and integrity rules
EN: Integrity is one of the goals of every DBMS. Inherent restrictions belong to the model: one value per cell; no order among tuples or attributes; all tuples distinct; entity integrity (no primary key attribute can be NULL); referential integrity (every foreign key matches an existing primary key or is entirely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Constraints
Rules the model imposes
EN: 03 — Constraints Rules the model imposes PRIMARY KEY Identifies the row: unique, never-null values. UNIQUE Doesn't repeat across rows (it may be empty). NOT NULL The attribute can't be left empty. UNIQUE + NOT NULL Alternate key: most DBMS have no dedicated marker. FOREIGN KEY Only admits values that exist as a primary key in the target table (or null). CHECK Logical condition: salary &gt; 1000 , start_date &lt; end_date . TRIGGER Code that runs on an event: the most powerful constraint (and the costliest). What the schema can't express —for example a (2,N) minimum— is enforced with a trigger or from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Constraints
Referential integrity: deleting and updating
EN: 03 — Constraints Referential integrity: deleting and updating NO ACTION / RESTRICT Rejects the operation if rows depend on the affected key. The default policy. CASCADE Propagates the change: deleting the main row deletes the dependents; changing the key updates them. SET NULL Dependents survive with the foreign key set to NULL . Only if it allows nulls. SET DEFAULT Dependents switch to a default value (which must exist in the main table). Rule of thumb: the weak depends on the strong, so an employee's child uses CASCADE ; a rental shouldn't vanish with its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What does the DBMS accept?
EN: ? Individual activity What does the DBMS accept? CUSTOMER customer_code name 1 Josu 2 Ana RENTAL rental_code date customer_code 1 03/05 1 2 10/06 1 3 22/06 2 ALQUILER.cod_cliente is a foreign key to CLIENTE with NO ACTION and allows nulls. Delete customer 2. Insert rental 4 for customer 7. Insert rental 4 with a null cod_cliente . Change customer 1's code to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Rejected, rejected, accepted, rejected
EN: ✓ Solution Rejected, rejected, accepted, rejected 1 · REJECTED Customer 2 has rental 3: with NO ACTION a referenced primary key can't be deleted. 2 · REJECTED Customer 7 doesn't exist: a foreign key only admits existing values. 3 · ACCEPTED A foreign key may be null (rental not linked yet), unless NOT NULL . 4 · REJECTED Rentals 1 and 2 would be left pointing at a non-existent customer. With CASCADE , deleting customer 1 would delete rentals 1 and 2; with SET NULL , they'd keep existing with cod_cliente = NULL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activity
Keys of PERSON
EN: 👥 Team activity Keys of PERSON PERSON(dni, nss, email, nombre, telefono) . The dni and nss are unique; the email is also unique and every user has one; the nombre may repeat; the telefono is optional. Which are the candidate keys? Choose the primary; what are the others? Write the CREATE TABLE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Three candidates, one primary
EN: ✓ Solution Three candidates, one primary Candidates: dni, nss and email (unique, always present). Primary: dni (short, stable). nss and email are alternates. The phone is optional: no NOT NULL . CREATE TABLE person ( dni CHAR(9) PRIMARY KEY, nss CHAR(12) NOT NULL UNIQUE, email VARCHAR(100) NOT NULL UNIQUE, nombre VARCHAR(80) NOT NULL, telefono VARCHAR(15)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First, clean up the E/R
EN: 04 — Mapping to tables First, clean up the E/R COMPOSITE They're split nombre_completo becomes nombre , apellido1 and apellido2 . MULTI-VALUED They become an entity If email takes several values: an EMAIL entity related 1:N to EMPLOYEE. DERIVED They aren't stored age is calculated when querying; storing it invites inconsistencies. Then one question solves almost everything: look at what is drawn next to each entity (the N and the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Rules 1 and 2: entities
EN: 04 — Mapping to tables Rules 1 and 2: entities EMPLOYEE ( tax_id , name) CHILD ( employee_tax_id , child_name , birth_date) underlined = primary key · italic = foreign key · dashed = unique Strong → one table; its identifier is the primary key. Weak → a table with all its attributes plus the strong entity's key (foreign), which becomes part of its key together with the partial identifier. Usually with ON DELETE CASCADE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Rule 1 with a data dictionary
EN: Every entity becomes one table: compact form with just the names, or a data dictionary giving the meaning, type and integrity rule of every attribute (ID: 9 digits and a letter; Name; Phone: 9 digits starting with 9, 8, 7 or 6; Email: name@domain.ext without spaces or accents).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Rule 3: N:M is always a table
EN: 04 — Mapping to tables Rule 3: N:M is always a table STUDENT ( dni , name) SUBJECT ( subject_code , name) TAKES ( dni , subject_code , grade) underlined = primary key · italic = foreign key · dashed = unique The primary key is the union of the two foreign keys . If history must be kept (the same pair repeating on different dates), the date joins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N:M: students and subjects
EN: A new table with the primary keys of the entities it associates; its key is the concatenation of both. If the relationship has attributes (Date), they go to that table. Without attributes: ENROLLED(ID,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Rule 4: 1:N, the key travels to the “many” side
EN: 04 — Mapping to tables Rule 4: 1:N, the key travels to the “many” side DEPARTMENT ( dept_code , name) EMPLOYEE ( dni , name, dept_code ) underlined = primary key · italic = foreign key · dashed = unique The N is drawn next to EMPLEADO: that's where the key travels. Since (1,1) is drawn next to DEPARTAMENTO, cod_dep is NOT NULL ; with (0,1) it would allow nulls. A table of its own only for many nulls, a likely future N:M, or relationship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1:N: students and schools
EN: The key of the "1" side (SCHOOL) is added to the table of the "N" side (STUDENTS); relationship attributes also go to the N side. Alternative: treat it as N:M, with the ENROLLED table shown below.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Rule 5: 1:1, the key goes where the (0,1) is drawn
EN: 04 — Mapping to tables Rule 5: 1:1, the key goes where the (0,1) is drawn EMPLOYEE ( tax_id , name) DEPARTMENT ( dept_code , name, director_dni ) underlined = primary key · italic = foreign key · dashed = unique Drawn: (1,1) next to EMPLEADO and (0,1) next to DEPARTAMENTO. The foreign key goes in DEPARTMENT, which has the (0,1) next to it, NOT NULL and UNIQUE (dashed underline). With two (1,1), in either; with two (0,1), a table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 — Mapping to tables
1:1: students and lockers
EN: (1,1) and (1,1): add the key of one entity to the other, either one. (0,1) and (1,1): the foreign key goes in the entity without optionality. (0,1) and (0,1): a new table as in N:M, UTILIZA(ID, Code), with one of the two keys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activity
Custom bedrooms
EN: 👥 Team activity Custom bedrooms For each model we need its code; for each fitter , tax ID, name, address and phone. Each model must be fitted by at least two fitters, and a fitter can fit several models, even the same one on different dates (date and quantity fitted matter). For each customer : tax ID, name, address and phone; they buy several models, with a purchase date. Convert to tables. Is there any rule in the statement the schema can't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Two N:M... and a rule that slips away
EN: ✓ Solution Two N:M... and a rule that slips away MODEL ( model_code ) FITTER ( tax_id , name, address, phone) CUSTOMER ( tax_id , name, address, phone) FITS ( fitter_tax_id , model_code , date , quantity) PURCHASE ( customer_tax_id , model_code , purchase_date ) underlined = primary key · italic = foreign key · dashed = unique (2,N) —“at least two fitters per model”— can't be expressed with tables and keys: it's checked with a trigger or from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Map to tables: student and course
EN: Write the tables of the left diagram (N:1) and of the right one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N:1 without a new table, N:M with one
EN: N:1: the key of COURSE travels to STUDENT. N:M: a new table ATTENDEES holds both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Reflexive: the key repeats under another name
EN: 05 — Special cases Reflexive: the key repeats under another name EMPLOYEE ( dni , name, boss_dni ) underlined = primary key · italic = foreign key · dashed = unique It's treated like a binary one: an employee has at most one boss, so the foreign key dni_jefe points to the same table and allows nulls (the director has no boss).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Reflexive: 1:N and N:M
EN: 1:N: a single table, with the primary key repeated as a foreign key. N:M: two tables, the entity and the relationship, with both foreign keys and the relationship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Ternary: three foreign keys
EN: 05 — Special cases Ternary: three foreign keys SEES ( doctor_code , patient_code , room_code ) underlined = primary key · italic = foreign key · dashed = unique The relationship becomes a table with the three keys. The primary key is made of the keys of the entities with maximum N: with N:N:N, all three; with 1:N:N the 1-side key is dropped; with 1:1:N, the N key plus any one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ISA hierarchies: three options
EN: 05 — Special cases ISA hierarchies: three options OPTION 1 A single table All attributes together plus a type column. Simple but full of nulls. Fine if subtypes barely differ. OPTION 2 A table per entity Supertype + one table per subtype holding the supertype's key (PK and FK). The most general: also works if overlapping. OPTION 3 Subtypes only Each subtype inherits the parent's attributes; the supertype disappears. Only if total and exclusive and it has no relationships of its own. The total part of a hierarchy (“every employee is a programmer or salesperson”) isn't guaranteed by any key: it's watched with a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Hierarchies: the vehicles example
EN: One table per entity: a 1:1 relationship between the supertype and each subtype; each subentity is identified with a foreign key pointing to the supertype primary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Vehicles: only subtypes or a single table
EN: Only subtypes: common attributes repeat in every table; access is faster; removes the supertype in total, exclusive hierarchies. Single table: all attributes plus a discriminator (type); valid for any hierarchy.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Special cases
Cheat sheet: what becomes what
EN: 05 — Special cases Cheat sheet: what becomes what Strong entity Table; identifier → primary key. Weak entity Table with the strong entity's key (foreign) + partial identifier. Composite / multi-valued / derived Split / new entity / not stored. N:M New table; key = union of the two foreign keys. 1:N The “one” key becomes a foreign key in the table of the entity that has the N drawn next to it. 1:1 Depends on the minimums: the key goes in the entity that always participates, the one with the (0,1) drawn next to it. Two (1,1): either. Two (0,1): own table. Reflexive Like the binary, with the key repeated under another name. Ternary Table with three foreign keys; primary key by the maximum N's. ISA A single table (C), one per entity (A) or subtypes only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 Normalisation
A badly designed table, in action
EN: 06 — Normalisation A badly designed table, in action ORDER order_id customer city product price 1 Marta Cáceres Teclado 25 2 Marta Cáceres Ratón 12 3 Iván Mérida Teclado 25 UPDATE Marta moves: two rows to change. Miss one and she lives in two cities. INSERT A customer with no order can't be added: the key is id_pedido . DELETE Cancelling order 3 erases forever that Iván exists and lives in Mérida. Same root: the table mixes distinct facts (customer, product, order). Splitting them into separate tables is, exactly, normalising.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 — Normalisation
Functional dependencies
EN: 06 — Normalisation Functional dependencies X → Y Functional dependency If you know X, you know Y: dni → name , plate → model . name → dni doesn't hold: two people can share a name. FULL / PARTIAL With a composite key Full: depends on the whole key. Partial: only on part of it. In LOAN(userId, bookId, …) , userName depends only on userId . TRANSITIVE A → B → C dni → city → province : the province depends on the DNI only “through” the city. Determinant = what's on the left of the arrow. Key = a determinant that determines all the other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Analyse the dependencies
EN: ? Individual activity Analyse the dependencies LINEA(id_pedido, id_producto, nombre_producto, cantidad, id_cliente, ciudad_cliente) , key (id_pedido, id_producto) . Each order belongs to one customer; each customer lives in one city; each product has a name. Write the functional dependencies. Classify them: full, partial or transitive. Which normal form is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It's in 1NF, but not in 2NF
EN: ✓ Solution It's in 1NF, but not in 2NF (id_pedido, id_producto) → cantidad : full . id_producto → nombre_producto : partial . id_pedido → id_cliente : partial . id_cliente → ciudad_cliente : with the previous one, ciudad_cliente depends on id_pedido transitively (and partially). Atomic values → 1NF. The partial dependencies rule out 2NF.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 Normal forms
Each form contains the previous one
EN: 07 — Normal forms Each form contains the previous one 1NF Atomic values: no lists in a cell, no repeating groups. 2NF 1NF + no attribute depends on just part of the key. (Only matters with composite keys.) 3NF 2NF + no transitive dependency among non-key attributes. BCNF Every determinant is a candidate key. Catches what 3NF lets through. Minimum goal: reach 3NF . Beyond that there are 4NF, 5NF and DKNF, rarely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 Normal forms
The method: two parts, then repeat
EN: 07 — Normal forms The method: two parts, then repeat 1 What complies: a table with the original key → 2 What escapes: a new table with its determinant as key → 3 Check the new one and repeat if needed → 4 Rename with meaningful names It works the same for 1NF, 2NF and 3NF: each time, what breaks the rule moves to a table of its own together with its determinant.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activity
Students and subjects
EN: 👥 Team activity Students and subjects ALUMNOS(dni, apellidos, nombre, direccion, ciudad, provincia, com_aut, codigo, asignatura, nota) , key (dni, codigo) . Each city is in one province and each province in one community; each subject code has one name; the grade belongs to one student in one subject. Normalise up to 3NF, explaining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1NF → 2NF → 3NF
EN: ✓ Solution 1NF → 2NF → 3NF 1NF The student's data would repeat per subject: split out ALUMNOS_ASIGNATURAS(dni, codigo, asignatura, nota) . 2NF asignatura depends only on codigo (partial): out goes ASIGNATURAS(codigo, asignatura) . 3NF dni → city → province → community : out goes CIUDAD , and again PROVINCIA . PROVINCE ( province , aut_community) CITY ( city , province ) STUDENTS ( dni , surnames, name, address, city ) SUBJECTS ( code , subject) STUDENT_SUBJECTS ( dni , code ,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 activity
A case 3NF doesn't detect
EN: ? Individual activity A case 3NF doesn't detect REPAIR(cliente, tipo, mecanico) . Each mechanic specialises in a single type of repair and, for each type, each customer is always attended by the same mechanic. REPAIR customer type mechanic Marta frenos Ruiz Iván frenos Ruiz Marta motor Soto Lucía motor Soto FDs and candidate keys. 3NF? BCNF? Decompose it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In 3NF yes, in BCNF no
EN: ✓ Solution In 3NF yes, in BCNF no (cliente, tipo) → mecanico and mecanico → tipo . Candidates: (cliente, tipo) and (cliente, mecanico) . 3NF: every attribute is part of some key. Not BCNF: mecanico determines the type and isn't a key. MECHANIC ( mechanic , type) CUSTOMER_MECHANIC ( customer , mechanic ) underlined = primary key · italic = foreign key · dashed = unique Joining both tables on mecanico gets back exactly the original rows: no information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 Complete example
StarVoice in seven tables
EN: 08 — Complete example StarVoice in seven tables Three 1:N (the key travels), one N:M ( COMMENTS ) and the hierarchy as option 2. All in 3NF, in fact BCNF. What isn't guaranteed: that every contestant is in SOLOIST or DUO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Five ideas to take away
EN: In summary Five ideas to take away The relational model organises data into tables of rows (tuples) and columns (attributes), each with its domain. Keys identify rows (candidate, primary, alternate) and link tables (foreign, which can be null). Mapping to tables N:M → new table; 1:N → the key goes to the table with the N next to it; 1:1 → to the table with the (0,1) next to it. Normalising means splitting distinct facts into distinct tables: 1NF atomic, 2NF no partials, 3NF no transitives, BCNF every determinant is a key. A schema doesn't say it all minimums like (2,N) or “total” in an ISA are enforced with triggers or from the application. Summary built from Unit 3 · Logical design — Databases, 1st year DAM — Marina Preciados Agapito.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image-1006-2.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image-1007-2.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image-1010-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3">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10604297" y="0"/>
            <a:ext cx="1587398" cy="1586484"/>
          </a:xfrm>
          <a:prstGeom prst="rect">
            <a:avLst/>
          </a:prstGeom>
        </p:spPr>
      </p:pic>
      <p:pic>
        <p:nvPicPr>
          <p:cNvPr id="3" name="Image 1" descr="Decoración">    </p:cNvPr>
          <p:cNvPicPr>
            <a:picLocks noChangeAspect="1"/>
          </p:cNvPicPr>
          <p:nvPr/>
        </p:nvPicPr>
        <p:blipFill>
          <a:blip r:embed="rId2"/>
          <a:stretch>
            <a:fillRect/>
          </a:stretch>
        </p:blipFill>
        <p:spPr>
          <a:xfrm>
            <a:off x="0" y="5901538"/>
            <a:ext cx="957377" cy="956462"/>
          </a:xfrm>
          <a:prstGeom prst="rect">
            <a:avLst/>
          </a:prstGeom>
        </p:spPr>
      </p:pic>
      <p:sp>
        <p:nvSpPr>
          <p:cNvPr id="4" name="Text 0"/>
          <p:cNvSpPr/>
          <p:nvPr>
            <p:ph idx="102" type="body" hasCustomPrompt="1"/>
          </p:nvPr>
        </p:nvSpPr>
        <p:spPr>
          <a:xfrm>
            <a:off x="685800" y="384048"/>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7315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4">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10815523" y="5480914"/>
            <a:ext cx="1376172" cy="1377086"/>
          </a:xfrm>
          <a:prstGeom prst="rect">
            <a:avLst/>
          </a:prstGeom>
        </p:spPr>
      </p:pic>
      <p:pic>
        <p:nvPicPr>
          <p:cNvPr id="3" name="Image 1" descr="Decoración">    </p:cNvPr>
          <p:cNvPicPr>
            <a:picLocks noChangeAspect="1"/>
          </p:cNvPicPr>
          <p:nvPr/>
        </p:nvPicPr>
        <p:blipFill>
          <a:blip r:embed="rId2"/>
          <a:stretch>
            <a:fillRect/>
          </a:stretch>
        </p:blipFill>
        <p:spPr>
          <a:xfrm>
            <a:off x="0" y="0"/>
            <a:ext cx="1061618" cy="1061618"/>
          </a:xfrm>
          <a:prstGeom prst="rect">
            <a:avLst/>
          </a:prstGeom>
        </p:spPr>
      </p:pic>
      <p:sp>
        <p:nvSpPr>
          <p:cNvPr id="4" name="Text 0"/>
          <p:cNvSpPr/>
          <p:nvPr>
            <p:ph idx="102" type="body" hasCustomPrompt="1"/>
          </p:nvPr>
        </p:nvSpPr>
        <p:spPr>
          <a:xfrm>
            <a:off x="685800" y="384048"/>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7315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6">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10815523" y="0"/>
            <a:ext cx="1376172" cy="1377086"/>
          </a:xfrm>
          <a:prstGeom prst="rect">
            <a:avLst/>
          </a:prstGeom>
        </p:spPr>
      </p:pic>
      <p:pic>
        <p:nvPicPr>
          <p:cNvPr id="3" name="Image 1" descr="Decoración">    </p:cNvPr>
          <p:cNvPicPr>
            <a:picLocks noChangeAspect="1"/>
          </p:cNvPicPr>
          <p:nvPr/>
        </p:nvPicPr>
        <p:blipFill>
          <a:blip r:embed="rId2"/>
          <a:stretch>
            <a:fillRect/>
          </a:stretch>
        </p:blipFill>
        <p:spPr>
          <a:xfrm>
            <a:off x="0" y="5691226"/>
            <a:ext cx="1166774" cy="1166774"/>
          </a:xfrm>
          <a:prstGeom prst="rect">
            <a:avLst/>
          </a:prstGeom>
        </p:spPr>
      </p:pic>
      <p:sp>
        <p:nvSpPr>
          <p:cNvPr id="4" name="Text 0"/>
          <p:cNvSpPr/>
          <p:nvPr>
            <p:ph idx="102" type="body" hasCustomPrompt="1"/>
          </p:nvPr>
        </p:nvSpPr>
        <p:spPr>
          <a:xfrm>
            <a:off x="685800" y="384048"/>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7315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2">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0" y="0"/>
            <a:ext cx="1482242" cy="1482242"/>
          </a:xfrm>
          <a:prstGeom prst="rect">
            <a:avLst/>
          </a:prstGeom>
        </p:spPr>
      </p:pic>
      <p:sp>
        <p:nvSpPr>
          <p:cNvPr id="3" name="Text 0"/>
          <p:cNvSpPr/>
          <p:nvPr>
            <p:ph idx="101" type="body" hasCustomPrompt="1"/>
          </p:nvPr>
        </p:nvSpPr>
        <p:spPr>
          <a:xfrm>
            <a:off x="685800" y="1097280"/>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4" name="Text 0"/>
          <p:cNvSpPr/>
          <p:nvPr>
            <p:ph idx="102" type="title" hasCustomPrompt="1"/>
          </p:nvPr>
        </p:nvSpPr>
        <p:spPr>
          <a:xfrm>
            <a:off x="685800" y="14173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5">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0" y="0"/>
            <a:ext cx="1482242" cy="1482242"/>
          </a:xfrm>
          <a:prstGeom prst="rect">
            <a:avLst/>
          </a:prstGeom>
        </p:spPr>
      </p:pic>
      <p:pic>
        <p:nvPicPr>
          <p:cNvPr id="3" name="Image 1" descr="Decoración">    </p:cNvPr>
          <p:cNvPicPr>
            <a:picLocks noChangeAspect="1"/>
          </p:cNvPicPr>
          <p:nvPr/>
        </p:nvPicPr>
        <p:blipFill>
          <a:blip r:embed="rId2"/>
          <a:stretch>
            <a:fillRect/>
          </a:stretch>
        </p:blipFill>
        <p:spPr>
          <a:xfrm>
            <a:off x="11340389" y="6006694"/>
            <a:ext cx="851306" cy="851306"/>
          </a:xfrm>
          <a:prstGeom prst="rect">
            <a:avLst/>
          </a:prstGeom>
        </p:spPr>
      </p:pic>
      <p:sp>
        <p:nvSpPr>
          <p:cNvPr id="4" name="Text 0"/>
          <p:cNvSpPr/>
          <p:nvPr>
            <p:ph idx="102" type="body" hasCustomPrompt="1"/>
          </p:nvPr>
        </p:nvSpPr>
        <p:spPr>
          <a:xfrm>
            <a:off x="685800" y="1097280"/>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14173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9763963" y="0"/>
            <a:ext cx="2427732" cy="2427732"/>
          </a:xfrm>
          <a:prstGeom prst="rect">
            <a:avLst/>
          </a:prstGeom>
        </p:spPr>
      </p:pic>
      <p:pic>
        <p:nvPicPr>
          <p:cNvPr id="3" name="Image 1" descr="Decoración">    </p:cNvPr>
          <p:cNvPicPr>
            <a:picLocks noChangeAspect="1"/>
          </p:cNvPicPr>
          <p:nvPr/>
        </p:nvPicPr>
        <p:blipFill>
          <a:blip r:embed="rId2"/>
          <a:stretch>
            <a:fillRect/>
          </a:stretch>
        </p:blipFill>
        <p:spPr>
          <a:xfrm>
            <a:off x="0" y="5166360"/>
            <a:ext cx="1692554" cy="1691640"/>
          </a:xfrm>
          <a:prstGeom prst="rect">
            <a:avLst/>
          </a:prstGeom>
        </p:spPr>
      </p:pic>
      <p:sp>
        <p:nvSpPr>
          <p:cNvPr id="4" name="Text 0"/>
          <p:cNvSpPr/>
          <p:nvPr>
            <p:ph idx="102" type="body" hasCustomPrompt="1"/>
          </p:nvPr>
        </p:nvSpPr>
        <p:spPr>
          <a:xfrm>
            <a:off x="685800" y="1920240"/>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2331720"/>
            <a:ext cx="10820095" cy="10972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0" y="0"/>
            <a:ext cx="1796796" cy="1796796"/>
          </a:xfrm>
          <a:prstGeom prst="rect">
            <a:avLst/>
          </a:prstGeom>
        </p:spPr>
      </p:pic>
      <p:sp>
        <p:nvSpPr>
          <p:cNvPr id="3" name="Text 0"/>
          <p:cNvSpPr/>
          <p:nvPr>
            <p:ph idx="101" type="body" hasCustomPrompt="1"/>
          </p:nvPr>
        </p:nvSpPr>
        <p:spPr>
          <a:xfrm>
            <a:off x="1325880" y="384048"/>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4" name="Text 0"/>
          <p:cNvSpPr/>
          <p:nvPr>
            <p:ph idx="102" type="title" hasCustomPrompt="1"/>
          </p:nvPr>
        </p:nvSpPr>
        <p:spPr>
          <a:xfrm>
            <a:off x="685800" y="105156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LUTION">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0" y="0"/>
            <a:ext cx="1796796" cy="1796796"/>
          </a:xfrm>
          <a:prstGeom prst="rect">
            <a:avLst/>
          </a:prstGeom>
        </p:spPr>
      </p:pic>
      <p:sp>
        <p:nvSpPr>
          <p:cNvPr id="3" name="Text 0"/>
          <p:cNvSpPr/>
          <p:nvPr>
            <p:ph idx="101" type="body" hasCustomPrompt="1"/>
          </p:nvPr>
        </p:nvSpPr>
        <p:spPr>
          <a:xfrm>
            <a:off x="1325880" y="384048"/>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4" name="Text 0"/>
          <p:cNvSpPr/>
          <p:nvPr>
            <p:ph idx="102" type="title" hasCustomPrompt="1"/>
          </p:nvPr>
        </p:nvSpPr>
        <p:spPr>
          <a:xfrm>
            <a:off x="685800" y="105156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INAL">
    <p:bg>
      <p:bgPr>
        <a:solidFill>
          <a:schemeClr val="bg1"/>
        </a:solidFill>
      </p:bgPr>
    </p:bg>
    <p:spTree>
      <p:nvGrpSpPr>
        <p:cNvPr id="1" name=""/>
        <p:cNvGrpSpPr/>
        <p:nvPr/>
      </p:nvGrpSpPr>
      <p:grpSpPr>
        <a:xfrm>
          <a:off x="0" y="0"/>
          <a:ext cx="0" cy="0"/>
          <a:chOff x="0" y="0"/>
          <a:chExt cx="0" cy="0"/>
        </a:xfrm>
      </p:grpSpPr>
      <p:pic>
        <p:nvPicPr>
          <p:cNvPr id="2" name="Image 0" descr="Decoración">    </p:cNvPr>
          <p:cNvPicPr>
            <a:picLocks noChangeAspect="1"/>
          </p:cNvPicPr>
          <p:nvPr/>
        </p:nvPicPr>
        <p:blipFill>
          <a:blip r:embed="rId1"/>
          <a:stretch>
            <a:fillRect/>
          </a:stretch>
        </p:blipFill>
        <p:spPr>
          <a:xfrm>
            <a:off x="0" y="0"/>
            <a:ext cx="1482242" cy="1482242"/>
          </a:xfrm>
          <a:prstGeom prst="rect">
            <a:avLst/>
          </a:prstGeom>
        </p:spPr>
      </p:pic>
      <p:pic>
        <p:nvPicPr>
          <p:cNvPr id="3" name="Image 1" descr="Decoración">    </p:cNvPr>
          <p:cNvPicPr>
            <a:picLocks noChangeAspect="1"/>
          </p:cNvPicPr>
          <p:nvPr/>
        </p:nvPicPr>
        <p:blipFill>
          <a:blip r:embed="rId2"/>
          <a:stretch>
            <a:fillRect/>
          </a:stretch>
        </p:blipFill>
        <p:spPr>
          <a:xfrm>
            <a:off x="11340389" y="6006694"/>
            <a:ext cx="851306" cy="851306"/>
          </a:xfrm>
          <a:prstGeom prst="rect">
            <a:avLst/>
          </a:prstGeom>
        </p:spPr>
      </p:pic>
      <p:sp>
        <p:nvSpPr>
          <p:cNvPr id="4" name="Text 0"/>
          <p:cNvSpPr/>
          <p:nvPr>
            <p:ph idx="102" type="body" hasCustomPrompt="1"/>
          </p:nvPr>
        </p:nvSpPr>
        <p:spPr>
          <a:xfrm>
            <a:off x="685800" y="1097280"/>
            <a:ext cx="9601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5" name="Text 0"/>
          <p:cNvSpPr/>
          <p:nvPr>
            <p:ph idx="103" type="title" hasCustomPrompt="1"/>
          </p:nvPr>
        </p:nvSpPr>
        <p:spPr>
          <a:xfrm>
            <a:off x="685800" y="1417320"/>
            <a:ext cx="10820095" cy="77724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6.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8.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8.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8.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8.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8.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8.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5.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5.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3.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9.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8.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4.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5.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5.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6.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9.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8.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9.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body" hasCustomPrompt="1"/>
          </p:nvPr>
        </p:nvSpPr>
        <p:spPr>
          <a:xfrm>
            <a:off x="685800" y="192024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UT3 · BASE DE DATOS · 1º DAM BILINGÜE</a:t>
            </a:r>
            <a:endParaRPr lang="en-US" sz="1300" dirty="0"/>
          </a:p>
        </p:txBody>
      </p:sp>
      <p:sp>
        <p:nvSpPr>
          <p:cNvPr id="3" name="Text 0"/>
          <p:cNvSpPr/>
          <p:nvPr>
            <p:ph idx="103" type="title" hasCustomPrompt="1"/>
          </p:nvPr>
        </p:nvSpPr>
        <p:spPr>
          <a:xfrm>
            <a:off x="685800" y="2331720"/>
            <a:ext cx="10820095" cy="1097280"/>
          </a:xfrm>
          <a:prstGeom prst="rect">
            <a:avLst/>
          </a:prstGeom>
          <a:noFill/>
          <a:ln/>
        </p:spPr>
        <p:txBody>
          <a:bodyPr wrap="square" lIns="0" tIns="0" rIns="0" bIns="0" rtlCol="0" anchor="ctr"/>
          <a:lstStyle/>
          <a:p>
            <a:pPr algn="l" indent="0" marL="0">
              <a:buNone/>
            </a:pPr>
            <a:r>
              <a:rPr lang="en-US" sz="6000" b="1" dirty="0">
                <a:solidFill>
                  <a:schemeClr val="tx1"/>
                </a:solidFill>
              </a:rPr>
              <a:t>El diseño lógico</a:t>
            </a:r>
            <a:endParaRPr lang="en-US" sz="4000" dirty="0"/>
          </a:p>
        </p:txBody>
      </p:sp>
      <p:sp>
        <p:nvSpPr>
          <p:cNvPr id="4" name="subtitle-1"/>
          <p:cNvSpPr txBox="1"/>
          <p:nvPr/>
        </p:nvSpPr>
        <p:spPr>
          <a:xfrm>
            <a:off x="685800" y="3611880"/>
            <a:ext cx="8229600" cy="502920"/>
          </a:xfrm>
          <a:prstGeom prst="rect">
            <a:avLst/>
          </a:prstGeom>
          <a:noFill/>
          <a:ln/>
        </p:spPr>
        <p:txBody>
          <a:bodyPr wrap="square" lIns="0" tIns="0" rIns="0" bIns="0" rtlCol="0" anchor="t"/>
          <a:lstStyle/>
          <a:p>
            <a:pPr algn="l" indent="0" marL="0">
              <a:buNone/>
            </a:pPr>
            <a:r>
              <a:rPr lang="en-US" sz="2400" dirty="0">
                <a:solidFill>
                  <a:srgbClr val="4B4F58"/>
                </a:solidFill>
              </a:rPr>
              <a:t>Modelo relacional, paso a tablas y normalización</a:t>
            </a:r>
            <a:endParaRPr lang="en-US" sz="2400" dirty="0"/>
          </a:p>
        </p:txBody>
      </p:sp>
      <p:sp>
        <p:nvSpPr>
          <p:cNvPr id="5" name="byline-2"/>
          <p:cNvSpPr txBox="1"/>
          <p:nvPr/>
        </p:nvSpPr>
        <p:spPr>
          <a:xfrm>
            <a:off x="685800" y="4526280"/>
            <a:ext cx="5486400" cy="365760"/>
          </a:xfrm>
          <a:prstGeom prst="rect">
            <a:avLst/>
          </a:prstGeom>
          <a:noFill/>
          <a:ln/>
        </p:spPr>
        <p:txBody>
          <a:bodyPr wrap="square" lIns="0" tIns="0" rIns="0" bIns="0" rtlCol="0" anchor="ctr"/>
          <a:lstStyle/>
          <a:p>
            <a:pPr indent="0" marL="0">
              <a:buNone/>
            </a:pPr>
            <a:r>
              <a:rPr lang="en-US" sz="1800" b="1" dirty="0">
                <a:solidFill>
                  <a:srgbClr val="4B4F58"/>
                </a:solidFill>
              </a:rPr>
              <a:t>Marina Preciados Agapito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ÍNDICE</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Lo que vamos a ver</a:t>
            </a:r>
            <a:endParaRPr lang="en-US" sz="4000" dirty="0"/>
          </a:p>
        </p:txBody>
      </p:sp>
      <p:sp>
        <p:nvSpPr>
          <p:cNvPr id="4" name="ix-num-99"/>
          <p:cNvSpPr txBox="1"/>
          <p:nvPr/>
        </p:nvSpPr>
        <p:spPr>
          <a:xfrm>
            <a:off x="685800" y="2377440"/>
            <a:ext cx="548640" cy="465620"/>
          </a:xfrm>
          <a:prstGeom prst="rect">
            <a:avLst/>
          </a:prstGeom>
          <a:noFill/>
          <a:ln/>
        </p:spPr>
        <p:txBody>
          <a:bodyPr wrap="square" lIns="0" tIns="0" rIns="0" bIns="0" rtlCol="0" anchor="ctr"/>
          <a:lstStyle/>
          <a:p>
            <a:pPr indent="0" marL="0">
              <a:buNone/>
            </a:pPr>
            <a:r>
              <a:rPr lang="en-US" sz="2300" b="1" dirty="0">
                <a:solidFill>
                  <a:srgbClr val="1B39E6"/>
                </a:solidFill>
              </a:rPr>
              <a:t>01</a:t>
            </a:r>
            <a:endParaRPr lang="en-US" sz="2300" dirty="0"/>
          </a:p>
        </p:txBody>
      </p:sp>
      <p:sp>
        <p:nvSpPr>
          <p:cNvPr id="5" name="ix-txt-100"/>
          <p:cNvSpPr txBox="1"/>
          <p:nvPr/>
        </p:nvSpPr>
        <p:spPr>
          <a:xfrm>
            <a:off x="1325880" y="2377440"/>
            <a:ext cx="4495648" cy="465620"/>
          </a:xfrm>
          <a:prstGeom prst="rect">
            <a:avLst/>
          </a:prstGeom>
          <a:noFill/>
          <a:ln/>
        </p:spPr>
        <p:txBody>
          <a:bodyPr wrap="square" lIns="0" tIns="0" rIns="0" bIns="0" rtlCol="0" anchor="ctr"/>
          <a:lstStyle/>
          <a:p>
            <a:pPr algn="l" indent="0" marL="0">
              <a:buNone/>
            </a:pPr>
            <a:r>
              <a:rPr lang="en-US" sz="2400" dirty="0">
                <a:solidFill>
                  <a:srgbClr val="4B4F58"/>
                </a:solidFill>
              </a:rPr>
              <a:t>El modelo relacional</a:t>
            </a:r>
            <a:endParaRPr lang="en-US" sz="2400" dirty="0"/>
          </a:p>
        </p:txBody>
      </p:sp>
      <p:sp>
        <p:nvSpPr>
          <p:cNvPr id="6" name="ix-line-101"/>
          <p:cNvSpPr/>
          <p:nvPr/>
        </p:nvSpPr>
        <p:spPr>
          <a:xfrm>
            <a:off x="685800" y="2916212"/>
            <a:ext cx="5135728" cy="0"/>
          </a:xfrm>
          <a:prstGeom prst="line">
            <a:avLst/>
          </a:prstGeom>
          <a:noFill/>
          <a:ln w="12700">
            <a:solidFill>
              <a:srgbClr val="E7E3DA"/>
            </a:solidFill>
            <a:prstDash val="solid"/>
          </a:ln>
        </p:spPr>
      </p:sp>
      <p:sp>
        <p:nvSpPr>
          <p:cNvPr id="7" name="ix-num-102"/>
          <p:cNvSpPr txBox="1"/>
          <p:nvPr/>
        </p:nvSpPr>
        <p:spPr>
          <a:xfrm>
            <a:off x="6370168" y="2377440"/>
            <a:ext cx="548640" cy="465620"/>
          </a:xfrm>
          <a:prstGeom prst="rect">
            <a:avLst/>
          </a:prstGeom>
          <a:noFill/>
          <a:ln/>
        </p:spPr>
        <p:txBody>
          <a:bodyPr wrap="square" lIns="0" tIns="0" rIns="0" bIns="0" rtlCol="0" anchor="ctr"/>
          <a:lstStyle/>
          <a:p>
            <a:pPr indent="0" marL="0">
              <a:buNone/>
            </a:pPr>
            <a:r>
              <a:rPr lang="en-US" sz="2300" b="1" dirty="0">
                <a:solidFill>
                  <a:srgbClr val="1B39E6"/>
                </a:solidFill>
              </a:rPr>
              <a:t>02</a:t>
            </a:r>
            <a:endParaRPr lang="en-US" sz="2300" dirty="0"/>
          </a:p>
        </p:txBody>
      </p:sp>
      <p:sp>
        <p:nvSpPr>
          <p:cNvPr id="8" name="ix-txt-103"/>
          <p:cNvSpPr txBox="1"/>
          <p:nvPr/>
        </p:nvSpPr>
        <p:spPr>
          <a:xfrm>
            <a:off x="7010248" y="2377440"/>
            <a:ext cx="4495648" cy="465620"/>
          </a:xfrm>
          <a:prstGeom prst="rect">
            <a:avLst/>
          </a:prstGeom>
          <a:noFill/>
          <a:ln/>
        </p:spPr>
        <p:txBody>
          <a:bodyPr wrap="square" lIns="0" tIns="0" rIns="0" bIns="0" rtlCol="0" anchor="ctr"/>
          <a:lstStyle/>
          <a:p>
            <a:pPr algn="l" indent="0" marL="0">
              <a:buNone/>
            </a:pPr>
            <a:r>
              <a:rPr lang="en-US" sz="2400" dirty="0">
                <a:solidFill>
                  <a:srgbClr val="4B4F58"/>
                </a:solidFill>
              </a:rPr>
              <a:t>Claves</a:t>
            </a:r>
            <a:endParaRPr lang="en-US" sz="2400" dirty="0"/>
          </a:p>
        </p:txBody>
      </p:sp>
      <p:sp>
        <p:nvSpPr>
          <p:cNvPr id="9" name="ix-line-104"/>
          <p:cNvSpPr/>
          <p:nvPr/>
        </p:nvSpPr>
        <p:spPr>
          <a:xfrm>
            <a:off x="6370168" y="2916212"/>
            <a:ext cx="5135728" cy="0"/>
          </a:xfrm>
          <a:prstGeom prst="line">
            <a:avLst/>
          </a:prstGeom>
          <a:noFill/>
          <a:ln w="12700">
            <a:solidFill>
              <a:srgbClr val="E7E3DA"/>
            </a:solidFill>
            <a:prstDash val="solid"/>
          </a:ln>
        </p:spPr>
      </p:sp>
      <p:sp>
        <p:nvSpPr>
          <p:cNvPr id="10" name="ix-num-105"/>
          <p:cNvSpPr txBox="1"/>
          <p:nvPr/>
        </p:nvSpPr>
        <p:spPr>
          <a:xfrm>
            <a:off x="685800" y="3071660"/>
            <a:ext cx="548640" cy="839800"/>
          </a:xfrm>
          <a:prstGeom prst="rect">
            <a:avLst/>
          </a:prstGeom>
          <a:noFill/>
          <a:ln/>
        </p:spPr>
        <p:txBody>
          <a:bodyPr wrap="square" lIns="0" tIns="0" rIns="0" bIns="0" rtlCol="0" anchor="ctr"/>
          <a:lstStyle/>
          <a:p>
            <a:pPr indent="0" marL="0">
              <a:buNone/>
            </a:pPr>
            <a:r>
              <a:rPr lang="en-US" sz="2300" b="1" dirty="0">
                <a:solidFill>
                  <a:srgbClr val="1B39E6"/>
                </a:solidFill>
              </a:rPr>
              <a:t>03</a:t>
            </a:r>
            <a:endParaRPr lang="en-US" sz="2300" dirty="0"/>
          </a:p>
        </p:txBody>
      </p:sp>
      <p:sp>
        <p:nvSpPr>
          <p:cNvPr id="11" name="ix-txt-106"/>
          <p:cNvSpPr txBox="1"/>
          <p:nvPr/>
        </p:nvSpPr>
        <p:spPr>
          <a:xfrm>
            <a:off x="1325880" y="3071660"/>
            <a:ext cx="4495648" cy="839800"/>
          </a:xfrm>
          <a:prstGeom prst="rect">
            <a:avLst/>
          </a:prstGeom>
          <a:noFill/>
          <a:ln/>
        </p:spPr>
        <p:txBody>
          <a:bodyPr wrap="square" lIns="0" tIns="0" rIns="0" bIns="0" rtlCol="0" anchor="ctr"/>
          <a:lstStyle/>
          <a:p>
            <a:pPr algn="l" indent="0" marL="0">
              <a:buNone/>
            </a:pPr>
            <a:r>
              <a:rPr lang="en-US" sz="2400" dirty="0">
                <a:solidFill>
                  <a:srgbClr val="4B4F58"/>
                </a:solidFill>
              </a:rPr>
              <a:t>Restricciones e integridad referencial</a:t>
            </a:r>
            <a:endParaRPr lang="en-US" sz="2400" dirty="0"/>
          </a:p>
        </p:txBody>
      </p:sp>
      <p:sp>
        <p:nvSpPr>
          <p:cNvPr id="12" name="ix-line-107"/>
          <p:cNvSpPr/>
          <p:nvPr/>
        </p:nvSpPr>
        <p:spPr>
          <a:xfrm>
            <a:off x="685800" y="3984612"/>
            <a:ext cx="5135728" cy="0"/>
          </a:xfrm>
          <a:prstGeom prst="line">
            <a:avLst/>
          </a:prstGeom>
          <a:noFill/>
          <a:ln w="12700">
            <a:solidFill>
              <a:srgbClr val="E7E3DA"/>
            </a:solidFill>
            <a:prstDash val="solid"/>
          </a:ln>
        </p:spPr>
      </p:sp>
      <p:sp>
        <p:nvSpPr>
          <p:cNvPr id="13" name="ix-num-108"/>
          <p:cNvSpPr txBox="1"/>
          <p:nvPr/>
        </p:nvSpPr>
        <p:spPr>
          <a:xfrm>
            <a:off x="6370168" y="3071660"/>
            <a:ext cx="548640" cy="839800"/>
          </a:xfrm>
          <a:prstGeom prst="rect">
            <a:avLst/>
          </a:prstGeom>
          <a:noFill/>
          <a:ln/>
        </p:spPr>
        <p:txBody>
          <a:bodyPr wrap="square" lIns="0" tIns="0" rIns="0" bIns="0" rtlCol="0" anchor="ctr"/>
          <a:lstStyle/>
          <a:p>
            <a:pPr indent="0" marL="0">
              <a:buNone/>
            </a:pPr>
            <a:r>
              <a:rPr lang="en-US" sz="2300" b="1" dirty="0">
                <a:solidFill>
                  <a:srgbClr val="1B39E6"/>
                </a:solidFill>
              </a:rPr>
              <a:t>04</a:t>
            </a:r>
            <a:endParaRPr lang="en-US" sz="2300" dirty="0"/>
          </a:p>
        </p:txBody>
      </p:sp>
      <p:sp>
        <p:nvSpPr>
          <p:cNvPr id="14" name="ix-txt-109"/>
          <p:cNvSpPr txBox="1"/>
          <p:nvPr/>
        </p:nvSpPr>
        <p:spPr>
          <a:xfrm>
            <a:off x="7010248" y="3071660"/>
            <a:ext cx="4495648" cy="839800"/>
          </a:xfrm>
          <a:prstGeom prst="rect">
            <a:avLst/>
          </a:prstGeom>
          <a:noFill/>
          <a:ln/>
        </p:spPr>
        <p:txBody>
          <a:bodyPr wrap="square" lIns="0" tIns="0" rIns="0" bIns="0" rtlCol="0" anchor="ctr"/>
          <a:lstStyle/>
          <a:p>
            <a:pPr algn="l" indent="0" marL="0">
              <a:buNone/>
            </a:pPr>
            <a:r>
              <a:rPr lang="en-US" sz="2400" dirty="0">
                <a:solidFill>
                  <a:srgbClr val="4B4F58"/>
                </a:solidFill>
              </a:rPr>
              <a:t>Paso a tablas: reglas básicas</a:t>
            </a:r>
            <a:endParaRPr lang="en-US" sz="2400" dirty="0"/>
          </a:p>
        </p:txBody>
      </p:sp>
      <p:sp>
        <p:nvSpPr>
          <p:cNvPr id="15" name="ix-line-110"/>
          <p:cNvSpPr/>
          <p:nvPr/>
        </p:nvSpPr>
        <p:spPr>
          <a:xfrm>
            <a:off x="6370168" y="3984612"/>
            <a:ext cx="5135728" cy="0"/>
          </a:xfrm>
          <a:prstGeom prst="line">
            <a:avLst/>
          </a:prstGeom>
          <a:noFill/>
          <a:ln w="12700">
            <a:solidFill>
              <a:srgbClr val="E7E3DA"/>
            </a:solidFill>
            <a:prstDash val="solid"/>
          </a:ln>
        </p:spPr>
      </p:sp>
      <p:sp>
        <p:nvSpPr>
          <p:cNvPr id="16" name="ix-num-111"/>
          <p:cNvSpPr txBox="1"/>
          <p:nvPr/>
        </p:nvSpPr>
        <p:spPr>
          <a:xfrm>
            <a:off x="685800" y="4140060"/>
            <a:ext cx="548640" cy="839800"/>
          </a:xfrm>
          <a:prstGeom prst="rect">
            <a:avLst/>
          </a:prstGeom>
          <a:noFill/>
          <a:ln/>
        </p:spPr>
        <p:txBody>
          <a:bodyPr wrap="square" lIns="0" tIns="0" rIns="0" bIns="0" rtlCol="0" anchor="ctr"/>
          <a:lstStyle/>
          <a:p>
            <a:pPr indent="0" marL="0">
              <a:buNone/>
            </a:pPr>
            <a:r>
              <a:rPr lang="en-US" sz="2300" b="1" dirty="0">
                <a:solidFill>
                  <a:srgbClr val="1B39E6"/>
                </a:solidFill>
              </a:rPr>
              <a:t>05</a:t>
            </a:r>
            <a:endParaRPr lang="en-US" sz="2300" dirty="0"/>
          </a:p>
        </p:txBody>
      </p:sp>
      <p:sp>
        <p:nvSpPr>
          <p:cNvPr id="17" name="ix-txt-112"/>
          <p:cNvSpPr txBox="1"/>
          <p:nvPr/>
        </p:nvSpPr>
        <p:spPr>
          <a:xfrm>
            <a:off x="1325880" y="4140060"/>
            <a:ext cx="4495648" cy="839800"/>
          </a:xfrm>
          <a:prstGeom prst="rect">
            <a:avLst/>
          </a:prstGeom>
          <a:noFill/>
          <a:ln/>
        </p:spPr>
        <p:txBody>
          <a:bodyPr wrap="square" lIns="0" tIns="0" rIns="0" bIns="0" rtlCol="0" anchor="ctr"/>
          <a:lstStyle/>
          <a:p>
            <a:pPr algn="l" indent="0" marL="0">
              <a:buNone/>
            </a:pPr>
            <a:r>
              <a:rPr lang="en-US" sz="2400" dirty="0">
                <a:solidFill>
                  <a:srgbClr val="4B4F58"/>
                </a:solidFill>
              </a:rPr>
              <a:t>Reflexivas, ternarias y jerarquías</a:t>
            </a:r>
            <a:endParaRPr lang="en-US" sz="2400" dirty="0"/>
          </a:p>
        </p:txBody>
      </p:sp>
      <p:sp>
        <p:nvSpPr>
          <p:cNvPr id="18" name="ix-line-113"/>
          <p:cNvSpPr/>
          <p:nvPr/>
        </p:nvSpPr>
        <p:spPr>
          <a:xfrm>
            <a:off x="685800" y="5053012"/>
            <a:ext cx="5135728" cy="0"/>
          </a:xfrm>
          <a:prstGeom prst="line">
            <a:avLst/>
          </a:prstGeom>
          <a:noFill/>
          <a:ln w="12700">
            <a:solidFill>
              <a:srgbClr val="E7E3DA"/>
            </a:solidFill>
            <a:prstDash val="solid"/>
          </a:ln>
        </p:spPr>
      </p:sp>
      <p:sp>
        <p:nvSpPr>
          <p:cNvPr id="19" name="ix-num-114"/>
          <p:cNvSpPr txBox="1"/>
          <p:nvPr/>
        </p:nvSpPr>
        <p:spPr>
          <a:xfrm>
            <a:off x="6370168" y="4140060"/>
            <a:ext cx="548640" cy="839800"/>
          </a:xfrm>
          <a:prstGeom prst="rect">
            <a:avLst/>
          </a:prstGeom>
          <a:noFill/>
          <a:ln/>
        </p:spPr>
        <p:txBody>
          <a:bodyPr wrap="square" lIns="0" tIns="0" rIns="0" bIns="0" rtlCol="0" anchor="ctr"/>
          <a:lstStyle/>
          <a:p>
            <a:pPr indent="0" marL="0">
              <a:buNone/>
            </a:pPr>
            <a:r>
              <a:rPr lang="en-US" sz="2300" b="1" dirty="0">
                <a:solidFill>
                  <a:srgbClr val="1B39E6"/>
                </a:solidFill>
              </a:rPr>
              <a:t>06</a:t>
            </a:r>
            <a:endParaRPr lang="en-US" sz="2300" dirty="0"/>
          </a:p>
        </p:txBody>
      </p:sp>
      <p:sp>
        <p:nvSpPr>
          <p:cNvPr id="20" name="ix-txt-115"/>
          <p:cNvSpPr txBox="1"/>
          <p:nvPr/>
        </p:nvSpPr>
        <p:spPr>
          <a:xfrm>
            <a:off x="7010248" y="4140060"/>
            <a:ext cx="4495648" cy="839800"/>
          </a:xfrm>
          <a:prstGeom prst="rect">
            <a:avLst/>
          </a:prstGeom>
          <a:noFill/>
          <a:ln/>
        </p:spPr>
        <p:txBody>
          <a:bodyPr wrap="square" lIns="0" tIns="0" rIns="0" bIns="0" rtlCol="0" anchor="ctr"/>
          <a:lstStyle/>
          <a:p>
            <a:pPr algn="l" indent="0" marL="0">
              <a:buNone/>
            </a:pPr>
            <a:r>
              <a:rPr lang="en-US" sz="2400" dirty="0">
                <a:solidFill>
                  <a:srgbClr val="4B4F58"/>
                </a:solidFill>
              </a:rPr>
              <a:t>Dependencias funcionales</a:t>
            </a:r>
            <a:endParaRPr lang="en-US" sz="2400" dirty="0"/>
          </a:p>
        </p:txBody>
      </p:sp>
      <p:sp>
        <p:nvSpPr>
          <p:cNvPr id="21" name="ix-line-116"/>
          <p:cNvSpPr/>
          <p:nvPr/>
        </p:nvSpPr>
        <p:spPr>
          <a:xfrm>
            <a:off x="6370168" y="5053012"/>
            <a:ext cx="5135728" cy="0"/>
          </a:xfrm>
          <a:prstGeom prst="line">
            <a:avLst/>
          </a:prstGeom>
          <a:noFill/>
          <a:ln w="12700">
            <a:solidFill>
              <a:srgbClr val="E7E3DA"/>
            </a:solidFill>
            <a:prstDash val="solid"/>
          </a:ln>
        </p:spPr>
      </p:sp>
      <p:sp>
        <p:nvSpPr>
          <p:cNvPr id="22" name="ix-num-117"/>
          <p:cNvSpPr txBox="1"/>
          <p:nvPr/>
        </p:nvSpPr>
        <p:spPr>
          <a:xfrm>
            <a:off x="685800" y="5208460"/>
            <a:ext cx="548640" cy="465620"/>
          </a:xfrm>
          <a:prstGeom prst="rect">
            <a:avLst/>
          </a:prstGeom>
          <a:noFill/>
          <a:ln/>
        </p:spPr>
        <p:txBody>
          <a:bodyPr wrap="square" lIns="0" tIns="0" rIns="0" bIns="0" rtlCol="0" anchor="ctr"/>
          <a:lstStyle/>
          <a:p>
            <a:pPr indent="0" marL="0">
              <a:buNone/>
            </a:pPr>
            <a:r>
              <a:rPr lang="en-US" sz="2300" b="1" dirty="0">
                <a:solidFill>
                  <a:srgbClr val="1B39E6"/>
                </a:solidFill>
              </a:rPr>
              <a:t>07</a:t>
            </a:r>
            <a:endParaRPr lang="en-US" sz="2300" dirty="0"/>
          </a:p>
        </p:txBody>
      </p:sp>
      <p:sp>
        <p:nvSpPr>
          <p:cNvPr id="23" name="ix-txt-118"/>
          <p:cNvSpPr txBox="1"/>
          <p:nvPr/>
        </p:nvSpPr>
        <p:spPr>
          <a:xfrm>
            <a:off x="1325880" y="5208460"/>
            <a:ext cx="4495648" cy="465620"/>
          </a:xfrm>
          <a:prstGeom prst="rect">
            <a:avLst/>
          </a:prstGeom>
          <a:noFill/>
          <a:ln/>
        </p:spPr>
        <p:txBody>
          <a:bodyPr wrap="square" lIns="0" tIns="0" rIns="0" bIns="0" rtlCol="0" anchor="ctr"/>
          <a:lstStyle/>
          <a:p>
            <a:pPr algn="l" indent="0" marL="0">
              <a:buNone/>
            </a:pPr>
            <a:r>
              <a:rPr lang="en-US" sz="2400" dirty="0">
                <a:solidFill>
                  <a:srgbClr val="4B4F58"/>
                </a:solidFill>
              </a:rPr>
              <a:t>Formas normales: 1FN a FNBC</a:t>
            </a:r>
            <a:endParaRPr lang="en-US" sz="2400" dirty="0"/>
          </a:p>
        </p:txBody>
      </p:sp>
      <p:sp>
        <p:nvSpPr>
          <p:cNvPr id="24" name="ix-line-119"/>
          <p:cNvSpPr/>
          <p:nvPr/>
        </p:nvSpPr>
        <p:spPr>
          <a:xfrm>
            <a:off x="685800" y="5747233"/>
            <a:ext cx="5135728" cy="0"/>
          </a:xfrm>
          <a:prstGeom prst="line">
            <a:avLst/>
          </a:prstGeom>
          <a:noFill/>
          <a:ln w="12700">
            <a:solidFill>
              <a:srgbClr val="E7E3DA"/>
            </a:solidFill>
            <a:prstDash val="solid"/>
          </a:ln>
        </p:spPr>
      </p:sp>
      <p:sp>
        <p:nvSpPr>
          <p:cNvPr id="25" name="ix-num-120"/>
          <p:cNvSpPr txBox="1"/>
          <p:nvPr/>
        </p:nvSpPr>
        <p:spPr>
          <a:xfrm>
            <a:off x="6370168" y="5208460"/>
            <a:ext cx="548640" cy="465620"/>
          </a:xfrm>
          <a:prstGeom prst="rect">
            <a:avLst/>
          </a:prstGeom>
          <a:noFill/>
          <a:ln/>
        </p:spPr>
        <p:txBody>
          <a:bodyPr wrap="square" lIns="0" tIns="0" rIns="0" bIns="0" rtlCol="0" anchor="ctr"/>
          <a:lstStyle/>
          <a:p>
            <a:pPr indent="0" marL="0">
              <a:buNone/>
            </a:pPr>
            <a:r>
              <a:rPr lang="en-US" sz="2300" b="1" dirty="0">
                <a:solidFill>
                  <a:srgbClr val="1B39E6"/>
                </a:solidFill>
              </a:rPr>
              <a:t>08</a:t>
            </a:r>
            <a:endParaRPr lang="en-US" sz="2300" dirty="0"/>
          </a:p>
        </p:txBody>
      </p:sp>
      <p:sp>
        <p:nvSpPr>
          <p:cNvPr id="26" name="ix-txt-121"/>
          <p:cNvSpPr txBox="1"/>
          <p:nvPr/>
        </p:nvSpPr>
        <p:spPr>
          <a:xfrm>
            <a:off x="7010248" y="5208460"/>
            <a:ext cx="4495648" cy="465620"/>
          </a:xfrm>
          <a:prstGeom prst="rect">
            <a:avLst/>
          </a:prstGeom>
          <a:noFill/>
          <a:ln/>
        </p:spPr>
        <p:txBody>
          <a:bodyPr wrap="square" lIns="0" tIns="0" rIns="0" bIns="0" rtlCol="0" anchor="ctr"/>
          <a:lstStyle/>
          <a:p>
            <a:pPr algn="l" indent="0" marL="0">
              <a:buNone/>
            </a:pPr>
            <a:r>
              <a:rPr lang="en-US" sz="2400" dirty="0">
                <a:solidFill>
                  <a:srgbClr val="4B4F58"/>
                </a:solidFill>
              </a:rPr>
              <a:t>Ejemplo completo: StarVoice</a:t>
            </a:r>
            <a:endParaRPr lang="en-US" sz="2400" dirty="0"/>
          </a:p>
        </p:txBody>
      </p:sp>
      <p:sp>
        <p:nvSpPr>
          <p:cNvPr id="27" name="ix-line-122"/>
          <p:cNvSpPr/>
          <p:nvPr/>
        </p:nvSpPr>
        <p:spPr>
          <a:xfrm>
            <a:off x="6370168" y="5747233"/>
            <a:ext cx="5135728" cy="0"/>
          </a:xfrm>
          <a:prstGeom prst="line">
            <a:avLst/>
          </a:prstGeom>
          <a:noFill/>
          <a:ln w="12700">
            <a:solidFill>
              <a:srgbClr val="E7E3DA"/>
            </a:solidFill>
            <a:prstDash val="solid"/>
          </a:ln>
        </p:spPr>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De los diagramas a las tablas</a:t>
            </a:r>
            <a:endParaRPr lang="en-US" sz="4000" dirty="0"/>
          </a:p>
        </p:txBody>
      </p:sp>
      <p:sp>
        <p:nvSpPr>
          <p:cNvPr id="4" name="chain-step-139"/>
          <p:cNvSpPr/>
          <p:nvPr/>
        </p:nvSpPr>
        <p:spPr>
          <a:xfrm>
            <a:off x="685800" y="2071093"/>
            <a:ext cx="2430704" cy="1494587"/>
          </a:xfrm>
          <a:prstGeom prst="roundRect">
            <a:avLst>
              <a:gd name="adj" fmla="val 7342"/>
            </a:avLst>
          </a:prstGeom>
          <a:solidFill>
            <a:srgbClr val="FFFFFF"/>
          </a:solidFill>
          <a:ln w="19050">
            <a:solidFill>
              <a:schemeClr val="tx1"/>
            </a:solidFill>
            <a:prstDash val="solid"/>
          </a:ln>
        </p:spPr>
      </p:sp>
      <p:sp>
        <p:nvSpPr>
          <p:cNvPr id="5" name="chain-tag-140"/>
          <p:cNvSpPr txBox="1"/>
          <p:nvPr/>
        </p:nvSpPr>
        <p:spPr>
          <a:xfrm>
            <a:off x="822960" y="2208253"/>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1 · conceptual</a:t>
            </a:r>
            <a:endParaRPr lang="en-US" sz="1600" dirty="0"/>
          </a:p>
        </p:txBody>
      </p:sp>
      <p:sp>
        <p:nvSpPr>
          <p:cNvPr id="6" name="chain-p-141"/>
          <p:cNvSpPr txBox="1"/>
          <p:nvPr/>
        </p:nvSpPr>
        <p:spPr>
          <a:xfrm>
            <a:off x="822960" y="2510005"/>
            <a:ext cx="2156384" cy="991667"/>
          </a:xfrm>
          <a:prstGeom prst="rect">
            <a:avLst/>
          </a:prstGeom>
          <a:noFill/>
          <a:ln/>
        </p:spPr>
        <p:txBody>
          <a:bodyPr wrap="square" lIns="0" tIns="0" rIns="0" bIns="0" rtlCol="0" anchor="t"/>
          <a:lstStyle/>
          <a:p>
            <a:pPr algn="l" indent="0" marL="0">
              <a:buNone/>
            </a:pPr>
            <a:r>
              <a:rPr lang="en-US" sz="2600" b="1" dirty="0">
                <a:solidFill>
                  <a:srgbClr val="15171C"/>
                </a:solidFill>
              </a:rPr>
              <a:t>Modelo E/R</a:t>
            </a:r>
            <a:endParaRPr lang="en-US" sz="2600" dirty="0"/>
          </a:p>
        </p:txBody>
      </p:sp>
      <p:sp>
        <p:nvSpPr>
          <p:cNvPr id="7" name="arrow-142"/>
          <p:cNvSpPr txBox="1"/>
          <p:nvPr/>
        </p:nvSpPr>
        <p:spPr>
          <a:xfrm>
            <a:off x="3116504" y="2635507"/>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8" name="chain-step-143"/>
          <p:cNvSpPr/>
          <p:nvPr/>
        </p:nvSpPr>
        <p:spPr>
          <a:xfrm>
            <a:off x="3482264" y="2071093"/>
            <a:ext cx="2430704" cy="1494587"/>
          </a:xfrm>
          <a:prstGeom prst="roundRect">
            <a:avLst>
              <a:gd name="adj" fmla="val 7342"/>
            </a:avLst>
          </a:prstGeom>
          <a:solidFill>
            <a:srgbClr val="E8EBFC"/>
          </a:solidFill>
          <a:ln w="19050">
            <a:solidFill>
              <a:schemeClr val="tx1"/>
            </a:solidFill>
            <a:prstDash val="solid"/>
          </a:ln>
        </p:spPr>
      </p:sp>
      <p:sp>
        <p:nvSpPr>
          <p:cNvPr id="9" name="chain-tag-144"/>
          <p:cNvSpPr txBox="1"/>
          <p:nvPr/>
        </p:nvSpPr>
        <p:spPr>
          <a:xfrm>
            <a:off x="3619424" y="2208253"/>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2 · lógico</a:t>
            </a:r>
            <a:endParaRPr lang="en-US" sz="1600" dirty="0"/>
          </a:p>
        </p:txBody>
      </p:sp>
      <p:sp>
        <p:nvSpPr>
          <p:cNvPr id="10" name="chain-p-145"/>
          <p:cNvSpPr txBox="1"/>
          <p:nvPr/>
        </p:nvSpPr>
        <p:spPr>
          <a:xfrm>
            <a:off x="3619424" y="2510005"/>
            <a:ext cx="2156384" cy="991667"/>
          </a:xfrm>
          <a:prstGeom prst="rect">
            <a:avLst/>
          </a:prstGeom>
          <a:noFill/>
          <a:ln/>
        </p:spPr>
        <p:txBody>
          <a:bodyPr wrap="square" lIns="0" tIns="0" rIns="0" bIns="0" rtlCol="0" anchor="t"/>
          <a:lstStyle/>
          <a:p>
            <a:pPr algn="l" indent="0" marL="0">
              <a:buNone/>
            </a:pPr>
            <a:r>
              <a:rPr lang="en-US" sz="2600" b="1" dirty="0">
                <a:solidFill>
                  <a:srgbClr val="15171C"/>
                </a:solidFill>
              </a:rPr>
              <a:t>Modelo relacional</a:t>
            </a:r>
            <a:endParaRPr lang="en-US" sz="2600" dirty="0"/>
          </a:p>
        </p:txBody>
      </p:sp>
      <p:sp>
        <p:nvSpPr>
          <p:cNvPr id="11" name="arrow-146"/>
          <p:cNvSpPr txBox="1"/>
          <p:nvPr/>
        </p:nvSpPr>
        <p:spPr>
          <a:xfrm>
            <a:off x="5912968" y="2635507"/>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12" name="chain-step-147"/>
          <p:cNvSpPr/>
          <p:nvPr/>
        </p:nvSpPr>
        <p:spPr>
          <a:xfrm>
            <a:off x="6278728" y="2071093"/>
            <a:ext cx="2430704" cy="1494587"/>
          </a:xfrm>
          <a:prstGeom prst="roundRect">
            <a:avLst>
              <a:gd name="adj" fmla="val 7342"/>
            </a:avLst>
          </a:prstGeom>
          <a:solidFill>
            <a:srgbClr val="E8EBFC"/>
          </a:solidFill>
          <a:ln w="19050">
            <a:solidFill>
              <a:schemeClr val="tx1"/>
            </a:solidFill>
            <a:prstDash val="solid"/>
          </a:ln>
        </p:spPr>
      </p:sp>
      <p:sp>
        <p:nvSpPr>
          <p:cNvPr id="13" name="chain-tag-148"/>
          <p:cNvSpPr txBox="1"/>
          <p:nvPr/>
        </p:nvSpPr>
        <p:spPr>
          <a:xfrm>
            <a:off x="6415888" y="2208253"/>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3</a:t>
            </a:r>
            <a:endParaRPr lang="en-US" sz="1600" dirty="0"/>
          </a:p>
        </p:txBody>
      </p:sp>
      <p:sp>
        <p:nvSpPr>
          <p:cNvPr id="14" name="chain-p-149"/>
          <p:cNvSpPr txBox="1"/>
          <p:nvPr/>
        </p:nvSpPr>
        <p:spPr>
          <a:xfrm>
            <a:off x="6415888" y="2510005"/>
            <a:ext cx="2156384" cy="991667"/>
          </a:xfrm>
          <a:prstGeom prst="rect">
            <a:avLst/>
          </a:prstGeom>
          <a:noFill/>
          <a:ln/>
        </p:spPr>
        <p:txBody>
          <a:bodyPr wrap="square" lIns="0" tIns="0" rIns="0" bIns="0" rtlCol="0" anchor="t"/>
          <a:lstStyle/>
          <a:p>
            <a:pPr algn="l" indent="0" marL="0">
              <a:buNone/>
            </a:pPr>
            <a:r>
              <a:rPr lang="en-US" sz="2600" b="1" dirty="0">
                <a:solidFill>
                  <a:srgbClr val="15171C"/>
                </a:solidFill>
              </a:rPr>
              <a:t>Normalización</a:t>
            </a:r>
            <a:endParaRPr lang="en-US" sz="2600" dirty="0"/>
          </a:p>
        </p:txBody>
      </p:sp>
      <p:sp>
        <p:nvSpPr>
          <p:cNvPr id="15" name="arrow-150"/>
          <p:cNvSpPr txBox="1"/>
          <p:nvPr/>
        </p:nvSpPr>
        <p:spPr>
          <a:xfrm>
            <a:off x="8709431" y="2635507"/>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16" name="chain-step-151"/>
          <p:cNvSpPr/>
          <p:nvPr/>
        </p:nvSpPr>
        <p:spPr>
          <a:xfrm>
            <a:off x="9075191" y="2071093"/>
            <a:ext cx="2430704" cy="1494587"/>
          </a:xfrm>
          <a:prstGeom prst="roundRect">
            <a:avLst>
              <a:gd name="adj" fmla="val 7342"/>
            </a:avLst>
          </a:prstGeom>
          <a:solidFill>
            <a:srgbClr val="FFFFFF"/>
          </a:solidFill>
          <a:ln w="19050">
            <a:solidFill>
              <a:schemeClr val="tx1"/>
            </a:solidFill>
            <a:prstDash val="solid"/>
          </a:ln>
        </p:spPr>
      </p:sp>
      <p:sp>
        <p:nvSpPr>
          <p:cNvPr id="17" name="chain-tag-152"/>
          <p:cNvSpPr txBox="1"/>
          <p:nvPr/>
        </p:nvSpPr>
        <p:spPr>
          <a:xfrm>
            <a:off x="9212351" y="2208253"/>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4 · físico</a:t>
            </a:r>
            <a:endParaRPr lang="en-US" sz="1600" dirty="0"/>
          </a:p>
        </p:txBody>
      </p:sp>
      <p:sp>
        <p:nvSpPr>
          <p:cNvPr id="18" name="chain-p-153"/>
          <p:cNvSpPr txBox="1"/>
          <p:nvPr/>
        </p:nvSpPr>
        <p:spPr>
          <a:xfrm>
            <a:off x="9212351" y="2510005"/>
            <a:ext cx="2156384" cy="991667"/>
          </a:xfrm>
          <a:prstGeom prst="rect">
            <a:avLst/>
          </a:prstGeom>
          <a:noFill/>
          <a:ln/>
        </p:spPr>
        <p:txBody>
          <a:bodyPr wrap="square" lIns="0" tIns="0" rIns="0" bIns="0" rtlCol="0" anchor="t"/>
          <a:lstStyle/>
          <a:p>
            <a:pPr algn="l" indent="0" marL="0">
              <a:buNone/>
            </a:pPr>
            <a:r>
              <a:rPr lang="en-US" sz="2600" b="1" dirty="0">
                <a:solidFill>
                  <a:srgbClr val="15171C"/>
                </a:solidFill>
              </a:rPr>
              <a:t>SQL en un SGBD</a:t>
            </a:r>
            <a:endParaRPr lang="en-US" sz="2600" dirty="0"/>
          </a:p>
        </p:txBody>
      </p:sp>
      <p:sp>
        <p:nvSpPr>
          <p:cNvPr id="19" name="note-154"/>
          <p:cNvSpPr txBox="1"/>
          <p:nvPr/>
        </p:nvSpPr>
        <p:spPr>
          <a:xfrm>
            <a:off x="685800" y="3794280"/>
            <a:ext cx="10820095" cy="1843024"/>
          </a:xfrm>
          <a:prstGeom prst="rect">
            <a:avLst/>
          </a:prstGeom>
          <a:noFill/>
          <a:ln/>
        </p:spPr>
        <p:txBody>
          <a:bodyPr wrap="square" lIns="0" tIns="0" rIns="0" bIns="0" rtlCol="0" anchor="t"/>
          <a:lstStyle/>
          <a:p>
            <a:pPr algn="l" indent="0" marL="0">
              <a:buNone/>
            </a:pPr>
            <a:r>
              <a:rPr lang="en-US" sz="2900" dirty="0">
                <a:solidFill>
                  <a:srgbClr val="4B4F58"/>
                </a:solidFill>
              </a:rPr>
              <a:t>En la UT2 dibujamos el problema; ahora lo traducimos a tablas que un SGBD relacional entiende, y comprobamos que esas tablas no guardan los datos de forma torpe. Esta unidad es el puente entre el dibujo y el SQL.</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Una relación es una tabla</a:t>
            </a:r>
            <a:endParaRPr lang="en-US" sz="4000" dirty="0"/>
          </a:p>
        </p:txBody>
      </p:sp>
      <p:sp>
        <p:nvSpPr>
          <p:cNvPr id="4" name="lede-170"/>
          <p:cNvSpPr txBox="1"/>
          <p:nvPr/>
        </p:nvSpPr>
        <p:spPr>
          <a:xfrm>
            <a:off x="685800" y="1783080"/>
            <a:ext cx="10820095" cy="1150132"/>
          </a:xfrm>
          <a:prstGeom prst="rect">
            <a:avLst/>
          </a:prstGeom>
          <a:noFill/>
          <a:ln/>
        </p:spPr>
        <p:txBody>
          <a:bodyPr wrap="square" lIns="0" tIns="0" rIns="0" bIns="0" rtlCol="0" anchor="t"/>
          <a:lstStyle/>
          <a:p>
            <a:pPr algn="l" indent="0" marL="0">
              <a:buNone/>
            </a:pPr>
            <a:r>
              <a:rPr lang="en-US" sz="2400" dirty="0">
                <a:solidFill>
                  <a:srgbClr val="4B4F58"/>
                </a:solidFill>
              </a:rPr>
              <a:t>El modelo relacional representa la base de datos como un conjunto de </a:t>
            </a:r>
            <a:pPr algn="l" indent="0" marL="0">
              <a:buNone/>
            </a:pPr>
            <a:r>
              <a:rPr lang="en-US" sz="2400" b="1" dirty="0">
                <a:solidFill>
                  <a:srgbClr val="4B4F58"/>
                </a:solidFill>
              </a:rPr>
              <a:t>relaciones</a:t>
            </a:r>
            <a:pPr algn="l" indent="0" marL="0">
              <a:buNone/>
            </a:pPr>
            <a:r>
              <a:rPr lang="en-US" sz="2400" dirty="0">
                <a:solidFill>
                  <a:srgbClr val="4B4F58"/>
                </a:solidFill>
              </a:rPr>
              <a:t> interrelacionadas. Cada relación es una </a:t>
            </a:r>
            <a:pPr algn="l" indent="0" marL="0">
              <a:buNone/>
            </a:pPr>
            <a:r>
              <a:rPr lang="en-US" sz="2400" b="1" dirty="0">
                <a:solidFill>
                  <a:srgbClr val="4B4F58"/>
                </a:solidFill>
              </a:rPr>
              <a:t>tabla</a:t>
            </a:r>
            <a:pPr algn="l" indent="0" marL="0">
              <a:buNone/>
            </a:pPr>
            <a:r>
              <a:rPr lang="en-US" sz="2400" dirty="0">
                <a:solidFill>
                  <a:srgbClr val="4B4F58"/>
                </a:solidFill>
              </a:rPr>
              <a:t>: cada columna es un </a:t>
            </a:r>
            <a:pPr algn="l" indent="0" marL="0">
              <a:buNone/>
            </a:pPr>
            <a:r>
              <a:rPr lang="en-US" sz="2400" b="1" dirty="0">
                <a:solidFill>
                  <a:srgbClr val="4B4F58"/>
                </a:solidFill>
              </a:rPr>
              <a:t>atributo</a:t>
            </a:r>
            <a:pPr algn="l" indent="0" marL="0">
              <a:buNone/>
            </a:pPr>
            <a:r>
              <a:rPr lang="en-US" sz="2400" dirty="0">
                <a:solidFill>
                  <a:srgbClr val="4B4F58"/>
                </a:solidFill>
              </a:rPr>
              <a:t> y cada fila, una </a:t>
            </a:r>
            <a:pPr algn="l" indent="0" marL="0">
              <a:buNone/>
            </a:pPr>
            <a:r>
              <a:rPr lang="en-US" sz="2400" b="1" dirty="0">
                <a:solidFill>
                  <a:srgbClr val="4B4F58"/>
                </a:solidFill>
              </a:rPr>
              <a:t>tupla</a:t>
            </a:r>
            <a:pPr algn="l" indent="0" marL="0">
              <a:buNone/>
            </a:pPr>
            <a:r>
              <a:rPr lang="en-US" sz="2400" dirty="0">
                <a:solidFill>
                  <a:srgbClr val="4B4F58"/>
                </a:solidFill>
              </a:rPr>
              <a:t> (o registro).</a:t>
            </a:r>
            <a:endParaRPr lang="en-US" sz="2400" dirty="0"/>
          </a:p>
        </p:txBody>
      </p:sp>
      <p:pic>
        <p:nvPicPr>
          <p:cNvPr id="5" name="imagen-171" descr="Diagrama / tabla de la diapositiva">    </p:cNvPr>
          <p:cNvPicPr>
            <a:picLocks noChangeAspect="1"/>
          </p:cNvPicPr>
          <p:nvPr/>
        </p:nvPicPr>
        <p:blipFill>
          <a:blip r:embed="rId1"/>
          <a:stretch>
            <a:fillRect/>
          </a:stretch>
        </p:blipFill>
        <p:spPr>
          <a:xfrm>
            <a:off x="685800" y="3116092"/>
            <a:ext cx="8358102" cy="1828800"/>
          </a:xfrm>
          <a:prstGeom prst="rect">
            <a:avLst/>
          </a:prstGeom>
        </p:spPr>
      </p:pic>
      <p:sp>
        <p:nvSpPr>
          <p:cNvPr id="6" name="note-172"/>
          <p:cNvSpPr txBox="1"/>
          <p:nvPr/>
        </p:nvSpPr>
        <p:spPr>
          <a:xfrm>
            <a:off x="685800" y="5127772"/>
            <a:ext cx="10820095" cy="715061"/>
          </a:xfrm>
          <a:prstGeom prst="rect">
            <a:avLst/>
          </a:prstGeom>
          <a:noFill/>
          <a:ln/>
        </p:spPr>
        <p:txBody>
          <a:bodyPr wrap="square" lIns="0" tIns="0" rIns="0" bIns="0" rtlCol="0" anchor="t"/>
          <a:lstStyle/>
          <a:p>
            <a:pPr algn="l" indent="0" marL="0">
              <a:buNone/>
            </a:pPr>
            <a:r>
              <a:rPr lang="en-US" sz="2150" dirty="0">
                <a:solidFill>
                  <a:srgbClr val="4B4F58"/>
                </a:solidFill>
              </a:rPr>
              <a:t>Cada celda guarda un </a:t>
            </a:r>
            <a:pPr algn="l" indent="0" marL="0">
              <a:buNone/>
            </a:pPr>
            <a:r>
              <a:rPr lang="en-US" sz="2150" b="1" dirty="0">
                <a:solidFill>
                  <a:srgbClr val="4B4F58"/>
                </a:solidFill>
              </a:rPr>
              <a:t>valor</a:t>
            </a:r>
            <a:pPr algn="l" indent="0" marL="0">
              <a:buNone/>
            </a:pPr>
            <a:r>
              <a:rPr lang="en-US" sz="2150" dirty="0">
                <a:solidFill>
                  <a:srgbClr val="4B4F58"/>
                </a:solidFill>
              </a:rPr>
              <a:t>. La clave primaria (aquí </a:t>
            </a:r>
            <a:pPr algn="l" indent="0" marL="0">
              <a:buNone/>
            </a:pPr>
            <a:r>
              <a:rPr lang="en-US" sz="2150" dirty="0">
                <a:solidFill>
                  <a:srgbClr val="0D1A7A"/>
                </a:solidFill>
                <a:latin typeface="Courier New" pitchFamily="34" charset="0"/>
                <a:ea typeface="Courier New" pitchFamily="34" charset="-122"/>
                <a:cs typeface="Courier New" pitchFamily="34" charset="-120"/>
              </a:rPr>
              <a:t>NIF</a:t>
            </a:r>
            <a:pPr algn="l" indent="0" marL="0">
              <a:buNone/>
            </a:pPr>
            <a:r>
              <a:rPr lang="en-US" sz="2150" dirty="0">
                <a:solidFill>
                  <a:srgbClr val="4B4F58"/>
                </a:solidFill>
              </a:rPr>
              <a:t>) identifica cada tupla.</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Terminología del modelo relacional</a:t>
            </a:r>
            <a:endParaRPr lang="en-US" sz="4000" dirty="0"/>
          </a:p>
        </p:txBody>
      </p:sp>
      <p:sp>
        <p:nvSpPr>
          <p:cNvPr id="4" name="card-348"/>
          <p:cNvSpPr/>
          <p:nvPr/>
        </p:nvSpPr>
        <p:spPr>
          <a:xfrm>
            <a:off x="685800" y="1783080"/>
            <a:ext cx="3484778" cy="2127108"/>
          </a:xfrm>
          <a:prstGeom prst="roundRect">
            <a:avLst>
              <a:gd name="adj" fmla="val 5159"/>
            </a:avLst>
          </a:prstGeom>
          <a:solidFill>
            <a:schemeClr val="bg1"/>
          </a:solidFill>
          <a:ln w="19050">
            <a:solidFill>
              <a:srgbClr val="15171C"/>
            </a:solidFill>
            <a:prstDash val="solid"/>
          </a:ln>
        </p:spPr>
      </p:sp>
      <p:sp>
        <p:nvSpPr>
          <p:cNvPr id="5" name="tag-pill-349"/>
          <p:cNvSpPr/>
          <p:nvPr/>
        </p:nvSpPr>
        <p:spPr>
          <a:xfrm>
            <a:off x="868680" y="1947672"/>
            <a:ext cx="592531" cy="256032"/>
          </a:xfrm>
          <a:prstGeom prst="roundRect">
            <a:avLst>
              <a:gd name="adj" fmla="val 50000"/>
            </a:avLst>
          </a:prstGeom>
          <a:solidFill>
            <a:srgbClr val="E8EBFC"/>
          </a:solidFill>
          <a:ln/>
        </p:spPr>
      </p:sp>
      <p:sp>
        <p:nvSpPr>
          <p:cNvPr id="6" name="tag-350"/>
          <p:cNvSpPr txBox="1"/>
          <p:nvPr/>
        </p:nvSpPr>
        <p:spPr>
          <a:xfrm>
            <a:off x="868680" y="1947672"/>
            <a:ext cx="592531" cy="256032"/>
          </a:xfrm>
          <a:prstGeom prst="rect">
            <a:avLst/>
          </a:prstGeom>
          <a:noFill/>
          <a:ln/>
        </p:spPr>
        <p:txBody>
          <a:bodyPr wrap="square" lIns="0" tIns="0" rIns="0" bIns="0" rtlCol="0" anchor="ctr"/>
          <a:lstStyle/>
          <a:p>
            <a:pPr algn="ctr" indent="0" marL="0">
              <a:buNone/>
            </a:pPr>
            <a:r>
              <a:rPr lang="en-US" sz="1100" b="1" dirty="0">
                <a:solidFill>
                  <a:srgbClr val="0D1A7A"/>
                </a:solidFill>
              </a:rPr>
              <a:t>FILA</a:t>
            </a:r>
            <a:endParaRPr lang="en-US" sz="1100" dirty="0"/>
          </a:p>
        </p:txBody>
      </p:sp>
      <p:sp>
        <p:nvSpPr>
          <p:cNvPr id="7" name="card-h-351"/>
          <p:cNvSpPr txBox="1"/>
          <p:nvPr/>
        </p:nvSpPr>
        <p:spPr>
          <a:xfrm>
            <a:off x="868680" y="2331720"/>
            <a:ext cx="3119018" cy="362275"/>
          </a:xfrm>
          <a:prstGeom prst="rect">
            <a:avLst/>
          </a:prstGeom>
          <a:noFill/>
          <a:ln/>
        </p:spPr>
        <p:txBody>
          <a:bodyPr wrap="square" lIns="0" tIns="0" rIns="0" bIns="0" rtlCol="0" anchor="t"/>
          <a:lstStyle/>
          <a:p>
            <a:pPr algn="l" indent="0" marL="0">
              <a:buNone/>
            </a:pPr>
            <a:r>
              <a:rPr lang="en-US" sz="1750" b="1" dirty="0">
                <a:solidFill>
                  <a:srgbClr val="15171C"/>
                </a:solidFill>
              </a:rPr>
              <a:t>Tupla</a:t>
            </a:r>
            <a:endParaRPr lang="en-US" sz="1750" dirty="0"/>
          </a:p>
        </p:txBody>
      </p:sp>
      <p:sp>
        <p:nvSpPr>
          <p:cNvPr id="8" name="card-p-352"/>
          <p:cNvSpPr txBox="1"/>
          <p:nvPr/>
        </p:nvSpPr>
        <p:spPr>
          <a:xfrm>
            <a:off x="868680" y="2693995"/>
            <a:ext cx="3119018" cy="772698"/>
          </a:xfrm>
          <a:prstGeom prst="rect">
            <a:avLst/>
          </a:prstGeom>
          <a:noFill/>
          <a:ln/>
        </p:spPr>
        <p:txBody>
          <a:bodyPr wrap="square" lIns="0" tIns="0" rIns="0" bIns="0" rtlCol="0" anchor="t"/>
          <a:lstStyle/>
          <a:p>
            <a:pPr algn="l" indent="0" marL="0">
              <a:buNone/>
            </a:pPr>
            <a:r>
              <a:rPr lang="en-US" sz="1550" dirty="0">
                <a:solidFill>
                  <a:srgbClr val="4B4F58"/>
                </a:solidFill>
              </a:rPr>
              <a:t>Cada una de las filas de una tabla. También se llama </a:t>
            </a:r>
            <a:pPr algn="l" indent="0" marL="0">
              <a:buNone/>
            </a:pPr>
            <a:r>
              <a:rPr lang="en-US" sz="1550" b="1" dirty="0">
                <a:solidFill>
                  <a:srgbClr val="4B4F58"/>
                </a:solidFill>
              </a:rPr>
              <a:t>registro</a:t>
            </a:r>
            <a:pPr algn="l" indent="0" marL="0">
              <a:buNone/>
            </a:pPr>
            <a:r>
              <a:rPr lang="en-US" sz="1550" dirty="0">
                <a:solidFill>
                  <a:srgbClr val="4B4F58"/>
                </a:solidFill>
              </a:rPr>
              <a:t>.</a:t>
            </a:r>
            <a:endParaRPr lang="en-US" sz="1550" dirty="0"/>
          </a:p>
        </p:txBody>
      </p:sp>
      <p:sp>
        <p:nvSpPr>
          <p:cNvPr id="9" name="card-353"/>
          <p:cNvSpPr/>
          <p:nvPr/>
        </p:nvSpPr>
        <p:spPr>
          <a:xfrm>
            <a:off x="4353458" y="1783080"/>
            <a:ext cx="3484778" cy="2127108"/>
          </a:xfrm>
          <a:prstGeom prst="roundRect">
            <a:avLst>
              <a:gd name="adj" fmla="val 5159"/>
            </a:avLst>
          </a:prstGeom>
          <a:solidFill>
            <a:schemeClr val="bg1"/>
          </a:solidFill>
          <a:ln w="19050">
            <a:solidFill>
              <a:srgbClr val="15171C"/>
            </a:solidFill>
            <a:prstDash val="solid"/>
          </a:ln>
        </p:spPr>
      </p:sp>
      <p:sp>
        <p:nvSpPr>
          <p:cNvPr id="10" name="tag-pill-354"/>
          <p:cNvSpPr/>
          <p:nvPr/>
        </p:nvSpPr>
        <p:spPr>
          <a:xfrm>
            <a:off x="4536338" y="1947672"/>
            <a:ext cx="844906" cy="256032"/>
          </a:xfrm>
          <a:prstGeom prst="roundRect">
            <a:avLst>
              <a:gd name="adj" fmla="val 50000"/>
            </a:avLst>
          </a:prstGeom>
          <a:solidFill>
            <a:srgbClr val="E8EBFC"/>
          </a:solidFill>
          <a:ln/>
        </p:spPr>
      </p:sp>
      <p:sp>
        <p:nvSpPr>
          <p:cNvPr id="11" name="tag-355"/>
          <p:cNvSpPr txBox="1"/>
          <p:nvPr/>
        </p:nvSpPr>
        <p:spPr>
          <a:xfrm>
            <a:off x="4536338" y="1947672"/>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COLUMNA</a:t>
            </a:r>
            <a:endParaRPr lang="en-US" sz="1100" dirty="0"/>
          </a:p>
        </p:txBody>
      </p:sp>
      <p:sp>
        <p:nvSpPr>
          <p:cNvPr id="12" name="card-h-356"/>
          <p:cNvSpPr txBox="1"/>
          <p:nvPr/>
        </p:nvSpPr>
        <p:spPr>
          <a:xfrm>
            <a:off x="4536338" y="2331720"/>
            <a:ext cx="3119018" cy="362275"/>
          </a:xfrm>
          <a:prstGeom prst="rect">
            <a:avLst/>
          </a:prstGeom>
          <a:noFill/>
          <a:ln/>
        </p:spPr>
        <p:txBody>
          <a:bodyPr wrap="square" lIns="0" tIns="0" rIns="0" bIns="0" rtlCol="0" anchor="t"/>
          <a:lstStyle/>
          <a:p>
            <a:pPr algn="l" indent="0" marL="0">
              <a:buNone/>
            </a:pPr>
            <a:r>
              <a:rPr lang="en-US" sz="1750" b="1" dirty="0">
                <a:solidFill>
                  <a:srgbClr val="15171C"/>
                </a:solidFill>
              </a:rPr>
              <a:t>Atributo</a:t>
            </a:r>
            <a:endParaRPr lang="en-US" sz="1750" dirty="0"/>
          </a:p>
        </p:txBody>
      </p:sp>
      <p:sp>
        <p:nvSpPr>
          <p:cNvPr id="13" name="card-p-357"/>
          <p:cNvSpPr txBox="1"/>
          <p:nvPr/>
        </p:nvSpPr>
        <p:spPr>
          <a:xfrm>
            <a:off x="4536338" y="2693995"/>
            <a:ext cx="3119018" cy="772698"/>
          </a:xfrm>
          <a:prstGeom prst="rect">
            <a:avLst/>
          </a:prstGeom>
          <a:noFill/>
          <a:ln/>
        </p:spPr>
        <p:txBody>
          <a:bodyPr wrap="square" lIns="0" tIns="0" rIns="0" bIns="0" rtlCol="0" anchor="t"/>
          <a:lstStyle/>
          <a:p>
            <a:pPr algn="l" indent="0" marL="0">
              <a:buNone/>
            </a:pPr>
            <a:r>
              <a:rPr lang="en-US" sz="1550" dirty="0">
                <a:solidFill>
                  <a:srgbClr val="4B4F58"/>
                </a:solidFill>
              </a:rPr>
              <a:t>Cada columna de una tabla. Por ejemplo: nombre, fecha, código…</a:t>
            </a:r>
            <a:endParaRPr lang="en-US" sz="1550" dirty="0"/>
          </a:p>
        </p:txBody>
      </p:sp>
      <p:sp>
        <p:nvSpPr>
          <p:cNvPr id="14" name="card-358"/>
          <p:cNvSpPr/>
          <p:nvPr/>
        </p:nvSpPr>
        <p:spPr>
          <a:xfrm>
            <a:off x="8021117" y="1783080"/>
            <a:ext cx="3484778" cy="2127108"/>
          </a:xfrm>
          <a:prstGeom prst="roundRect">
            <a:avLst>
              <a:gd name="adj" fmla="val 5159"/>
            </a:avLst>
          </a:prstGeom>
          <a:solidFill>
            <a:schemeClr val="bg1"/>
          </a:solidFill>
          <a:ln w="19050">
            <a:solidFill>
              <a:srgbClr val="15171C"/>
            </a:solidFill>
            <a:prstDash val="solid"/>
          </a:ln>
        </p:spPr>
      </p:sp>
      <p:sp>
        <p:nvSpPr>
          <p:cNvPr id="15" name="tag-pill-359"/>
          <p:cNvSpPr/>
          <p:nvPr/>
        </p:nvSpPr>
        <p:spPr>
          <a:xfrm>
            <a:off x="8203997" y="1947672"/>
            <a:ext cx="844906" cy="256032"/>
          </a:xfrm>
          <a:prstGeom prst="roundRect">
            <a:avLst>
              <a:gd name="adj" fmla="val 50000"/>
            </a:avLst>
          </a:prstGeom>
          <a:solidFill>
            <a:srgbClr val="E8EBFC"/>
          </a:solidFill>
          <a:ln/>
        </p:spPr>
      </p:sp>
      <p:sp>
        <p:nvSpPr>
          <p:cNvPr id="16" name="tag-360"/>
          <p:cNvSpPr txBox="1"/>
          <p:nvPr/>
        </p:nvSpPr>
        <p:spPr>
          <a:xfrm>
            <a:off x="8203997" y="1947672"/>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VALORES</a:t>
            </a:r>
            <a:endParaRPr lang="en-US" sz="1100" dirty="0"/>
          </a:p>
        </p:txBody>
      </p:sp>
      <p:sp>
        <p:nvSpPr>
          <p:cNvPr id="17" name="card-h-361"/>
          <p:cNvSpPr txBox="1"/>
          <p:nvPr/>
        </p:nvSpPr>
        <p:spPr>
          <a:xfrm>
            <a:off x="8203997" y="2331720"/>
            <a:ext cx="3119018" cy="362275"/>
          </a:xfrm>
          <a:prstGeom prst="rect">
            <a:avLst/>
          </a:prstGeom>
          <a:noFill/>
          <a:ln/>
        </p:spPr>
        <p:txBody>
          <a:bodyPr wrap="square" lIns="0" tIns="0" rIns="0" bIns="0" rtlCol="0" anchor="t"/>
          <a:lstStyle/>
          <a:p>
            <a:pPr algn="l" indent="0" marL="0">
              <a:buNone/>
            </a:pPr>
            <a:r>
              <a:rPr lang="en-US" sz="1750" b="1" dirty="0">
                <a:solidFill>
                  <a:srgbClr val="15171C"/>
                </a:solidFill>
              </a:rPr>
              <a:t>Dominio</a:t>
            </a:r>
            <a:endParaRPr lang="en-US" sz="1750" dirty="0"/>
          </a:p>
        </p:txBody>
      </p:sp>
      <p:sp>
        <p:nvSpPr>
          <p:cNvPr id="18" name="card-p-362"/>
          <p:cNvSpPr txBox="1"/>
          <p:nvPr/>
        </p:nvSpPr>
        <p:spPr>
          <a:xfrm>
            <a:off x="8203997" y="2693995"/>
            <a:ext cx="3119018" cy="1015025"/>
          </a:xfrm>
          <a:prstGeom prst="rect">
            <a:avLst/>
          </a:prstGeom>
          <a:noFill/>
          <a:ln/>
        </p:spPr>
        <p:txBody>
          <a:bodyPr wrap="square" lIns="0" tIns="0" rIns="0" bIns="0" rtlCol="0" anchor="t"/>
          <a:lstStyle/>
          <a:p>
            <a:pPr algn="l" indent="0" marL="0">
              <a:buNone/>
            </a:pPr>
            <a:r>
              <a:rPr lang="en-US" sz="1550" dirty="0">
                <a:solidFill>
                  <a:srgbClr val="4B4F58"/>
                </a:solidFill>
              </a:rPr>
              <a:t>El rango de valores posibles de un atributo: enteros en un </a:t>
            </a:r>
            <a:pPr algn="l" indent="0" marL="0">
              <a:buNone/>
            </a:pPr>
            <a:r>
              <a:rPr lang="en-US" sz="1550" dirty="0">
                <a:solidFill>
                  <a:srgbClr val="0D1A7A"/>
                </a:solidFill>
                <a:latin typeface="Courier New" pitchFamily="34" charset="0"/>
                <a:ea typeface="Courier New" pitchFamily="34" charset="-122"/>
                <a:cs typeface="Courier New" pitchFamily="34" charset="-120"/>
              </a:rPr>
              <a:t>código</a:t>
            </a:r>
            <a:pPr algn="l" indent="0" marL="0">
              <a:buNone/>
            </a:pPr>
            <a:r>
              <a:rPr lang="en-US" sz="1550" dirty="0">
                <a:solidFill>
                  <a:srgbClr val="4B4F58"/>
                </a:solidFill>
              </a:rPr>
              <a:t>, cualquier cadena de texto en un </a:t>
            </a:r>
            <a:pPr algn="l" indent="0" marL="0">
              <a:buNone/>
            </a:pPr>
            <a:r>
              <a:rPr lang="en-US" sz="1550" dirty="0">
                <a:solidFill>
                  <a:srgbClr val="0D1A7A"/>
                </a:solidFill>
                <a:latin typeface="Courier New" pitchFamily="34" charset="0"/>
                <a:ea typeface="Courier New" pitchFamily="34" charset="-122"/>
                <a:cs typeface="Courier New" pitchFamily="34" charset="-120"/>
              </a:rPr>
              <a:t>nombre</a:t>
            </a:r>
            <a:pPr algn="l" indent="0" marL="0">
              <a:buNone/>
            </a:pPr>
            <a:r>
              <a:rPr lang="en-US" sz="1550" dirty="0">
                <a:solidFill>
                  <a:srgbClr val="4B4F58"/>
                </a:solidFill>
              </a:rPr>
              <a:t>.</a:t>
            </a:r>
            <a:endParaRPr lang="en-US" sz="1550" dirty="0"/>
          </a:p>
        </p:txBody>
      </p:sp>
      <p:sp>
        <p:nvSpPr>
          <p:cNvPr id="19" name="card-363"/>
          <p:cNvSpPr/>
          <p:nvPr/>
        </p:nvSpPr>
        <p:spPr>
          <a:xfrm>
            <a:off x="685800" y="4093068"/>
            <a:ext cx="3484778" cy="1884782"/>
          </a:xfrm>
          <a:prstGeom prst="roundRect">
            <a:avLst>
              <a:gd name="adj" fmla="val 5822"/>
            </a:avLst>
          </a:prstGeom>
          <a:solidFill>
            <a:schemeClr val="bg1"/>
          </a:solidFill>
          <a:ln w="19050">
            <a:solidFill>
              <a:srgbClr val="15171C"/>
            </a:solidFill>
            <a:prstDash val="solid"/>
          </a:ln>
        </p:spPr>
      </p:sp>
      <p:sp>
        <p:nvSpPr>
          <p:cNvPr id="20" name="tag-pill-364"/>
          <p:cNvSpPr/>
          <p:nvPr/>
        </p:nvSpPr>
        <p:spPr>
          <a:xfrm>
            <a:off x="868680" y="4257660"/>
            <a:ext cx="1433779" cy="256032"/>
          </a:xfrm>
          <a:prstGeom prst="roundRect">
            <a:avLst>
              <a:gd name="adj" fmla="val 50000"/>
            </a:avLst>
          </a:prstGeom>
          <a:solidFill>
            <a:srgbClr val="E8EBFC"/>
          </a:solidFill>
          <a:ln/>
        </p:spPr>
      </p:sp>
      <p:sp>
        <p:nvSpPr>
          <p:cNvPr id="21" name="tag-365"/>
          <p:cNvSpPr txBox="1"/>
          <p:nvPr/>
        </p:nvSpPr>
        <p:spPr>
          <a:xfrm>
            <a:off x="868680" y="4257660"/>
            <a:ext cx="1433779" cy="256032"/>
          </a:xfrm>
          <a:prstGeom prst="rect">
            <a:avLst/>
          </a:prstGeom>
          <a:noFill/>
          <a:ln/>
        </p:spPr>
        <p:txBody>
          <a:bodyPr wrap="square" lIns="0" tIns="0" rIns="0" bIns="0" rtlCol="0" anchor="ctr"/>
          <a:lstStyle/>
          <a:p>
            <a:pPr algn="ctr" indent="0" marL="0">
              <a:buNone/>
            </a:pPr>
            <a:r>
              <a:rPr lang="en-US" sz="1100" b="1" dirty="0">
                <a:solidFill>
                  <a:srgbClr val="0D1A7A"/>
                </a:solidFill>
              </a:rPr>
              <a:t>Nº DE COLUMNAS</a:t>
            </a:r>
            <a:endParaRPr lang="en-US" sz="1100" dirty="0"/>
          </a:p>
        </p:txBody>
      </p:sp>
      <p:sp>
        <p:nvSpPr>
          <p:cNvPr id="22" name="card-h-366"/>
          <p:cNvSpPr txBox="1"/>
          <p:nvPr/>
        </p:nvSpPr>
        <p:spPr>
          <a:xfrm>
            <a:off x="868680" y="4641708"/>
            <a:ext cx="3119018" cy="362275"/>
          </a:xfrm>
          <a:prstGeom prst="rect">
            <a:avLst/>
          </a:prstGeom>
          <a:noFill/>
          <a:ln/>
        </p:spPr>
        <p:txBody>
          <a:bodyPr wrap="square" lIns="0" tIns="0" rIns="0" bIns="0" rtlCol="0" anchor="t"/>
          <a:lstStyle/>
          <a:p>
            <a:pPr algn="l" indent="0" marL="0">
              <a:buNone/>
            </a:pPr>
            <a:r>
              <a:rPr lang="en-US" sz="1750" b="1" dirty="0">
                <a:solidFill>
                  <a:srgbClr val="15171C"/>
                </a:solidFill>
              </a:rPr>
              <a:t>Grado</a:t>
            </a:r>
            <a:endParaRPr lang="en-US" sz="1750" dirty="0"/>
          </a:p>
        </p:txBody>
      </p:sp>
      <p:sp>
        <p:nvSpPr>
          <p:cNvPr id="23" name="card-p-367"/>
          <p:cNvSpPr txBox="1"/>
          <p:nvPr/>
        </p:nvSpPr>
        <p:spPr>
          <a:xfrm>
            <a:off x="868680" y="5003983"/>
            <a:ext cx="3119018" cy="530372"/>
          </a:xfrm>
          <a:prstGeom prst="rect">
            <a:avLst/>
          </a:prstGeom>
          <a:noFill/>
          <a:ln/>
        </p:spPr>
        <p:txBody>
          <a:bodyPr wrap="square" lIns="0" tIns="0" rIns="0" bIns="0" rtlCol="0" anchor="t"/>
          <a:lstStyle/>
          <a:p>
            <a:pPr algn="l" indent="0" marL="0">
              <a:buNone/>
            </a:pPr>
            <a:r>
              <a:rPr lang="en-US" sz="1550" dirty="0">
                <a:solidFill>
                  <a:srgbClr val="4B4F58"/>
                </a:solidFill>
              </a:rPr>
              <a:t>El número de </a:t>
            </a:r>
            <a:pPr algn="l" indent="0" marL="0">
              <a:buNone/>
            </a:pPr>
            <a:r>
              <a:rPr lang="en-US" sz="1550" b="1" dirty="0">
                <a:solidFill>
                  <a:srgbClr val="4B4F58"/>
                </a:solidFill>
              </a:rPr>
              <a:t>atributos</a:t>
            </a:r>
            <a:pPr algn="l" indent="0" marL="0">
              <a:buNone/>
            </a:pPr>
            <a:r>
              <a:rPr lang="en-US" sz="1550" dirty="0">
                <a:solidFill>
                  <a:srgbClr val="4B4F58"/>
                </a:solidFill>
              </a:rPr>
              <a:t> (columnas) de una relación.</a:t>
            </a:r>
            <a:endParaRPr lang="en-US" sz="1550" dirty="0"/>
          </a:p>
        </p:txBody>
      </p:sp>
      <p:sp>
        <p:nvSpPr>
          <p:cNvPr id="24" name="card-368"/>
          <p:cNvSpPr/>
          <p:nvPr/>
        </p:nvSpPr>
        <p:spPr>
          <a:xfrm>
            <a:off x="4353458" y="4093068"/>
            <a:ext cx="3484778" cy="1884782"/>
          </a:xfrm>
          <a:prstGeom prst="roundRect">
            <a:avLst>
              <a:gd name="adj" fmla="val 5822"/>
            </a:avLst>
          </a:prstGeom>
          <a:solidFill>
            <a:schemeClr val="bg1"/>
          </a:solidFill>
          <a:ln w="19050">
            <a:solidFill>
              <a:srgbClr val="15171C"/>
            </a:solidFill>
            <a:prstDash val="solid"/>
          </a:ln>
        </p:spPr>
      </p:sp>
      <p:sp>
        <p:nvSpPr>
          <p:cNvPr id="25" name="tag-pill-369"/>
          <p:cNvSpPr/>
          <p:nvPr/>
        </p:nvSpPr>
        <p:spPr>
          <a:xfrm>
            <a:off x="4536338" y="4257660"/>
            <a:ext cx="1181405" cy="256032"/>
          </a:xfrm>
          <a:prstGeom prst="roundRect">
            <a:avLst>
              <a:gd name="adj" fmla="val 50000"/>
            </a:avLst>
          </a:prstGeom>
          <a:solidFill>
            <a:srgbClr val="E8EBFC"/>
          </a:solidFill>
          <a:ln/>
        </p:spPr>
      </p:sp>
      <p:sp>
        <p:nvSpPr>
          <p:cNvPr id="26" name="tag-370"/>
          <p:cNvSpPr txBox="1"/>
          <p:nvPr/>
        </p:nvSpPr>
        <p:spPr>
          <a:xfrm>
            <a:off x="4536338" y="4257660"/>
            <a:ext cx="1181405" cy="256032"/>
          </a:xfrm>
          <a:prstGeom prst="rect">
            <a:avLst/>
          </a:prstGeom>
          <a:noFill/>
          <a:ln/>
        </p:spPr>
        <p:txBody>
          <a:bodyPr wrap="square" lIns="0" tIns="0" rIns="0" bIns="0" rtlCol="0" anchor="ctr"/>
          <a:lstStyle/>
          <a:p>
            <a:pPr algn="ctr" indent="0" marL="0">
              <a:buNone/>
            </a:pPr>
            <a:r>
              <a:rPr lang="en-US" sz="1100" b="1" dirty="0">
                <a:solidFill>
                  <a:srgbClr val="0D1A7A"/>
                </a:solidFill>
              </a:rPr>
              <a:t>Nº DE FILAS</a:t>
            </a:r>
            <a:endParaRPr lang="en-US" sz="1100" dirty="0"/>
          </a:p>
        </p:txBody>
      </p:sp>
      <p:sp>
        <p:nvSpPr>
          <p:cNvPr id="27" name="card-h-371"/>
          <p:cNvSpPr txBox="1"/>
          <p:nvPr/>
        </p:nvSpPr>
        <p:spPr>
          <a:xfrm>
            <a:off x="4536338" y="4641708"/>
            <a:ext cx="3119018" cy="362275"/>
          </a:xfrm>
          <a:prstGeom prst="rect">
            <a:avLst/>
          </a:prstGeom>
          <a:noFill/>
          <a:ln/>
        </p:spPr>
        <p:txBody>
          <a:bodyPr wrap="square" lIns="0" tIns="0" rIns="0" bIns="0" rtlCol="0" anchor="t"/>
          <a:lstStyle/>
          <a:p>
            <a:pPr algn="l" indent="0" marL="0">
              <a:buNone/>
            </a:pPr>
            <a:r>
              <a:rPr lang="en-US" sz="1750" b="1" dirty="0">
                <a:solidFill>
                  <a:srgbClr val="15171C"/>
                </a:solidFill>
              </a:rPr>
              <a:t>Cardinalidad</a:t>
            </a:r>
            <a:endParaRPr lang="en-US" sz="1750" dirty="0"/>
          </a:p>
        </p:txBody>
      </p:sp>
      <p:sp>
        <p:nvSpPr>
          <p:cNvPr id="28" name="card-p-372"/>
          <p:cNvSpPr txBox="1"/>
          <p:nvPr/>
        </p:nvSpPr>
        <p:spPr>
          <a:xfrm>
            <a:off x="4536338" y="5003983"/>
            <a:ext cx="3119018" cy="772698"/>
          </a:xfrm>
          <a:prstGeom prst="rect">
            <a:avLst/>
          </a:prstGeom>
          <a:noFill/>
          <a:ln/>
        </p:spPr>
        <p:txBody>
          <a:bodyPr wrap="square" lIns="0" tIns="0" rIns="0" bIns="0" rtlCol="0" anchor="t"/>
          <a:lstStyle/>
          <a:p>
            <a:pPr algn="l" indent="0" marL="0">
              <a:buNone/>
            </a:pPr>
            <a:r>
              <a:rPr lang="en-US" sz="1550" dirty="0">
                <a:solidFill>
                  <a:srgbClr val="4B4F58"/>
                </a:solidFill>
              </a:rPr>
              <a:t>El número de </a:t>
            </a:r>
            <a:pPr algn="l" indent="0" marL="0">
              <a:buNone/>
            </a:pPr>
            <a:r>
              <a:rPr lang="en-US" sz="1550" b="1" dirty="0">
                <a:solidFill>
                  <a:srgbClr val="4B4F58"/>
                </a:solidFill>
              </a:rPr>
              <a:t>tuplas</a:t>
            </a:r>
            <a:pPr algn="l" indent="0" marL="0">
              <a:buNone/>
            </a:pPr>
            <a:r>
              <a:rPr lang="en-US" sz="1550" dirty="0">
                <a:solidFill>
                  <a:srgbClr val="4B4F58"/>
                </a:solidFill>
              </a:rPr>
              <a:t> (filas) de la relación: los registros que tiene la tabla.</a:t>
            </a:r>
            <a:endParaRPr lang="en-US" sz="15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Tres vocabularios para lo mismo</a:t>
            </a:r>
            <a:endParaRPr lang="en-US" sz="4000" dirty="0"/>
          </a:p>
        </p:txBody>
      </p:sp>
      <p:sp>
        <p:nvSpPr>
          <p:cNvPr id="4" name="card-453"/>
          <p:cNvSpPr/>
          <p:nvPr/>
        </p:nvSpPr>
        <p:spPr>
          <a:xfrm>
            <a:off x="685800" y="2377440"/>
            <a:ext cx="3484778" cy="2945191"/>
          </a:xfrm>
          <a:prstGeom prst="roundRect">
            <a:avLst>
              <a:gd name="adj" fmla="val 3726"/>
            </a:avLst>
          </a:prstGeom>
          <a:solidFill>
            <a:schemeClr val="bg1"/>
          </a:solidFill>
          <a:ln w="19050">
            <a:solidFill>
              <a:srgbClr val="15171C"/>
            </a:solidFill>
            <a:prstDash val="solid"/>
          </a:ln>
        </p:spPr>
      </p:sp>
      <p:sp>
        <p:nvSpPr>
          <p:cNvPr id="5" name="tag-pill-454"/>
          <p:cNvSpPr/>
          <p:nvPr/>
        </p:nvSpPr>
        <p:spPr>
          <a:xfrm>
            <a:off x="868680" y="2542032"/>
            <a:ext cx="1097280" cy="256032"/>
          </a:xfrm>
          <a:prstGeom prst="roundRect">
            <a:avLst>
              <a:gd name="adj" fmla="val 50000"/>
            </a:avLst>
          </a:prstGeom>
          <a:solidFill>
            <a:srgbClr val="E8EBFC"/>
          </a:solidFill>
          <a:ln/>
        </p:spPr>
      </p:sp>
      <p:sp>
        <p:nvSpPr>
          <p:cNvPr id="6" name="tag-455"/>
          <p:cNvSpPr txBox="1"/>
          <p:nvPr/>
        </p:nvSpPr>
        <p:spPr>
          <a:xfrm>
            <a:off x="868680" y="2542032"/>
            <a:ext cx="1097280" cy="256032"/>
          </a:xfrm>
          <a:prstGeom prst="rect">
            <a:avLst/>
          </a:prstGeom>
          <a:noFill/>
          <a:ln/>
        </p:spPr>
        <p:txBody>
          <a:bodyPr wrap="square" lIns="0" tIns="0" rIns="0" bIns="0" rtlCol="0" anchor="ctr"/>
          <a:lstStyle/>
          <a:p>
            <a:pPr algn="ctr" indent="0" marL="0">
              <a:buNone/>
            </a:pPr>
            <a:r>
              <a:rPr lang="en-US" sz="1100" b="1" dirty="0">
                <a:solidFill>
                  <a:srgbClr val="0D1A7A"/>
                </a:solidFill>
              </a:rPr>
              <a:t>RELACIONAL</a:t>
            </a:r>
            <a:endParaRPr lang="en-US" sz="1100" dirty="0"/>
          </a:p>
        </p:txBody>
      </p:sp>
      <p:sp>
        <p:nvSpPr>
          <p:cNvPr id="7" name="card-h-456"/>
          <p:cNvSpPr txBox="1"/>
          <p:nvPr/>
        </p:nvSpPr>
        <p:spPr>
          <a:xfrm>
            <a:off x="868680" y="2926080"/>
            <a:ext cx="3119018" cy="727314"/>
          </a:xfrm>
          <a:prstGeom prst="rect">
            <a:avLst/>
          </a:prstGeom>
          <a:noFill/>
          <a:ln/>
        </p:spPr>
        <p:txBody>
          <a:bodyPr wrap="square" lIns="0" tIns="0" rIns="0" bIns="0" rtlCol="0" anchor="t"/>
          <a:lstStyle/>
          <a:p>
            <a:pPr algn="l" indent="0" marL="0">
              <a:buNone/>
            </a:pPr>
            <a:r>
              <a:rPr lang="en-US" sz="2050" b="1" dirty="0">
                <a:solidFill>
                  <a:srgbClr val="15171C"/>
                </a:solidFill>
              </a:rPr>
              <a:t>Relación · tupla · atributo</a:t>
            </a:r>
            <a:endParaRPr lang="en-US" sz="2050" dirty="0"/>
          </a:p>
        </p:txBody>
      </p:sp>
      <p:sp>
        <p:nvSpPr>
          <p:cNvPr id="8" name="card-p-457"/>
          <p:cNvSpPr txBox="1"/>
          <p:nvPr/>
        </p:nvSpPr>
        <p:spPr>
          <a:xfrm>
            <a:off x="868680" y="3653394"/>
            <a:ext cx="3119018" cy="1468069"/>
          </a:xfrm>
          <a:prstGeom prst="rect">
            <a:avLst/>
          </a:prstGeom>
          <a:noFill/>
          <a:ln/>
        </p:spPr>
        <p:txBody>
          <a:bodyPr wrap="square" lIns="0" tIns="0" rIns="0" bIns="0" rtlCol="0" anchor="t"/>
          <a:lstStyle/>
          <a:p>
            <a:pPr algn="l" indent="0" marL="0">
              <a:buNone/>
            </a:pPr>
            <a:r>
              <a:rPr lang="en-US" sz="1850" dirty="0">
                <a:solidFill>
                  <a:srgbClr val="4B4F58"/>
                </a:solidFill>
              </a:rPr>
              <a:t>El lenguaje formal de Codd: una relación es un conjunto de tuplas; cada atributo toma valores de un dominio.</a:t>
            </a:r>
            <a:endParaRPr lang="en-US" sz="1850" dirty="0"/>
          </a:p>
        </p:txBody>
      </p:sp>
      <p:sp>
        <p:nvSpPr>
          <p:cNvPr id="9" name="card-458"/>
          <p:cNvSpPr/>
          <p:nvPr/>
        </p:nvSpPr>
        <p:spPr>
          <a:xfrm>
            <a:off x="4353458" y="2377440"/>
            <a:ext cx="3484778" cy="2945191"/>
          </a:xfrm>
          <a:prstGeom prst="roundRect">
            <a:avLst>
              <a:gd name="adj" fmla="val 3726"/>
            </a:avLst>
          </a:prstGeom>
          <a:solidFill>
            <a:schemeClr val="bg1"/>
          </a:solidFill>
          <a:ln w="19050">
            <a:solidFill>
              <a:srgbClr val="15171C"/>
            </a:solidFill>
            <a:prstDash val="solid"/>
          </a:ln>
        </p:spPr>
      </p:sp>
      <p:sp>
        <p:nvSpPr>
          <p:cNvPr id="10" name="tag-pill-459"/>
          <p:cNvSpPr/>
          <p:nvPr/>
        </p:nvSpPr>
        <p:spPr>
          <a:xfrm>
            <a:off x="4536338" y="2542032"/>
            <a:ext cx="676656" cy="256032"/>
          </a:xfrm>
          <a:prstGeom prst="roundRect">
            <a:avLst>
              <a:gd name="adj" fmla="val 50000"/>
            </a:avLst>
          </a:prstGeom>
          <a:solidFill>
            <a:srgbClr val="E8EBFC"/>
          </a:solidFill>
          <a:ln/>
        </p:spPr>
      </p:sp>
      <p:sp>
        <p:nvSpPr>
          <p:cNvPr id="11" name="tag-460"/>
          <p:cNvSpPr txBox="1"/>
          <p:nvPr/>
        </p:nvSpPr>
        <p:spPr>
          <a:xfrm>
            <a:off x="4536338" y="2542032"/>
            <a:ext cx="676656" cy="256032"/>
          </a:xfrm>
          <a:prstGeom prst="rect">
            <a:avLst/>
          </a:prstGeom>
          <a:noFill/>
          <a:ln/>
        </p:spPr>
        <p:txBody>
          <a:bodyPr wrap="square" lIns="0" tIns="0" rIns="0" bIns="0" rtlCol="0" anchor="ctr"/>
          <a:lstStyle/>
          <a:p>
            <a:pPr algn="ctr" indent="0" marL="0">
              <a:buNone/>
            </a:pPr>
            <a:r>
              <a:rPr lang="en-US" sz="1100" b="1" dirty="0">
                <a:solidFill>
                  <a:srgbClr val="0D1A7A"/>
                </a:solidFill>
              </a:rPr>
              <a:t>TABLA</a:t>
            </a:r>
            <a:endParaRPr lang="en-US" sz="1100" dirty="0"/>
          </a:p>
        </p:txBody>
      </p:sp>
      <p:sp>
        <p:nvSpPr>
          <p:cNvPr id="12" name="card-h-461"/>
          <p:cNvSpPr txBox="1"/>
          <p:nvPr/>
        </p:nvSpPr>
        <p:spPr>
          <a:xfrm>
            <a:off x="4536338" y="2926080"/>
            <a:ext cx="3119018" cy="409377"/>
          </a:xfrm>
          <a:prstGeom prst="rect">
            <a:avLst/>
          </a:prstGeom>
          <a:noFill/>
          <a:ln/>
        </p:spPr>
        <p:txBody>
          <a:bodyPr wrap="square" lIns="0" tIns="0" rIns="0" bIns="0" rtlCol="0" anchor="t"/>
          <a:lstStyle/>
          <a:p>
            <a:pPr algn="l" indent="0" marL="0">
              <a:buNone/>
            </a:pPr>
            <a:r>
              <a:rPr lang="en-US" sz="2050" b="1" dirty="0">
                <a:solidFill>
                  <a:srgbClr val="15171C"/>
                </a:solidFill>
              </a:rPr>
              <a:t>Tabla · fila · columna</a:t>
            </a:r>
            <a:endParaRPr lang="en-US" sz="2050" dirty="0"/>
          </a:p>
        </p:txBody>
      </p:sp>
      <p:sp>
        <p:nvSpPr>
          <p:cNvPr id="13" name="card-p-462"/>
          <p:cNvSpPr txBox="1"/>
          <p:nvPr/>
        </p:nvSpPr>
        <p:spPr>
          <a:xfrm>
            <a:off x="4536338" y="3335457"/>
            <a:ext cx="3119018" cy="899130"/>
          </a:xfrm>
          <a:prstGeom prst="rect">
            <a:avLst/>
          </a:prstGeom>
          <a:noFill/>
          <a:ln/>
        </p:spPr>
        <p:txBody>
          <a:bodyPr wrap="square" lIns="0" tIns="0" rIns="0" bIns="0" rtlCol="0" anchor="t"/>
          <a:lstStyle/>
          <a:p>
            <a:pPr algn="l" indent="0" marL="0">
              <a:buNone/>
            </a:pPr>
            <a:r>
              <a:rPr lang="en-US" sz="1850" dirty="0">
                <a:solidFill>
                  <a:srgbClr val="4B4F58"/>
                </a:solidFill>
              </a:rPr>
              <a:t>El vocabulario del SQL y del día a día: es el que usaremos casi siempre.</a:t>
            </a:r>
            <a:endParaRPr lang="en-US" sz="1850" dirty="0"/>
          </a:p>
        </p:txBody>
      </p:sp>
      <p:sp>
        <p:nvSpPr>
          <p:cNvPr id="14" name="card-463"/>
          <p:cNvSpPr/>
          <p:nvPr/>
        </p:nvSpPr>
        <p:spPr>
          <a:xfrm>
            <a:off x="8021117" y="2377440"/>
            <a:ext cx="3484778" cy="2945191"/>
          </a:xfrm>
          <a:prstGeom prst="roundRect">
            <a:avLst>
              <a:gd name="adj" fmla="val 3726"/>
            </a:avLst>
          </a:prstGeom>
          <a:solidFill>
            <a:schemeClr val="bg1"/>
          </a:solidFill>
          <a:ln w="19050">
            <a:solidFill>
              <a:srgbClr val="15171C"/>
            </a:solidFill>
            <a:prstDash val="solid"/>
          </a:ln>
        </p:spPr>
      </p:sp>
      <p:sp>
        <p:nvSpPr>
          <p:cNvPr id="15" name="tag-pill-464"/>
          <p:cNvSpPr/>
          <p:nvPr/>
        </p:nvSpPr>
        <p:spPr>
          <a:xfrm>
            <a:off x="8203997" y="2542032"/>
            <a:ext cx="844906" cy="256032"/>
          </a:xfrm>
          <a:prstGeom prst="roundRect">
            <a:avLst>
              <a:gd name="adj" fmla="val 50000"/>
            </a:avLst>
          </a:prstGeom>
          <a:solidFill>
            <a:srgbClr val="E8EBFC"/>
          </a:solidFill>
          <a:ln/>
        </p:spPr>
      </p:sp>
      <p:sp>
        <p:nvSpPr>
          <p:cNvPr id="16" name="tag-465"/>
          <p:cNvSpPr txBox="1"/>
          <p:nvPr/>
        </p:nvSpPr>
        <p:spPr>
          <a:xfrm>
            <a:off x="8203997" y="2542032"/>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FICHERO</a:t>
            </a:r>
            <a:endParaRPr lang="en-US" sz="1100" dirty="0"/>
          </a:p>
        </p:txBody>
      </p:sp>
      <p:sp>
        <p:nvSpPr>
          <p:cNvPr id="17" name="card-h-466"/>
          <p:cNvSpPr txBox="1"/>
          <p:nvPr/>
        </p:nvSpPr>
        <p:spPr>
          <a:xfrm>
            <a:off x="8203997" y="2926080"/>
            <a:ext cx="3119018" cy="727314"/>
          </a:xfrm>
          <a:prstGeom prst="rect">
            <a:avLst/>
          </a:prstGeom>
          <a:noFill/>
          <a:ln/>
        </p:spPr>
        <p:txBody>
          <a:bodyPr wrap="square" lIns="0" tIns="0" rIns="0" bIns="0" rtlCol="0" anchor="t"/>
          <a:lstStyle/>
          <a:p>
            <a:pPr algn="l" indent="0" marL="0">
              <a:buNone/>
            </a:pPr>
            <a:r>
              <a:rPr lang="en-US" sz="2050" b="1" dirty="0">
                <a:solidFill>
                  <a:srgbClr val="15171C"/>
                </a:solidFill>
              </a:rPr>
              <a:t>Fichero · registro · campo</a:t>
            </a:r>
            <a:endParaRPr lang="en-US" sz="2050" dirty="0"/>
          </a:p>
        </p:txBody>
      </p:sp>
      <p:sp>
        <p:nvSpPr>
          <p:cNvPr id="18" name="card-p-467"/>
          <p:cNvSpPr txBox="1"/>
          <p:nvPr/>
        </p:nvSpPr>
        <p:spPr>
          <a:xfrm>
            <a:off x="8203997" y="3653394"/>
            <a:ext cx="3119018" cy="1183599"/>
          </a:xfrm>
          <a:prstGeom prst="rect">
            <a:avLst/>
          </a:prstGeom>
          <a:noFill/>
          <a:ln/>
        </p:spPr>
        <p:txBody>
          <a:bodyPr wrap="square" lIns="0" tIns="0" rIns="0" bIns="0" rtlCol="0" anchor="t"/>
          <a:lstStyle/>
          <a:p>
            <a:pPr algn="l" indent="0" marL="0">
              <a:buNone/>
            </a:pPr>
            <a:r>
              <a:rPr lang="en-US" sz="1850" dirty="0">
                <a:solidFill>
                  <a:srgbClr val="4B4F58"/>
                </a:solidFill>
              </a:rPr>
              <a:t>El vocabulario del nivel físico, heredado de los ficheros: aparece al hablar de almacenamiento.</a:t>
            </a:r>
            <a:endParaRPr lang="en-US" sz="1850" dirty="0"/>
          </a:p>
        </p:txBody>
      </p:sp>
      <p:sp>
        <p:nvSpPr>
          <p:cNvPr id="19" name="note-468"/>
          <p:cNvSpPr txBox="1"/>
          <p:nvPr/>
        </p:nvSpPr>
        <p:spPr>
          <a:xfrm>
            <a:off x="685800" y="5505511"/>
            <a:ext cx="10820095" cy="715061"/>
          </a:xfrm>
          <a:prstGeom prst="rect">
            <a:avLst/>
          </a:prstGeom>
          <a:noFill/>
          <a:ln/>
        </p:spPr>
        <p:txBody>
          <a:bodyPr wrap="square" lIns="0" tIns="0" rIns="0" bIns="0" rtlCol="0" anchor="t"/>
          <a:lstStyle/>
          <a:p>
            <a:pPr algn="l" indent="0" marL="0">
              <a:buNone/>
            </a:pPr>
            <a:r>
              <a:rPr lang="en-US" sz="2150" b="1" dirty="0">
                <a:solidFill>
                  <a:srgbClr val="4B4F58"/>
                </a:solidFill>
              </a:rPr>
              <a:t>Grado</a:t>
            </a:r>
            <a:pPr algn="l" indent="0" marL="0">
              <a:buNone/>
            </a:pPr>
            <a:r>
              <a:rPr lang="en-US" sz="2150" dirty="0">
                <a:solidFill>
                  <a:srgbClr val="4B4F58"/>
                </a:solidFill>
              </a:rPr>
              <a:t> = número de atributos (columnas). </a:t>
            </a:r>
            <a:pPr algn="l" indent="0" marL="0">
              <a:buNone/>
            </a:pPr>
            <a:r>
              <a:rPr lang="en-US" sz="2150" b="1" dirty="0">
                <a:solidFill>
                  <a:srgbClr val="4B4F58"/>
                </a:solidFill>
              </a:rPr>
              <a:t>Cardinalidad</a:t>
            </a:r>
            <a:pPr algn="l" indent="0" marL="0">
              <a:buNone/>
            </a:pPr>
            <a:r>
              <a:rPr lang="en-US" sz="2150" dirty="0">
                <a:solidFill>
                  <a:srgbClr val="4B4F58"/>
                </a:solidFill>
              </a:rPr>
              <a:t> = número de tuplas (filas). </a:t>
            </a:r>
            <a:pPr algn="l" indent="0" marL="0">
              <a:buNone/>
            </a:pPr>
            <a:r>
              <a:rPr lang="en-US" sz="2150" b="1" dirty="0">
                <a:solidFill>
                  <a:srgbClr val="4B4F58"/>
                </a:solidFill>
              </a:rPr>
              <a:t>Dominio</a:t>
            </a:r>
            <a:pPr algn="l" indent="0" marL="0">
              <a:buNone/>
            </a:pPr>
            <a:r>
              <a:rPr lang="en-US" sz="2150" dirty="0">
                <a:solidFill>
                  <a:srgbClr val="4B4F58"/>
                </a:solidFill>
              </a:rPr>
              <a:t> = tipo de dato y rango permitido de un atributo.</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El dominio es el tipo de dato</a:t>
            </a:r>
            <a:endParaRPr lang="en-US" sz="4000" dirty="0"/>
          </a:p>
        </p:txBody>
      </p:sp>
      <p:sp>
        <p:nvSpPr>
          <p:cNvPr id="4" name="lede-546"/>
          <p:cNvSpPr txBox="1"/>
          <p:nvPr/>
        </p:nvSpPr>
        <p:spPr>
          <a:xfrm>
            <a:off x="685800" y="2377440"/>
            <a:ext cx="10820095" cy="672917"/>
          </a:xfrm>
          <a:prstGeom prst="rect">
            <a:avLst/>
          </a:prstGeom>
          <a:noFill/>
          <a:ln/>
        </p:spPr>
        <p:txBody>
          <a:bodyPr wrap="square" lIns="0" tIns="0" rIns="0" bIns="0" rtlCol="0" anchor="t"/>
          <a:lstStyle/>
          <a:p>
            <a:pPr algn="l" indent="0" marL="0">
              <a:buNone/>
            </a:pPr>
            <a:r>
              <a:rPr lang="en-US" sz="2000" dirty="0">
                <a:solidFill>
                  <a:srgbClr val="4B4F58"/>
                </a:solidFill>
              </a:rPr>
              <a:t>Cada atributo tiene un </a:t>
            </a:r>
            <a:pPr algn="l" indent="0" marL="0">
              <a:buNone/>
            </a:pPr>
            <a:r>
              <a:rPr lang="en-US" sz="2000" b="1" dirty="0">
                <a:solidFill>
                  <a:srgbClr val="4B4F58"/>
                </a:solidFill>
              </a:rPr>
              <a:t>dominio</a:t>
            </a:r>
            <a:pPr algn="l" indent="0" marL="0">
              <a:buNone/>
            </a:pPr>
            <a:r>
              <a:rPr lang="en-US" sz="2000" dirty="0">
                <a:solidFill>
                  <a:srgbClr val="4B4F58"/>
                </a:solidFill>
              </a:rPr>
              <a:t>: el conjunto de valores que pueden asumir sus filas, determinado por su </a:t>
            </a:r>
            <a:pPr algn="l" indent="0" marL="0">
              <a:buNone/>
            </a:pPr>
            <a:r>
              <a:rPr lang="en-US" sz="2000" b="1" dirty="0">
                <a:solidFill>
                  <a:srgbClr val="4B4F58"/>
                </a:solidFill>
              </a:rPr>
              <a:t>tipo de datos</a:t>
            </a:r>
            <a:pPr algn="l" indent="0" marL="0">
              <a:buNone/>
            </a:pPr>
            <a:r>
              <a:rPr lang="en-US" sz="2000" dirty="0">
                <a:solidFill>
                  <a:srgbClr val="4B4F58"/>
                </a:solidFill>
              </a:rPr>
              <a:t>.</a:t>
            </a:r>
            <a:endParaRPr lang="en-US" sz="2000" dirty="0"/>
          </a:p>
        </p:txBody>
      </p:sp>
      <p:pic>
        <p:nvPicPr>
          <p:cNvPr id="5" name="imagen-547" descr="Diagrama / tabla de la diapositiva">    </p:cNvPr>
          <p:cNvPicPr>
            <a:picLocks noChangeAspect="1"/>
          </p:cNvPicPr>
          <p:nvPr/>
        </p:nvPicPr>
        <p:blipFill>
          <a:blip r:embed="rId1"/>
          <a:stretch>
            <a:fillRect/>
          </a:stretch>
        </p:blipFill>
        <p:spPr>
          <a:xfrm>
            <a:off x="685800" y="3233237"/>
            <a:ext cx="5626450" cy="2190170"/>
          </a:xfrm>
          <a:prstGeom prst="rect">
            <a:avLst/>
          </a:prstGeom>
        </p:spPr>
      </p:pic>
      <p:sp>
        <p:nvSpPr>
          <p:cNvPr id="6" name="marker-548"/>
          <p:cNvSpPr txBox="1"/>
          <p:nvPr/>
        </p:nvSpPr>
        <p:spPr>
          <a:xfrm>
            <a:off x="6745053" y="3233237"/>
            <a:ext cx="365760" cy="339954"/>
          </a:xfrm>
          <a:prstGeom prst="rect">
            <a:avLst/>
          </a:prstGeom>
          <a:noFill/>
          <a:ln/>
        </p:spPr>
        <p:txBody>
          <a:bodyPr wrap="square" lIns="0" tIns="0" rIns="0" bIns="0" rtlCol="0" anchor="t"/>
          <a:lstStyle/>
          <a:p>
            <a:pPr indent="0" marL="0">
              <a:buNone/>
            </a:pPr>
            <a:r>
              <a:rPr lang="en-US" sz="1840" b="1" dirty="0">
                <a:solidFill>
                  <a:srgbClr val="1B39E6"/>
                </a:solidFill>
              </a:rPr>
              <a:t>•</a:t>
            </a:r>
            <a:endParaRPr lang="en-US" sz="1840" dirty="0"/>
          </a:p>
        </p:txBody>
      </p:sp>
      <p:sp>
        <p:nvSpPr>
          <p:cNvPr id="7" name="item-549"/>
          <p:cNvSpPr txBox="1"/>
          <p:nvPr/>
        </p:nvSpPr>
        <p:spPr>
          <a:xfrm>
            <a:off x="7156533" y="3233237"/>
            <a:ext cx="4349362" cy="339954"/>
          </a:xfrm>
          <a:prstGeom prst="rect">
            <a:avLst/>
          </a:prstGeom>
          <a:noFill/>
          <a:ln/>
        </p:spPr>
        <p:txBody>
          <a:bodyPr wrap="square" lIns="0" tIns="0" rIns="0" bIns="0" rtlCol="0" anchor="t"/>
          <a:lstStyle/>
          <a:p>
            <a:pPr algn="l" indent="0" marL="0">
              <a:buNone/>
            </a:pPr>
            <a:r>
              <a:rPr lang="en-US" sz="1850" dirty="0">
                <a:solidFill>
                  <a:srgbClr val="4B4F58"/>
                </a:solidFill>
              </a:rPr>
              <a:t>Números enteros y decimales</a:t>
            </a:r>
            <a:endParaRPr lang="en-US" sz="1850" dirty="0"/>
          </a:p>
        </p:txBody>
      </p:sp>
      <p:sp>
        <p:nvSpPr>
          <p:cNvPr id="8" name="marker-550"/>
          <p:cNvSpPr txBox="1"/>
          <p:nvPr/>
        </p:nvSpPr>
        <p:spPr>
          <a:xfrm>
            <a:off x="6745053" y="3664631"/>
            <a:ext cx="365760" cy="339954"/>
          </a:xfrm>
          <a:prstGeom prst="rect">
            <a:avLst/>
          </a:prstGeom>
          <a:noFill/>
          <a:ln/>
        </p:spPr>
        <p:txBody>
          <a:bodyPr wrap="square" lIns="0" tIns="0" rIns="0" bIns="0" rtlCol="0" anchor="t"/>
          <a:lstStyle/>
          <a:p>
            <a:pPr indent="0" marL="0">
              <a:buNone/>
            </a:pPr>
            <a:r>
              <a:rPr lang="en-US" sz="1840" b="1" dirty="0">
                <a:solidFill>
                  <a:srgbClr val="1B39E6"/>
                </a:solidFill>
              </a:rPr>
              <a:t>•</a:t>
            </a:r>
            <a:endParaRPr lang="en-US" sz="1840" dirty="0"/>
          </a:p>
        </p:txBody>
      </p:sp>
      <p:sp>
        <p:nvSpPr>
          <p:cNvPr id="9" name="item-551"/>
          <p:cNvSpPr txBox="1"/>
          <p:nvPr/>
        </p:nvSpPr>
        <p:spPr>
          <a:xfrm>
            <a:off x="7156533" y="3664631"/>
            <a:ext cx="4349362" cy="339954"/>
          </a:xfrm>
          <a:prstGeom prst="rect">
            <a:avLst/>
          </a:prstGeom>
          <a:noFill/>
          <a:ln/>
        </p:spPr>
        <p:txBody>
          <a:bodyPr wrap="square" lIns="0" tIns="0" rIns="0" bIns="0" rtlCol="0" anchor="t"/>
          <a:lstStyle/>
          <a:p>
            <a:pPr algn="l" indent="0" marL="0">
              <a:buNone/>
            </a:pPr>
            <a:r>
              <a:rPr lang="en-US" sz="1850" dirty="0">
                <a:solidFill>
                  <a:srgbClr val="4B4F58"/>
                </a:solidFill>
              </a:rPr>
              <a:t>Cadenas de caracteres</a:t>
            </a:r>
            <a:endParaRPr lang="en-US" sz="1850" dirty="0"/>
          </a:p>
        </p:txBody>
      </p:sp>
      <p:sp>
        <p:nvSpPr>
          <p:cNvPr id="10" name="marker-552"/>
          <p:cNvSpPr txBox="1"/>
          <p:nvPr/>
        </p:nvSpPr>
        <p:spPr>
          <a:xfrm>
            <a:off x="6745053" y="4096024"/>
            <a:ext cx="365760" cy="339954"/>
          </a:xfrm>
          <a:prstGeom prst="rect">
            <a:avLst/>
          </a:prstGeom>
          <a:noFill/>
          <a:ln/>
        </p:spPr>
        <p:txBody>
          <a:bodyPr wrap="square" lIns="0" tIns="0" rIns="0" bIns="0" rtlCol="0" anchor="t"/>
          <a:lstStyle/>
          <a:p>
            <a:pPr indent="0" marL="0">
              <a:buNone/>
            </a:pPr>
            <a:r>
              <a:rPr lang="en-US" sz="1840" b="1" dirty="0">
                <a:solidFill>
                  <a:srgbClr val="1B39E6"/>
                </a:solidFill>
              </a:rPr>
              <a:t>•</a:t>
            </a:r>
            <a:endParaRPr lang="en-US" sz="1840" dirty="0"/>
          </a:p>
        </p:txBody>
      </p:sp>
      <p:sp>
        <p:nvSpPr>
          <p:cNvPr id="11" name="item-553"/>
          <p:cNvSpPr txBox="1"/>
          <p:nvPr/>
        </p:nvSpPr>
        <p:spPr>
          <a:xfrm>
            <a:off x="7156533" y="4096024"/>
            <a:ext cx="4349362" cy="339954"/>
          </a:xfrm>
          <a:prstGeom prst="rect">
            <a:avLst/>
          </a:prstGeom>
          <a:noFill/>
          <a:ln/>
        </p:spPr>
        <p:txBody>
          <a:bodyPr wrap="square" lIns="0" tIns="0" rIns="0" bIns="0" rtlCol="0" anchor="t"/>
          <a:lstStyle/>
          <a:p>
            <a:pPr algn="l" indent="0" marL="0">
              <a:buNone/>
            </a:pPr>
            <a:r>
              <a:rPr lang="en-US" sz="1850" dirty="0">
                <a:solidFill>
                  <a:srgbClr val="4B4F58"/>
                </a:solidFill>
              </a:rPr>
              <a:t>Fechas y horas</a:t>
            </a:r>
            <a:endParaRPr lang="en-US" sz="1850" dirty="0"/>
          </a:p>
        </p:txBody>
      </p:sp>
      <p:sp>
        <p:nvSpPr>
          <p:cNvPr id="12" name="marker-554"/>
          <p:cNvSpPr txBox="1"/>
          <p:nvPr/>
        </p:nvSpPr>
        <p:spPr>
          <a:xfrm>
            <a:off x="6745053" y="4527418"/>
            <a:ext cx="365760" cy="339954"/>
          </a:xfrm>
          <a:prstGeom prst="rect">
            <a:avLst/>
          </a:prstGeom>
          <a:noFill/>
          <a:ln/>
        </p:spPr>
        <p:txBody>
          <a:bodyPr wrap="square" lIns="0" tIns="0" rIns="0" bIns="0" rtlCol="0" anchor="t"/>
          <a:lstStyle/>
          <a:p>
            <a:pPr indent="0" marL="0">
              <a:buNone/>
            </a:pPr>
            <a:r>
              <a:rPr lang="en-US" sz="1840" b="1" dirty="0">
                <a:solidFill>
                  <a:srgbClr val="1B39E6"/>
                </a:solidFill>
              </a:rPr>
              <a:t>•</a:t>
            </a:r>
            <a:endParaRPr lang="en-US" sz="1840" dirty="0"/>
          </a:p>
        </p:txBody>
      </p:sp>
      <p:sp>
        <p:nvSpPr>
          <p:cNvPr id="13" name="item-555"/>
          <p:cNvSpPr txBox="1"/>
          <p:nvPr/>
        </p:nvSpPr>
        <p:spPr>
          <a:xfrm>
            <a:off x="7156533" y="4527418"/>
            <a:ext cx="4349362" cy="339954"/>
          </a:xfrm>
          <a:prstGeom prst="rect">
            <a:avLst/>
          </a:prstGeom>
          <a:noFill/>
          <a:ln/>
        </p:spPr>
        <p:txBody>
          <a:bodyPr wrap="square" lIns="0" tIns="0" rIns="0" bIns="0" rtlCol="0" anchor="t"/>
          <a:lstStyle/>
          <a:p>
            <a:pPr algn="l" indent="0" marL="0">
              <a:buNone/>
            </a:pPr>
            <a:r>
              <a:rPr lang="en-US" sz="1850" dirty="0">
                <a:solidFill>
                  <a:srgbClr val="4B4F58"/>
                </a:solidFill>
              </a:rPr>
              <a:t>Valores lógicos y objetos</a:t>
            </a:r>
            <a:endParaRPr lang="en-US" sz="1850" dirty="0"/>
          </a:p>
        </p:txBody>
      </p:sp>
      <p:sp>
        <p:nvSpPr>
          <p:cNvPr id="14" name="note-556"/>
          <p:cNvSpPr txBox="1"/>
          <p:nvPr/>
        </p:nvSpPr>
        <p:spPr>
          <a:xfrm>
            <a:off x="685800" y="5606287"/>
            <a:ext cx="10820095" cy="615899"/>
          </a:xfrm>
          <a:prstGeom prst="rect">
            <a:avLst/>
          </a:prstGeom>
          <a:noFill/>
          <a:ln/>
        </p:spPr>
        <p:txBody>
          <a:bodyPr wrap="square" lIns="0" tIns="0" rIns="0" bIns="0" rtlCol="0" anchor="t"/>
          <a:lstStyle/>
          <a:p>
            <a:pPr algn="l" indent="0" marL="0">
              <a:buNone/>
            </a:pPr>
            <a:r>
              <a:rPr lang="en-US" sz="1850" dirty="0">
                <a:solidFill>
                  <a:srgbClr val="4B4F58"/>
                </a:solidFill>
              </a:rPr>
              <a:t>En </a:t>
            </a:r>
            <a:pPr algn="l" indent="0" marL="0">
              <a:buNone/>
            </a:pPr>
            <a:r>
              <a:rPr lang="en-US" sz="1850" dirty="0">
                <a:solidFill>
                  <a:srgbClr val="0D1A7A"/>
                </a:solidFill>
                <a:latin typeface="Courier New" pitchFamily="34" charset="0"/>
                <a:ea typeface="Courier New" pitchFamily="34" charset="-122"/>
                <a:cs typeface="Courier New" pitchFamily="34" charset="-120"/>
              </a:rPr>
              <a:t>PELICULA</a:t>
            </a:r>
            <a:pPr algn="l" indent="0" marL="0">
              <a:buNone/>
            </a:pPr>
            <a:r>
              <a:rPr lang="en-US" sz="1850" dirty="0">
                <a:solidFill>
                  <a:srgbClr val="4B4F58"/>
                </a:solidFill>
              </a:rPr>
              <a:t>, el dominio de </a:t>
            </a:r>
            <a:pPr algn="l" indent="0" marL="0">
              <a:buNone/>
            </a:pPr>
            <a:r>
              <a:rPr lang="en-US" sz="1850" dirty="0">
                <a:solidFill>
                  <a:srgbClr val="0D1A7A"/>
                </a:solidFill>
                <a:latin typeface="Courier New" pitchFamily="34" charset="0"/>
                <a:ea typeface="Courier New" pitchFamily="34" charset="-122"/>
                <a:cs typeface="Courier New" pitchFamily="34" charset="-120"/>
              </a:rPr>
              <a:t>TITULO</a:t>
            </a:r>
            <a:pPr algn="l" indent="0" marL="0">
              <a:buNone/>
            </a:pPr>
            <a:r>
              <a:rPr lang="en-US" sz="1850" dirty="0">
                <a:solidFill>
                  <a:srgbClr val="4B4F58"/>
                </a:solidFill>
              </a:rPr>
              <a:t> es texto y el de </a:t>
            </a:r>
            <a:pPr algn="l" indent="0" marL="0">
              <a:buNone/>
            </a:pPr>
            <a:r>
              <a:rPr lang="en-US" sz="1850" dirty="0">
                <a:solidFill>
                  <a:srgbClr val="0D1A7A"/>
                </a:solidFill>
                <a:latin typeface="Courier New" pitchFamily="34" charset="0"/>
                <a:ea typeface="Courier New" pitchFamily="34" charset="-122"/>
                <a:cs typeface="Courier New" pitchFamily="34" charset="-120"/>
              </a:rPr>
              <a:t>ANIO</a:t>
            </a:r>
            <a:pPr algn="l" indent="0" marL="0">
              <a:buNone/>
            </a:pPr>
            <a:r>
              <a:rPr lang="en-US" sz="1850" dirty="0">
                <a:solidFill>
                  <a:srgbClr val="4B4F58"/>
                </a:solidFill>
              </a:rPr>
              <a:t> y </a:t>
            </a:r>
            <a:pPr algn="l" indent="0" marL="0">
              <a:buNone/>
            </a:pPr>
            <a:r>
              <a:rPr lang="en-US" sz="1850" dirty="0">
                <a:solidFill>
                  <a:srgbClr val="0D1A7A"/>
                </a:solidFill>
                <a:latin typeface="Courier New" pitchFamily="34" charset="0"/>
                <a:ea typeface="Courier New" pitchFamily="34" charset="-122"/>
                <a:cs typeface="Courier New" pitchFamily="34" charset="-120"/>
              </a:rPr>
              <a:t>DURACION</a:t>
            </a:r>
            <a:pPr algn="l" indent="0" marL="0">
              <a:buNone/>
            </a:pPr>
            <a:r>
              <a:rPr lang="en-US" sz="1850" dirty="0">
                <a:solidFill>
                  <a:srgbClr val="4B4F58"/>
                </a:solidFill>
              </a:rPr>
              <a:t>, enteros. En SQL: </a:t>
            </a:r>
            <a:pPr algn="l" indent="0" marL="0">
              <a:buNone/>
            </a:pPr>
            <a:r>
              <a:rPr lang="en-US" sz="1850" dirty="0">
                <a:solidFill>
                  <a:srgbClr val="0D1A7A"/>
                </a:solidFill>
                <a:latin typeface="Courier New" pitchFamily="34" charset="0"/>
                <a:ea typeface="Courier New" pitchFamily="34" charset="-122"/>
                <a:cs typeface="Courier New" pitchFamily="34" charset="-120"/>
              </a:rPr>
              <a:t>CHAR(n)</a:t>
            </a:r>
            <a:pPr algn="l" indent="0" marL="0">
              <a:buNone/>
            </a:pPr>
            <a:r>
              <a:rPr lang="en-US" sz="1850" dirty="0">
                <a:solidFill>
                  <a:srgbClr val="4B4F58"/>
                </a:solidFill>
              </a:rPr>
              <a:t>, </a:t>
            </a:r>
            <a:pPr algn="l" indent="0" marL="0">
              <a:buNone/>
            </a:pPr>
            <a:r>
              <a:rPr lang="en-US" sz="1850" dirty="0">
                <a:solidFill>
                  <a:srgbClr val="0D1A7A"/>
                </a:solidFill>
                <a:latin typeface="Courier New" pitchFamily="34" charset="0"/>
                <a:ea typeface="Courier New" pitchFamily="34" charset="-122"/>
                <a:cs typeface="Courier New" pitchFamily="34" charset="-120"/>
              </a:rPr>
              <a:t>VARCHAR(n)</a:t>
            </a:r>
            <a:pPr algn="l" indent="0" marL="0">
              <a:buNone/>
            </a:pPr>
            <a:r>
              <a:rPr lang="en-US" sz="1850" dirty="0">
                <a:solidFill>
                  <a:srgbClr val="4B4F58"/>
                </a:solidFill>
              </a:rPr>
              <a:t>, </a:t>
            </a:r>
            <a:pPr algn="l" indent="0" marL="0">
              <a:buNone/>
            </a:pPr>
            <a:r>
              <a:rPr lang="en-US" sz="1850" dirty="0">
                <a:solidFill>
                  <a:srgbClr val="0D1A7A"/>
                </a:solidFill>
                <a:latin typeface="Courier New" pitchFamily="34" charset="0"/>
                <a:ea typeface="Courier New" pitchFamily="34" charset="-122"/>
                <a:cs typeface="Courier New" pitchFamily="34" charset="-120"/>
              </a:rPr>
              <a:t>INT</a:t>
            </a:r>
            <a:pPr algn="l" indent="0" marL="0">
              <a:buNone/>
            </a:pPr>
            <a:r>
              <a:rPr lang="en-US" sz="1850" dirty="0">
                <a:solidFill>
                  <a:srgbClr val="4B4F58"/>
                </a:solidFill>
              </a:rPr>
              <a:t>, </a:t>
            </a:r>
            <a:pPr algn="l" indent="0" marL="0">
              <a:buNone/>
            </a:pPr>
            <a:r>
              <a:rPr lang="en-US" sz="1850" dirty="0">
                <a:solidFill>
                  <a:srgbClr val="0D1A7A"/>
                </a:solidFill>
                <a:latin typeface="Courier New" pitchFamily="34" charset="0"/>
                <a:ea typeface="Courier New" pitchFamily="34" charset="-122"/>
                <a:cs typeface="Courier New" pitchFamily="34" charset="-120"/>
              </a:rPr>
              <a:t>NUMERIC(p,s)</a:t>
            </a:r>
            <a:pPr algn="l" indent="0" marL="0">
              <a:buNone/>
            </a:pPr>
            <a:r>
              <a:rPr lang="en-US" sz="1850" dirty="0">
                <a:solidFill>
                  <a:srgbClr val="4B4F58"/>
                </a:solidFill>
              </a:rPr>
              <a:t>, </a:t>
            </a:r>
            <a:pPr algn="l" indent="0" marL="0">
              <a:buNone/>
            </a:pPr>
            <a:r>
              <a:rPr lang="en-US" sz="1850" dirty="0">
                <a:solidFill>
                  <a:srgbClr val="0D1A7A"/>
                </a:solidFill>
                <a:latin typeface="Courier New" pitchFamily="34" charset="0"/>
                <a:ea typeface="Courier New" pitchFamily="34" charset="-122"/>
                <a:cs typeface="Courier New" pitchFamily="34" charset="-120"/>
              </a:rPr>
              <a:t>DATE</a:t>
            </a:r>
            <a:pPr algn="l" indent="0" marL="0">
              <a:buNone/>
            </a:pPr>
            <a:r>
              <a:rPr lang="en-US" sz="1850" dirty="0">
                <a:solidFill>
                  <a:srgbClr val="4B4F58"/>
                </a:solidFill>
              </a:rPr>
              <a:t>, </a:t>
            </a:r>
            <a:pPr algn="l" indent="0" marL="0">
              <a:buNone/>
            </a:pPr>
            <a:r>
              <a:rPr lang="en-US" sz="1850" dirty="0">
                <a:solidFill>
                  <a:srgbClr val="0D1A7A"/>
                </a:solidFill>
                <a:latin typeface="Courier New" pitchFamily="34" charset="0"/>
                <a:ea typeface="Courier New" pitchFamily="34" charset="-122"/>
                <a:cs typeface="Courier New" pitchFamily="34" charset="-120"/>
              </a:rPr>
              <a:t>FLOAT</a:t>
            </a:r>
            <a:pPr algn="l" indent="0" marL="0">
              <a:buNone/>
            </a:pPr>
            <a:r>
              <a:rPr lang="en-US" sz="1850" dirty="0">
                <a:solidFill>
                  <a:srgbClr val="4B4F58"/>
                </a:solidFill>
              </a:rPr>
              <a:t>.</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Grado, cardinalidad y dominio</a:t>
            </a:r>
            <a:endParaRPr lang="en-US" sz="4000" dirty="0"/>
          </a:p>
        </p:txBody>
      </p:sp>
      <p:sp>
        <p:nvSpPr>
          <p:cNvPr id="4" name="badge-557"/>
          <p:cNvSpPr/>
          <p:nvPr/>
        </p:nvSpPr>
        <p:spPr>
          <a:xfrm>
            <a:off x="685800" y="292608"/>
            <a:ext cx="475488" cy="475488"/>
          </a:xfrm>
          <a:prstGeom prst="ellipse">
            <a:avLst/>
          </a:prstGeom>
          <a:solidFill>
            <a:srgbClr val="FF5A2E"/>
          </a:solidFill>
          <a:ln/>
        </p:spPr>
      </p:sp>
      <p:sp>
        <p:nvSpPr>
          <p:cNvPr id="5" name="badge-glyph-558"/>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579" descr="Diagrama / tabla de la diapositiva">    </p:cNvPr>
          <p:cNvPicPr>
            <a:picLocks noChangeAspect="1"/>
          </p:cNvPicPr>
          <p:nvPr/>
        </p:nvPicPr>
        <p:blipFill>
          <a:blip r:embed="rId1"/>
          <a:stretch>
            <a:fillRect/>
          </a:stretch>
        </p:blipFill>
        <p:spPr>
          <a:xfrm>
            <a:off x="685800" y="1965960"/>
            <a:ext cx="6260487" cy="2835378"/>
          </a:xfrm>
          <a:prstGeom prst="rect">
            <a:avLst/>
          </a:prstGeom>
        </p:spPr>
      </p:pic>
      <p:sp>
        <p:nvSpPr>
          <p:cNvPr id="7" name="marker-580"/>
          <p:cNvSpPr txBox="1"/>
          <p:nvPr/>
        </p:nvSpPr>
        <p:spPr>
          <a:xfrm>
            <a:off x="685800" y="4984218"/>
            <a:ext cx="365760" cy="446862"/>
          </a:xfrm>
          <a:prstGeom prst="rect">
            <a:avLst/>
          </a:prstGeom>
          <a:noFill/>
          <a:ln/>
        </p:spPr>
        <p:txBody>
          <a:bodyPr wrap="square" lIns="0" tIns="0" rIns="0" bIns="0" rtlCol="0" anchor="t"/>
          <a:lstStyle/>
          <a:p>
            <a:pPr indent="0" marL="0">
              <a:buNone/>
            </a:pPr>
            <a:r>
              <a:rPr lang="en-US" sz="2530" b="1" dirty="0">
                <a:solidFill>
                  <a:srgbClr val="1B39E6"/>
                </a:solidFill>
              </a:rPr>
              <a:t>1.</a:t>
            </a:r>
            <a:endParaRPr lang="en-US" sz="2530" dirty="0"/>
          </a:p>
        </p:txBody>
      </p:sp>
      <p:sp>
        <p:nvSpPr>
          <p:cNvPr id="8" name="item-581"/>
          <p:cNvSpPr txBox="1"/>
          <p:nvPr/>
        </p:nvSpPr>
        <p:spPr>
          <a:xfrm>
            <a:off x="1097280" y="4984218"/>
            <a:ext cx="10408615" cy="446862"/>
          </a:xfrm>
          <a:prstGeom prst="rect">
            <a:avLst/>
          </a:prstGeom>
          <a:noFill/>
          <a:ln/>
        </p:spPr>
        <p:txBody>
          <a:bodyPr wrap="square" lIns="0" tIns="0" rIns="0" bIns="0" rtlCol="0" anchor="t"/>
          <a:lstStyle/>
          <a:p>
            <a:pPr algn="l" indent="0" marL="0">
              <a:buNone/>
            </a:pPr>
            <a:r>
              <a:rPr lang="en-US" sz="2550" b="1" dirty="0">
                <a:solidFill>
                  <a:srgbClr val="15171C"/>
                </a:solidFill>
              </a:rPr>
              <a:t>¿Grado y cardinalidad de la relación?</a:t>
            </a:r>
            <a:endParaRPr lang="en-US" sz="2550" dirty="0"/>
          </a:p>
        </p:txBody>
      </p:sp>
      <p:sp>
        <p:nvSpPr>
          <p:cNvPr id="9" name="marker-582"/>
          <p:cNvSpPr txBox="1"/>
          <p:nvPr/>
        </p:nvSpPr>
        <p:spPr>
          <a:xfrm>
            <a:off x="685800" y="5522520"/>
            <a:ext cx="365760" cy="446862"/>
          </a:xfrm>
          <a:prstGeom prst="rect">
            <a:avLst/>
          </a:prstGeom>
          <a:noFill/>
          <a:ln/>
        </p:spPr>
        <p:txBody>
          <a:bodyPr wrap="square" lIns="0" tIns="0" rIns="0" bIns="0" rtlCol="0" anchor="t"/>
          <a:lstStyle/>
          <a:p>
            <a:pPr indent="0" marL="0">
              <a:buNone/>
            </a:pPr>
            <a:r>
              <a:rPr lang="en-US" sz="2530" b="1" dirty="0">
                <a:solidFill>
                  <a:srgbClr val="1B39E6"/>
                </a:solidFill>
              </a:rPr>
              <a:t>2.</a:t>
            </a:r>
            <a:endParaRPr lang="en-US" sz="2530" dirty="0"/>
          </a:p>
        </p:txBody>
      </p:sp>
      <p:sp>
        <p:nvSpPr>
          <p:cNvPr id="10" name="item-583"/>
          <p:cNvSpPr txBox="1"/>
          <p:nvPr/>
        </p:nvSpPr>
        <p:spPr>
          <a:xfrm>
            <a:off x="1097280" y="5522520"/>
            <a:ext cx="10408615" cy="446862"/>
          </a:xfrm>
          <a:prstGeom prst="rect">
            <a:avLst/>
          </a:prstGeom>
          <a:noFill/>
          <a:ln/>
        </p:spPr>
        <p:txBody>
          <a:bodyPr wrap="square" lIns="0" tIns="0" rIns="0" bIns="0" rtlCol="0" anchor="t"/>
          <a:lstStyle/>
          <a:p>
            <a:pPr algn="l" indent="0" marL="0">
              <a:buNone/>
            </a:pPr>
            <a:r>
              <a:rPr lang="en-US" sz="2550" b="1" dirty="0">
                <a:solidFill>
                  <a:srgbClr val="15171C"/>
                </a:solidFill>
              </a:rPr>
              <a:t>¿Qué dominio razonable darías a </a:t>
            </a:r>
            <a:pPr algn="l" indent="0" marL="0">
              <a:buNone/>
            </a:pPr>
            <a:r>
              <a:rPr lang="en-US" sz="2550" b="1" dirty="0">
                <a:solidFill>
                  <a:srgbClr val="0D1A7A"/>
                </a:solidFill>
                <a:latin typeface="Courier New" pitchFamily="34" charset="0"/>
                <a:ea typeface="Courier New" pitchFamily="34" charset="-122"/>
                <a:cs typeface="Courier New" pitchFamily="34" charset="-120"/>
              </a:rPr>
              <a:t>anio</a:t>
            </a:r>
            <a:pPr algn="l" indent="0" marL="0">
              <a:buNone/>
            </a:pPr>
            <a:r>
              <a:rPr lang="en-US" sz="2550" b="1" dirty="0">
                <a:solidFill>
                  <a:srgbClr val="15171C"/>
                </a:solidFill>
              </a:rPr>
              <a:t> y a </a:t>
            </a:r>
            <a:pPr algn="l" indent="0" marL="0">
              <a:buNone/>
            </a:pPr>
            <a:r>
              <a:rPr lang="en-US" sz="2550" b="1" dirty="0">
                <a:solidFill>
                  <a:srgbClr val="0D1A7A"/>
                </a:solidFill>
                <a:latin typeface="Courier New" pitchFamily="34" charset="0"/>
                <a:ea typeface="Courier New" pitchFamily="34" charset="-122"/>
                <a:cs typeface="Courier New" pitchFamily="34" charset="-120"/>
              </a:rPr>
              <a:t>precio</a:t>
            </a:r>
            <a:pPr algn="l" indent="0" marL="0">
              <a:buNone/>
            </a:pPr>
            <a:r>
              <a:rPr lang="en-US" sz="2550" b="1" dirty="0">
                <a:solidFill>
                  <a:srgbClr val="15171C"/>
                </a:solidFill>
              </a:rPr>
              <a:t>?</a:t>
            </a:r>
            <a:endParaRPr lang="en-US" sz="25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Cuatro y cuatro (por casualidad)</a:t>
            </a:r>
            <a:endParaRPr lang="en-US" sz="4000" dirty="0"/>
          </a:p>
        </p:txBody>
      </p:sp>
      <p:sp>
        <p:nvSpPr>
          <p:cNvPr id="4" name="badge-584"/>
          <p:cNvSpPr/>
          <p:nvPr/>
        </p:nvSpPr>
        <p:spPr>
          <a:xfrm>
            <a:off x="685800" y="292608"/>
            <a:ext cx="475488" cy="475488"/>
          </a:xfrm>
          <a:prstGeom prst="ellipse">
            <a:avLst/>
          </a:prstGeom>
          <a:solidFill>
            <a:srgbClr val="3F9468"/>
          </a:solidFill>
          <a:ln/>
        </p:spPr>
      </p:sp>
      <p:sp>
        <p:nvSpPr>
          <p:cNvPr id="5" name="badge-glyph-585"/>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card-598"/>
          <p:cNvSpPr/>
          <p:nvPr/>
        </p:nvSpPr>
        <p:spPr>
          <a:xfrm>
            <a:off x="685800" y="2538574"/>
            <a:ext cx="3484778" cy="2705164"/>
          </a:xfrm>
          <a:prstGeom prst="roundRect">
            <a:avLst>
              <a:gd name="adj" fmla="val 4056"/>
            </a:avLst>
          </a:prstGeom>
          <a:solidFill>
            <a:schemeClr val="bg1"/>
          </a:solidFill>
          <a:ln w="19050">
            <a:solidFill>
              <a:srgbClr val="15171C"/>
            </a:solidFill>
            <a:prstDash val="solid"/>
          </a:ln>
        </p:spPr>
      </p:sp>
      <p:sp>
        <p:nvSpPr>
          <p:cNvPr id="7" name="tag-pill-599"/>
          <p:cNvSpPr/>
          <p:nvPr/>
        </p:nvSpPr>
        <p:spPr>
          <a:xfrm>
            <a:off x="868680" y="2703166"/>
            <a:ext cx="676656" cy="256032"/>
          </a:xfrm>
          <a:prstGeom prst="roundRect">
            <a:avLst>
              <a:gd name="adj" fmla="val 50000"/>
            </a:avLst>
          </a:prstGeom>
          <a:solidFill>
            <a:srgbClr val="E8EBFC"/>
          </a:solidFill>
          <a:ln/>
        </p:spPr>
      </p:sp>
      <p:sp>
        <p:nvSpPr>
          <p:cNvPr id="8" name="tag-600"/>
          <p:cNvSpPr txBox="1"/>
          <p:nvPr/>
        </p:nvSpPr>
        <p:spPr>
          <a:xfrm>
            <a:off x="868680" y="2703166"/>
            <a:ext cx="676656" cy="256032"/>
          </a:xfrm>
          <a:prstGeom prst="rect">
            <a:avLst/>
          </a:prstGeom>
          <a:noFill/>
          <a:ln/>
        </p:spPr>
        <p:txBody>
          <a:bodyPr wrap="square" lIns="0" tIns="0" rIns="0" bIns="0" rtlCol="0" anchor="ctr"/>
          <a:lstStyle/>
          <a:p>
            <a:pPr algn="ctr" indent="0" marL="0">
              <a:buNone/>
            </a:pPr>
            <a:r>
              <a:rPr lang="en-US" sz="1100" b="1" dirty="0">
                <a:solidFill>
                  <a:srgbClr val="0D1A7A"/>
                </a:solidFill>
              </a:rPr>
              <a:t>GRADO</a:t>
            </a:r>
            <a:endParaRPr lang="en-US" sz="1100" dirty="0"/>
          </a:p>
        </p:txBody>
      </p:sp>
      <p:sp>
        <p:nvSpPr>
          <p:cNvPr id="9" name="card-p-601"/>
          <p:cNvSpPr txBox="1"/>
          <p:nvPr/>
        </p:nvSpPr>
        <p:spPr>
          <a:xfrm>
            <a:off x="868680" y="3087214"/>
            <a:ext cx="3119018" cy="809574"/>
          </a:xfrm>
          <a:prstGeom prst="rect">
            <a:avLst/>
          </a:prstGeom>
          <a:noFill/>
          <a:ln/>
        </p:spPr>
        <p:txBody>
          <a:bodyPr wrap="square" lIns="0" tIns="0" rIns="0" bIns="0" rtlCol="0" anchor="t"/>
          <a:lstStyle/>
          <a:p>
            <a:pPr algn="l" indent="0" marL="0">
              <a:buNone/>
            </a:pPr>
            <a:r>
              <a:rPr lang="en-US" sz="2450" b="1" dirty="0">
                <a:solidFill>
                  <a:srgbClr val="4B4F58"/>
                </a:solidFill>
              </a:rPr>
              <a:t>4</a:t>
            </a:r>
            <a:pPr algn="l" indent="0" marL="0">
              <a:buNone/>
            </a:pPr>
            <a:r>
              <a:rPr lang="en-US" sz="2450" dirty="0">
                <a:solidFill>
                  <a:srgbClr val="4B4F58"/>
                </a:solidFill>
              </a:rPr>
              <a:t> — isbn, titulo, anio, precio.</a:t>
            </a:r>
            <a:endParaRPr lang="en-US" sz="2450" dirty="0"/>
          </a:p>
        </p:txBody>
      </p:sp>
      <p:sp>
        <p:nvSpPr>
          <p:cNvPr id="10" name="card-602"/>
          <p:cNvSpPr/>
          <p:nvPr/>
        </p:nvSpPr>
        <p:spPr>
          <a:xfrm>
            <a:off x="4353458" y="2538574"/>
            <a:ext cx="3484778" cy="2705164"/>
          </a:xfrm>
          <a:prstGeom prst="roundRect">
            <a:avLst>
              <a:gd name="adj" fmla="val 4056"/>
            </a:avLst>
          </a:prstGeom>
          <a:solidFill>
            <a:schemeClr val="bg1"/>
          </a:solidFill>
          <a:ln w="19050">
            <a:solidFill>
              <a:srgbClr val="15171C"/>
            </a:solidFill>
            <a:prstDash val="solid"/>
          </a:ln>
        </p:spPr>
      </p:sp>
      <p:sp>
        <p:nvSpPr>
          <p:cNvPr id="11" name="tag-pill-603"/>
          <p:cNvSpPr/>
          <p:nvPr/>
        </p:nvSpPr>
        <p:spPr>
          <a:xfrm>
            <a:off x="4536338" y="2703166"/>
            <a:ext cx="1265530" cy="256032"/>
          </a:xfrm>
          <a:prstGeom prst="roundRect">
            <a:avLst>
              <a:gd name="adj" fmla="val 50000"/>
            </a:avLst>
          </a:prstGeom>
          <a:solidFill>
            <a:srgbClr val="E8EBFC"/>
          </a:solidFill>
          <a:ln/>
        </p:spPr>
      </p:sp>
      <p:sp>
        <p:nvSpPr>
          <p:cNvPr id="12" name="tag-604"/>
          <p:cNvSpPr txBox="1"/>
          <p:nvPr/>
        </p:nvSpPr>
        <p:spPr>
          <a:xfrm>
            <a:off x="4536338" y="2703166"/>
            <a:ext cx="1265530" cy="256032"/>
          </a:xfrm>
          <a:prstGeom prst="rect">
            <a:avLst/>
          </a:prstGeom>
          <a:noFill/>
          <a:ln/>
        </p:spPr>
        <p:txBody>
          <a:bodyPr wrap="square" lIns="0" tIns="0" rIns="0" bIns="0" rtlCol="0" anchor="ctr"/>
          <a:lstStyle/>
          <a:p>
            <a:pPr algn="ctr" indent="0" marL="0">
              <a:buNone/>
            </a:pPr>
            <a:r>
              <a:rPr lang="en-US" sz="1100" b="1" dirty="0">
                <a:solidFill>
                  <a:srgbClr val="0D1A7A"/>
                </a:solidFill>
              </a:rPr>
              <a:t>CARDINALIDAD</a:t>
            </a:r>
            <a:endParaRPr lang="en-US" sz="1100" dirty="0"/>
          </a:p>
        </p:txBody>
      </p:sp>
      <p:sp>
        <p:nvSpPr>
          <p:cNvPr id="13" name="card-p-605"/>
          <p:cNvSpPr txBox="1"/>
          <p:nvPr/>
        </p:nvSpPr>
        <p:spPr>
          <a:xfrm>
            <a:off x="4536338" y="3087214"/>
            <a:ext cx="3119018" cy="1573428"/>
          </a:xfrm>
          <a:prstGeom prst="rect">
            <a:avLst/>
          </a:prstGeom>
          <a:noFill/>
          <a:ln/>
        </p:spPr>
        <p:txBody>
          <a:bodyPr wrap="square" lIns="0" tIns="0" rIns="0" bIns="0" rtlCol="0" anchor="t"/>
          <a:lstStyle/>
          <a:p>
            <a:pPr algn="l" indent="0" marL="0">
              <a:buNone/>
            </a:pPr>
            <a:r>
              <a:rPr lang="en-US" sz="2450" b="1" dirty="0">
                <a:solidFill>
                  <a:srgbClr val="4B4F58"/>
                </a:solidFill>
              </a:rPr>
              <a:t>4</a:t>
            </a:r>
            <a:pPr algn="l" indent="0" marL="0">
              <a:buNone/>
            </a:pPr>
            <a:r>
              <a:rPr lang="en-US" sz="2450" dirty="0">
                <a:solidFill>
                  <a:srgbClr val="4B4F58"/>
                </a:solidFill>
              </a:rPr>
              <a:t> tuplas. Coincide por casualidad: nada que ver con el grado.</a:t>
            </a:r>
            <a:endParaRPr lang="en-US" sz="2450" dirty="0"/>
          </a:p>
        </p:txBody>
      </p:sp>
      <p:sp>
        <p:nvSpPr>
          <p:cNvPr id="14" name="card-606"/>
          <p:cNvSpPr/>
          <p:nvPr/>
        </p:nvSpPr>
        <p:spPr>
          <a:xfrm>
            <a:off x="8021117" y="2538574"/>
            <a:ext cx="3484778" cy="2705164"/>
          </a:xfrm>
          <a:prstGeom prst="roundRect">
            <a:avLst>
              <a:gd name="adj" fmla="val 4056"/>
            </a:avLst>
          </a:prstGeom>
          <a:solidFill>
            <a:schemeClr val="bg1"/>
          </a:solidFill>
          <a:ln w="19050">
            <a:solidFill>
              <a:srgbClr val="15171C"/>
            </a:solidFill>
            <a:prstDash val="solid"/>
          </a:ln>
        </p:spPr>
      </p:sp>
      <p:sp>
        <p:nvSpPr>
          <p:cNvPr id="15" name="tag-pill-607"/>
          <p:cNvSpPr/>
          <p:nvPr/>
        </p:nvSpPr>
        <p:spPr>
          <a:xfrm>
            <a:off x="8203997" y="2703166"/>
            <a:ext cx="929030" cy="256032"/>
          </a:xfrm>
          <a:prstGeom prst="roundRect">
            <a:avLst>
              <a:gd name="adj" fmla="val 50000"/>
            </a:avLst>
          </a:prstGeom>
          <a:solidFill>
            <a:srgbClr val="E8EBFC"/>
          </a:solidFill>
          <a:ln/>
        </p:spPr>
      </p:sp>
      <p:sp>
        <p:nvSpPr>
          <p:cNvPr id="16" name="tag-608"/>
          <p:cNvSpPr txBox="1"/>
          <p:nvPr/>
        </p:nvSpPr>
        <p:spPr>
          <a:xfrm>
            <a:off x="8203997" y="2703166"/>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DOMINIOS</a:t>
            </a:r>
            <a:endParaRPr lang="en-US" sz="1100" dirty="0"/>
          </a:p>
        </p:txBody>
      </p:sp>
      <p:sp>
        <p:nvSpPr>
          <p:cNvPr id="17" name="card-p-609"/>
          <p:cNvSpPr txBox="1"/>
          <p:nvPr/>
        </p:nvSpPr>
        <p:spPr>
          <a:xfrm>
            <a:off x="8203997" y="3087214"/>
            <a:ext cx="3119018" cy="1955356"/>
          </a:xfrm>
          <a:prstGeom prst="rect">
            <a:avLst/>
          </a:prstGeom>
          <a:noFill/>
          <a:ln/>
        </p:spPr>
        <p:txBody>
          <a:bodyPr wrap="square" lIns="0" tIns="0" rIns="0" bIns="0" rtlCol="0" anchor="t"/>
          <a:lstStyle/>
          <a:p>
            <a:pPr algn="l" indent="0" marL="0">
              <a:buNone/>
            </a:pPr>
            <a:r>
              <a:rPr lang="en-US" sz="2450" dirty="0">
                <a:solidFill>
                  <a:srgbClr val="0D1A7A"/>
                </a:solidFill>
                <a:latin typeface="Courier New" pitchFamily="34" charset="0"/>
                <a:ea typeface="Courier New" pitchFamily="34" charset="-122"/>
                <a:cs typeface="Courier New" pitchFamily="34" charset="-120"/>
              </a:rPr>
              <a:t>anio</a:t>
            </a:r>
            <a:pPr algn="l" indent="0" marL="0">
              <a:buNone/>
            </a:pPr>
            <a:r>
              <a:rPr lang="en-US" sz="2450" dirty="0">
                <a:solidFill>
                  <a:srgbClr val="4B4F58"/>
                </a:solidFill>
              </a:rPr>
              <a:t>: entero entre 1400 y el año actual. </a:t>
            </a:r>
            <a:pPr algn="l" indent="0" marL="0">
              <a:buNone/>
            </a:pPr>
            <a:r>
              <a:rPr lang="en-US" sz="2450" dirty="0">
                <a:solidFill>
                  <a:srgbClr val="0D1A7A"/>
                </a:solidFill>
                <a:latin typeface="Courier New" pitchFamily="34" charset="0"/>
                <a:ea typeface="Courier New" pitchFamily="34" charset="-122"/>
                <a:cs typeface="Courier New" pitchFamily="34" charset="-120"/>
              </a:rPr>
              <a:t>precio</a:t>
            </a:r>
            <a:pPr algn="l" indent="0" marL="0">
              <a:buNone/>
            </a:pPr>
            <a:r>
              <a:rPr lang="en-US" sz="2450" dirty="0">
                <a:solidFill>
                  <a:srgbClr val="4B4F58"/>
                </a:solidFill>
              </a:rPr>
              <a:t>: decimal ≥ 0 con dos decimales.</a:t>
            </a:r>
            <a:endParaRPr lang="en-US" sz="24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Ponte a prueba: vehículos</a:t>
            </a:r>
            <a:endParaRPr lang="en-US" sz="4000" dirty="0"/>
          </a:p>
        </p:txBody>
      </p:sp>
      <p:sp>
        <p:nvSpPr>
          <p:cNvPr id="4" name="badge-610"/>
          <p:cNvSpPr/>
          <p:nvPr/>
        </p:nvSpPr>
        <p:spPr>
          <a:xfrm>
            <a:off x="685800" y="292608"/>
            <a:ext cx="475488" cy="475488"/>
          </a:xfrm>
          <a:prstGeom prst="ellipse">
            <a:avLst/>
          </a:prstGeom>
          <a:solidFill>
            <a:srgbClr val="FF5A2E"/>
          </a:solidFill>
          <a:ln/>
        </p:spPr>
      </p:sp>
      <p:sp>
        <p:nvSpPr>
          <p:cNvPr id="5" name="badge-glyph-611"/>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616" descr="Diagrama / tabla de la diapositiva">    </p:cNvPr>
          <p:cNvPicPr>
            <a:picLocks noChangeAspect="1"/>
          </p:cNvPicPr>
          <p:nvPr/>
        </p:nvPicPr>
        <p:blipFill>
          <a:blip r:embed="rId1"/>
          <a:stretch>
            <a:fillRect/>
          </a:stretch>
        </p:blipFill>
        <p:spPr>
          <a:xfrm>
            <a:off x="685800" y="1965960"/>
            <a:ext cx="5158955" cy="2194560"/>
          </a:xfrm>
          <a:prstGeom prst="rect">
            <a:avLst/>
          </a:prstGeom>
        </p:spPr>
      </p:pic>
      <p:sp>
        <p:nvSpPr>
          <p:cNvPr id="7" name="marker-617"/>
          <p:cNvSpPr txBox="1"/>
          <p:nvPr/>
        </p:nvSpPr>
        <p:spPr>
          <a:xfrm>
            <a:off x="685800" y="4343400"/>
            <a:ext cx="365760" cy="1043381"/>
          </a:xfrm>
          <a:prstGeom prst="rect">
            <a:avLst/>
          </a:prstGeom>
          <a:noFill/>
          <a:ln/>
        </p:spPr>
        <p:txBody>
          <a:bodyPr wrap="square" lIns="0" tIns="0" rIns="0" bIns="0" rtlCol="0" anchor="t"/>
          <a:lstStyle/>
          <a:p>
            <a:pPr indent="0" marL="0">
              <a:buNone/>
            </a:pPr>
            <a:r>
              <a:rPr lang="en-US" sz="3190" b="1" dirty="0">
                <a:solidFill>
                  <a:srgbClr val="1B39E6"/>
                </a:solidFill>
              </a:rPr>
              <a:t>1.</a:t>
            </a:r>
            <a:endParaRPr lang="en-US" sz="3190" dirty="0"/>
          </a:p>
        </p:txBody>
      </p:sp>
      <p:sp>
        <p:nvSpPr>
          <p:cNvPr id="8" name="item-618"/>
          <p:cNvSpPr txBox="1"/>
          <p:nvPr/>
        </p:nvSpPr>
        <p:spPr>
          <a:xfrm>
            <a:off x="1097280" y="4343400"/>
            <a:ext cx="10408615" cy="1043381"/>
          </a:xfrm>
          <a:prstGeom prst="rect">
            <a:avLst/>
          </a:prstGeom>
          <a:noFill/>
          <a:ln/>
        </p:spPr>
        <p:txBody>
          <a:bodyPr wrap="square" lIns="0" tIns="0" rIns="0" bIns="0" rtlCol="0" anchor="t"/>
          <a:lstStyle/>
          <a:p>
            <a:pPr algn="l" indent="0" marL="0">
              <a:buNone/>
            </a:pPr>
            <a:r>
              <a:rPr lang="en-US" sz="3200" b="1" dirty="0">
                <a:solidFill>
                  <a:srgbClr val="15171C"/>
                </a:solidFill>
              </a:rPr>
              <a:t>¿A qué término del modelo relacional corresponden los nombres </a:t>
            </a:r>
            <a:pPr algn="l" indent="0" marL="0">
              <a:buNone/>
            </a:pPr>
            <a:r>
              <a:rPr lang="en-US" sz="3200" b="1" dirty="0">
                <a:solidFill>
                  <a:srgbClr val="15171C"/>
                </a:solidFill>
              </a:rPr>
              <a:t>Marca, Modelo, Año y Precio</a:t>
            </a:r>
            <a:pPr algn="l" indent="0" marL="0">
              <a:buNone/>
            </a:pPr>
            <a:r>
              <a:rPr lang="en-US" sz="3200" b="1" dirty="0">
                <a:solidFill>
                  <a:srgbClr val="15171C"/>
                </a:solidFill>
              </a:rPr>
              <a:t>?</a:t>
            </a:r>
            <a:endParaRPr lang="en-US" sz="3200" dirty="0"/>
          </a:p>
        </p:txBody>
      </p:sp>
      <p:sp>
        <p:nvSpPr>
          <p:cNvPr id="9" name="note-619"/>
          <p:cNvSpPr txBox="1"/>
          <p:nvPr/>
        </p:nvSpPr>
        <p:spPr>
          <a:xfrm>
            <a:off x="685800" y="5569661"/>
            <a:ext cx="10820095" cy="495046"/>
          </a:xfrm>
          <a:prstGeom prst="rect">
            <a:avLst/>
          </a:prstGeom>
          <a:noFill/>
          <a:ln/>
        </p:spPr>
        <p:txBody>
          <a:bodyPr wrap="square" lIns="0" tIns="0" rIns="0" bIns="0" rtlCol="0" anchor="t"/>
          <a:lstStyle/>
          <a:p>
            <a:pPr algn="l" indent="0" marL="0">
              <a:buNone/>
            </a:pPr>
            <a:r>
              <a:rPr lang="en-US" sz="2900" dirty="0">
                <a:solidFill>
                  <a:srgbClr val="4B4F58"/>
                </a:solidFill>
              </a:rPr>
              <a:t>a) Atributo   b) Tupla   c) Título   d) Dominio</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Ponte a prueba: el museo</a:t>
            </a:r>
            <a:endParaRPr lang="en-US" sz="4000" dirty="0"/>
          </a:p>
        </p:txBody>
      </p:sp>
      <p:sp>
        <p:nvSpPr>
          <p:cNvPr id="4" name="badge-620"/>
          <p:cNvSpPr/>
          <p:nvPr/>
        </p:nvSpPr>
        <p:spPr>
          <a:xfrm>
            <a:off x="685800" y="292608"/>
            <a:ext cx="475488" cy="475488"/>
          </a:xfrm>
          <a:prstGeom prst="ellipse">
            <a:avLst/>
          </a:prstGeom>
          <a:solidFill>
            <a:srgbClr val="FF5A2E"/>
          </a:solidFill>
          <a:ln/>
        </p:spPr>
      </p:sp>
      <p:sp>
        <p:nvSpPr>
          <p:cNvPr id="5" name="badge-glyph-621"/>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643" descr="Diagrama / tabla de la diapositiva">    </p:cNvPr>
          <p:cNvPicPr>
            <a:picLocks noChangeAspect="1"/>
          </p:cNvPicPr>
          <p:nvPr/>
        </p:nvPicPr>
        <p:blipFill>
          <a:blip r:embed="rId1"/>
          <a:stretch>
            <a:fillRect/>
          </a:stretch>
        </p:blipFill>
        <p:spPr>
          <a:xfrm>
            <a:off x="685800" y="1965960"/>
            <a:ext cx="10820095" cy="1908119"/>
          </a:xfrm>
          <a:prstGeom prst="rect">
            <a:avLst/>
          </a:prstGeom>
        </p:spPr>
      </p:pic>
      <p:sp>
        <p:nvSpPr>
          <p:cNvPr id="7" name="marker-644"/>
          <p:cNvSpPr txBox="1"/>
          <p:nvPr/>
        </p:nvSpPr>
        <p:spPr>
          <a:xfrm>
            <a:off x="685800" y="4056959"/>
            <a:ext cx="365760" cy="480949"/>
          </a:xfrm>
          <a:prstGeom prst="rect">
            <a:avLst/>
          </a:prstGeom>
          <a:noFill/>
          <a:ln/>
        </p:spPr>
        <p:txBody>
          <a:bodyPr wrap="square" lIns="0" tIns="0" rIns="0" bIns="0" rtlCol="0" anchor="t"/>
          <a:lstStyle/>
          <a:p>
            <a:pPr indent="0" marL="0">
              <a:buNone/>
            </a:pPr>
            <a:r>
              <a:rPr lang="en-US" sz="2750" b="1" dirty="0">
                <a:solidFill>
                  <a:srgbClr val="1B39E6"/>
                </a:solidFill>
              </a:rPr>
              <a:t>1.</a:t>
            </a:r>
            <a:endParaRPr lang="en-US" sz="2750" dirty="0"/>
          </a:p>
        </p:txBody>
      </p:sp>
      <p:sp>
        <p:nvSpPr>
          <p:cNvPr id="8" name="item-645"/>
          <p:cNvSpPr txBox="1"/>
          <p:nvPr/>
        </p:nvSpPr>
        <p:spPr>
          <a:xfrm>
            <a:off x="1097280" y="4056959"/>
            <a:ext cx="10408615" cy="480949"/>
          </a:xfrm>
          <a:prstGeom prst="rect">
            <a:avLst/>
          </a:prstGeom>
          <a:noFill/>
          <a:ln/>
        </p:spPr>
        <p:txBody>
          <a:bodyPr wrap="square" lIns="0" tIns="0" rIns="0" bIns="0" rtlCol="0" anchor="t"/>
          <a:lstStyle/>
          <a:p>
            <a:pPr algn="l" indent="0" marL="0">
              <a:buNone/>
            </a:pPr>
            <a:r>
              <a:rPr lang="en-US" sz="2750" b="1" dirty="0">
                <a:solidFill>
                  <a:srgbClr val="15171C"/>
                </a:solidFill>
              </a:rPr>
              <a:t>¿Cuál es el </a:t>
            </a:r>
            <a:pPr algn="l" indent="0" marL="0">
              <a:buNone/>
            </a:pPr>
            <a:r>
              <a:rPr lang="en-US" sz="2750" b="1" dirty="0">
                <a:solidFill>
                  <a:srgbClr val="15171C"/>
                </a:solidFill>
              </a:rPr>
              <a:t>grado</a:t>
            </a:r>
            <a:pPr algn="l" indent="0" marL="0">
              <a:buNone/>
            </a:pPr>
            <a:r>
              <a:rPr lang="en-US" sz="2750" b="1" dirty="0">
                <a:solidFill>
                  <a:srgbClr val="15171C"/>
                </a:solidFill>
              </a:rPr>
              <a:t> y cuál la </a:t>
            </a:r>
            <a:pPr algn="l" indent="0" marL="0">
              <a:buNone/>
            </a:pPr>
            <a:r>
              <a:rPr lang="en-US" sz="2750" b="1" dirty="0">
                <a:solidFill>
                  <a:srgbClr val="15171C"/>
                </a:solidFill>
              </a:rPr>
              <a:t>cardinalidad</a:t>
            </a:r>
            <a:pPr algn="l" indent="0" marL="0">
              <a:buNone/>
            </a:pPr>
            <a:r>
              <a:rPr lang="en-US" sz="2750" b="1" dirty="0">
                <a:solidFill>
                  <a:srgbClr val="15171C"/>
                </a:solidFill>
              </a:rPr>
              <a:t>?</a:t>
            </a:r>
            <a:endParaRPr lang="en-US" sz="2750" dirty="0"/>
          </a:p>
        </p:txBody>
      </p:sp>
      <p:sp>
        <p:nvSpPr>
          <p:cNvPr id="9" name="marker-646"/>
          <p:cNvSpPr txBox="1"/>
          <p:nvPr/>
        </p:nvSpPr>
        <p:spPr>
          <a:xfrm>
            <a:off x="685800" y="4629348"/>
            <a:ext cx="365760" cy="907034"/>
          </a:xfrm>
          <a:prstGeom prst="rect">
            <a:avLst/>
          </a:prstGeom>
          <a:noFill/>
          <a:ln/>
        </p:spPr>
        <p:txBody>
          <a:bodyPr wrap="square" lIns="0" tIns="0" rIns="0" bIns="0" rtlCol="0" anchor="t"/>
          <a:lstStyle/>
          <a:p>
            <a:pPr indent="0" marL="0">
              <a:buNone/>
            </a:pPr>
            <a:r>
              <a:rPr lang="en-US" sz="2750" b="1" dirty="0">
                <a:solidFill>
                  <a:srgbClr val="1B39E6"/>
                </a:solidFill>
              </a:rPr>
              <a:t>2.</a:t>
            </a:r>
            <a:endParaRPr lang="en-US" sz="2750" dirty="0"/>
          </a:p>
        </p:txBody>
      </p:sp>
      <p:sp>
        <p:nvSpPr>
          <p:cNvPr id="10" name="item-647"/>
          <p:cNvSpPr txBox="1"/>
          <p:nvPr/>
        </p:nvSpPr>
        <p:spPr>
          <a:xfrm>
            <a:off x="1097280" y="4629348"/>
            <a:ext cx="10408615" cy="907034"/>
          </a:xfrm>
          <a:prstGeom prst="rect">
            <a:avLst/>
          </a:prstGeom>
          <a:noFill/>
          <a:ln/>
        </p:spPr>
        <p:txBody>
          <a:bodyPr wrap="square" lIns="0" tIns="0" rIns="0" bIns="0" rtlCol="0" anchor="t"/>
          <a:lstStyle/>
          <a:p>
            <a:pPr algn="l" indent="0" marL="0">
              <a:buNone/>
            </a:pPr>
            <a:r>
              <a:rPr lang="en-US" sz="2750" b="1" dirty="0">
                <a:solidFill>
                  <a:srgbClr val="15171C"/>
                </a:solidFill>
              </a:rPr>
              <a:t>¿Cuáles son el nombre de la relación, los atributos y las tuplas?</a:t>
            </a:r>
            <a:endParaRPr lang="en-US" sz="2750" dirty="0"/>
          </a:p>
        </p:txBody>
      </p:sp>
      <p:sp>
        <p:nvSpPr>
          <p:cNvPr id="11" name="marker-648"/>
          <p:cNvSpPr txBox="1"/>
          <p:nvPr/>
        </p:nvSpPr>
        <p:spPr>
          <a:xfrm>
            <a:off x="685800" y="5627822"/>
            <a:ext cx="365760" cy="480949"/>
          </a:xfrm>
          <a:prstGeom prst="rect">
            <a:avLst/>
          </a:prstGeom>
          <a:noFill/>
          <a:ln/>
        </p:spPr>
        <p:txBody>
          <a:bodyPr wrap="square" lIns="0" tIns="0" rIns="0" bIns="0" rtlCol="0" anchor="t"/>
          <a:lstStyle/>
          <a:p>
            <a:pPr indent="0" marL="0">
              <a:buNone/>
            </a:pPr>
            <a:r>
              <a:rPr lang="en-US" sz="2750" b="1" dirty="0">
                <a:solidFill>
                  <a:srgbClr val="1B39E6"/>
                </a:solidFill>
              </a:rPr>
              <a:t>3.</a:t>
            </a:r>
            <a:endParaRPr lang="en-US" sz="2750" dirty="0"/>
          </a:p>
        </p:txBody>
      </p:sp>
      <p:sp>
        <p:nvSpPr>
          <p:cNvPr id="12" name="item-649"/>
          <p:cNvSpPr txBox="1"/>
          <p:nvPr/>
        </p:nvSpPr>
        <p:spPr>
          <a:xfrm>
            <a:off x="1097280" y="5627822"/>
            <a:ext cx="10408615" cy="480949"/>
          </a:xfrm>
          <a:prstGeom prst="rect">
            <a:avLst/>
          </a:prstGeom>
          <a:noFill/>
          <a:ln/>
        </p:spPr>
        <p:txBody>
          <a:bodyPr wrap="square" lIns="0" tIns="0" rIns="0" bIns="0" rtlCol="0" anchor="t"/>
          <a:lstStyle/>
          <a:p>
            <a:pPr algn="l" indent="0" marL="0">
              <a:buNone/>
            </a:pPr>
            <a:r>
              <a:rPr lang="en-US" sz="2750" b="1" dirty="0">
                <a:solidFill>
                  <a:srgbClr val="15171C"/>
                </a:solidFill>
              </a:rPr>
              <a:t>¿Qué dominio razonable darías a </a:t>
            </a:r>
            <a:pPr algn="l" indent="0" marL="0">
              <a:buNone/>
            </a:pPr>
            <a:r>
              <a:rPr lang="en-US" sz="2750" b="1" dirty="0">
                <a:solidFill>
                  <a:srgbClr val="0D1A7A"/>
                </a:solidFill>
                <a:latin typeface="Courier New" pitchFamily="34" charset="0"/>
                <a:ea typeface="Courier New" pitchFamily="34" charset="-122"/>
                <a:cs typeface="Courier New" pitchFamily="34" charset="-120"/>
              </a:rPr>
              <a:t>Salas</a:t>
            </a:r>
            <a:pPr algn="l" indent="0" marL="0">
              <a:buNone/>
            </a:pPr>
            <a:r>
              <a:rPr lang="en-US" sz="2750" b="1" dirty="0">
                <a:solidFill>
                  <a:srgbClr val="15171C"/>
                </a:solidFill>
              </a:rPr>
              <a:t>?</a:t>
            </a:r>
            <a:endParaRPr lang="en-US" sz="27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Atributos, grado 4 y cardinalidad 3</a:t>
            </a:r>
            <a:endParaRPr lang="en-US" sz="4000" dirty="0"/>
          </a:p>
        </p:txBody>
      </p:sp>
      <p:sp>
        <p:nvSpPr>
          <p:cNvPr id="4" name="badge-650"/>
          <p:cNvSpPr/>
          <p:nvPr/>
        </p:nvSpPr>
        <p:spPr>
          <a:xfrm>
            <a:off x="685800" y="292608"/>
            <a:ext cx="475488" cy="475488"/>
          </a:xfrm>
          <a:prstGeom prst="ellipse">
            <a:avLst/>
          </a:prstGeom>
          <a:solidFill>
            <a:srgbClr val="3F9468"/>
          </a:solidFill>
          <a:ln/>
        </p:spPr>
      </p:sp>
      <p:sp>
        <p:nvSpPr>
          <p:cNvPr id="5" name="badge-glyph-651"/>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card-662"/>
          <p:cNvSpPr/>
          <p:nvPr/>
        </p:nvSpPr>
        <p:spPr>
          <a:xfrm>
            <a:off x="685800" y="2305340"/>
            <a:ext cx="5318608" cy="3223463"/>
          </a:xfrm>
          <a:prstGeom prst="roundRect">
            <a:avLst>
              <a:gd name="adj" fmla="val 3404"/>
            </a:avLst>
          </a:prstGeom>
          <a:solidFill>
            <a:schemeClr val="bg1"/>
          </a:solidFill>
          <a:ln w="19050">
            <a:solidFill>
              <a:srgbClr val="3F9468"/>
            </a:solidFill>
            <a:prstDash val="solid"/>
          </a:ln>
        </p:spPr>
      </p:sp>
      <p:sp>
        <p:nvSpPr>
          <p:cNvPr id="7" name="tag-pill-663"/>
          <p:cNvSpPr/>
          <p:nvPr/>
        </p:nvSpPr>
        <p:spPr>
          <a:xfrm>
            <a:off x="868680" y="2469932"/>
            <a:ext cx="1181405" cy="256032"/>
          </a:xfrm>
          <a:prstGeom prst="roundRect">
            <a:avLst>
              <a:gd name="adj" fmla="val 50000"/>
            </a:avLst>
          </a:prstGeom>
          <a:solidFill>
            <a:srgbClr val="DDF1E6"/>
          </a:solidFill>
          <a:ln/>
        </p:spPr>
      </p:sp>
      <p:sp>
        <p:nvSpPr>
          <p:cNvPr id="8" name="tag-664"/>
          <p:cNvSpPr txBox="1"/>
          <p:nvPr/>
        </p:nvSpPr>
        <p:spPr>
          <a:xfrm>
            <a:off x="868680" y="2469932"/>
            <a:ext cx="1181405" cy="256032"/>
          </a:xfrm>
          <a:prstGeom prst="rect">
            <a:avLst/>
          </a:prstGeom>
          <a:noFill/>
          <a:ln/>
        </p:spPr>
        <p:txBody>
          <a:bodyPr wrap="square" lIns="0" tIns="0" rIns="0" bIns="0" rtlCol="0" anchor="ctr"/>
          <a:lstStyle/>
          <a:p>
            <a:pPr algn="ctr" indent="0" marL="0">
              <a:buNone/>
            </a:pPr>
            <a:r>
              <a:rPr lang="en-US" sz="1100" b="1" dirty="0">
                <a:solidFill>
                  <a:srgbClr val="3F9468"/>
                </a:solidFill>
              </a:rPr>
              <a:t>a) ATRIBUTO</a:t>
            </a:r>
            <a:endParaRPr lang="en-US" sz="1100" dirty="0"/>
          </a:p>
        </p:txBody>
      </p:sp>
      <p:sp>
        <p:nvSpPr>
          <p:cNvPr id="9" name="card-h-665"/>
          <p:cNvSpPr txBox="1"/>
          <p:nvPr/>
        </p:nvSpPr>
        <p:spPr>
          <a:xfrm>
            <a:off x="868680" y="2853980"/>
            <a:ext cx="4952848" cy="518300"/>
          </a:xfrm>
          <a:prstGeom prst="rect">
            <a:avLst/>
          </a:prstGeom>
          <a:noFill/>
          <a:ln/>
        </p:spPr>
        <p:txBody>
          <a:bodyPr wrap="square" lIns="0" tIns="0" rIns="0" bIns="0" rtlCol="0" anchor="t"/>
          <a:lstStyle/>
          <a:p>
            <a:pPr algn="l" indent="0" marL="0">
              <a:buNone/>
            </a:pPr>
            <a:r>
              <a:rPr lang="en-US" sz="2750" b="1" dirty="0">
                <a:solidFill>
                  <a:srgbClr val="15171C"/>
                </a:solidFill>
              </a:rPr>
              <a:t>Vehículos</a:t>
            </a:r>
            <a:endParaRPr lang="en-US" sz="2750" dirty="0"/>
          </a:p>
        </p:txBody>
      </p:sp>
      <p:sp>
        <p:nvSpPr>
          <p:cNvPr id="10" name="card-p-666"/>
          <p:cNvSpPr txBox="1"/>
          <p:nvPr/>
        </p:nvSpPr>
        <p:spPr>
          <a:xfrm>
            <a:off x="868680" y="3372279"/>
            <a:ext cx="4952848" cy="1955356"/>
          </a:xfrm>
          <a:prstGeom prst="rect">
            <a:avLst/>
          </a:prstGeom>
          <a:noFill/>
          <a:ln/>
        </p:spPr>
        <p:txBody>
          <a:bodyPr wrap="square" lIns="0" tIns="0" rIns="0" bIns="0" rtlCol="0" anchor="t"/>
          <a:lstStyle/>
          <a:p>
            <a:pPr algn="l" indent="0" marL="0">
              <a:buNone/>
            </a:pPr>
            <a:r>
              <a:rPr lang="en-US" sz="2450" dirty="0">
                <a:solidFill>
                  <a:srgbClr val="4B4F58"/>
                </a:solidFill>
              </a:rPr>
              <a:t>Marca, Modelo, Año y Precio son </a:t>
            </a:r>
            <a:pPr algn="l" indent="0" marL="0">
              <a:buNone/>
            </a:pPr>
            <a:r>
              <a:rPr lang="en-US" sz="2450" b="1" dirty="0">
                <a:solidFill>
                  <a:srgbClr val="4B4F58"/>
                </a:solidFill>
              </a:rPr>
              <a:t>atributos</a:t>
            </a:r>
            <a:pPr algn="l" indent="0" marL="0">
              <a:buNone/>
            </a:pPr>
            <a:r>
              <a:rPr lang="en-US" sz="2450" dirty="0">
                <a:solidFill>
                  <a:srgbClr val="4B4F58"/>
                </a:solidFill>
              </a:rPr>
              <a:t>: los nombres de las columnas. Las filas (Ford Focus, Opel Astra, VW Golf) son las </a:t>
            </a:r>
            <a:pPr algn="l" indent="0" marL="0">
              <a:buNone/>
            </a:pPr>
            <a:r>
              <a:rPr lang="en-US" sz="2450" b="1" dirty="0">
                <a:solidFill>
                  <a:srgbClr val="4B4F58"/>
                </a:solidFill>
              </a:rPr>
              <a:t>tuplas</a:t>
            </a:r>
            <a:pPr algn="l" indent="0" marL="0">
              <a:buNone/>
            </a:pPr>
            <a:r>
              <a:rPr lang="en-US" sz="2450" dirty="0">
                <a:solidFill>
                  <a:srgbClr val="4B4F58"/>
                </a:solidFill>
              </a:rPr>
              <a:t>.</a:t>
            </a:r>
            <a:endParaRPr lang="en-US" sz="2450" dirty="0"/>
          </a:p>
        </p:txBody>
      </p:sp>
      <p:sp>
        <p:nvSpPr>
          <p:cNvPr id="11" name="card-667"/>
          <p:cNvSpPr/>
          <p:nvPr/>
        </p:nvSpPr>
        <p:spPr>
          <a:xfrm>
            <a:off x="6187288" y="2305340"/>
            <a:ext cx="5318608" cy="3223463"/>
          </a:xfrm>
          <a:prstGeom prst="roundRect">
            <a:avLst>
              <a:gd name="adj" fmla="val 3404"/>
            </a:avLst>
          </a:prstGeom>
          <a:solidFill>
            <a:schemeClr val="bg1"/>
          </a:solidFill>
          <a:ln w="19050">
            <a:solidFill>
              <a:srgbClr val="15171C"/>
            </a:solidFill>
            <a:prstDash val="solid"/>
          </a:ln>
        </p:spPr>
      </p:sp>
      <p:sp>
        <p:nvSpPr>
          <p:cNvPr id="12" name="tag-pill-668"/>
          <p:cNvSpPr/>
          <p:nvPr/>
        </p:nvSpPr>
        <p:spPr>
          <a:xfrm>
            <a:off x="6370168" y="2469932"/>
            <a:ext cx="676656" cy="256032"/>
          </a:xfrm>
          <a:prstGeom prst="roundRect">
            <a:avLst>
              <a:gd name="adj" fmla="val 50000"/>
            </a:avLst>
          </a:prstGeom>
          <a:solidFill>
            <a:srgbClr val="E8EBFC"/>
          </a:solidFill>
          <a:ln/>
        </p:spPr>
      </p:sp>
      <p:sp>
        <p:nvSpPr>
          <p:cNvPr id="13" name="tag-669"/>
          <p:cNvSpPr txBox="1"/>
          <p:nvPr/>
        </p:nvSpPr>
        <p:spPr>
          <a:xfrm>
            <a:off x="6370168" y="2469932"/>
            <a:ext cx="676656" cy="256032"/>
          </a:xfrm>
          <a:prstGeom prst="rect">
            <a:avLst/>
          </a:prstGeom>
          <a:noFill/>
          <a:ln/>
        </p:spPr>
        <p:txBody>
          <a:bodyPr wrap="square" lIns="0" tIns="0" rIns="0" bIns="0" rtlCol="0" anchor="ctr"/>
          <a:lstStyle/>
          <a:p>
            <a:pPr algn="ctr" indent="0" marL="0">
              <a:buNone/>
            </a:pPr>
            <a:r>
              <a:rPr lang="en-US" sz="1100" b="1" dirty="0">
                <a:solidFill>
                  <a:srgbClr val="0D1A7A"/>
                </a:solidFill>
              </a:rPr>
              <a:t>4 Y 3</a:t>
            </a:r>
            <a:endParaRPr lang="en-US" sz="1100" dirty="0"/>
          </a:p>
        </p:txBody>
      </p:sp>
      <p:sp>
        <p:nvSpPr>
          <p:cNvPr id="14" name="card-h-670"/>
          <p:cNvSpPr txBox="1"/>
          <p:nvPr/>
        </p:nvSpPr>
        <p:spPr>
          <a:xfrm>
            <a:off x="6370168" y="2853980"/>
            <a:ext cx="4952848" cy="518300"/>
          </a:xfrm>
          <a:prstGeom prst="rect">
            <a:avLst/>
          </a:prstGeom>
          <a:noFill/>
          <a:ln/>
        </p:spPr>
        <p:txBody>
          <a:bodyPr wrap="square" lIns="0" tIns="0" rIns="0" bIns="0" rtlCol="0" anchor="t"/>
          <a:lstStyle/>
          <a:p>
            <a:pPr algn="l" indent="0" marL="0">
              <a:buNone/>
            </a:pPr>
            <a:r>
              <a:rPr lang="en-US" sz="2750" b="1" dirty="0">
                <a:solidFill>
                  <a:srgbClr val="15171C"/>
                </a:solidFill>
              </a:rPr>
              <a:t>Museo</a:t>
            </a:r>
            <a:endParaRPr lang="en-US" sz="2750" dirty="0"/>
          </a:p>
        </p:txBody>
      </p:sp>
      <p:sp>
        <p:nvSpPr>
          <p:cNvPr id="15" name="card-p-671"/>
          <p:cNvSpPr txBox="1"/>
          <p:nvPr/>
        </p:nvSpPr>
        <p:spPr>
          <a:xfrm>
            <a:off x="6370168" y="3372279"/>
            <a:ext cx="4952848" cy="1955356"/>
          </a:xfrm>
          <a:prstGeom prst="rect">
            <a:avLst/>
          </a:prstGeom>
          <a:noFill/>
          <a:ln/>
        </p:spPr>
        <p:txBody>
          <a:bodyPr wrap="square" lIns="0" tIns="0" rIns="0" bIns="0" rtlCol="0" anchor="t"/>
          <a:lstStyle/>
          <a:p>
            <a:pPr algn="l" indent="0" marL="0">
              <a:buNone/>
            </a:pPr>
            <a:r>
              <a:rPr lang="en-US" sz="2450" dirty="0">
                <a:solidFill>
                  <a:srgbClr val="4B4F58"/>
                </a:solidFill>
              </a:rPr>
              <a:t>Relación </a:t>
            </a:r>
            <a:pPr algn="l" indent="0" marL="0">
              <a:buNone/>
            </a:pPr>
            <a:r>
              <a:rPr lang="en-US" sz="2450" dirty="0">
                <a:solidFill>
                  <a:srgbClr val="0D1A7A"/>
                </a:solidFill>
                <a:latin typeface="Courier New" pitchFamily="34" charset="0"/>
                <a:ea typeface="Courier New" pitchFamily="34" charset="-122"/>
                <a:cs typeface="Courier New" pitchFamily="34" charset="-120"/>
              </a:rPr>
              <a:t>MUSEO</a:t>
            </a:r>
            <a:pPr algn="l" indent="0" marL="0">
              <a:buNone/>
            </a:pPr>
            <a:r>
              <a:rPr lang="en-US" sz="2450" dirty="0">
                <a:solidFill>
                  <a:srgbClr val="4B4F58"/>
                </a:solidFill>
              </a:rPr>
              <a:t>. </a:t>
            </a:r>
            <a:pPr algn="l" indent="0" marL="0">
              <a:buNone/>
            </a:pPr>
            <a:r>
              <a:rPr lang="en-US" sz="2450" b="1" dirty="0">
                <a:solidFill>
                  <a:srgbClr val="4B4F58"/>
                </a:solidFill>
              </a:rPr>
              <a:t>Grado 4</a:t>
            </a:r>
            <a:pPr algn="l" indent="0" marL="0">
              <a:buNone/>
            </a:pPr>
            <a:r>
              <a:rPr lang="en-US" sz="2450" dirty="0">
                <a:solidFill>
                  <a:srgbClr val="4B4F58"/>
                </a:solidFill>
              </a:rPr>
              <a:t>: Nombre, Dirección, Zona y Salas. </a:t>
            </a:r>
            <a:pPr algn="l" indent="0" marL="0">
              <a:buNone/>
            </a:pPr>
            <a:r>
              <a:rPr lang="en-US" sz="2450" b="1" dirty="0">
                <a:solidFill>
                  <a:srgbClr val="4B4F58"/>
                </a:solidFill>
              </a:rPr>
              <a:t>Cardinalidad 3</a:t>
            </a:r>
            <a:pPr algn="l" indent="0" marL="0">
              <a:buNone/>
            </a:pPr>
            <a:r>
              <a:rPr lang="en-US" sz="2450" dirty="0">
                <a:solidFill>
                  <a:srgbClr val="4B4F58"/>
                </a:solidFill>
              </a:rPr>
              <a:t>: tres museos. El dominio de </a:t>
            </a:r>
            <a:pPr algn="l" indent="0" marL="0">
              <a:buNone/>
            </a:pPr>
            <a:r>
              <a:rPr lang="en-US" sz="2450" dirty="0">
                <a:solidFill>
                  <a:srgbClr val="0D1A7A"/>
                </a:solidFill>
                <a:latin typeface="Courier New" pitchFamily="34" charset="0"/>
                <a:ea typeface="Courier New" pitchFamily="34" charset="-122"/>
                <a:cs typeface="Courier New" pitchFamily="34" charset="-120"/>
              </a:rPr>
              <a:t>Salas</a:t>
            </a:r>
            <a:pPr algn="l" indent="0" marL="0">
              <a:buNone/>
            </a:pPr>
            <a:r>
              <a:rPr lang="en-US" sz="2450" dirty="0">
                <a:solidFill>
                  <a:srgbClr val="4B4F58"/>
                </a:solidFill>
              </a:rPr>
              <a:t> son los enteros ≥ 0.</a:t>
            </a:r>
            <a:endParaRPr lang="en-US" sz="24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Propiedades de una relación (I)</a:t>
            </a:r>
            <a:endParaRPr lang="en-US" sz="4000" dirty="0"/>
          </a:p>
        </p:txBody>
      </p:sp>
      <p:sp>
        <p:nvSpPr>
          <p:cNvPr id="4" name="card-684"/>
          <p:cNvSpPr/>
          <p:nvPr/>
        </p:nvSpPr>
        <p:spPr>
          <a:xfrm>
            <a:off x="685800" y="1783080"/>
            <a:ext cx="2567864" cy="4030129"/>
          </a:xfrm>
          <a:prstGeom prst="roundRect">
            <a:avLst>
              <a:gd name="adj" fmla="val 4273"/>
            </a:avLst>
          </a:prstGeom>
          <a:solidFill>
            <a:schemeClr val="bg1"/>
          </a:solidFill>
          <a:ln w="19050">
            <a:solidFill>
              <a:srgbClr val="15171C"/>
            </a:solidFill>
            <a:prstDash val="solid"/>
          </a:ln>
        </p:spPr>
      </p:sp>
      <p:sp>
        <p:nvSpPr>
          <p:cNvPr id="5" name="card-h-685"/>
          <p:cNvSpPr txBox="1"/>
          <p:nvPr/>
        </p:nvSpPr>
        <p:spPr>
          <a:xfrm>
            <a:off x="868680" y="1947672"/>
            <a:ext cx="2202104" cy="945159"/>
          </a:xfrm>
          <a:prstGeom prst="rect">
            <a:avLst/>
          </a:prstGeom>
          <a:noFill/>
          <a:ln/>
        </p:spPr>
        <p:txBody>
          <a:bodyPr wrap="square" lIns="0" tIns="0" rIns="0" bIns="0" rtlCol="0" anchor="t"/>
          <a:lstStyle/>
          <a:p>
            <a:pPr algn="l" indent="0" marL="0">
              <a:buNone/>
            </a:pPr>
            <a:r>
              <a:rPr lang="en-US" sz="2750" b="1" dirty="0">
                <a:solidFill>
                  <a:srgbClr val="15171C"/>
                </a:solidFill>
              </a:rPr>
              <a:t>1. Nombre distinto</a:t>
            </a:r>
            <a:endParaRPr lang="en-US" sz="2750" dirty="0"/>
          </a:p>
        </p:txBody>
      </p:sp>
      <p:sp>
        <p:nvSpPr>
          <p:cNvPr id="6" name="card-p-686"/>
          <p:cNvSpPr txBox="1"/>
          <p:nvPr/>
        </p:nvSpPr>
        <p:spPr>
          <a:xfrm>
            <a:off x="868680" y="2892831"/>
            <a:ext cx="2202104" cy="2719210"/>
          </a:xfrm>
          <a:prstGeom prst="rect">
            <a:avLst/>
          </a:prstGeom>
          <a:noFill/>
          <a:ln/>
        </p:spPr>
        <p:txBody>
          <a:bodyPr wrap="square" lIns="0" tIns="0" rIns="0" bIns="0" rtlCol="0" anchor="t"/>
          <a:lstStyle/>
          <a:p>
            <a:pPr algn="l" indent="0" marL="0">
              <a:buNone/>
            </a:pPr>
            <a:r>
              <a:rPr lang="en-US" sz="2450" dirty="0">
                <a:solidFill>
                  <a:srgbClr val="4B4F58"/>
                </a:solidFill>
              </a:rPr>
              <a:t>Cada relación tiene un nombre distinto al de las demás relaciones de la misma BD.</a:t>
            </a:r>
            <a:endParaRPr lang="en-US" sz="2450" dirty="0"/>
          </a:p>
        </p:txBody>
      </p:sp>
      <p:sp>
        <p:nvSpPr>
          <p:cNvPr id="7" name="card-687"/>
          <p:cNvSpPr/>
          <p:nvPr/>
        </p:nvSpPr>
        <p:spPr>
          <a:xfrm>
            <a:off x="3436544" y="1783080"/>
            <a:ext cx="2567864" cy="4030129"/>
          </a:xfrm>
          <a:prstGeom prst="roundRect">
            <a:avLst>
              <a:gd name="adj" fmla="val 4273"/>
            </a:avLst>
          </a:prstGeom>
          <a:solidFill>
            <a:schemeClr val="bg1"/>
          </a:solidFill>
          <a:ln w="19050">
            <a:solidFill>
              <a:srgbClr val="15171C"/>
            </a:solidFill>
            <a:prstDash val="solid"/>
          </a:ln>
        </p:spPr>
      </p:sp>
      <p:sp>
        <p:nvSpPr>
          <p:cNvPr id="8" name="card-h-688"/>
          <p:cNvSpPr txBox="1"/>
          <p:nvPr/>
        </p:nvSpPr>
        <p:spPr>
          <a:xfrm>
            <a:off x="3619424" y="1947672"/>
            <a:ext cx="2202104" cy="945159"/>
          </a:xfrm>
          <a:prstGeom prst="rect">
            <a:avLst/>
          </a:prstGeom>
          <a:noFill/>
          <a:ln/>
        </p:spPr>
        <p:txBody>
          <a:bodyPr wrap="square" lIns="0" tIns="0" rIns="0" bIns="0" rtlCol="0" anchor="t"/>
          <a:lstStyle/>
          <a:p>
            <a:pPr algn="l" indent="0" marL="0">
              <a:buNone/>
            </a:pPr>
            <a:r>
              <a:rPr lang="en-US" sz="2750" b="1" dirty="0">
                <a:solidFill>
                  <a:srgbClr val="15171C"/>
                </a:solidFill>
              </a:rPr>
              <a:t>2. Número fijo</a:t>
            </a:r>
            <a:endParaRPr lang="en-US" sz="2750" dirty="0"/>
          </a:p>
        </p:txBody>
      </p:sp>
      <p:sp>
        <p:nvSpPr>
          <p:cNvPr id="9" name="card-p-689"/>
          <p:cNvSpPr txBox="1"/>
          <p:nvPr/>
        </p:nvSpPr>
        <p:spPr>
          <a:xfrm>
            <a:off x="3619424" y="2892831"/>
            <a:ext cx="2202104" cy="1955356"/>
          </a:xfrm>
          <a:prstGeom prst="rect">
            <a:avLst/>
          </a:prstGeom>
          <a:noFill/>
          <a:ln/>
        </p:spPr>
        <p:txBody>
          <a:bodyPr wrap="square" lIns="0" tIns="0" rIns="0" bIns="0" rtlCol="0" anchor="t"/>
          <a:lstStyle/>
          <a:p>
            <a:pPr algn="l" indent="0" marL="0">
              <a:buNone/>
            </a:pPr>
            <a:r>
              <a:rPr lang="en-US" sz="2450" dirty="0">
                <a:solidFill>
                  <a:srgbClr val="4B4F58"/>
                </a:solidFill>
              </a:rPr>
              <a:t>Todas las tuplas tienen el mismo número de atributos.</a:t>
            </a:r>
            <a:endParaRPr lang="en-US" sz="2450" dirty="0"/>
          </a:p>
        </p:txBody>
      </p:sp>
      <p:sp>
        <p:nvSpPr>
          <p:cNvPr id="10" name="card-690"/>
          <p:cNvSpPr/>
          <p:nvPr/>
        </p:nvSpPr>
        <p:spPr>
          <a:xfrm>
            <a:off x="6187288" y="1783080"/>
            <a:ext cx="2567864" cy="4030129"/>
          </a:xfrm>
          <a:prstGeom prst="roundRect">
            <a:avLst>
              <a:gd name="adj" fmla="val 4273"/>
            </a:avLst>
          </a:prstGeom>
          <a:solidFill>
            <a:schemeClr val="bg1"/>
          </a:solidFill>
          <a:ln w="19050">
            <a:solidFill>
              <a:srgbClr val="15171C"/>
            </a:solidFill>
            <a:prstDash val="solid"/>
          </a:ln>
        </p:spPr>
      </p:sp>
      <p:sp>
        <p:nvSpPr>
          <p:cNvPr id="11" name="card-h-691"/>
          <p:cNvSpPr txBox="1"/>
          <p:nvPr/>
        </p:nvSpPr>
        <p:spPr>
          <a:xfrm>
            <a:off x="6370168" y="1947672"/>
            <a:ext cx="2202104" cy="945159"/>
          </a:xfrm>
          <a:prstGeom prst="rect">
            <a:avLst/>
          </a:prstGeom>
          <a:noFill/>
          <a:ln/>
        </p:spPr>
        <p:txBody>
          <a:bodyPr wrap="square" lIns="0" tIns="0" rIns="0" bIns="0" rtlCol="0" anchor="t"/>
          <a:lstStyle/>
          <a:p>
            <a:pPr algn="l" indent="0" marL="0">
              <a:buNone/>
            </a:pPr>
            <a:r>
              <a:rPr lang="en-US" sz="2750" b="1" dirty="0">
                <a:solidFill>
                  <a:srgbClr val="15171C"/>
                </a:solidFill>
              </a:rPr>
              <a:t>3. Atributos distintos</a:t>
            </a:r>
            <a:endParaRPr lang="en-US" sz="2750" dirty="0"/>
          </a:p>
        </p:txBody>
      </p:sp>
      <p:sp>
        <p:nvSpPr>
          <p:cNvPr id="12" name="card-p-692"/>
          <p:cNvSpPr txBox="1"/>
          <p:nvPr/>
        </p:nvSpPr>
        <p:spPr>
          <a:xfrm>
            <a:off x="6370168" y="2892831"/>
            <a:ext cx="2202104" cy="1955356"/>
          </a:xfrm>
          <a:prstGeom prst="rect">
            <a:avLst/>
          </a:prstGeom>
          <a:noFill/>
          <a:ln/>
        </p:spPr>
        <p:txBody>
          <a:bodyPr wrap="square" lIns="0" tIns="0" rIns="0" bIns="0" rtlCol="0" anchor="t"/>
          <a:lstStyle/>
          <a:p>
            <a:pPr algn="l" indent="0" marL="0">
              <a:buNone/>
            </a:pPr>
            <a:r>
              <a:rPr lang="en-US" sz="2450" dirty="0">
                <a:solidFill>
                  <a:srgbClr val="4B4F58"/>
                </a:solidFill>
              </a:rPr>
              <a:t>No puede haber dos atributos con el mismo nombre en una relación.</a:t>
            </a:r>
            <a:endParaRPr lang="en-US" sz="2450" dirty="0"/>
          </a:p>
        </p:txBody>
      </p:sp>
      <p:sp>
        <p:nvSpPr>
          <p:cNvPr id="13" name="card-693"/>
          <p:cNvSpPr/>
          <p:nvPr/>
        </p:nvSpPr>
        <p:spPr>
          <a:xfrm>
            <a:off x="8938031" y="1783080"/>
            <a:ext cx="2567864" cy="4030129"/>
          </a:xfrm>
          <a:prstGeom prst="roundRect">
            <a:avLst>
              <a:gd name="adj" fmla="val 4273"/>
            </a:avLst>
          </a:prstGeom>
          <a:solidFill>
            <a:schemeClr val="bg1"/>
          </a:solidFill>
          <a:ln w="19050">
            <a:solidFill>
              <a:srgbClr val="15171C"/>
            </a:solidFill>
            <a:prstDash val="solid"/>
          </a:ln>
        </p:spPr>
      </p:sp>
      <p:sp>
        <p:nvSpPr>
          <p:cNvPr id="14" name="card-h-694"/>
          <p:cNvSpPr txBox="1"/>
          <p:nvPr/>
        </p:nvSpPr>
        <p:spPr>
          <a:xfrm>
            <a:off x="9120911" y="1947672"/>
            <a:ext cx="2202104" cy="945159"/>
          </a:xfrm>
          <a:prstGeom prst="rect">
            <a:avLst/>
          </a:prstGeom>
          <a:noFill/>
          <a:ln/>
        </p:spPr>
        <p:txBody>
          <a:bodyPr wrap="square" lIns="0" tIns="0" rIns="0" bIns="0" rtlCol="0" anchor="t"/>
          <a:lstStyle/>
          <a:p>
            <a:pPr algn="l" indent="0" marL="0">
              <a:buNone/>
            </a:pPr>
            <a:r>
              <a:rPr lang="en-US" sz="2750" b="1" dirty="0">
                <a:solidFill>
                  <a:srgbClr val="15171C"/>
                </a:solidFill>
              </a:rPr>
              <a:t>4. Un dominio</a:t>
            </a:r>
            <a:endParaRPr lang="en-US" sz="2750" dirty="0"/>
          </a:p>
        </p:txBody>
      </p:sp>
      <p:sp>
        <p:nvSpPr>
          <p:cNvPr id="15" name="card-p-695"/>
          <p:cNvSpPr txBox="1"/>
          <p:nvPr/>
        </p:nvSpPr>
        <p:spPr>
          <a:xfrm>
            <a:off x="9120911" y="2892831"/>
            <a:ext cx="2202104" cy="1573428"/>
          </a:xfrm>
          <a:prstGeom prst="rect">
            <a:avLst/>
          </a:prstGeom>
          <a:noFill/>
          <a:ln/>
        </p:spPr>
        <p:txBody>
          <a:bodyPr wrap="square" lIns="0" tIns="0" rIns="0" bIns="0" rtlCol="0" anchor="t"/>
          <a:lstStyle/>
          <a:p>
            <a:pPr algn="l" indent="0" marL="0">
              <a:buNone/>
            </a:pPr>
            <a:r>
              <a:rPr lang="en-US" sz="2450" dirty="0">
                <a:solidFill>
                  <a:srgbClr val="4B4F58"/>
                </a:solidFill>
              </a:rPr>
              <a:t>Cada atributo toma sus valores de un único dominio.</a:t>
            </a:r>
            <a:endParaRPr lang="en-US" sz="24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01 — EL MODELO RELACIONAL</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Propiedades de una relación (II)</a:t>
            </a:r>
            <a:endParaRPr lang="en-US" sz="4000" dirty="0"/>
          </a:p>
        </p:txBody>
      </p:sp>
      <p:sp>
        <p:nvSpPr>
          <p:cNvPr id="4" name="card-735"/>
          <p:cNvSpPr/>
          <p:nvPr/>
        </p:nvSpPr>
        <p:spPr>
          <a:xfrm>
            <a:off x="685800" y="1783080"/>
            <a:ext cx="2567864" cy="3214370"/>
          </a:xfrm>
          <a:prstGeom prst="roundRect">
            <a:avLst>
              <a:gd name="adj" fmla="val 4273"/>
            </a:avLst>
          </a:prstGeom>
          <a:solidFill>
            <a:schemeClr val="bg1"/>
          </a:solidFill>
          <a:ln w="19050">
            <a:solidFill>
              <a:srgbClr val="15171C"/>
            </a:solidFill>
            <a:prstDash val="solid"/>
          </a:ln>
        </p:spPr>
      </p:sp>
      <p:sp>
        <p:nvSpPr>
          <p:cNvPr id="5" name="card-h-736"/>
          <p:cNvSpPr txBox="1"/>
          <p:nvPr/>
        </p:nvSpPr>
        <p:spPr>
          <a:xfrm>
            <a:off x="868680" y="1947672"/>
            <a:ext cx="2202104" cy="827405"/>
          </a:xfrm>
          <a:prstGeom prst="rect">
            <a:avLst/>
          </a:prstGeom>
          <a:noFill/>
          <a:ln/>
        </p:spPr>
        <p:txBody>
          <a:bodyPr wrap="square" lIns="0" tIns="0" rIns="0" bIns="0" rtlCol="0" anchor="t"/>
          <a:lstStyle/>
          <a:p>
            <a:pPr algn="l" indent="0" marL="0">
              <a:buNone/>
            </a:pPr>
            <a:r>
              <a:rPr lang="en-US" sz="2400" b="1" dirty="0">
                <a:solidFill>
                  <a:srgbClr val="15171C"/>
                </a:solidFill>
              </a:rPr>
              <a:t>5. Un valor por celda</a:t>
            </a:r>
            <a:endParaRPr lang="en-US" sz="2400" dirty="0"/>
          </a:p>
        </p:txBody>
      </p:sp>
      <p:sp>
        <p:nvSpPr>
          <p:cNvPr id="6" name="card-p-737"/>
          <p:cNvSpPr txBox="1"/>
          <p:nvPr/>
        </p:nvSpPr>
        <p:spPr>
          <a:xfrm>
            <a:off x="868680" y="2775077"/>
            <a:ext cx="2202104" cy="2021205"/>
          </a:xfrm>
          <a:prstGeom prst="rect">
            <a:avLst/>
          </a:prstGeom>
          <a:noFill/>
          <a:ln/>
        </p:spPr>
        <p:txBody>
          <a:bodyPr wrap="square" lIns="0" tIns="0" rIns="0" bIns="0" rtlCol="0" anchor="t"/>
          <a:lstStyle/>
          <a:p>
            <a:pPr algn="l" indent="0" marL="0">
              <a:buNone/>
            </a:pPr>
            <a:r>
              <a:rPr lang="en-US" sz="2150" dirty="0">
                <a:solidFill>
                  <a:srgbClr val="4B4F58"/>
                </a:solidFill>
              </a:rPr>
              <a:t>Los valores son atómicos: en cada tupla, cada atributo toma un solo valor del dominio.</a:t>
            </a:r>
            <a:endParaRPr lang="en-US" sz="2150" dirty="0"/>
          </a:p>
        </p:txBody>
      </p:sp>
      <p:sp>
        <p:nvSpPr>
          <p:cNvPr id="7" name="card-738"/>
          <p:cNvSpPr/>
          <p:nvPr/>
        </p:nvSpPr>
        <p:spPr>
          <a:xfrm>
            <a:off x="3436544" y="1783080"/>
            <a:ext cx="2567864" cy="3214370"/>
          </a:xfrm>
          <a:prstGeom prst="roundRect">
            <a:avLst>
              <a:gd name="adj" fmla="val 4273"/>
            </a:avLst>
          </a:prstGeom>
          <a:solidFill>
            <a:schemeClr val="bg1"/>
          </a:solidFill>
          <a:ln w="19050">
            <a:solidFill>
              <a:srgbClr val="15171C"/>
            </a:solidFill>
            <a:prstDash val="solid"/>
          </a:ln>
        </p:spPr>
      </p:sp>
      <p:sp>
        <p:nvSpPr>
          <p:cNvPr id="8" name="card-h-739"/>
          <p:cNvSpPr txBox="1"/>
          <p:nvPr/>
        </p:nvSpPr>
        <p:spPr>
          <a:xfrm>
            <a:off x="3619424" y="1947672"/>
            <a:ext cx="2202104" cy="827405"/>
          </a:xfrm>
          <a:prstGeom prst="rect">
            <a:avLst/>
          </a:prstGeom>
          <a:noFill/>
          <a:ln/>
        </p:spPr>
        <p:txBody>
          <a:bodyPr wrap="square" lIns="0" tIns="0" rIns="0" bIns="0" rtlCol="0" anchor="t"/>
          <a:lstStyle/>
          <a:p>
            <a:pPr algn="l" indent="0" marL="0">
              <a:buNone/>
            </a:pPr>
            <a:r>
              <a:rPr lang="en-US" sz="2400" b="1" dirty="0">
                <a:solidFill>
                  <a:srgbClr val="15171C"/>
                </a:solidFill>
              </a:rPr>
              <a:t>6. Sin tuplas duplicadas</a:t>
            </a:r>
            <a:endParaRPr lang="en-US" sz="2400" dirty="0"/>
          </a:p>
        </p:txBody>
      </p:sp>
      <p:sp>
        <p:nvSpPr>
          <p:cNvPr id="9" name="card-p-740"/>
          <p:cNvSpPr txBox="1"/>
          <p:nvPr/>
        </p:nvSpPr>
        <p:spPr>
          <a:xfrm>
            <a:off x="3619424" y="2775077"/>
            <a:ext cx="2202104" cy="2021205"/>
          </a:xfrm>
          <a:prstGeom prst="rect">
            <a:avLst/>
          </a:prstGeom>
          <a:noFill/>
          <a:ln/>
        </p:spPr>
        <p:txBody>
          <a:bodyPr wrap="square" lIns="0" tIns="0" rIns="0" bIns="0" rtlCol="0" anchor="t"/>
          <a:lstStyle/>
          <a:p>
            <a:pPr algn="l" indent="0" marL="0">
              <a:buNone/>
            </a:pPr>
            <a:r>
              <a:rPr lang="en-US" sz="2150" dirty="0">
                <a:solidFill>
                  <a:srgbClr val="4B4F58"/>
                </a:solidFill>
              </a:rPr>
              <a:t>Cada tupla es única, distinta a las demás: por eso toda tabla necesita una clave.</a:t>
            </a:r>
            <a:endParaRPr lang="en-US" sz="2150" dirty="0"/>
          </a:p>
        </p:txBody>
      </p:sp>
      <p:sp>
        <p:nvSpPr>
          <p:cNvPr id="10" name="card-741"/>
          <p:cNvSpPr/>
          <p:nvPr/>
        </p:nvSpPr>
        <p:spPr>
          <a:xfrm>
            <a:off x="6187288" y="1783080"/>
            <a:ext cx="2567864" cy="3214370"/>
          </a:xfrm>
          <a:prstGeom prst="roundRect">
            <a:avLst>
              <a:gd name="adj" fmla="val 4273"/>
            </a:avLst>
          </a:prstGeom>
          <a:solidFill>
            <a:schemeClr val="bg1"/>
          </a:solidFill>
          <a:ln w="19050">
            <a:solidFill>
              <a:srgbClr val="15171C"/>
            </a:solidFill>
            <a:prstDash val="solid"/>
          </a:ln>
        </p:spPr>
      </p:sp>
      <p:sp>
        <p:nvSpPr>
          <p:cNvPr id="11" name="card-h-742"/>
          <p:cNvSpPr txBox="1"/>
          <p:nvPr/>
        </p:nvSpPr>
        <p:spPr>
          <a:xfrm>
            <a:off x="6370168" y="1947672"/>
            <a:ext cx="2202104" cy="827405"/>
          </a:xfrm>
          <a:prstGeom prst="rect">
            <a:avLst/>
          </a:prstGeom>
          <a:noFill/>
          <a:ln/>
        </p:spPr>
        <p:txBody>
          <a:bodyPr wrap="square" lIns="0" tIns="0" rIns="0" bIns="0" rtlCol="0" anchor="t"/>
          <a:lstStyle/>
          <a:p>
            <a:pPr algn="l" indent="0" marL="0">
              <a:buNone/>
            </a:pPr>
            <a:r>
              <a:rPr lang="en-US" sz="2400" b="1" dirty="0">
                <a:solidFill>
                  <a:srgbClr val="15171C"/>
                </a:solidFill>
              </a:rPr>
              <a:t>7. Orden de columnas libre</a:t>
            </a:r>
            <a:endParaRPr lang="en-US" sz="2400" dirty="0"/>
          </a:p>
        </p:txBody>
      </p:sp>
      <p:sp>
        <p:nvSpPr>
          <p:cNvPr id="12" name="card-p-743"/>
          <p:cNvSpPr txBox="1"/>
          <p:nvPr/>
        </p:nvSpPr>
        <p:spPr>
          <a:xfrm>
            <a:off x="6370168" y="2775077"/>
            <a:ext cx="2202104" cy="2021205"/>
          </a:xfrm>
          <a:prstGeom prst="rect">
            <a:avLst/>
          </a:prstGeom>
          <a:noFill/>
          <a:ln/>
        </p:spPr>
        <p:txBody>
          <a:bodyPr wrap="square" lIns="0" tIns="0" rIns="0" bIns="0" rtlCol="0" anchor="t"/>
          <a:lstStyle/>
          <a:p>
            <a:pPr algn="l" indent="0" marL="0">
              <a:buNone/>
            </a:pPr>
            <a:r>
              <a:rPr lang="en-US" sz="2150" dirty="0">
                <a:solidFill>
                  <a:srgbClr val="4B4F58"/>
                </a:solidFill>
              </a:rPr>
              <a:t>No importa el orden de los atributos: se accede por nombre, no por posición.</a:t>
            </a:r>
            <a:endParaRPr lang="en-US" sz="2150" dirty="0"/>
          </a:p>
        </p:txBody>
      </p:sp>
      <p:sp>
        <p:nvSpPr>
          <p:cNvPr id="13" name="card-744"/>
          <p:cNvSpPr/>
          <p:nvPr/>
        </p:nvSpPr>
        <p:spPr>
          <a:xfrm>
            <a:off x="8938031" y="1783080"/>
            <a:ext cx="2567864" cy="3214370"/>
          </a:xfrm>
          <a:prstGeom prst="roundRect">
            <a:avLst>
              <a:gd name="adj" fmla="val 4273"/>
            </a:avLst>
          </a:prstGeom>
          <a:solidFill>
            <a:schemeClr val="bg1"/>
          </a:solidFill>
          <a:ln w="19050">
            <a:solidFill>
              <a:srgbClr val="15171C"/>
            </a:solidFill>
            <a:prstDash val="solid"/>
          </a:ln>
        </p:spPr>
      </p:sp>
      <p:sp>
        <p:nvSpPr>
          <p:cNvPr id="14" name="card-h-745"/>
          <p:cNvSpPr txBox="1"/>
          <p:nvPr/>
        </p:nvSpPr>
        <p:spPr>
          <a:xfrm>
            <a:off x="9120911" y="1947672"/>
            <a:ext cx="2202104" cy="827405"/>
          </a:xfrm>
          <a:prstGeom prst="rect">
            <a:avLst/>
          </a:prstGeom>
          <a:noFill/>
          <a:ln/>
        </p:spPr>
        <p:txBody>
          <a:bodyPr wrap="square" lIns="0" tIns="0" rIns="0" bIns="0" rtlCol="0" anchor="t"/>
          <a:lstStyle/>
          <a:p>
            <a:pPr algn="l" indent="0" marL="0">
              <a:buNone/>
            </a:pPr>
            <a:r>
              <a:rPr lang="en-US" sz="2400" b="1" dirty="0">
                <a:solidFill>
                  <a:srgbClr val="15171C"/>
                </a:solidFill>
              </a:rPr>
              <a:t>8. Orden de filas libre</a:t>
            </a:r>
            <a:endParaRPr lang="en-US" sz="2400" dirty="0"/>
          </a:p>
        </p:txBody>
      </p:sp>
      <p:sp>
        <p:nvSpPr>
          <p:cNvPr id="15" name="card-p-746"/>
          <p:cNvSpPr txBox="1"/>
          <p:nvPr/>
        </p:nvSpPr>
        <p:spPr>
          <a:xfrm>
            <a:off x="9120911" y="2775077"/>
            <a:ext cx="2202104" cy="1691958"/>
          </a:xfrm>
          <a:prstGeom prst="rect">
            <a:avLst/>
          </a:prstGeom>
          <a:noFill/>
          <a:ln/>
        </p:spPr>
        <p:txBody>
          <a:bodyPr wrap="square" lIns="0" tIns="0" rIns="0" bIns="0" rtlCol="0" anchor="t"/>
          <a:lstStyle/>
          <a:p>
            <a:pPr algn="l" indent="0" marL="0">
              <a:buNone/>
            </a:pPr>
            <a:r>
              <a:rPr lang="en-US" sz="2150" dirty="0">
                <a:solidFill>
                  <a:srgbClr val="4B4F58"/>
                </a:solidFill>
              </a:rPr>
              <a:t>No importa el orden de las tuplas: no hay «primera» fila con significado.</a:t>
            </a:r>
            <a:endParaRPr lang="en-US" sz="2150" dirty="0"/>
          </a:p>
        </p:txBody>
      </p:sp>
      <p:sp>
        <p:nvSpPr>
          <p:cNvPr id="16" name="note-747"/>
          <p:cNvSpPr txBox="1"/>
          <p:nvPr/>
        </p:nvSpPr>
        <p:spPr>
          <a:xfrm>
            <a:off x="685800" y="5180330"/>
            <a:ext cx="10820095" cy="820420"/>
          </a:xfrm>
          <a:prstGeom prst="rect">
            <a:avLst/>
          </a:prstGeom>
          <a:noFill/>
          <a:ln/>
        </p:spPr>
        <p:txBody>
          <a:bodyPr wrap="square" lIns="0" tIns="0" rIns="0" bIns="0" rtlCol="0" anchor="t"/>
          <a:lstStyle/>
          <a:p>
            <a:pPr algn="l" indent="0" marL="0">
              <a:buNone/>
            </a:pPr>
            <a:r>
              <a:rPr lang="en-US" sz="2500" dirty="0">
                <a:solidFill>
                  <a:srgbClr val="4B4F58"/>
                </a:solidFill>
              </a:rPr>
              <a:t>Si una tabla rompe alguna de las ocho, no es una relación en sentido estricto.</a:t>
            </a:r>
            <a:endParaRPr lang="en-US" sz="2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Qué es una clave y cómo se clasifica</a:t>
            </a:r>
            <a:endParaRPr lang="en-US" sz="4000" dirty="0"/>
          </a:p>
        </p:txBody>
      </p:sp>
      <p:sp>
        <p:nvSpPr>
          <p:cNvPr id="4" name="lede-816"/>
          <p:cNvSpPr txBox="1"/>
          <p:nvPr/>
        </p:nvSpPr>
        <p:spPr>
          <a:xfrm>
            <a:off x="685800" y="1783080"/>
            <a:ext cx="10820095" cy="829716"/>
          </a:xfrm>
          <a:prstGeom prst="rect">
            <a:avLst/>
          </a:prstGeom>
          <a:noFill/>
          <a:ln/>
        </p:spPr>
        <p:txBody>
          <a:bodyPr wrap="square" lIns="0" tIns="0" rIns="0" bIns="0" rtlCol="0" anchor="t"/>
          <a:lstStyle/>
          <a:p>
            <a:pPr algn="l" indent="0" marL="0">
              <a:buNone/>
            </a:pPr>
            <a:r>
              <a:rPr lang="en-US" sz="2550" dirty="0">
                <a:solidFill>
                  <a:srgbClr val="4B4F58"/>
                </a:solidFill>
              </a:rPr>
              <a:t>Una </a:t>
            </a:r>
            <a:pPr algn="l" indent="0" marL="0">
              <a:buNone/>
            </a:pPr>
            <a:r>
              <a:rPr lang="en-US" sz="2550" b="1" dirty="0">
                <a:solidFill>
                  <a:srgbClr val="4B4F58"/>
                </a:solidFill>
              </a:rPr>
              <a:t>clave</a:t>
            </a:r>
            <a:pPr algn="l" indent="0" marL="0">
              <a:buNone/>
            </a:pPr>
            <a:r>
              <a:rPr lang="en-US" sz="2550" dirty="0">
                <a:solidFill>
                  <a:srgbClr val="4B4F58"/>
                </a:solidFill>
              </a:rPr>
              <a:t> es un atributo, o un conjunto de atributos, que identifica de manera única una tupla.</a:t>
            </a:r>
            <a:endParaRPr lang="en-US" sz="2550" dirty="0"/>
          </a:p>
        </p:txBody>
      </p:sp>
      <p:sp>
        <p:nvSpPr>
          <p:cNvPr id="5" name="card-817"/>
          <p:cNvSpPr/>
          <p:nvPr/>
        </p:nvSpPr>
        <p:spPr>
          <a:xfrm>
            <a:off x="685800" y="2795676"/>
            <a:ext cx="3484778" cy="2134235"/>
          </a:xfrm>
          <a:prstGeom prst="roundRect">
            <a:avLst>
              <a:gd name="adj" fmla="val 5141"/>
            </a:avLst>
          </a:prstGeom>
          <a:solidFill>
            <a:schemeClr val="bg1"/>
          </a:solidFill>
          <a:ln w="19050">
            <a:solidFill>
              <a:srgbClr val="15171C"/>
            </a:solidFill>
            <a:prstDash val="solid"/>
          </a:ln>
        </p:spPr>
      </p:sp>
      <p:sp>
        <p:nvSpPr>
          <p:cNvPr id="6" name="tag-pill-818"/>
          <p:cNvSpPr/>
          <p:nvPr/>
        </p:nvSpPr>
        <p:spPr>
          <a:xfrm>
            <a:off x="868680" y="2960268"/>
            <a:ext cx="1770278" cy="256032"/>
          </a:xfrm>
          <a:prstGeom prst="roundRect">
            <a:avLst>
              <a:gd name="adj" fmla="val 50000"/>
            </a:avLst>
          </a:prstGeom>
          <a:solidFill>
            <a:srgbClr val="E8EBFC"/>
          </a:solidFill>
          <a:ln/>
        </p:spPr>
      </p:sp>
      <p:sp>
        <p:nvSpPr>
          <p:cNvPr id="7" name="tag-819"/>
          <p:cNvSpPr txBox="1"/>
          <p:nvPr/>
        </p:nvSpPr>
        <p:spPr>
          <a:xfrm>
            <a:off x="868680" y="2960268"/>
            <a:ext cx="1770278" cy="256032"/>
          </a:xfrm>
          <a:prstGeom prst="rect">
            <a:avLst/>
          </a:prstGeom>
          <a:noFill/>
          <a:ln/>
        </p:spPr>
        <p:txBody>
          <a:bodyPr wrap="square" lIns="0" tIns="0" rIns="0" bIns="0" rtlCol="0" anchor="ctr"/>
          <a:lstStyle/>
          <a:p>
            <a:pPr algn="ctr" indent="0" marL="0">
              <a:buNone/>
            </a:pPr>
            <a:r>
              <a:rPr lang="en-US" sz="1100" b="1" dirty="0">
                <a:solidFill>
                  <a:srgbClr val="0D1A7A"/>
                </a:solidFill>
              </a:rPr>
              <a:t>SEGÚN CARDINALIDAD</a:t>
            </a:r>
            <a:endParaRPr lang="en-US" sz="1100" dirty="0"/>
          </a:p>
        </p:txBody>
      </p:sp>
      <p:sp>
        <p:nvSpPr>
          <p:cNvPr id="8" name="card-h-820"/>
          <p:cNvSpPr txBox="1"/>
          <p:nvPr/>
        </p:nvSpPr>
        <p:spPr>
          <a:xfrm>
            <a:off x="868680" y="3344316"/>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Clave simple</a:t>
            </a:r>
            <a:endParaRPr lang="en-US" sz="2200" dirty="0"/>
          </a:p>
        </p:txBody>
      </p:sp>
      <p:sp>
        <p:nvSpPr>
          <p:cNvPr id="9" name="card-p-821"/>
          <p:cNvSpPr txBox="1"/>
          <p:nvPr/>
        </p:nvSpPr>
        <p:spPr>
          <a:xfrm>
            <a:off x="868680" y="3774300"/>
            <a:ext cx="3119018" cy="651535"/>
          </a:xfrm>
          <a:prstGeom prst="rect">
            <a:avLst/>
          </a:prstGeom>
          <a:noFill/>
          <a:ln/>
        </p:spPr>
        <p:txBody>
          <a:bodyPr wrap="square" lIns="0" tIns="0" rIns="0" bIns="0" rtlCol="0" anchor="t"/>
          <a:lstStyle/>
          <a:p>
            <a:pPr algn="l" indent="0" marL="0">
              <a:buNone/>
            </a:pPr>
            <a:r>
              <a:rPr lang="en-US" sz="1950" dirty="0">
                <a:solidFill>
                  <a:srgbClr val="4B4F58"/>
                </a:solidFill>
              </a:rPr>
              <a:t>Un solo atributo: el </a:t>
            </a:r>
            <a:pPr algn="l" indent="0" marL="0">
              <a:buNone/>
            </a:pPr>
            <a:r>
              <a:rPr lang="en-US" sz="1950" dirty="0">
                <a:solidFill>
                  <a:srgbClr val="0D1A7A"/>
                </a:solidFill>
                <a:latin typeface="Courier New" pitchFamily="34" charset="0"/>
                <a:ea typeface="Courier New" pitchFamily="34" charset="-122"/>
                <a:cs typeface="Courier New" pitchFamily="34" charset="-120"/>
              </a:rPr>
              <a:t>DNI</a:t>
            </a:r>
            <a:pPr algn="l" indent="0" marL="0">
              <a:buNone/>
            </a:pPr>
            <a:r>
              <a:rPr lang="en-US" sz="1950" dirty="0">
                <a:solidFill>
                  <a:srgbClr val="4B4F58"/>
                </a:solidFill>
              </a:rPr>
              <a:t> de una persona.</a:t>
            </a:r>
            <a:endParaRPr lang="en-US" sz="1950" dirty="0"/>
          </a:p>
        </p:txBody>
      </p:sp>
      <p:sp>
        <p:nvSpPr>
          <p:cNvPr id="10" name="card-822"/>
          <p:cNvSpPr/>
          <p:nvPr/>
        </p:nvSpPr>
        <p:spPr>
          <a:xfrm>
            <a:off x="4353458" y="2795676"/>
            <a:ext cx="3484778" cy="2134235"/>
          </a:xfrm>
          <a:prstGeom prst="roundRect">
            <a:avLst>
              <a:gd name="adj" fmla="val 5141"/>
            </a:avLst>
          </a:prstGeom>
          <a:solidFill>
            <a:schemeClr val="bg1"/>
          </a:solidFill>
          <a:ln w="19050">
            <a:solidFill>
              <a:srgbClr val="15171C"/>
            </a:solidFill>
            <a:prstDash val="solid"/>
          </a:ln>
        </p:spPr>
      </p:sp>
      <p:sp>
        <p:nvSpPr>
          <p:cNvPr id="11" name="tag-pill-823"/>
          <p:cNvSpPr/>
          <p:nvPr/>
        </p:nvSpPr>
        <p:spPr>
          <a:xfrm>
            <a:off x="4536338" y="2960268"/>
            <a:ext cx="1770278" cy="256032"/>
          </a:xfrm>
          <a:prstGeom prst="roundRect">
            <a:avLst>
              <a:gd name="adj" fmla="val 50000"/>
            </a:avLst>
          </a:prstGeom>
          <a:solidFill>
            <a:srgbClr val="E8EBFC"/>
          </a:solidFill>
          <a:ln/>
        </p:spPr>
      </p:sp>
      <p:sp>
        <p:nvSpPr>
          <p:cNvPr id="12" name="tag-824"/>
          <p:cNvSpPr txBox="1"/>
          <p:nvPr/>
        </p:nvSpPr>
        <p:spPr>
          <a:xfrm>
            <a:off x="4536338" y="2960268"/>
            <a:ext cx="1770278" cy="256032"/>
          </a:xfrm>
          <a:prstGeom prst="rect">
            <a:avLst/>
          </a:prstGeom>
          <a:noFill/>
          <a:ln/>
        </p:spPr>
        <p:txBody>
          <a:bodyPr wrap="square" lIns="0" tIns="0" rIns="0" bIns="0" rtlCol="0" anchor="ctr"/>
          <a:lstStyle/>
          <a:p>
            <a:pPr algn="ctr" indent="0" marL="0">
              <a:buNone/>
            </a:pPr>
            <a:r>
              <a:rPr lang="en-US" sz="1100" b="1" dirty="0">
                <a:solidFill>
                  <a:srgbClr val="0D1A7A"/>
                </a:solidFill>
              </a:rPr>
              <a:t>SEGÚN CARDINALIDAD</a:t>
            </a:r>
            <a:endParaRPr lang="en-US" sz="1100" dirty="0"/>
          </a:p>
        </p:txBody>
      </p:sp>
      <p:sp>
        <p:nvSpPr>
          <p:cNvPr id="13" name="card-h-825"/>
          <p:cNvSpPr txBox="1"/>
          <p:nvPr/>
        </p:nvSpPr>
        <p:spPr>
          <a:xfrm>
            <a:off x="4536338" y="3344316"/>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Clave compuesta</a:t>
            </a:r>
            <a:endParaRPr lang="en-US" sz="2200" dirty="0"/>
          </a:p>
        </p:txBody>
      </p:sp>
      <p:sp>
        <p:nvSpPr>
          <p:cNvPr id="14" name="card-p-826"/>
          <p:cNvSpPr txBox="1"/>
          <p:nvPr/>
        </p:nvSpPr>
        <p:spPr>
          <a:xfrm>
            <a:off x="4536338" y="3774300"/>
            <a:ext cx="3119018" cy="954443"/>
          </a:xfrm>
          <a:prstGeom prst="rect">
            <a:avLst/>
          </a:prstGeom>
          <a:noFill/>
          <a:ln/>
        </p:spPr>
        <p:txBody>
          <a:bodyPr wrap="square" lIns="0" tIns="0" rIns="0" bIns="0" rtlCol="0" anchor="t"/>
          <a:lstStyle/>
          <a:p>
            <a:pPr algn="l" indent="0" marL="0">
              <a:buNone/>
            </a:pPr>
            <a:r>
              <a:rPr lang="en-US" sz="1950" dirty="0">
                <a:solidFill>
                  <a:srgbClr val="4B4F58"/>
                </a:solidFill>
              </a:rPr>
              <a:t>Dos o más atributos: </a:t>
            </a:r>
            <a:pPr algn="l" indent="0" marL="0">
              <a:buNone/>
            </a:pPr>
            <a:r>
              <a:rPr lang="en-US" sz="1950" dirty="0">
                <a:solidFill>
                  <a:srgbClr val="0D1A7A"/>
                </a:solidFill>
                <a:latin typeface="Courier New" pitchFamily="34" charset="0"/>
                <a:ea typeface="Courier New" pitchFamily="34" charset="-122"/>
                <a:cs typeface="Courier New" pitchFamily="34" charset="-120"/>
              </a:rPr>
              <a:t>DNI</a:t>
            </a:r>
            <a:pPr algn="l" indent="0" marL="0">
              <a:buNone/>
            </a:pPr>
            <a:r>
              <a:rPr lang="en-US" sz="1950" dirty="0">
                <a:solidFill>
                  <a:srgbClr val="4B4F58"/>
                </a:solidFill>
              </a:rPr>
              <a:t> + </a:t>
            </a:r>
            <a:pPr algn="l" indent="0" marL="0">
              <a:buNone/>
            </a:pPr>
            <a:r>
              <a:rPr lang="en-US" sz="1950" dirty="0">
                <a:solidFill>
                  <a:srgbClr val="0D1A7A"/>
                </a:solidFill>
                <a:latin typeface="Courier New" pitchFamily="34" charset="0"/>
                <a:ea typeface="Courier New" pitchFamily="34" charset="-122"/>
                <a:cs typeface="Courier New" pitchFamily="34" charset="-120"/>
              </a:rPr>
              <a:t>Código</a:t>
            </a:r>
            <a:pPr algn="l" indent="0" marL="0">
              <a:buNone/>
            </a:pPr>
            <a:r>
              <a:rPr lang="en-US" sz="1950" dirty="0">
                <a:solidFill>
                  <a:srgbClr val="4B4F58"/>
                </a:solidFill>
              </a:rPr>
              <a:t> en </a:t>
            </a:r>
            <a:pPr algn="l" indent="0" marL="0">
              <a:buNone/>
            </a:pPr>
            <a:r>
              <a:rPr lang="en-US" sz="1950" dirty="0">
                <a:solidFill>
                  <a:srgbClr val="0D1A7A"/>
                </a:solidFill>
                <a:latin typeface="Courier New" pitchFamily="34" charset="0"/>
                <a:ea typeface="Courier New" pitchFamily="34" charset="-122"/>
                <a:cs typeface="Courier New" pitchFamily="34" charset="-120"/>
              </a:rPr>
              <a:t>MATRICULADO</a:t>
            </a:r>
            <a:pPr algn="l" indent="0" marL="0">
              <a:buNone/>
            </a:pPr>
            <a:r>
              <a:rPr lang="en-US" sz="1950" dirty="0">
                <a:solidFill>
                  <a:srgbClr val="4B4F58"/>
                </a:solidFill>
              </a:rPr>
              <a:t>.</a:t>
            </a:r>
            <a:endParaRPr lang="en-US" sz="1950" dirty="0"/>
          </a:p>
        </p:txBody>
      </p:sp>
      <p:sp>
        <p:nvSpPr>
          <p:cNvPr id="15" name="card-827"/>
          <p:cNvSpPr/>
          <p:nvPr/>
        </p:nvSpPr>
        <p:spPr>
          <a:xfrm>
            <a:off x="8021117" y="2795676"/>
            <a:ext cx="3484778" cy="2134235"/>
          </a:xfrm>
          <a:prstGeom prst="roundRect">
            <a:avLst>
              <a:gd name="adj" fmla="val 5141"/>
            </a:avLst>
          </a:prstGeom>
          <a:solidFill>
            <a:schemeClr val="bg1"/>
          </a:solidFill>
          <a:ln w="19050">
            <a:solidFill>
              <a:srgbClr val="15171C"/>
            </a:solidFill>
            <a:prstDash val="solid"/>
          </a:ln>
        </p:spPr>
      </p:sp>
      <p:sp>
        <p:nvSpPr>
          <p:cNvPr id="16" name="tag-pill-828"/>
          <p:cNvSpPr/>
          <p:nvPr/>
        </p:nvSpPr>
        <p:spPr>
          <a:xfrm>
            <a:off x="8203997" y="2960268"/>
            <a:ext cx="676656" cy="256032"/>
          </a:xfrm>
          <a:prstGeom prst="roundRect">
            <a:avLst>
              <a:gd name="adj" fmla="val 50000"/>
            </a:avLst>
          </a:prstGeom>
          <a:solidFill>
            <a:srgbClr val="E8EBFC"/>
          </a:solidFill>
          <a:ln/>
        </p:spPr>
      </p:sp>
      <p:sp>
        <p:nvSpPr>
          <p:cNvPr id="17" name="tag-829"/>
          <p:cNvSpPr txBox="1"/>
          <p:nvPr/>
        </p:nvSpPr>
        <p:spPr>
          <a:xfrm>
            <a:off x="8203997" y="2960268"/>
            <a:ext cx="676656" cy="256032"/>
          </a:xfrm>
          <a:prstGeom prst="rect">
            <a:avLst/>
          </a:prstGeom>
          <a:noFill/>
          <a:ln/>
        </p:spPr>
        <p:txBody>
          <a:bodyPr wrap="square" lIns="0" tIns="0" rIns="0" bIns="0" rtlCol="0" anchor="ctr"/>
          <a:lstStyle/>
          <a:p>
            <a:pPr algn="ctr" indent="0" marL="0">
              <a:buNone/>
            </a:pPr>
            <a:r>
              <a:rPr lang="en-US" sz="1100" b="1" dirty="0">
                <a:solidFill>
                  <a:srgbClr val="0D1A7A"/>
                </a:solidFill>
              </a:rPr>
              <a:t>REGLA</a:t>
            </a:r>
            <a:endParaRPr lang="en-US" sz="1100" dirty="0"/>
          </a:p>
        </p:txBody>
      </p:sp>
      <p:sp>
        <p:nvSpPr>
          <p:cNvPr id="18" name="card-h-830"/>
          <p:cNvSpPr txBox="1"/>
          <p:nvPr/>
        </p:nvSpPr>
        <p:spPr>
          <a:xfrm>
            <a:off x="8203997" y="3344316"/>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Primaria no nula</a:t>
            </a:r>
            <a:endParaRPr lang="en-US" sz="2200" dirty="0"/>
          </a:p>
        </p:txBody>
      </p:sp>
      <p:sp>
        <p:nvSpPr>
          <p:cNvPr id="19" name="card-p-831"/>
          <p:cNvSpPr txBox="1"/>
          <p:nvPr/>
        </p:nvSpPr>
        <p:spPr>
          <a:xfrm>
            <a:off x="8203997" y="3774300"/>
            <a:ext cx="3119018" cy="954443"/>
          </a:xfrm>
          <a:prstGeom prst="rect">
            <a:avLst/>
          </a:prstGeom>
          <a:noFill/>
          <a:ln/>
        </p:spPr>
        <p:txBody>
          <a:bodyPr wrap="square" lIns="0" tIns="0" rIns="0" bIns="0" rtlCol="0" anchor="t"/>
          <a:lstStyle/>
          <a:p>
            <a:pPr algn="l" indent="0" marL="0">
              <a:buNone/>
            </a:pPr>
            <a:r>
              <a:rPr lang="en-US" sz="1950" dirty="0">
                <a:solidFill>
                  <a:srgbClr val="4B4F58"/>
                </a:solidFill>
              </a:rPr>
              <a:t>Regla de integridad de las claves primarias: </a:t>
            </a:r>
            <a:pPr algn="l" indent="0" marL="0">
              <a:buNone/>
            </a:pPr>
            <a:r>
              <a:rPr lang="en-US" sz="1950" b="1" dirty="0">
                <a:solidFill>
                  <a:srgbClr val="4B4F58"/>
                </a:solidFill>
              </a:rPr>
              <a:t>nunca</a:t>
            </a:r>
            <a:pPr algn="l" indent="0" marL="0">
              <a:buNone/>
            </a:pPr>
            <a:r>
              <a:rPr lang="en-US" sz="1950" dirty="0">
                <a:solidFill>
                  <a:srgbClr val="4B4F58"/>
                </a:solidFill>
              </a:rPr>
              <a:t> puede valer NULL.</a:t>
            </a:r>
            <a:endParaRPr lang="en-US" sz="1950" dirty="0"/>
          </a:p>
        </p:txBody>
      </p:sp>
      <p:sp>
        <p:nvSpPr>
          <p:cNvPr id="20" name="note-832"/>
          <p:cNvSpPr txBox="1"/>
          <p:nvPr/>
        </p:nvSpPr>
        <p:spPr>
          <a:xfrm>
            <a:off x="685800" y="5112791"/>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Según su tipo, una clave es primaria, candidata, alternativa o ajena (foránea).</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Cuatro tipos de clave</a:t>
            </a:r>
            <a:endParaRPr lang="en-US" sz="4000" dirty="0"/>
          </a:p>
        </p:txBody>
      </p:sp>
      <p:sp>
        <p:nvSpPr>
          <p:cNvPr id="4" name="card-901"/>
          <p:cNvSpPr/>
          <p:nvPr/>
        </p:nvSpPr>
        <p:spPr>
          <a:xfrm>
            <a:off x="685800" y="2377440"/>
            <a:ext cx="2567864" cy="2612974"/>
          </a:xfrm>
          <a:prstGeom prst="roundRect">
            <a:avLst>
              <a:gd name="adj" fmla="val 4273"/>
            </a:avLst>
          </a:prstGeom>
          <a:solidFill>
            <a:schemeClr val="bg1"/>
          </a:solidFill>
          <a:ln w="19050">
            <a:solidFill>
              <a:srgbClr val="15171C"/>
            </a:solidFill>
            <a:prstDash val="solid"/>
          </a:ln>
        </p:spPr>
      </p:sp>
      <p:sp>
        <p:nvSpPr>
          <p:cNvPr id="5" name="tag-pill-902"/>
          <p:cNvSpPr/>
          <p:nvPr/>
        </p:nvSpPr>
        <p:spPr>
          <a:xfrm>
            <a:off x="868680" y="2542032"/>
            <a:ext cx="1013155" cy="256032"/>
          </a:xfrm>
          <a:prstGeom prst="roundRect">
            <a:avLst>
              <a:gd name="adj" fmla="val 50000"/>
            </a:avLst>
          </a:prstGeom>
          <a:solidFill>
            <a:srgbClr val="E8EBFC"/>
          </a:solidFill>
          <a:ln/>
        </p:spPr>
      </p:sp>
      <p:sp>
        <p:nvSpPr>
          <p:cNvPr id="6" name="tag-903"/>
          <p:cNvSpPr txBox="1"/>
          <p:nvPr/>
        </p:nvSpPr>
        <p:spPr>
          <a:xfrm>
            <a:off x="868680" y="2542032"/>
            <a:ext cx="1013155" cy="256032"/>
          </a:xfrm>
          <a:prstGeom prst="rect">
            <a:avLst/>
          </a:prstGeom>
          <a:noFill/>
          <a:ln/>
        </p:spPr>
        <p:txBody>
          <a:bodyPr wrap="square" lIns="0" tIns="0" rIns="0" bIns="0" rtlCol="0" anchor="ctr"/>
          <a:lstStyle/>
          <a:p>
            <a:pPr algn="ctr" indent="0" marL="0">
              <a:buNone/>
            </a:pPr>
            <a:r>
              <a:rPr lang="en-US" sz="1100" b="1" dirty="0">
                <a:solidFill>
                  <a:srgbClr val="0D1A7A"/>
                </a:solidFill>
              </a:rPr>
              <a:t>CANDIDATA</a:t>
            </a:r>
            <a:endParaRPr lang="en-US" sz="1100" dirty="0"/>
          </a:p>
        </p:txBody>
      </p:sp>
      <p:sp>
        <p:nvSpPr>
          <p:cNvPr id="7" name="card-p-904"/>
          <p:cNvSpPr txBox="1"/>
          <p:nvPr/>
        </p:nvSpPr>
        <p:spPr>
          <a:xfrm>
            <a:off x="868680" y="2926080"/>
            <a:ext cx="2202104" cy="1863166"/>
          </a:xfrm>
          <a:prstGeom prst="rect">
            <a:avLst/>
          </a:prstGeom>
          <a:noFill/>
          <a:ln/>
        </p:spPr>
        <p:txBody>
          <a:bodyPr wrap="square" lIns="0" tIns="0" rIns="0" bIns="0" rtlCol="0" anchor="t"/>
          <a:lstStyle/>
          <a:p>
            <a:pPr algn="l" indent="0" marL="0">
              <a:buNone/>
            </a:pPr>
            <a:r>
              <a:rPr lang="en-US" sz="1950" dirty="0">
                <a:solidFill>
                  <a:srgbClr val="4B4F58"/>
                </a:solidFill>
              </a:rPr>
              <a:t>Atributo o conjunto que identifica cada fila sin ambigüedad. Toda tabla tiene al menos una.</a:t>
            </a:r>
            <a:endParaRPr lang="en-US" sz="1950" dirty="0"/>
          </a:p>
        </p:txBody>
      </p:sp>
      <p:sp>
        <p:nvSpPr>
          <p:cNvPr id="8" name="card-905"/>
          <p:cNvSpPr/>
          <p:nvPr/>
        </p:nvSpPr>
        <p:spPr>
          <a:xfrm>
            <a:off x="3436544" y="2377440"/>
            <a:ext cx="2567864" cy="2612974"/>
          </a:xfrm>
          <a:prstGeom prst="roundRect">
            <a:avLst>
              <a:gd name="adj" fmla="val 4273"/>
            </a:avLst>
          </a:prstGeom>
          <a:solidFill>
            <a:schemeClr val="bg1"/>
          </a:solidFill>
          <a:ln w="19050">
            <a:solidFill>
              <a:srgbClr val="15171C"/>
            </a:solidFill>
            <a:prstDash val="solid"/>
          </a:ln>
        </p:spPr>
      </p:sp>
      <p:sp>
        <p:nvSpPr>
          <p:cNvPr id="9" name="tag-pill-906"/>
          <p:cNvSpPr/>
          <p:nvPr/>
        </p:nvSpPr>
        <p:spPr>
          <a:xfrm>
            <a:off x="3619424" y="2542032"/>
            <a:ext cx="929030" cy="256032"/>
          </a:xfrm>
          <a:prstGeom prst="roundRect">
            <a:avLst>
              <a:gd name="adj" fmla="val 50000"/>
            </a:avLst>
          </a:prstGeom>
          <a:solidFill>
            <a:srgbClr val="E8EBFC"/>
          </a:solidFill>
          <a:ln/>
        </p:spPr>
      </p:sp>
      <p:sp>
        <p:nvSpPr>
          <p:cNvPr id="10" name="tag-907"/>
          <p:cNvSpPr txBox="1"/>
          <p:nvPr/>
        </p:nvSpPr>
        <p:spPr>
          <a:xfrm>
            <a:off x="3619424" y="2542032"/>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PRIMARIA</a:t>
            </a:r>
            <a:endParaRPr lang="en-US" sz="1100" dirty="0"/>
          </a:p>
        </p:txBody>
      </p:sp>
      <p:sp>
        <p:nvSpPr>
          <p:cNvPr id="11" name="card-p-908"/>
          <p:cNvSpPr txBox="1"/>
          <p:nvPr/>
        </p:nvSpPr>
        <p:spPr>
          <a:xfrm>
            <a:off x="3619424" y="2926080"/>
            <a:ext cx="2202104" cy="1257351"/>
          </a:xfrm>
          <a:prstGeom prst="rect">
            <a:avLst/>
          </a:prstGeom>
          <a:noFill/>
          <a:ln/>
        </p:spPr>
        <p:txBody>
          <a:bodyPr wrap="square" lIns="0" tIns="0" rIns="0" bIns="0" rtlCol="0" anchor="t"/>
          <a:lstStyle/>
          <a:p>
            <a:pPr algn="l" indent="0" marL="0">
              <a:buNone/>
            </a:pPr>
            <a:r>
              <a:rPr lang="en-US" sz="1950" dirty="0">
                <a:solidFill>
                  <a:srgbClr val="4B4F58"/>
                </a:solidFill>
              </a:rPr>
              <a:t>La candidata elegida. Única y </a:t>
            </a:r>
            <a:pPr algn="l" indent="0" marL="0">
              <a:buNone/>
            </a:pPr>
            <a:r>
              <a:rPr lang="en-US" sz="1950" b="1" dirty="0">
                <a:solidFill>
                  <a:srgbClr val="4B4F58"/>
                </a:solidFill>
              </a:rPr>
              <a:t>nunca nula</a:t>
            </a:r>
            <a:pPr algn="l" indent="0" marL="0">
              <a:buNone/>
            </a:pPr>
            <a:r>
              <a:rPr lang="en-US" sz="1950" dirty="0">
                <a:solidFill>
                  <a:srgbClr val="4B4F58"/>
                </a:solidFill>
              </a:rPr>
              <a:t>. Solo una por tabla.</a:t>
            </a:r>
            <a:endParaRPr lang="en-US" sz="1950" dirty="0"/>
          </a:p>
        </p:txBody>
      </p:sp>
      <p:sp>
        <p:nvSpPr>
          <p:cNvPr id="12" name="card-909"/>
          <p:cNvSpPr/>
          <p:nvPr/>
        </p:nvSpPr>
        <p:spPr>
          <a:xfrm>
            <a:off x="6187288" y="2377440"/>
            <a:ext cx="2567864" cy="2612974"/>
          </a:xfrm>
          <a:prstGeom prst="roundRect">
            <a:avLst>
              <a:gd name="adj" fmla="val 4273"/>
            </a:avLst>
          </a:prstGeom>
          <a:solidFill>
            <a:schemeClr val="bg1"/>
          </a:solidFill>
          <a:ln w="19050">
            <a:solidFill>
              <a:srgbClr val="15171C"/>
            </a:solidFill>
            <a:prstDash val="solid"/>
          </a:ln>
        </p:spPr>
      </p:sp>
      <p:sp>
        <p:nvSpPr>
          <p:cNvPr id="13" name="tag-pill-910"/>
          <p:cNvSpPr/>
          <p:nvPr/>
        </p:nvSpPr>
        <p:spPr>
          <a:xfrm>
            <a:off x="6370168" y="2542032"/>
            <a:ext cx="1181405" cy="256032"/>
          </a:xfrm>
          <a:prstGeom prst="roundRect">
            <a:avLst>
              <a:gd name="adj" fmla="val 50000"/>
            </a:avLst>
          </a:prstGeom>
          <a:solidFill>
            <a:srgbClr val="E8EBFC"/>
          </a:solidFill>
          <a:ln/>
        </p:spPr>
      </p:sp>
      <p:sp>
        <p:nvSpPr>
          <p:cNvPr id="14" name="tag-911"/>
          <p:cNvSpPr txBox="1"/>
          <p:nvPr/>
        </p:nvSpPr>
        <p:spPr>
          <a:xfrm>
            <a:off x="6370168" y="2542032"/>
            <a:ext cx="1181405" cy="256032"/>
          </a:xfrm>
          <a:prstGeom prst="rect">
            <a:avLst/>
          </a:prstGeom>
          <a:noFill/>
          <a:ln/>
        </p:spPr>
        <p:txBody>
          <a:bodyPr wrap="square" lIns="0" tIns="0" rIns="0" bIns="0" rtlCol="0" anchor="ctr"/>
          <a:lstStyle/>
          <a:p>
            <a:pPr algn="ctr" indent="0" marL="0">
              <a:buNone/>
            </a:pPr>
            <a:r>
              <a:rPr lang="en-US" sz="1100" b="1" dirty="0">
                <a:solidFill>
                  <a:srgbClr val="0D1A7A"/>
                </a:solidFill>
              </a:rPr>
              <a:t>ALTERNATIVA</a:t>
            </a:r>
            <a:endParaRPr lang="en-US" sz="1100" dirty="0"/>
          </a:p>
        </p:txBody>
      </p:sp>
      <p:sp>
        <p:nvSpPr>
          <p:cNvPr id="15" name="card-p-912"/>
          <p:cNvSpPr txBox="1"/>
          <p:nvPr/>
        </p:nvSpPr>
        <p:spPr>
          <a:xfrm>
            <a:off x="6370168" y="2926080"/>
            <a:ext cx="2202104" cy="1257351"/>
          </a:xfrm>
          <a:prstGeom prst="rect">
            <a:avLst/>
          </a:prstGeom>
          <a:noFill/>
          <a:ln/>
        </p:spPr>
        <p:txBody>
          <a:bodyPr wrap="square" lIns="0" tIns="0" rIns="0" bIns="0" rtlCol="0" anchor="t"/>
          <a:lstStyle/>
          <a:p>
            <a:pPr algn="l" indent="0" marL="0">
              <a:buNone/>
            </a:pPr>
            <a:r>
              <a:rPr lang="en-US" sz="1950" dirty="0">
                <a:solidFill>
                  <a:srgbClr val="4B4F58"/>
                </a:solidFill>
              </a:rPr>
              <a:t>Las candidatas no elegidas. En SQL: </a:t>
            </a:r>
            <a:pPr algn="l" indent="0" marL="0">
              <a:buNone/>
            </a:pPr>
            <a:r>
              <a:rPr lang="en-US" sz="1950" dirty="0">
                <a:solidFill>
                  <a:srgbClr val="0D1A7A"/>
                </a:solidFill>
                <a:latin typeface="Courier New" pitchFamily="34" charset="0"/>
                <a:ea typeface="Courier New" pitchFamily="34" charset="-122"/>
                <a:cs typeface="Courier New" pitchFamily="34" charset="-120"/>
              </a:rPr>
              <a:t>UNIQUE NOT NULL</a:t>
            </a:r>
            <a:pPr algn="l" indent="0" marL="0">
              <a:buNone/>
            </a:pPr>
            <a:r>
              <a:rPr lang="en-US" sz="1950" dirty="0">
                <a:solidFill>
                  <a:srgbClr val="4B4F58"/>
                </a:solidFill>
              </a:rPr>
              <a:t>.</a:t>
            </a:r>
            <a:endParaRPr lang="en-US" sz="1950" dirty="0"/>
          </a:p>
        </p:txBody>
      </p:sp>
      <p:sp>
        <p:nvSpPr>
          <p:cNvPr id="16" name="card-913"/>
          <p:cNvSpPr/>
          <p:nvPr/>
        </p:nvSpPr>
        <p:spPr>
          <a:xfrm>
            <a:off x="8938031" y="2377440"/>
            <a:ext cx="2567864" cy="2612974"/>
          </a:xfrm>
          <a:prstGeom prst="roundRect">
            <a:avLst>
              <a:gd name="adj" fmla="val 4273"/>
            </a:avLst>
          </a:prstGeom>
          <a:solidFill>
            <a:schemeClr val="bg1"/>
          </a:solidFill>
          <a:ln w="19050">
            <a:solidFill>
              <a:srgbClr val="15171C"/>
            </a:solidFill>
            <a:prstDash val="solid"/>
          </a:ln>
        </p:spPr>
      </p:sp>
      <p:sp>
        <p:nvSpPr>
          <p:cNvPr id="17" name="tag-pill-914"/>
          <p:cNvSpPr/>
          <p:nvPr/>
        </p:nvSpPr>
        <p:spPr>
          <a:xfrm>
            <a:off x="9120911" y="2542032"/>
            <a:ext cx="844906" cy="256032"/>
          </a:xfrm>
          <a:prstGeom prst="roundRect">
            <a:avLst>
              <a:gd name="adj" fmla="val 50000"/>
            </a:avLst>
          </a:prstGeom>
          <a:solidFill>
            <a:srgbClr val="E8EBFC"/>
          </a:solidFill>
          <a:ln/>
        </p:spPr>
      </p:sp>
      <p:sp>
        <p:nvSpPr>
          <p:cNvPr id="18" name="tag-915"/>
          <p:cNvSpPr txBox="1"/>
          <p:nvPr/>
        </p:nvSpPr>
        <p:spPr>
          <a:xfrm>
            <a:off x="9120911" y="2542032"/>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FORÁNEA</a:t>
            </a:r>
            <a:endParaRPr lang="en-US" sz="1100" dirty="0"/>
          </a:p>
        </p:txBody>
      </p:sp>
      <p:sp>
        <p:nvSpPr>
          <p:cNvPr id="19" name="card-p-916"/>
          <p:cNvSpPr txBox="1"/>
          <p:nvPr/>
        </p:nvSpPr>
        <p:spPr>
          <a:xfrm>
            <a:off x="9120911" y="2926080"/>
            <a:ext cx="2202104" cy="1863166"/>
          </a:xfrm>
          <a:prstGeom prst="rect">
            <a:avLst/>
          </a:prstGeom>
          <a:noFill/>
          <a:ln/>
        </p:spPr>
        <p:txBody>
          <a:bodyPr wrap="square" lIns="0" tIns="0" rIns="0" bIns="0" rtlCol="0" anchor="t"/>
          <a:lstStyle/>
          <a:p>
            <a:pPr algn="l" indent="0" marL="0">
              <a:buNone/>
            </a:pPr>
            <a:r>
              <a:rPr lang="en-US" sz="1950" dirty="0">
                <a:solidFill>
                  <a:srgbClr val="4B4F58"/>
                </a:solidFill>
              </a:rPr>
              <a:t>Atributo que apunta a la clave primaria de otra tabla (o de la misma). Puede ser nula.</a:t>
            </a:r>
            <a:endParaRPr lang="en-US" sz="1950" dirty="0"/>
          </a:p>
        </p:txBody>
      </p:sp>
      <p:sp>
        <p:nvSpPr>
          <p:cNvPr id="20" name="note-917"/>
          <p:cNvSpPr txBox="1"/>
          <p:nvPr/>
        </p:nvSpPr>
        <p:spPr>
          <a:xfrm>
            <a:off x="685800" y="5173294"/>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Elegir la primaria depende del contexto: corta, estable y siempre con valor. Si ninguna candidata sirve, se crea una artificial (</a:t>
            </a:r>
            <a:pPr algn="l" indent="0" marL="0">
              <a:buNone/>
            </a:pPr>
            <a:r>
              <a:rPr lang="en-US" sz="2300" dirty="0">
                <a:solidFill>
                  <a:srgbClr val="0D1A7A"/>
                </a:solidFill>
                <a:latin typeface="Courier New" pitchFamily="34" charset="0"/>
                <a:ea typeface="Courier New" pitchFamily="34" charset="-122"/>
                <a:cs typeface="Courier New" pitchFamily="34" charset="-120"/>
              </a:rPr>
              <a:t>id</a:t>
            </a:r>
            <a:pPr algn="l" indent="0" marL="0">
              <a:buNone/>
            </a:pPr>
            <a:r>
              <a:rPr lang="en-US" sz="2300" dirty="0">
                <a:solidFill>
                  <a:srgbClr val="4B4F58"/>
                </a:solidFill>
              </a:rPr>
              <a:t>).</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Elegir la clave primaria</a:t>
            </a:r>
            <a:endParaRPr lang="en-US" sz="4000" dirty="0"/>
          </a:p>
        </p:txBody>
      </p:sp>
      <p:sp>
        <p:nvSpPr>
          <p:cNvPr id="4" name="lede-954"/>
          <p:cNvSpPr txBox="1"/>
          <p:nvPr/>
        </p:nvSpPr>
        <p:spPr>
          <a:xfrm>
            <a:off x="685800" y="1783080"/>
            <a:ext cx="10820095" cy="727456"/>
          </a:xfrm>
          <a:prstGeom prst="rect">
            <a:avLst/>
          </a:prstGeom>
          <a:noFill/>
          <a:ln/>
        </p:spPr>
        <p:txBody>
          <a:bodyPr wrap="square" lIns="0" tIns="0" rIns="0" bIns="0" rtlCol="0" anchor="t"/>
          <a:lstStyle/>
          <a:p>
            <a:pPr algn="l" indent="0" marL="0">
              <a:buNone/>
            </a:pPr>
            <a:r>
              <a:rPr lang="en-US" sz="2200" dirty="0">
                <a:solidFill>
                  <a:srgbClr val="4B4F58"/>
                </a:solidFill>
              </a:rPr>
              <a:t>La clave primaria identifica de manera única las tuplas de una relación. ¿Cuál de estos campos sirve?</a:t>
            </a:r>
            <a:endParaRPr lang="en-US" sz="2200" dirty="0"/>
          </a:p>
        </p:txBody>
      </p:sp>
      <p:pic>
        <p:nvPicPr>
          <p:cNvPr id="5" name="imagen-955" descr="Diagrama / tabla de la diapositiva">    </p:cNvPr>
          <p:cNvPicPr>
            <a:picLocks noChangeAspect="1"/>
          </p:cNvPicPr>
          <p:nvPr/>
        </p:nvPicPr>
        <p:blipFill>
          <a:blip r:embed="rId1"/>
          <a:stretch>
            <a:fillRect/>
          </a:stretch>
        </p:blipFill>
        <p:spPr>
          <a:xfrm>
            <a:off x="685800" y="2693416"/>
            <a:ext cx="5686103" cy="2194560"/>
          </a:xfrm>
          <a:prstGeom prst="rect">
            <a:avLst/>
          </a:prstGeom>
        </p:spPr>
      </p:pic>
      <p:sp>
        <p:nvSpPr>
          <p:cNvPr id="6" name="marker-956"/>
          <p:cNvSpPr txBox="1"/>
          <p:nvPr/>
        </p:nvSpPr>
        <p:spPr>
          <a:xfrm>
            <a:off x="685800" y="5070856"/>
            <a:ext cx="365760" cy="364744"/>
          </a:xfrm>
          <a:prstGeom prst="rect">
            <a:avLst/>
          </a:prstGeom>
          <a:noFill/>
          <a:ln/>
        </p:spPr>
        <p:txBody>
          <a:bodyPr wrap="square" lIns="0" tIns="0" rIns="0" bIns="0" rtlCol="0" anchor="t"/>
          <a:lstStyle/>
          <a:p>
            <a:pPr indent="0" marL="0">
              <a:buNone/>
            </a:pPr>
            <a:r>
              <a:rPr lang="en-US" sz="2000" b="1" dirty="0">
                <a:solidFill>
                  <a:srgbClr val="1B39E6"/>
                </a:solidFill>
              </a:rPr>
              <a:t>•</a:t>
            </a:r>
            <a:endParaRPr lang="en-US" sz="2000" dirty="0"/>
          </a:p>
        </p:txBody>
      </p:sp>
      <p:sp>
        <p:nvSpPr>
          <p:cNvPr id="7" name="item-957"/>
          <p:cNvSpPr txBox="1"/>
          <p:nvPr/>
        </p:nvSpPr>
        <p:spPr>
          <a:xfrm>
            <a:off x="1097280" y="5070856"/>
            <a:ext cx="10408615" cy="364744"/>
          </a:xfrm>
          <a:prstGeom prst="rect">
            <a:avLst/>
          </a:prstGeom>
          <a:noFill/>
          <a:ln/>
        </p:spPr>
        <p:txBody>
          <a:bodyPr wrap="square" lIns="0" tIns="0" rIns="0" bIns="0" rtlCol="0" anchor="t"/>
          <a:lstStyle/>
          <a:p>
            <a:pPr algn="l" indent="0" marL="0">
              <a:buNone/>
            </a:pPr>
            <a:r>
              <a:rPr lang="en-US" sz="2000" dirty="0">
                <a:solidFill>
                  <a:srgbClr val="0D1A7A"/>
                </a:solidFill>
                <a:latin typeface="Courier New" pitchFamily="34" charset="0"/>
                <a:ea typeface="Courier New" pitchFamily="34" charset="-122"/>
                <a:cs typeface="Courier New" pitchFamily="34" charset="-120"/>
              </a:rPr>
              <a:t>DNI</a:t>
            </a:r>
            <a:pPr algn="l" indent="0" marL="0">
              <a:buNone/>
            </a:pPr>
            <a:r>
              <a:rPr lang="en-US" sz="2000" dirty="0">
                <a:solidFill>
                  <a:srgbClr val="4B4F58"/>
                </a:solidFill>
              </a:rPr>
              <a:t> es único y obligatorio: es la clave.</a:t>
            </a:r>
            <a:endParaRPr lang="en-US" sz="2000" dirty="0"/>
          </a:p>
        </p:txBody>
      </p:sp>
      <p:sp>
        <p:nvSpPr>
          <p:cNvPr id="8" name="marker-958"/>
          <p:cNvSpPr txBox="1"/>
          <p:nvPr/>
        </p:nvSpPr>
        <p:spPr>
          <a:xfrm>
            <a:off x="685800" y="5527040"/>
            <a:ext cx="365760" cy="364744"/>
          </a:xfrm>
          <a:prstGeom prst="rect">
            <a:avLst/>
          </a:prstGeom>
          <a:noFill/>
          <a:ln/>
        </p:spPr>
        <p:txBody>
          <a:bodyPr wrap="square" lIns="0" tIns="0" rIns="0" bIns="0" rtlCol="0" anchor="t"/>
          <a:lstStyle/>
          <a:p>
            <a:pPr indent="0" marL="0">
              <a:buNone/>
            </a:pPr>
            <a:r>
              <a:rPr lang="en-US" sz="2000" b="1" dirty="0">
                <a:solidFill>
                  <a:srgbClr val="1B39E6"/>
                </a:solidFill>
              </a:rPr>
              <a:t>•</a:t>
            </a:r>
            <a:endParaRPr lang="en-US" sz="2000" dirty="0"/>
          </a:p>
        </p:txBody>
      </p:sp>
      <p:sp>
        <p:nvSpPr>
          <p:cNvPr id="9" name="item-959"/>
          <p:cNvSpPr txBox="1"/>
          <p:nvPr/>
        </p:nvSpPr>
        <p:spPr>
          <a:xfrm>
            <a:off x="1097280" y="5527040"/>
            <a:ext cx="10408615" cy="364744"/>
          </a:xfrm>
          <a:prstGeom prst="rect">
            <a:avLst/>
          </a:prstGeom>
          <a:noFill/>
          <a:ln/>
        </p:spPr>
        <p:txBody>
          <a:bodyPr wrap="square" lIns="0" tIns="0" rIns="0" bIns="0" rtlCol="0" anchor="t"/>
          <a:lstStyle/>
          <a:p>
            <a:pPr algn="l" indent="0" marL="0">
              <a:buNone/>
            </a:pPr>
            <a:r>
              <a:rPr lang="en-US" sz="2000" dirty="0">
                <a:solidFill>
                  <a:srgbClr val="0D1A7A"/>
                </a:solidFill>
                <a:latin typeface="Courier New" pitchFamily="34" charset="0"/>
                <a:ea typeface="Courier New" pitchFamily="34" charset="-122"/>
                <a:cs typeface="Courier New" pitchFamily="34" charset="-120"/>
              </a:rPr>
              <a:t>Nombre</a:t>
            </a:r>
            <a:pPr algn="l" indent="0" marL="0">
              <a:buNone/>
            </a:pPr>
            <a:r>
              <a:rPr lang="en-US" sz="2000" dirty="0">
                <a:solidFill>
                  <a:srgbClr val="4B4F58"/>
                </a:solidFill>
              </a:rPr>
              <a:t> y </a:t>
            </a:r>
            <a:pPr algn="l" indent="0" marL="0">
              <a:buNone/>
            </a:pPr>
            <a:r>
              <a:rPr lang="en-US" sz="2000" dirty="0">
                <a:solidFill>
                  <a:srgbClr val="0D1A7A"/>
                </a:solidFill>
                <a:latin typeface="Courier New" pitchFamily="34" charset="0"/>
                <a:ea typeface="Courier New" pitchFamily="34" charset="-122"/>
                <a:cs typeface="Courier New" pitchFamily="34" charset="-120"/>
              </a:rPr>
              <a:t>Apellidos</a:t>
            </a:r>
            <a:pPr algn="l" indent="0" marL="0">
              <a:buNone/>
            </a:pPr>
            <a:r>
              <a:rPr lang="en-US" sz="2000" dirty="0">
                <a:solidFill>
                  <a:srgbClr val="4B4F58"/>
                </a:solidFill>
              </a:rPr>
              <a:t> se repiten (hay dos Andrés): no identifican a nadie.</a:t>
            </a:r>
            <a:endParaRPr lang="en-US" sz="2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Candidatas y alternativas</a:t>
            </a:r>
            <a:endParaRPr lang="en-US" sz="4000" dirty="0"/>
          </a:p>
        </p:txBody>
      </p:sp>
      <p:pic>
        <p:nvPicPr>
          <p:cNvPr id="4" name="imagen-1008" descr="Diagrama / tabla de la diapositiva">    </p:cNvPr>
          <p:cNvPicPr>
            <a:picLocks noChangeAspect="1"/>
          </p:cNvPicPr>
          <p:nvPr/>
        </p:nvPicPr>
        <p:blipFill>
          <a:blip r:embed="rId1"/>
          <a:stretch>
            <a:fillRect/>
          </a:stretch>
        </p:blipFill>
        <p:spPr>
          <a:xfrm>
            <a:off x="685800" y="2377440"/>
            <a:ext cx="5626450" cy="2185950"/>
          </a:xfrm>
          <a:prstGeom prst="rect">
            <a:avLst/>
          </a:prstGeom>
        </p:spPr>
      </p:pic>
      <p:sp>
        <p:nvSpPr>
          <p:cNvPr id="5" name="marker-1009"/>
          <p:cNvSpPr txBox="1"/>
          <p:nvPr/>
        </p:nvSpPr>
        <p:spPr>
          <a:xfrm>
            <a:off x="6745053" y="2377440"/>
            <a:ext cx="365760" cy="984504"/>
          </a:xfrm>
          <a:prstGeom prst="rect">
            <a:avLst/>
          </a:prstGeom>
          <a:noFill/>
          <a:ln/>
        </p:spPr>
        <p:txBody>
          <a:bodyPr wrap="square" lIns="0" tIns="0" rIns="0" bIns="0" rtlCol="0" anchor="t"/>
          <a:lstStyle/>
          <a:p>
            <a:pPr indent="0" marL="0">
              <a:buNone/>
            </a:pPr>
            <a:r>
              <a:rPr lang="en-US" sz="2000" b="1" dirty="0">
                <a:solidFill>
                  <a:srgbClr val="1B39E6"/>
                </a:solidFill>
              </a:rPr>
              <a:t>•</a:t>
            </a:r>
            <a:endParaRPr lang="en-US" sz="2000" dirty="0"/>
          </a:p>
        </p:txBody>
      </p:sp>
      <p:sp>
        <p:nvSpPr>
          <p:cNvPr id="6" name="item-1010"/>
          <p:cNvSpPr txBox="1"/>
          <p:nvPr/>
        </p:nvSpPr>
        <p:spPr>
          <a:xfrm>
            <a:off x="7156533" y="2377440"/>
            <a:ext cx="4349362" cy="984504"/>
          </a:xfrm>
          <a:prstGeom prst="rect">
            <a:avLst/>
          </a:prstGeom>
          <a:noFill/>
          <a:ln/>
        </p:spPr>
        <p:txBody>
          <a:bodyPr wrap="square" lIns="0" tIns="0" rIns="0" bIns="0" rtlCol="0" anchor="t"/>
          <a:lstStyle/>
          <a:p>
            <a:pPr algn="l" indent="0" marL="0">
              <a:buNone/>
            </a:pPr>
            <a:r>
              <a:rPr lang="en-US" sz="2000" b="1" dirty="0">
                <a:solidFill>
                  <a:srgbClr val="4B4F58"/>
                </a:solidFill>
              </a:rPr>
              <a:t>Candidata</a:t>
            </a:r>
            <a:pPr algn="l" indent="0" marL="0">
              <a:buNone/>
            </a:pPr>
            <a:r>
              <a:rPr lang="en-US" sz="2000" dirty="0">
                <a:solidFill>
                  <a:srgbClr val="4B4F58"/>
                </a:solidFill>
              </a:rPr>
              <a:t>: optan a ser la primaria. Aquí, </a:t>
            </a:r>
            <a:pPr algn="l" indent="0" marL="0">
              <a:buNone/>
            </a:pPr>
            <a:r>
              <a:rPr lang="en-US" sz="2000" dirty="0">
                <a:solidFill>
                  <a:srgbClr val="0D1A7A"/>
                </a:solidFill>
                <a:latin typeface="Courier New" pitchFamily="34" charset="0"/>
                <a:ea typeface="Courier New" pitchFamily="34" charset="-122"/>
                <a:cs typeface="Courier New" pitchFamily="34" charset="-120"/>
              </a:rPr>
              <a:t>NMatrícula</a:t>
            </a:r>
            <a:pPr algn="l" indent="0" marL="0">
              <a:buNone/>
            </a:pPr>
            <a:r>
              <a:rPr lang="en-US" sz="2000" dirty="0">
                <a:solidFill>
                  <a:srgbClr val="4B4F58"/>
                </a:solidFill>
              </a:rPr>
              <a:t> y </a:t>
            </a:r>
            <a:pPr algn="l" indent="0" marL="0">
              <a:buNone/>
            </a:pPr>
            <a:r>
              <a:rPr lang="en-US" sz="2000" dirty="0">
                <a:solidFill>
                  <a:srgbClr val="0D1A7A"/>
                </a:solidFill>
                <a:latin typeface="Courier New" pitchFamily="34" charset="0"/>
                <a:ea typeface="Courier New" pitchFamily="34" charset="-122"/>
                <a:cs typeface="Courier New" pitchFamily="34" charset="-120"/>
              </a:rPr>
              <a:t>NMotor</a:t>
            </a:r>
            <a:pPr algn="l" indent="0" marL="0">
              <a:buNone/>
            </a:pPr>
            <a:r>
              <a:rPr lang="en-US" sz="2000" dirty="0">
                <a:solidFill>
                  <a:srgbClr val="4B4F58"/>
                </a:solidFill>
              </a:rPr>
              <a:t>.</a:t>
            </a:r>
            <a:endParaRPr lang="en-US" sz="2000" dirty="0"/>
          </a:p>
        </p:txBody>
      </p:sp>
      <p:sp>
        <p:nvSpPr>
          <p:cNvPr id="7" name="marker-1011"/>
          <p:cNvSpPr txBox="1"/>
          <p:nvPr/>
        </p:nvSpPr>
        <p:spPr>
          <a:xfrm>
            <a:off x="6745053" y="3453384"/>
            <a:ext cx="365760" cy="984504"/>
          </a:xfrm>
          <a:prstGeom prst="rect">
            <a:avLst/>
          </a:prstGeom>
          <a:noFill/>
          <a:ln/>
        </p:spPr>
        <p:txBody>
          <a:bodyPr wrap="square" lIns="0" tIns="0" rIns="0" bIns="0" rtlCol="0" anchor="t"/>
          <a:lstStyle/>
          <a:p>
            <a:pPr indent="0" marL="0">
              <a:buNone/>
            </a:pPr>
            <a:r>
              <a:rPr lang="en-US" sz="2000" b="1" dirty="0">
                <a:solidFill>
                  <a:srgbClr val="1B39E6"/>
                </a:solidFill>
              </a:rPr>
              <a:t>•</a:t>
            </a:r>
            <a:endParaRPr lang="en-US" sz="2000" dirty="0"/>
          </a:p>
        </p:txBody>
      </p:sp>
      <p:sp>
        <p:nvSpPr>
          <p:cNvPr id="8" name="item-1012"/>
          <p:cNvSpPr txBox="1"/>
          <p:nvPr/>
        </p:nvSpPr>
        <p:spPr>
          <a:xfrm>
            <a:off x="7156533" y="3453384"/>
            <a:ext cx="4349362" cy="984504"/>
          </a:xfrm>
          <a:prstGeom prst="rect">
            <a:avLst/>
          </a:prstGeom>
          <a:noFill/>
          <a:ln/>
        </p:spPr>
        <p:txBody>
          <a:bodyPr wrap="square" lIns="0" tIns="0" rIns="0" bIns="0" rtlCol="0" anchor="t"/>
          <a:lstStyle/>
          <a:p>
            <a:pPr algn="l" indent="0" marL="0">
              <a:buNone/>
            </a:pPr>
            <a:r>
              <a:rPr lang="en-US" sz="2000" b="1" dirty="0">
                <a:solidFill>
                  <a:srgbClr val="4B4F58"/>
                </a:solidFill>
              </a:rPr>
              <a:t>Primaria</a:t>
            </a:r>
            <a:pPr algn="l" indent="0" marL="0">
              <a:buNone/>
            </a:pPr>
            <a:r>
              <a:rPr lang="en-US" sz="2000" dirty="0">
                <a:solidFill>
                  <a:srgbClr val="4B4F58"/>
                </a:solidFill>
              </a:rPr>
              <a:t>: la elegida, </a:t>
            </a:r>
            <a:pPr algn="l" indent="0" marL="0">
              <a:buNone/>
            </a:pPr>
            <a:r>
              <a:rPr lang="en-US" sz="2000" dirty="0">
                <a:solidFill>
                  <a:srgbClr val="0D1A7A"/>
                </a:solidFill>
                <a:latin typeface="Courier New" pitchFamily="34" charset="0"/>
                <a:ea typeface="Courier New" pitchFamily="34" charset="-122"/>
                <a:cs typeface="Courier New" pitchFamily="34" charset="-120"/>
              </a:rPr>
              <a:t>NMatrícula</a:t>
            </a:r>
            <a:pPr algn="l" indent="0" marL="0">
              <a:buNone/>
            </a:pPr>
            <a:r>
              <a:rPr lang="en-US" sz="2000" dirty="0">
                <a:solidFill>
                  <a:srgbClr val="4B4F58"/>
                </a:solidFill>
              </a:rPr>
              <a:t>. </a:t>
            </a:r>
            <a:pPr algn="l" indent="0" marL="0">
              <a:buNone/>
            </a:pPr>
            <a:r>
              <a:rPr lang="en-US" sz="2000" b="1" dirty="0">
                <a:solidFill>
                  <a:srgbClr val="4B4F58"/>
                </a:solidFill>
              </a:rPr>
              <a:t>Alternativa</a:t>
            </a:r>
            <a:pPr algn="l" indent="0" marL="0">
              <a:buNone/>
            </a:pPr>
            <a:r>
              <a:rPr lang="en-US" sz="2000" dirty="0">
                <a:solidFill>
                  <a:srgbClr val="4B4F58"/>
                </a:solidFill>
              </a:rPr>
              <a:t>: la candidata no elegida, </a:t>
            </a:r>
            <a:pPr algn="l" indent="0" marL="0">
              <a:buNone/>
            </a:pPr>
            <a:r>
              <a:rPr lang="en-US" sz="2000" dirty="0">
                <a:solidFill>
                  <a:srgbClr val="0D1A7A"/>
                </a:solidFill>
                <a:latin typeface="Courier New" pitchFamily="34" charset="0"/>
                <a:ea typeface="Courier New" pitchFamily="34" charset="-122"/>
                <a:cs typeface="Courier New" pitchFamily="34" charset="-120"/>
              </a:rPr>
              <a:t>NMotor</a:t>
            </a:r>
            <a:pPr algn="l" indent="0" marL="0">
              <a:buNone/>
            </a:pPr>
            <a:r>
              <a:rPr lang="en-US" sz="2000" dirty="0">
                <a:solidFill>
                  <a:srgbClr val="4B4F58"/>
                </a:solidFill>
              </a:rPr>
              <a:t>.</a:t>
            </a:r>
            <a:endParaRPr lang="en-US" sz="2000" dirty="0"/>
          </a:p>
        </p:txBody>
      </p:sp>
      <p:sp>
        <p:nvSpPr>
          <p:cNvPr id="9" name="marker-1013"/>
          <p:cNvSpPr txBox="1"/>
          <p:nvPr/>
        </p:nvSpPr>
        <p:spPr>
          <a:xfrm>
            <a:off x="6745053" y="4529328"/>
            <a:ext cx="365760" cy="674624"/>
          </a:xfrm>
          <a:prstGeom prst="rect">
            <a:avLst/>
          </a:prstGeom>
          <a:noFill/>
          <a:ln/>
        </p:spPr>
        <p:txBody>
          <a:bodyPr wrap="square" lIns="0" tIns="0" rIns="0" bIns="0" rtlCol="0" anchor="t"/>
          <a:lstStyle/>
          <a:p>
            <a:pPr indent="0" marL="0">
              <a:buNone/>
            </a:pPr>
            <a:r>
              <a:rPr lang="en-US" sz="2000" b="1" dirty="0">
                <a:solidFill>
                  <a:srgbClr val="1B39E6"/>
                </a:solidFill>
              </a:rPr>
              <a:t>•</a:t>
            </a:r>
            <a:endParaRPr lang="en-US" sz="2000" dirty="0"/>
          </a:p>
        </p:txBody>
      </p:sp>
      <p:sp>
        <p:nvSpPr>
          <p:cNvPr id="10" name="item-1014"/>
          <p:cNvSpPr txBox="1"/>
          <p:nvPr/>
        </p:nvSpPr>
        <p:spPr>
          <a:xfrm>
            <a:off x="7156533" y="4529328"/>
            <a:ext cx="4349362" cy="674624"/>
          </a:xfrm>
          <a:prstGeom prst="rect">
            <a:avLst/>
          </a:prstGeom>
          <a:noFill/>
          <a:ln/>
        </p:spPr>
        <p:txBody>
          <a:bodyPr wrap="square" lIns="0" tIns="0" rIns="0" bIns="0" rtlCol="0" anchor="t"/>
          <a:lstStyle/>
          <a:p>
            <a:pPr algn="l" indent="0" marL="0">
              <a:buNone/>
            </a:pPr>
            <a:r>
              <a:rPr lang="en-US" sz="2000" dirty="0">
                <a:solidFill>
                  <a:srgbClr val="4B4F58"/>
                </a:solidFill>
              </a:rPr>
              <a:t>En SQL, las alternativas se declaran </a:t>
            </a:r>
            <a:pPr algn="l" indent="0" marL="0">
              <a:buNone/>
            </a:pPr>
            <a:r>
              <a:rPr lang="en-US" sz="2000" dirty="0">
                <a:solidFill>
                  <a:srgbClr val="0D1A7A"/>
                </a:solidFill>
                <a:latin typeface="Courier New" pitchFamily="34" charset="0"/>
                <a:ea typeface="Courier New" pitchFamily="34" charset="-122"/>
                <a:cs typeface="Courier New" pitchFamily="34" charset="-120"/>
              </a:rPr>
              <a:t>UNIQUE NOT NULL</a:t>
            </a:r>
            <a:pPr algn="l" indent="0" marL="0">
              <a:buNone/>
            </a:pPr>
            <a:r>
              <a:rPr lang="en-US" sz="2000" dirty="0">
                <a:solidFill>
                  <a:srgbClr val="4B4F58"/>
                </a:solidFill>
              </a:rPr>
              <a:t>.</a:t>
            </a:r>
            <a:endParaRPr lang="en-US" sz="2000" dirty="0"/>
          </a:p>
        </p:txBody>
      </p:sp>
      <p:sp>
        <p:nvSpPr>
          <p:cNvPr id="11" name="note-1015"/>
          <p:cNvSpPr txBox="1"/>
          <p:nvPr/>
        </p:nvSpPr>
        <p:spPr>
          <a:xfrm>
            <a:off x="685800" y="5386832"/>
            <a:ext cx="10820095" cy="665480"/>
          </a:xfrm>
          <a:prstGeom prst="rect">
            <a:avLst/>
          </a:prstGeom>
          <a:noFill/>
          <a:ln/>
        </p:spPr>
        <p:txBody>
          <a:bodyPr wrap="square" lIns="0" tIns="0" rIns="0" bIns="0" rtlCol="0" anchor="t"/>
          <a:lstStyle/>
          <a:p>
            <a:pPr algn="l" indent="0" marL="0">
              <a:buNone/>
            </a:pPr>
            <a:r>
              <a:rPr lang="en-US" sz="2000" dirty="0">
                <a:solidFill>
                  <a:srgbClr val="4B4F58"/>
                </a:solidFill>
              </a:rPr>
              <a:t>Un automóvil puede identificarse por su número de matrícula o por el de su motor.</a:t>
            </a:r>
            <a:endParaRPr lang="en-US" sz="2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Clave ajena: dos ejemplos</a:t>
            </a:r>
            <a:endParaRPr lang="en-US" sz="4000" dirty="0"/>
          </a:p>
        </p:txBody>
      </p:sp>
      <p:sp>
        <p:nvSpPr>
          <p:cNvPr id="4" name="lede-1052"/>
          <p:cNvSpPr txBox="1"/>
          <p:nvPr/>
        </p:nvSpPr>
        <p:spPr>
          <a:xfrm>
            <a:off x="685800" y="1783080"/>
            <a:ext cx="10820095" cy="727456"/>
          </a:xfrm>
          <a:prstGeom prst="rect">
            <a:avLst/>
          </a:prstGeom>
          <a:noFill/>
          <a:ln/>
        </p:spPr>
        <p:txBody>
          <a:bodyPr wrap="square" lIns="0" tIns="0" rIns="0" bIns="0" rtlCol="0" anchor="t"/>
          <a:lstStyle/>
          <a:p>
            <a:pPr algn="l" indent="0" marL="0">
              <a:buNone/>
            </a:pPr>
            <a:r>
              <a:rPr lang="en-US" sz="2200" dirty="0">
                <a:solidFill>
                  <a:srgbClr val="4B4F58"/>
                </a:solidFill>
              </a:rPr>
              <a:t>La </a:t>
            </a:r>
            <a:pPr algn="l" indent="0" marL="0">
              <a:buNone/>
            </a:pPr>
            <a:r>
              <a:rPr lang="en-US" sz="2200" b="1" dirty="0">
                <a:solidFill>
                  <a:srgbClr val="4B4F58"/>
                </a:solidFill>
              </a:rPr>
              <a:t>clave ajena</a:t>
            </a:r>
            <a:pPr algn="l" indent="0" marL="0">
              <a:buNone/>
            </a:pPr>
            <a:r>
              <a:rPr lang="en-US" sz="2200" dirty="0">
                <a:solidFill>
                  <a:srgbClr val="4B4F58"/>
                </a:solidFill>
              </a:rPr>
              <a:t> (foránea, FK) es un atributo, o conjunto de atributos, que son la clave primaria de otra relación.</a:t>
            </a:r>
            <a:endParaRPr lang="en-US" sz="2200" dirty="0"/>
          </a:p>
        </p:txBody>
      </p:sp>
      <p:pic>
        <p:nvPicPr>
          <p:cNvPr id="5" name="imagen-1053" descr="Diagrama / tabla de la diapositiva">    </p:cNvPr>
          <p:cNvPicPr>
            <a:picLocks noChangeAspect="1"/>
          </p:cNvPicPr>
          <p:nvPr/>
        </p:nvPicPr>
        <p:blipFill>
          <a:blip r:embed="rId1"/>
          <a:stretch>
            <a:fillRect/>
          </a:stretch>
        </p:blipFill>
        <p:spPr>
          <a:xfrm>
            <a:off x="685800" y="2693416"/>
            <a:ext cx="7748604" cy="1371600"/>
          </a:xfrm>
          <a:prstGeom prst="rect">
            <a:avLst/>
          </a:prstGeom>
        </p:spPr>
      </p:pic>
      <p:sp>
        <p:nvSpPr>
          <p:cNvPr id="6" name="schema-card-1054"/>
          <p:cNvSpPr/>
          <p:nvPr/>
        </p:nvSpPr>
        <p:spPr>
          <a:xfrm>
            <a:off x="685800" y="4247896"/>
            <a:ext cx="10820095" cy="1028700"/>
          </a:xfrm>
          <a:prstGeom prst="roundRect">
            <a:avLst>
              <a:gd name="adj" fmla="val 10667"/>
            </a:avLst>
          </a:prstGeom>
          <a:solidFill>
            <a:schemeClr val="bg1"/>
          </a:solidFill>
          <a:ln w="19050">
            <a:solidFill>
              <a:schemeClr val="tx1"/>
            </a:solidFill>
            <a:prstDash val="solid"/>
          </a:ln>
        </p:spPr>
      </p:sp>
      <p:sp>
        <p:nvSpPr>
          <p:cNvPr id="7" name="schema-text-1055"/>
          <p:cNvSpPr txBox="1"/>
          <p:nvPr/>
        </p:nvSpPr>
        <p:spPr>
          <a:xfrm>
            <a:off x="914400" y="4385056"/>
            <a:ext cx="10362895" cy="525780"/>
          </a:xfrm>
          <a:prstGeom prst="rect">
            <a:avLst/>
          </a:prstGeom>
          <a:noFill/>
          <a:ln/>
        </p:spPr>
        <p:txBody>
          <a:bodyPr wrap="square" lIns="0" tIns="0" rIns="0" bIns="0" rtlCol="0" anchor="t"/>
          <a:lstStyle/>
          <a:p>
            <a:pPr indent="0" marL="0">
              <a:buNone/>
            </a:pPr>
            <a:r>
              <a:rPr lang="en-US" sz="1400" b="1" dirty="0">
                <a:solidFill>
                  <a:srgbClr val="15171C"/>
                </a:solidFill>
                <a:latin typeface="Courier New" pitchFamily="34" charset="0"/>
                <a:ea typeface="Courier New" pitchFamily="34" charset="-122"/>
                <a:cs typeface="Courier New" pitchFamily="34" charset="-120"/>
              </a:rPr>
              <a:t>PRODUCTOS</a:t>
            </a:r>
            <a:pPr indent="0" marL="0">
              <a:buNone/>
            </a:pPr>
            <a:r>
              <a:rPr lang="en-US" sz="1400" dirty="0">
                <a:solidFill>
                  <a:srgbClr val="15171C"/>
                </a:solidFill>
                <a:latin typeface="Courier New" pitchFamily="34" charset="0"/>
                <a:ea typeface="Courier New" pitchFamily="34" charset="-122"/>
                <a:cs typeface="Courier New" pitchFamily="34" charset="-120"/>
              </a:rPr>
              <a:t>(</a:t>
            </a:r>
            <a:pPr indent="0" marL="0">
              <a:buNone/>
            </a:pPr>
            <a:r>
              <a:rPr lang="en-US" sz="1400" u="sng" dirty="0">
                <a:solidFill>
                  <a:srgbClr val="15171C"/>
                </a:solidFill>
                <a:latin typeface="Courier New" pitchFamily="34" charset="0"/>
                <a:ea typeface="Courier New" pitchFamily="34" charset="-122"/>
                <a:cs typeface="Courier New" pitchFamily="34" charset="-120"/>
              </a:rPr>
              <a:t>Código</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Nombre</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Precio_unitario</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i="1" dirty="0">
                <a:solidFill>
                  <a:srgbClr val="0D1A7A"/>
                </a:solidFill>
                <a:latin typeface="Courier New" pitchFamily="34" charset="0"/>
                <a:ea typeface="Courier New" pitchFamily="34" charset="-122"/>
                <a:cs typeface="Courier New" pitchFamily="34" charset="-120"/>
              </a:rPr>
              <a:t>NIF</a:t>
            </a:r>
            <a:pPr indent="0" marL="0">
              <a:buNone/>
            </a:pPr>
            <a:r>
              <a:rPr lang="en-US" sz="1400" dirty="0">
                <a:solidFill>
                  <a:srgbClr val="15171C"/>
                </a:solidFill>
                <a:latin typeface="Courier New" pitchFamily="34" charset="0"/>
                <a:ea typeface="Courier New" pitchFamily="34" charset="-122"/>
                <a:cs typeface="Courier New" pitchFamily="34" charset="-120"/>
              </a:rPr>
              <a:t>)</a:t>
            </a:r>
            <a:endParaRPr lang="en-US" sz="1400" dirty="0"/>
          </a:p>
          <a:p>
            <a:pPr indent="0" marL="0">
              <a:buNone/>
            </a:pPr>
            <a:r>
              <a:rPr lang="en-US" sz="1400" b="1" dirty="0">
                <a:solidFill>
                  <a:srgbClr val="15171C"/>
                </a:solidFill>
                <a:latin typeface="Courier New" pitchFamily="34" charset="0"/>
                <a:ea typeface="Courier New" pitchFamily="34" charset="-122"/>
                <a:cs typeface="Courier New" pitchFamily="34" charset="-120"/>
              </a:rPr>
              <a:t>PROVEEDORES</a:t>
            </a:r>
            <a:pPr indent="0" marL="0">
              <a:buNone/>
            </a:pPr>
            <a:r>
              <a:rPr lang="en-US" sz="1400" dirty="0">
                <a:solidFill>
                  <a:srgbClr val="15171C"/>
                </a:solidFill>
                <a:latin typeface="Courier New" pitchFamily="34" charset="0"/>
                <a:ea typeface="Courier New" pitchFamily="34" charset="-122"/>
                <a:cs typeface="Courier New" pitchFamily="34" charset="-120"/>
              </a:rPr>
              <a:t>(</a:t>
            </a:r>
            <a:pPr indent="0" marL="0">
              <a:buNone/>
            </a:pPr>
            <a:r>
              <a:rPr lang="en-US" sz="1400" u="sng" dirty="0">
                <a:solidFill>
                  <a:srgbClr val="15171C"/>
                </a:solidFill>
                <a:latin typeface="Courier New" pitchFamily="34" charset="0"/>
                <a:ea typeface="Courier New" pitchFamily="34" charset="-122"/>
                <a:cs typeface="Courier New" pitchFamily="34" charset="-120"/>
              </a:rPr>
              <a:t>NIF</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Nombre</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Dirección</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CP</a:t>
            </a:r>
            <a:pPr indent="0" marL="0">
              <a:buNone/>
            </a:pPr>
            <a:r>
              <a:rPr lang="en-US" sz="1400" dirty="0">
                <a:solidFill>
                  <a:srgbClr val="15171C"/>
                </a:solidFill>
                <a:latin typeface="Courier New" pitchFamily="34" charset="0"/>
                <a:ea typeface="Courier New" pitchFamily="34" charset="-122"/>
                <a:cs typeface="Courier New" pitchFamily="34" charset="-120"/>
              </a:rPr>
              <a:t>, </a:t>
            </a:r>
            <a:pPr indent="0" marL="0">
              <a:buNone/>
            </a:pPr>
            <a:r>
              <a:rPr lang="en-US" sz="1400" dirty="0">
                <a:solidFill>
                  <a:srgbClr val="15171C"/>
                </a:solidFill>
                <a:latin typeface="Courier New" pitchFamily="34" charset="0"/>
                <a:ea typeface="Courier New" pitchFamily="34" charset="-122"/>
                <a:cs typeface="Courier New" pitchFamily="34" charset="-120"/>
              </a:rPr>
              <a:t>Ciudad</a:t>
            </a:r>
            <a:pPr indent="0" marL="0">
              <a:buNone/>
            </a:pPr>
            <a:r>
              <a:rPr lang="en-US" sz="1400" dirty="0">
                <a:solidFill>
                  <a:srgbClr val="15171C"/>
                </a:solidFill>
                <a:latin typeface="Courier New" pitchFamily="34" charset="0"/>
                <a:ea typeface="Courier New" pitchFamily="34" charset="-122"/>
                <a:cs typeface="Courier New" pitchFamily="34" charset="-120"/>
              </a:rPr>
              <a:t>)</a:t>
            </a:r>
            <a:endParaRPr lang="en-US" sz="1400" dirty="0"/>
          </a:p>
        </p:txBody>
      </p:sp>
      <p:sp>
        <p:nvSpPr>
          <p:cNvPr id="8" name="schema-legend-1056"/>
          <p:cNvSpPr txBox="1"/>
          <p:nvPr/>
        </p:nvSpPr>
        <p:spPr>
          <a:xfrm>
            <a:off x="914400" y="4983988"/>
            <a:ext cx="10362895"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9" name="note-1057"/>
          <p:cNvSpPr txBox="1"/>
          <p:nvPr/>
        </p:nvSpPr>
        <p:spPr>
          <a:xfrm>
            <a:off x="685800" y="5459476"/>
            <a:ext cx="10820095" cy="665480"/>
          </a:xfrm>
          <a:prstGeom prst="rect">
            <a:avLst/>
          </a:prstGeom>
          <a:noFill/>
          <a:ln/>
        </p:spPr>
        <p:txBody>
          <a:bodyPr wrap="square" lIns="0" tIns="0" rIns="0" bIns="0" rtlCol="0" anchor="t"/>
          <a:lstStyle/>
          <a:p>
            <a:pPr algn="l" indent="0" marL="0">
              <a:buNone/>
            </a:pPr>
            <a:r>
              <a:rPr lang="en-US" sz="2000" dirty="0">
                <a:solidFill>
                  <a:srgbClr val="0D1A7A"/>
                </a:solidFill>
                <a:latin typeface="Courier New" pitchFamily="34" charset="0"/>
                <a:ea typeface="Courier New" pitchFamily="34" charset="-122"/>
                <a:cs typeface="Courier New" pitchFamily="34" charset="-120"/>
              </a:rPr>
              <a:t>CIUDAD.País</a:t>
            </a:r>
            <a:pPr algn="l" indent="0" marL="0">
              <a:buNone/>
            </a:pPr>
            <a:r>
              <a:rPr lang="en-US" sz="2000" dirty="0">
                <a:solidFill>
                  <a:srgbClr val="4B4F58"/>
                </a:solidFill>
              </a:rPr>
              <a:t> apunta a </a:t>
            </a:r>
            <a:pPr algn="l" indent="0" marL="0">
              <a:buNone/>
            </a:pPr>
            <a:r>
              <a:rPr lang="en-US" sz="2000" dirty="0">
                <a:solidFill>
                  <a:srgbClr val="0D1A7A"/>
                </a:solidFill>
                <a:latin typeface="Courier New" pitchFamily="34" charset="0"/>
                <a:ea typeface="Courier New" pitchFamily="34" charset="-122"/>
                <a:cs typeface="Courier New" pitchFamily="34" charset="-120"/>
              </a:rPr>
              <a:t>PAIS</a:t>
            </a:r>
            <a:pPr algn="l" indent="0" marL="0">
              <a:buNone/>
            </a:pPr>
            <a:r>
              <a:rPr lang="en-US" sz="2000" dirty="0">
                <a:solidFill>
                  <a:srgbClr val="4B4F58"/>
                </a:solidFill>
              </a:rPr>
              <a:t> y </a:t>
            </a:r>
            <a:pPr algn="l" indent="0" marL="0">
              <a:buNone/>
            </a:pPr>
            <a:r>
              <a:rPr lang="en-US" sz="2000" dirty="0">
                <a:solidFill>
                  <a:srgbClr val="0D1A7A"/>
                </a:solidFill>
                <a:latin typeface="Courier New" pitchFamily="34" charset="0"/>
                <a:ea typeface="Courier New" pitchFamily="34" charset="-122"/>
                <a:cs typeface="Courier New" pitchFamily="34" charset="-120"/>
              </a:rPr>
              <a:t>PRODUCTOS.NIF</a:t>
            </a:r>
            <a:pPr algn="l" indent="0" marL="0">
              <a:buNone/>
            </a:pPr>
            <a:r>
              <a:rPr lang="en-US" sz="2000" dirty="0">
                <a:solidFill>
                  <a:srgbClr val="4B4F58"/>
                </a:solidFill>
              </a:rPr>
              <a:t>, a </a:t>
            </a:r>
            <a:pPr algn="l" indent="0" marL="0">
              <a:buNone/>
            </a:pPr>
            <a:r>
              <a:rPr lang="en-US" sz="2000" dirty="0">
                <a:solidFill>
                  <a:srgbClr val="0D1A7A"/>
                </a:solidFill>
                <a:latin typeface="Courier New" pitchFamily="34" charset="0"/>
                <a:ea typeface="Courier New" pitchFamily="34" charset="-122"/>
                <a:cs typeface="Courier New" pitchFamily="34" charset="-120"/>
              </a:rPr>
              <a:t>PROVEEDORES</a:t>
            </a:r>
            <a:pPr algn="l" indent="0" marL="0">
              <a:buNone/>
            </a:pPr>
            <a:r>
              <a:rPr lang="en-US" sz="2000" dirty="0">
                <a:solidFill>
                  <a:srgbClr val="4B4F58"/>
                </a:solidFill>
              </a:rPr>
              <a:t>: solo admiten valores que existan en la tabla de origen (</a:t>
            </a:r>
            <a:pPr algn="l" indent="0" marL="0">
              <a:buNone/>
            </a:pPr>
            <a:r>
              <a:rPr lang="en-US" sz="2000" b="1" dirty="0">
                <a:solidFill>
                  <a:srgbClr val="4B4F58"/>
                </a:solidFill>
              </a:rPr>
              <a:t>integridad referencial</a:t>
            </a:r>
            <a:pPr algn="l" indent="0" marL="0">
              <a:buNone/>
            </a:pPr>
            <a:r>
              <a:rPr lang="en-US" sz="2000" dirty="0">
                <a:solidFill>
                  <a:srgbClr val="4B4F58"/>
                </a:solidFill>
              </a:rPr>
              <a:t>).</a:t>
            </a:r>
            <a:endParaRPr lang="en-US" sz="2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02 — CLAVES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La clave foránea en acción</a:t>
            </a:r>
            <a:endParaRPr lang="en-US" sz="4000" dirty="0"/>
          </a:p>
        </p:txBody>
      </p:sp>
      <p:pic>
        <p:nvPicPr>
          <p:cNvPr id="4" name="imagen-1086" descr="Diagrama / tabla de la diapositiva">    </p:cNvPr>
          <p:cNvPicPr>
            <a:picLocks noChangeAspect="1"/>
          </p:cNvPicPr>
          <p:nvPr/>
        </p:nvPicPr>
        <p:blipFill>
          <a:blip r:embed="rId1"/>
          <a:stretch>
            <a:fillRect/>
          </a:stretch>
        </p:blipFill>
        <p:spPr>
          <a:xfrm>
            <a:off x="685800" y="1783080"/>
            <a:ext cx="5626450" cy="1853121"/>
          </a:xfrm>
          <a:prstGeom prst="rect">
            <a:avLst/>
          </a:prstGeom>
        </p:spPr>
      </p:pic>
      <p:sp>
        <p:nvSpPr>
          <p:cNvPr id="5" name="marker-1087"/>
          <p:cNvSpPr txBox="1"/>
          <p:nvPr/>
        </p:nvSpPr>
        <p:spPr>
          <a:xfrm>
            <a:off x="6745053" y="1783080"/>
            <a:ext cx="365760" cy="1480312"/>
          </a:xfrm>
          <a:prstGeom prst="rect">
            <a:avLst/>
          </a:prstGeom>
          <a:noFill/>
          <a:ln/>
        </p:spPr>
        <p:txBody>
          <a:bodyPr wrap="square" lIns="0" tIns="0" rIns="0" bIns="0" rtlCol="0" anchor="t"/>
          <a:lstStyle/>
          <a:p>
            <a:pPr indent="0" marL="0">
              <a:buNone/>
            </a:pPr>
            <a:r>
              <a:rPr lang="en-US" sz="2300" b="1" dirty="0">
                <a:solidFill>
                  <a:srgbClr val="1B39E6"/>
                </a:solidFill>
              </a:rPr>
              <a:t>•</a:t>
            </a:r>
            <a:endParaRPr lang="en-US" sz="2300" dirty="0"/>
          </a:p>
        </p:txBody>
      </p:sp>
      <p:sp>
        <p:nvSpPr>
          <p:cNvPr id="6" name="item-1088"/>
          <p:cNvSpPr txBox="1"/>
          <p:nvPr/>
        </p:nvSpPr>
        <p:spPr>
          <a:xfrm>
            <a:off x="7156533" y="1783080"/>
            <a:ext cx="4349362" cy="1480312"/>
          </a:xfrm>
          <a:prstGeom prst="rect">
            <a:avLst/>
          </a:prstGeom>
          <a:noFill/>
          <a:ln/>
        </p:spPr>
        <p:txBody>
          <a:bodyPr wrap="square" lIns="0" tIns="0" rIns="0" bIns="0" rtlCol="0" anchor="t"/>
          <a:lstStyle/>
          <a:p>
            <a:pPr algn="l" indent="0" marL="0">
              <a:buNone/>
            </a:pPr>
            <a:r>
              <a:rPr lang="en-US" sz="2300" dirty="0">
                <a:solidFill>
                  <a:srgbClr val="4B4F58"/>
                </a:solidFill>
              </a:rPr>
              <a:t>Cada jugador guarda </a:t>
            </a:r>
            <a:pPr algn="l" indent="0" marL="0">
              <a:buNone/>
            </a:pPr>
            <a:r>
              <a:rPr lang="en-US" sz="2300" b="1" dirty="0">
                <a:solidFill>
                  <a:srgbClr val="4B4F58"/>
                </a:solidFill>
              </a:rPr>
              <a:t>solo el número</a:t>
            </a:r>
            <a:pPr algn="l" indent="0" marL="0">
              <a:buNone/>
            </a:pPr>
            <a:r>
              <a:rPr lang="en-US" sz="2300" dirty="0">
                <a:solidFill>
                  <a:srgbClr val="4B4F58"/>
                </a:solidFill>
              </a:rPr>
              <a:t> de su equipo: el nombre y la ciudad no se repiten.</a:t>
            </a:r>
            <a:endParaRPr lang="en-US" sz="2300" dirty="0"/>
          </a:p>
        </p:txBody>
      </p:sp>
      <p:sp>
        <p:nvSpPr>
          <p:cNvPr id="7" name="marker-1089"/>
          <p:cNvSpPr txBox="1"/>
          <p:nvPr/>
        </p:nvSpPr>
        <p:spPr>
          <a:xfrm>
            <a:off x="6745053" y="3354832"/>
            <a:ext cx="365760" cy="1123950"/>
          </a:xfrm>
          <a:prstGeom prst="rect">
            <a:avLst/>
          </a:prstGeom>
          <a:noFill/>
          <a:ln/>
        </p:spPr>
        <p:txBody>
          <a:bodyPr wrap="square" lIns="0" tIns="0" rIns="0" bIns="0" rtlCol="0" anchor="t"/>
          <a:lstStyle/>
          <a:p>
            <a:pPr indent="0" marL="0">
              <a:buNone/>
            </a:pPr>
            <a:r>
              <a:rPr lang="en-US" sz="2300" b="1" dirty="0">
                <a:solidFill>
                  <a:srgbClr val="1B39E6"/>
                </a:solidFill>
              </a:rPr>
              <a:t>•</a:t>
            </a:r>
            <a:endParaRPr lang="en-US" sz="2300" dirty="0"/>
          </a:p>
        </p:txBody>
      </p:sp>
      <p:sp>
        <p:nvSpPr>
          <p:cNvPr id="8" name="item-1090"/>
          <p:cNvSpPr txBox="1"/>
          <p:nvPr/>
        </p:nvSpPr>
        <p:spPr>
          <a:xfrm>
            <a:off x="7156533" y="3354832"/>
            <a:ext cx="4349362" cy="1123950"/>
          </a:xfrm>
          <a:prstGeom prst="rect">
            <a:avLst/>
          </a:prstGeom>
          <a:noFill/>
          <a:ln/>
        </p:spPr>
        <p:txBody>
          <a:bodyPr wrap="square" lIns="0" tIns="0" rIns="0" bIns="0" rtlCol="0" anchor="t"/>
          <a:lstStyle/>
          <a:p>
            <a:pPr algn="l" indent="0" marL="0">
              <a:buNone/>
            </a:pPr>
            <a:r>
              <a:rPr lang="en-US" sz="2300" dirty="0">
                <a:solidFill>
                  <a:srgbClr val="4B4F58"/>
                </a:solidFill>
              </a:rPr>
              <a:t>La flecha va de la foránea a la primaria a la que apunta.</a:t>
            </a:r>
            <a:endParaRPr lang="en-US" sz="2300" dirty="0"/>
          </a:p>
        </p:txBody>
      </p:sp>
      <p:sp>
        <p:nvSpPr>
          <p:cNvPr id="9" name="marker-1091"/>
          <p:cNvSpPr txBox="1"/>
          <p:nvPr/>
        </p:nvSpPr>
        <p:spPr>
          <a:xfrm>
            <a:off x="6745053" y="4570222"/>
            <a:ext cx="365760" cy="1480312"/>
          </a:xfrm>
          <a:prstGeom prst="rect">
            <a:avLst/>
          </a:prstGeom>
          <a:noFill/>
          <a:ln/>
        </p:spPr>
        <p:txBody>
          <a:bodyPr wrap="square" lIns="0" tIns="0" rIns="0" bIns="0" rtlCol="0" anchor="t"/>
          <a:lstStyle/>
          <a:p>
            <a:pPr indent="0" marL="0">
              <a:buNone/>
            </a:pPr>
            <a:r>
              <a:rPr lang="en-US" sz="2300" b="1" dirty="0">
                <a:solidFill>
                  <a:srgbClr val="1B39E6"/>
                </a:solidFill>
              </a:rPr>
              <a:t>•</a:t>
            </a:r>
            <a:endParaRPr lang="en-US" sz="2300" dirty="0"/>
          </a:p>
        </p:txBody>
      </p:sp>
      <p:sp>
        <p:nvSpPr>
          <p:cNvPr id="10" name="item-1092"/>
          <p:cNvSpPr txBox="1"/>
          <p:nvPr/>
        </p:nvSpPr>
        <p:spPr>
          <a:xfrm>
            <a:off x="7156533" y="4570222"/>
            <a:ext cx="4349362" cy="1480312"/>
          </a:xfrm>
          <a:prstGeom prst="rect">
            <a:avLst/>
          </a:prstGeom>
          <a:noFill/>
          <a:ln/>
        </p:spPr>
        <p:txBody>
          <a:bodyPr wrap="square" lIns="0" tIns="0" rIns="0" bIns="0" rtlCol="0" anchor="t"/>
          <a:lstStyle/>
          <a:p>
            <a:pPr algn="l" indent="0" marL="0">
              <a:buNone/>
            </a:pPr>
            <a:r>
              <a:rPr lang="en-US" sz="2300" dirty="0">
                <a:solidFill>
                  <a:srgbClr val="0D1A7A"/>
                </a:solidFill>
                <a:latin typeface="Courier New" pitchFamily="34" charset="0"/>
                <a:ea typeface="Courier New" pitchFamily="34" charset="-122"/>
                <a:cs typeface="Courier New" pitchFamily="34" charset="-120"/>
              </a:rPr>
              <a:t>NULL</a:t>
            </a:r>
            <a:pPr algn="l" indent="0" marL="0">
              <a:buNone/>
            </a:pPr>
            <a:r>
              <a:rPr lang="en-US" sz="2300" dirty="0">
                <a:solidFill>
                  <a:srgbClr val="4B4F58"/>
                </a:solidFill>
              </a:rPr>
              <a:t> no es 0 ni vacío: es </a:t>
            </a:r>
            <a:pPr algn="l" indent="0" marL="0">
              <a:buNone/>
            </a:pPr>
            <a:r>
              <a:rPr lang="en-US" sz="2300" i="1" dirty="0">
                <a:solidFill>
                  <a:srgbClr val="4B4F58"/>
                </a:solidFill>
              </a:rPr>
              <a:t>ausencia de valor</a:t>
            </a:r>
            <a:pPr algn="l" indent="0" marL="0">
              <a:buNone/>
            </a:pPr>
            <a:r>
              <a:rPr lang="en-US" sz="2300" dirty="0">
                <a:solidFill>
                  <a:srgbClr val="4B4F58"/>
                </a:solidFill>
              </a:rPr>
              <a:t>. Una foránea nula significa «todavía sin equipo».</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Ponte a prueba: claves (I)</a:t>
            </a:r>
            <a:endParaRPr lang="en-US" sz="4000" dirty="0"/>
          </a:p>
        </p:txBody>
      </p:sp>
      <p:sp>
        <p:nvSpPr>
          <p:cNvPr id="4" name="badge-1093"/>
          <p:cNvSpPr/>
          <p:nvPr/>
        </p:nvSpPr>
        <p:spPr>
          <a:xfrm>
            <a:off x="685800" y="292608"/>
            <a:ext cx="475488" cy="475488"/>
          </a:xfrm>
          <a:prstGeom prst="ellipse">
            <a:avLst/>
          </a:prstGeom>
          <a:solidFill>
            <a:srgbClr val="FF5A2E"/>
          </a:solidFill>
          <a:ln/>
        </p:spPr>
      </p:sp>
      <p:sp>
        <p:nvSpPr>
          <p:cNvPr id="5" name="badge-glyph-1094"/>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1107" descr="Diagrama / tabla de la diapositiva">    </p:cNvPr>
          <p:cNvPicPr>
            <a:picLocks noChangeAspect="1"/>
          </p:cNvPicPr>
          <p:nvPr/>
        </p:nvPicPr>
        <p:blipFill>
          <a:blip r:embed="rId1"/>
          <a:stretch>
            <a:fillRect/>
          </a:stretch>
        </p:blipFill>
        <p:spPr>
          <a:xfrm>
            <a:off x="685800" y="1965960"/>
            <a:ext cx="3079972" cy="1188720"/>
          </a:xfrm>
          <a:prstGeom prst="rect">
            <a:avLst/>
          </a:prstGeom>
        </p:spPr>
      </p:pic>
      <p:pic>
        <p:nvPicPr>
          <p:cNvPr id="7" name="imagen-1108" descr="Diagrama / tabla de la diapositiva">    </p:cNvPr>
          <p:cNvPicPr>
            <a:picLocks noChangeAspect="1"/>
          </p:cNvPicPr>
          <p:nvPr/>
        </p:nvPicPr>
        <p:blipFill>
          <a:blip r:embed="rId2"/>
          <a:stretch>
            <a:fillRect/>
          </a:stretch>
        </p:blipFill>
        <p:spPr>
          <a:xfrm>
            <a:off x="685800" y="3337560"/>
            <a:ext cx="4329123" cy="1188720"/>
          </a:xfrm>
          <a:prstGeom prst="rect">
            <a:avLst/>
          </a:prstGeom>
        </p:spPr>
      </p:pic>
      <p:sp>
        <p:nvSpPr>
          <p:cNvPr id="8" name="marker-1109"/>
          <p:cNvSpPr txBox="1"/>
          <p:nvPr/>
        </p:nvSpPr>
        <p:spPr>
          <a:xfrm>
            <a:off x="685800" y="4709160"/>
            <a:ext cx="365760" cy="515036"/>
          </a:xfrm>
          <a:prstGeom prst="rect">
            <a:avLst/>
          </a:prstGeom>
          <a:noFill/>
          <a:ln/>
        </p:spPr>
        <p:txBody>
          <a:bodyPr wrap="square" lIns="0" tIns="0" rIns="0" bIns="0" rtlCol="0" anchor="t"/>
          <a:lstStyle/>
          <a:p>
            <a:pPr indent="0" marL="0">
              <a:buNone/>
            </a:pPr>
            <a:r>
              <a:rPr lang="en-US" sz="2970" b="1" dirty="0">
                <a:solidFill>
                  <a:srgbClr val="1B39E6"/>
                </a:solidFill>
              </a:rPr>
              <a:t>1.</a:t>
            </a:r>
            <a:endParaRPr lang="en-US" sz="2970" dirty="0"/>
          </a:p>
        </p:txBody>
      </p:sp>
      <p:sp>
        <p:nvSpPr>
          <p:cNvPr id="9" name="item-1110"/>
          <p:cNvSpPr txBox="1"/>
          <p:nvPr/>
        </p:nvSpPr>
        <p:spPr>
          <a:xfrm>
            <a:off x="1097280" y="4709160"/>
            <a:ext cx="10408615" cy="515036"/>
          </a:xfrm>
          <a:prstGeom prst="rect">
            <a:avLst/>
          </a:prstGeom>
          <a:noFill/>
          <a:ln/>
        </p:spPr>
        <p:txBody>
          <a:bodyPr wrap="square" lIns="0" tIns="0" rIns="0" bIns="0" rtlCol="0" anchor="t"/>
          <a:lstStyle/>
          <a:p>
            <a:pPr algn="l" indent="0" marL="0">
              <a:buNone/>
            </a:pPr>
            <a:r>
              <a:rPr lang="en-US" sz="2950" b="1" dirty="0">
                <a:solidFill>
                  <a:srgbClr val="15171C"/>
                </a:solidFill>
              </a:rPr>
              <a:t>¿Qué campo de </a:t>
            </a:r>
            <a:pPr algn="l" indent="0" marL="0">
              <a:buNone/>
            </a:pPr>
            <a:r>
              <a:rPr lang="en-US" sz="2950" b="1" dirty="0">
                <a:solidFill>
                  <a:srgbClr val="0D1A7A"/>
                </a:solidFill>
                <a:latin typeface="Courier New" pitchFamily="34" charset="0"/>
                <a:ea typeface="Courier New" pitchFamily="34" charset="-122"/>
                <a:cs typeface="Courier New" pitchFamily="34" charset="-120"/>
              </a:rPr>
              <a:t>PERSONA</a:t>
            </a:r>
            <a:pPr algn="l" indent="0" marL="0">
              <a:buNone/>
            </a:pPr>
            <a:r>
              <a:rPr lang="en-US" sz="2950" b="1" dirty="0">
                <a:solidFill>
                  <a:srgbClr val="15171C"/>
                </a:solidFill>
              </a:rPr>
              <a:t> es la clave primaria?</a:t>
            </a:r>
            <a:endParaRPr lang="en-US" sz="2950" dirty="0"/>
          </a:p>
        </p:txBody>
      </p:sp>
      <p:sp>
        <p:nvSpPr>
          <p:cNvPr id="10" name="marker-1111"/>
          <p:cNvSpPr txBox="1"/>
          <p:nvPr/>
        </p:nvSpPr>
        <p:spPr>
          <a:xfrm>
            <a:off x="685800" y="5315636"/>
            <a:ext cx="365760" cy="515036"/>
          </a:xfrm>
          <a:prstGeom prst="rect">
            <a:avLst/>
          </a:prstGeom>
          <a:noFill/>
          <a:ln/>
        </p:spPr>
        <p:txBody>
          <a:bodyPr wrap="square" lIns="0" tIns="0" rIns="0" bIns="0" rtlCol="0" anchor="t"/>
          <a:lstStyle/>
          <a:p>
            <a:pPr indent="0" marL="0">
              <a:buNone/>
            </a:pPr>
            <a:r>
              <a:rPr lang="en-US" sz="2970" b="1" dirty="0">
                <a:solidFill>
                  <a:srgbClr val="1B39E6"/>
                </a:solidFill>
              </a:rPr>
              <a:t>2.</a:t>
            </a:r>
            <a:endParaRPr lang="en-US" sz="2970" dirty="0"/>
          </a:p>
        </p:txBody>
      </p:sp>
      <p:sp>
        <p:nvSpPr>
          <p:cNvPr id="11" name="item-1112"/>
          <p:cNvSpPr txBox="1"/>
          <p:nvPr/>
        </p:nvSpPr>
        <p:spPr>
          <a:xfrm>
            <a:off x="1097280" y="5315636"/>
            <a:ext cx="10408615" cy="515036"/>
          </a:xfrm>
          <a:prstGeom prst="rect">
            <a:avLst/>
          </a:prstGeom>
          <a:noFill/>
          <a:ln/>
        </p:spPr>
        <p:txBody>
          <a:bodyPr wrap="square" lIns="0" tIns="0" rIns="0" bIns="0" rtlCol="0" anchor="t"/>
          <a:lstStyle/>
          <a:p>
            <a:pPr algn="l" indent="0" marL="0">
              <a:buNone/>
            </a:pPr>
            <a:r>
              <a:rPr lang="en-US" sz="2950" b="1" dirty="0">
                <a:solidFill>
                  <a:srgbClr val="15171C"/>
                </a:solidFill>
              </a:rPr>
              <a:t>¿Qué campos de </a:t>
            </a:r>
            <a:pPr algn="l" indent="0" marL="0">
              <a:buNone/>
            </a:pPr>
            <a:r>
              <a:rPr lang="en-US" sz="2950" b="1" dirty="0">
                <a:solidFill>
                  <a:srgbClr val="0D1A7A"/>
                </a:solidFill>
                <a:latin typeface="Courier New" pitchFamily="34" charset="0"/>
                <a:ea typeface="Courier New" pitchFamily="34" charset="-122"/>
                <a:cs typeface="Courier New" pitchFamily="34" charset="-120"/>
              </a:rPr>
              <a:t>CLIENTE</a:t>
            </a:r>
            <a:pPr algn="l" indent="0" marL="0">
              <a:buNone/>
            </a:pPr>
            <a:r>
              <a:rPr lang="en-US" sz="2950" b="1" dirty="0">
                <a:solidFill>
                  <a:srgbClr val="15171C"/>
                </a:solidFill>
              </a:rPr>
              <a:t> optan a clave candidata?</a:t>
            </a:r>
            <a:endParaRPr lang="en-US" sz="29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Ponte a prueba: claves (II)</a:t>
            </a:r>
            <a:endParaRPr lang="en-US" sz="4000" dirty="0"/>
          </a:p>
        </p:txBody>
      </p:sp>
      <p:sp>
        <p:nvSpPr>
          <p:cNvPr id="4" name="badge-1113"/>
          <p:cNvSpPr/>
          <p:nvPr/>
        </p:nvSpPr>
        <p:spPr>
          <a:xfrm>
            <a:off x="685800" y="292608"/>
            <a:ext cx="475488" cy="475488"/>
          </a:xfrm>
          <a:prstGeom prst="ellipse">
            <a:avLst/>
          </a:prstGeom>
          <a:solidFill>
            <a:srgbClr val="FF5A2E"/>
          </a:solidFill>
          <a:ln/>
        </p:spPr>
      </p:sp>
      <p:sp>
        <p:nvSpPr>
          <p:cNvPr id="5" name="badge-glyph-1114"/>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1130" descr="Diagrama / tabla de la diapositiva">    </p:cNvPr>
          <p:cNvPicPr>
            <a:picLocks noChangeAspect="1"/>
          </p:cNvPicPr>
          <p:nvPr/>
        </p:nvPicPr>
        <p:blipFill>
          <a:blip r:embed="rId1"/>
          <a:stretch>
            <a:fillRect/>
          </a:stretch>
        </p:blipFill>
        <p:spPr>
          <a:xfrm>
            <a:off x="685800" y="1965960"/>
            <a:ext cx="10820095" cy="1496645"/>
          </a:xfrm>
          <a:prstGeom prst="rect">
            <a:avLst/>
          </a:prstGeom>
        </p:spPr>
      </p:pic>
      <p:sp>
        <p:nvSpPr>
          <p:cNvPr id="7" name="marker-1131"/>
          <p:cNvSpPr txBox="1"/>
          <p:nvPr/>
        </p:nvSpPr>
        <p:spPr>
          <a:xfrm>
            <a:off x="685800" y="3645485"/>
            <a:ext cx="365760" cy="907034"/>
          </a:xfrm>
          <a:prstGeom prst="rect">
            <a:avLst/>
          </a:prstGeom>
          <a:noFill/>
          <a:ln/>
        </p:spPr>
        <p:txBody>
          <a:bodyPr wrap="square" lIns="0" tIns="0" rIns="0" bIns="0" rtlCol="0" anchor="t"/>
          <a:lstStyle/>
          <a:p>
            <a:pPr indent="0" marL="0">
              <a:buNone/>
            </a:pPr>
            <a:r>
              <a:rPr lang="en-US" sz="2750" b="1" dirty="0">
                <a:solidFill>
                  <a:srgbClr val="1B39E6"/>
                </a:solidFill>
              </a:rPr>
              <a:t>1.</a:t>
            </a:r>
            <a:endParaRPr lang="en-US" sz="2750" dirty="0"/>
          </a:p>
        </p:txBody>
      </p:sp>
      <p:sp>
        <p:nvSpPr>
          <p:cNvPr id="8" name="item-1132"/>
          <p:cNvSpPr txBox="1"/>
          <p:nvPr/>
        </p:nvSpPr>
        <p:spPr>
          <a:xfrm>
            <a:off x="1097280" y="3645485"/>
            <a:ext cx="10408615" cy="907034"/>
          </a:xfrm>
          <a:prstGeom prst="rect">
            <a:avLst/>
          </a:prstGeom>
          <a:noFill/>
          <a:ln/>
        </p:spPr>
        <p:txBody>
          <a:bodyPr wrap="square" lIns="0" tIns="0" rIns="0" bIns="0" rtlCol="0" anchor="t"/>
          <a:lstStyle/>
          <a:p>
            <a:pPr algn="l" indent="0" marL="0">
              <a:buNone/>
            </a:pPr>
            <a:r>
              <a:rPr lang="en-US" sz="2750" b="1" dirty="0">
                <a:solidFill>
                  <a:srgbClr val="15171C"/>
                </a:solidFill>
              </a:rPr>
              <a:t>¿Qué atributo es </a:t>
            </a:r>
            <a:pPr algn="l" indent="0" marL="0">
              <a:buNone/>
            </a:pPr>
            <a:r>
              <a:rPr lang="en-US" sz="2750" b="1" dirty="0">
                <a:solidFill>
                  <a:srgbClr val="15171C"/>
                </a:solidFill>
              </a:rPr>
              <a:t>clave foránea</a:t>
            </a:r>
            <a:pPr algn="l" indent="0" marL="0">
              <a:buNone/>
            </a:pPr>
            <a:r>
              <a:rPr lang="en-US" sz="2750" b="1" dirty="0">
                <a:solidFill>
                  <a:srgbClr val="15171C"/>
                </a:solidFill>
              </a:rPr>
              <a:t>: Código cliente de </a:t>
            </a:r>
            <a:pPr algn="l" indent="0" marL="0">
              <a:buNone/>
            </a:pPr>
            <a:r>
              <a:rPr lang="en-US" sz="2750" b="1" dirty="0">
                <a:solidFill>
                  <a:srgbClr val="0D1A7A"/>
                </a:solidFill>
                <a:latin typeface="Courier New" pitchFamily="34" charset="0"/>
                <a:ea typeface="Courier New" pitchFamily="34" charset="-122"/>
                <a:cs typeface="Courier New" pitchFamily="34" charset="-120"/>
              </a:rPr>
              <a:t>PEDIDO</a:t>
            </a:r>
            <a:pPr algn="l" indent="0" marL="0">
              <a:buNone/>
            </a:pPr>
            <a:r>
              <a:rPr lang="en-US" sz="2750" b="1" dirty="0">
                <a:solidFill>
                  <a:srgbClr val="15171C"/>
                </a:solidFill>
              </a:rPr>
              <a:t>, Código cliente de </a:t>
            </a:r>
            <a:pPr algn="l" indent="0" marL="0">
              <a:buNone/>
            </a:pPr>
            <a:r>
              <a:rPr lang="en-US" sz="2750" b="1" dirty="0">
                <a:solidFill>
                  <a:srgbClr val="0D1A7A"/>
                </a:solidFill>
                <a:latin typeface="Courier New" pitchFamily="34" charset="0"/>
                <a:ea typeface="Courier New" pitchFamily="34" charset="-122"/>
                <a:cs typeface="Courier New" pitchFamily="34" charset="-120"/>
              </a:rPr>
              <a:t>CLIENTE</a:t>
            </a:r>
            <a:pPr algn="l" indent="0" marL="0">
              <a:buNone/>
            </a:pPr>
            <a:r>
              <a:rPr lang="en-US" sz="2750" b="1" dirty="0">
                <a:solidFill>
                  <a:srgbClr val="15171C"/>
                </a:solidFill>
              </a:rPr>
              <a:t>, Fecha o Apellidos?</a:t>
            </a:r>
            <a:endParaRPr lang="en-US" sz="2750" dirty="0"/>
          </a:p>
        </p:txBody>
      </p:sp>
      <p:sp>
        <p:nvSpPr>
          <p:cNvPr id="9" name="marker-1133"/>
          <p:cNvSpPr txBox="1"/>
          <p:nvPr/>
        </p:nvSpPr>
        <p:spPr>
          <a:xfrm>
            <a:off x="685800" y="4643959"/>
            <a:ext cx="365760" cy="1333119"/>
          </a:xfrm>
          <a:prstGeom prst="rect">
            <a:avLst/>
          </a:prstGeom>
          <a:noFill/>
          <a:ln/>
        </p:spPr>
        <p:txBody>
          <a:bodyPr wrap="square" lIns="0" tIns="0" rIns="0" bIns="0" rtlCol="0" anchor="t"/>
          <a:lstStyle/>
          <a:p>
            <a:pPr indent="0" marL="0">
              <a:buNone/>
            </a:pPr>
            <a:r>
              <a:rPr lang="en-US" sz="2750" b="1" dirty="0">
                <a:solidFill>
                  <a:srgbClr val="1B39E6"/>
                </a:solidFill>
              </a:rPr>
              <a:t>2.</a:t>
            </a:r>
            <a:endParaRPr lang="en-US" sz="2750" dirty="0"/>
          </a:p>
        </p:txBody>
      </p:sp>
      <p:sp>
        <p:nvSpPr>
          <p:cNvPr id="10" name="item-1134"/>
          <p:cNvSpPr txBox="1"/>
          <p:nvPr/>
        </p:nvSpPr>
        <p:spPr>
          <a:xfrm>
            <a:off x="1097280" y="4643959"/>
            <a:ext cx="10408615" cy="1333119"/>
          </a:xfrm>
          <a:prstGeom prst="rect">
            <a:avLst/>
          </a:prstGeom>
          <a:noFill/>
          <a:ln/>
        </p:spPr>
        <p:txBody>
          <a:bodyPr wrap="square" lIns="0" tIns="0" rIns="0" bIns="0" rtlCol="0" anchor="t"/>
          <a:lstStyle/>
          <a:p>
            <a:pPr algn="l" indent="0" marL="0">
              <a:buNone/>
            </a:pPr>
            <a:r>
              <a:rPr lang="en-US" sz="2750" b="1" dirty="0">
                <a:solidFill>
                  <a:srgbClr val="15171C"/>
                </a:solidFill>
              </a:rPr>
              <a:t>¿Cómo se llama el conjunto de atributos que son clave primaria de otra relación y deben estar relacionados por el diseño?</a:t>
            </a:r>
            <a:endParaRPr lang="en-US" sz="27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Cuatro respuestas</a:t>
            </a:r>
            <a:endParaRPr lang="en-US" sz="4000" dirty="0"/>
          </a:p>
        </p:txBody>
      </p:sp>
      <p:sp>
        <p:nvSpPr>
          <p:cNvPr id="4" name="badge-1135"/>
          <p:cNvSpPr/>
          <p:nvPr/>
        </p:nvSpPr>
        <p:spPr>
          <a:xfrm>
            <a:off x="685800" y="292608"/>
            <a:ext cx="475488" cy="475488"/>
          </a:xfrm>
          <a:prstGeom prst="ellipse">
            <a:avLst/>
          </a:prstGeom>
          <a:solidFill>
            <a:srgbClr val="3F9468"/>
          </a:solidFill>
          <a:ln/>
        </p:spPr>
      </p:sp>
      <p:sp>
        <p:nvSpPr>
          <p:cNvPr id="5" name="badge-glyph-1136"/>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card-1197"/>
          <p:cNvSpPr/>
          <p:nvPr/>
        </p:nvSpPr>
        <p:spPr>
          <a:xfrm>
            <a:off x="685800" y="2154041"/>
            <a:ext cx="2567864" cy="3559683"/>
          </a:xfrm>
          <a:prstGeom prst="roundRect">
            <a:avLst>
              <a:gd name="adj" fmla="val 4273"/>
            </a:avLst>
          </a:prstGeom>
          <a:solidFill>
            <a:schemeClr val="bg1"/>
          </a:solidFill>
          <a:ln w="19050">
            <a:solidFill>
              <a:srgbClr val="3F9468"/>
            </a:solidFill>
            <a:prstDash val="solid"/>
          </a:ln>
        </p:spPr>
      </p:sp>
      <p:sp>
        <p:nvSpPr>
          <p:cNvPr id="7" name="tag-pill-1198"/>
          <p:cNvSpPr/>
          <p:nvPr/>
        </p:nvSpPr>
        <p:spPr>
          <a:xfrm>
            <a:off x="868680" y="2318633"/>
            <a:ext cx="844906" cy="256032"/>
          </a:xfrm>
          <a:prstGeom prst="roundRect">
            <a:avLst>
              <a:gd name="adj" fmla="val 50000"/>
            </a:avLst>
          </a:prstGeom>
          <a:solidFill>
            <a:srgbClr val="DDF1E6"/>
          </a:solidFill>
          <a:ln/>
        </p:spPr>
      </p:sp>
      <p:sp>
        <p:nvSpPr>
          <p:cNvPr id="8" name="tag-1199"/>
          <p:cNvSpPr txBox="1"/>
          <p:nvPr/>
        </p:nvSpPr>
        <p:spPr>
          <a:xfrm>
            <a:off x="868680" y="2318633"/>
            <a:ext cx="844906" cy="256032"/>
          </a:xfrm>
          <a:prstGeom prst="rect">
            <a:avLst/>
          </a:prstGeom>
          <a:noFill/>
          <a:ln/>
        </p:spPr>
        <p:txBody>
          <a:bodyPr wrap="square" lIns="0" tIns="0" rIns="0" bIns="0" rtlCol="0" anchor="ctr"/>
          <a:lstStyle/>
          <a:p>
            <a:pPr algn="ctr" indent="0" marL="0">
              <a:buNone/>
            </a:pPr>
            <a:r>
              <a:rPr lang="en-US" sz="1100" b="1" dirty="0">
                <a:solidFill>
                  <a:srgbClr val="3F9468"/>
                </a:solidFill>
              </a:rPr>
              <a:t>PERSONA</a:t>
            </a:r>
            <a:endParaRPr lang="en-US" sz="1100" dirty="0"/>
          </a:p>
        </p:txBody>
      </p:sp>
      <p:sp>
        <p:nvSpPr>
          <p:cNvPr id="9" name="card-h-1200"/>
          <p:cNvSpPr txBox="1"/>
          <p:nvPr/>
        </p:nvSpPr>
        <p:spPr>
          <a:xfrm>
            <a:off x="868680" y="2702681"/>
            <a:ext cx="2202104" cy="459422"/>
          </a:xfrm>
          <a:prstGeom prst="rect">
            <a:avLst/>
          </a:prstGeom>
          <a:noFill/>
          <a:ln/>
        </p:spPr>
        <p:txBody>
          <a:bodyPr wrap="square" lIns="0" tIns="0" rIns="0" bIns="0" rtlCol="0" anchor="t"/>
          <a:lstStyle/>
          <a:p>
            <a:pPr algn="l" indent="0" marL="0">
              <a:buNone/>
            </a:pPr>
            <a:r>
              <a:rPr lang="en-US" sz="2400" b="1" dirty="0">
                <a:solidFill>
                  <a:srgbClr val="15171C"/>
                </a:solidFill>
              </a:rPr>
              <a:t>Primaria</a:t>
            </a:r>
            <a:endParaRPr lang="en-US" sz="2400" dirty="0"/>
          </a:p>
        </p:txBody>
      </p:sp>
      <p:sp>
        <p:nvSpPr>
          <p:cNvPr id="10" name="card-p-1201"/>
          <p:cNvSpPr txBox="1"/>
          <p:nvPr/>
        </p:nvSpPr>
        <p:spPr>
          <a:xfrm>
            <a:off x="868680" y="3162103"/>
            <a:ext cx="2202104" cy="1033462"/>
          </a:xfrm>
          <a:prstGeom prst="rect">
            <a:avLst/>
          </a:prstGeom>
          <a:noFill/>
          <a:ln/>
        </p:spPr>
        <p:txBody>
          <a:bodyPr wrap="square" lIns="0" tIns="0" rIns="0" bIns="0" rtlCol="0" anchor="t"/>
          <a:lstStyle/>
          <a:p>
            <a:pPr algn="l" indent="0" marL="0">
              <a:buNone/>
            </a:pPr>
            <a:r>
              <a:rPr lang="en-US" sz="2150" dirty="0">
                <a:solidFill>
                  <a:srgbClr val="0D1A7A"/>
                </a:solidFill>
                <a:latin typeface="Courier New" pitchFamily="34" charset="0"/>
                <a:ea typeface="Courier New" pitchFamily="34" charset="-122"/>
                <a:cs typeface="Courier New" pitchFamily="34" charset="-120"/>
              </a:rPr>
              <a:t>DNI</a:t>
            </a:r>
            <a:pPr algn="l" indent="0" marL="0">
              <a:buNone/>
            </a:pPr>
            <a:r>
              <a:rPr lang="en-US" sz="2150" dirty="0">
                <a:solidFill>
                  <a:srgbClr val="4B4F58"/>
                </a:solidFill>
              </a:rPr>
              <a:t>: los nombres y apellidos se repiten.</a:t>
            </a:r>
            <a:endParaRPr lang="en-US" sz="2150" dirty="0"/>
          </a:p>
        </p:txBody>
      </p:sp>
      <p:sp>
        <p:nvSpPr>
          <p:cNvPr id="11" name="card-1202"/>
          <p:cNvSpPr/>
          <p:nvPr/>
        </p:nvSpPr>
        <p:spPr>
          <a:xfrm>
            <a:off x="3436544" y="2154041"/>
            <a:ext cx="2567864" cy="3559683"/>
          </a:xfrm>
          <a:prstGeom prst="roundRect">
            <a:avLst>
              <a:gd name="adj" fmla="val 4273"/>
            </a:avLst>
          </a:prstGeom>
          <a:solidFill>
            <a:schemeClr val="bg1"/>
          </a:solidFill>
          <a:ln w="19050">
            <a:solidFill>
              <a:srgbClr val="3F9468"/>
            </a:solidFill>
            <a:prstDash val="solid"/>
          </a:ln>
        </p:spPr>
      </p:sp>
      <p:sp>
        <p:nvSpPr>
          <p:cNvPr id="12" name="tag-pill-1203"/>
          <p:cNvSpPr/>
          <p:nvPr/>
        </p:nvSpPr>
        <p:spPr>
          <a:xfrm>
            <a:off x="3619424" y="2318633"/>
            <a:ext cx="844906" cy="256032"/>
          </a:xfrm>
          <a:prstGeom prst="roundRect">
            <a:avLst>
              <a:gd name="adj" fmla="val 50000"/>
            </a:avLst>
          </a:prstGeom>
          <a:solidFill>
            <a:srgbClr val="DDF1E6"/>
          </a:solidFill>
          <a:ln/>
        </p:spPr>
      </p:sp>
      <p:sp>
        <p:nvSpPr>
          <p:cNvPr id="13" name="tag-1204"/>
          <p:cNvSpPr txBox="1"/>
          <p:nvPr/>
        </p:nvSpPr>
        <p:spPr>
          <a:xfrm>
            <a:off x="3619424" y="2318633"/>
            <a:ext cx="844906" cy="256032"/>
          </a:xfrm>
          <a:prstGeom prst="rect">
            <a:avLst/>
          </a:prstGeom>
          <a:noFill/>
          <a:ln/>
        </p:spPr>
        <p:txBody>
          <a:bodyPr wrap="square" lIns="0" tIns="0" rIns="0" bIns="0" rtlCol="0" anchor="ctr"/>
          <a:lstStyle/>
          <a:p>
            <a:pPr algn="ctr" indent="0" marL="0">
              <a:buNone/>
            </a:pPr>
            <a:r>
              <a:rPr lang="en-US" sz="1100" b="1" dirty="0">
                <a:solidFill>
                  <a:srgbClr val="3F9468"/>
                </a:solidFill>
              </a:rPr>
              <a:t>CLIENTE</a:t>
            </a:r>
            <a:endParaRPr lang="en-US" sz="1100" dirty="0"/>
          </a:p>
        </p:txBody>
      </p:sp>
      <p:sp>
        <p:nvSpPr>
          <p:cNvPr id="14" name="card-h-1205"/>
          <p:cNvSpPr txBox="1"/>
          <p:nvPr/>
        </p:nvSpPr>
        <p:spPr>
          <a:xfrm>
            <a:off x="3619424" y="2702681"/>
            <a:ext cx="2202104" cy="459422"/>
          </a:xfrm>
          <a:prstGeom prst="rect">
            <a:avLst/>
          </a:prstGeom>
          <a:noFill/>
          <a:ln/>
        </p:spPr>
        <p:txBody>
          <a:bodyPr wrap="square" lIns="0" tIns="0" rIns="0" bIns="0" rtlCol="0" anchor="t"/>
          <a:lstStyle/>
          <a:p>
            <a:pPr algn="l" indent="0" marL="0">
              <a:buNone/>
            </a:pPr>
            <a:r>
              <a:rPr lang="en-US" sz="2400" b="1" dirty="0">
                <a:solidFill>
                  <a:srgbClr val="15171C"/>
                </a:solidFill>
              </a:rPr>
              <a:t>Candidatas</a:t>
            </a:r>
            <a:endParaRPr lang="en-US" sz="2400" dirty="0"/>
          </a:p>
        </p:txBody>
      </p:sp>
      <p:sp>
        <p:nvSpPr>
          <p:cNvPr id="15" name="card-p-1206"/>
          <p:cNvSpPr txBox="1"/>
          <p:nvPr/>
        </p:nvSpPr>
        <p:spPr>
          <a:xfrm>
            <a:off x="3619424" y="3162103"/>
            <a:ext cx="2202104" cy="1691958"/>
          </a:xfrm>
          <a:prstGeom prst="rect">
            <a:avLst/>
          </a:prstGeom>
          <a:noFill/>
          <a:ln/>
        </p:spPr>
        <p:txBody>
          <a:bodyPr wrap="square" lIns="0" tIns="0" rIns="0" bIns="0" rtlCol="0" anchor="t"/>
          <a:lstStyle/>
          <a:p>
            <a:pPr algn="l" indent="0" marL="0">
              <a:buNone/>
            </a:pPr>
            <a:r>
              <a:rPr lang="en-US" sz="2150" b="1" dirty="0">
                <a:solidFill>
                  <a:srgbClr val="4B4F58"/>
                </a:solidFill>
              </a:rPr>
              <a:t>Código cliente</a:t>
            </a:r>
            <a:pPr algn="l" indent="0" marL="0">
              <a:buNone/>
            </a:pPr>
            <a:r>
              <a:rPr lang="en-US" sz="2150" dirty="0">
                <a:solidFill>
                  <a:srgbClr val="4B4F58"/>
                </a:solidFill>
              </a:rPr>
              <a:t> y </a:t>
            </a:r>
            <a:pPr algn="l" indent="0" marL="0">
              <a:buNone/>
            </a:pPr>
            <a:r>
              <a:rPr lang="en-US" sz="2150" b="1" dirty="0">
                <a:solidFill>
                  <a:srgbClr val="4B4F58"/>
                </a:solidFill>
              </a:rPr>
              <a:t>DNI</a:t>
            </a:r>
            <a:pPr algn="l" indent="0" marL="0">
              <a:buNone/>
            </a:pPr>
            <a:r>
              <a:rPr lang="en-US" sz="2150" dirty="0">
                <a:solidFill>
                  <a:srgbClr val="4B4F58"/>
                </a:solidFill>
              </a:rPr>
              <a:t>: ambos son únicos y siempre tienen valor.</a:t>
            </a:r>
            <a:endParaRPr lang="en-US" sz="2150" dirty="0"/>
          </a:p>
        </p:txBody>
      </p:sp>
      <p:sp>
        <p:nvSpPr>
          <p:cNvPr id="16" name="card-1207"/>
          <p:cNvSpPr/>
          <p:nvPr/>
        </p:nvSpPr>
        <p:spPr>
          <a:xfrm>
            <a:off x="6187288" y="2154041"/>
            <a:ext cx="2567864" cy="3559683"/>
          </a:xfrm>
          <a:prstGeom prst="roundRect">
            <a:avLst>
              <a:gd name="adj" fmla="val 4273"/>
            </a:avLst>
          </a:prstGeom>
          <a:solidFill>
            <a:schemeClr val="bg1"/>
          </a:solidFill>
          <a:ln w="19050">
            <a:solidFill>
              <a:srgbClr val="3F9468"/>
            </a:solidFill>
            <a:prstDash val="solid"/>
          </a:ln>
        </p:spPr>
      </p:sp>
      <p:sp>
        <p:nvSpPr>
          <p:cNvPr id="17" name="tag-pill-1208"/>
          <p:cNvSpPr/>
          <p:nvPr/>
        </p:nvSpPr>
        <p:spPr>
          <a:xfrm>
            <a:off x="6370168" y="2318633"/>
            <a:ext cx="760781" cy="256032"/>
          </a:xfrm>
          <a:prstGeom prst="roundRect">
            <a:avLst>
              <a:gd name="adj" fmla="val 50000"/>
            </a:avLst>
          </a:prstGeom>
          <a:solidFill>
            <a:srgbClr val="DDF1E6"/>
          </a:solidFill>
          <a:ln/>
        </p:spPr>
      </p:sp>
      <p:sp>
        <p:nvSpPr>
          <p:cNvPr id="18" name="tag-1209"/>
          <p:cNvSpPr txBox="1"/>
          <p:nvPr/>
        </p:nvSpPr>
        <p:spPr>
          <a:xfrm>
            <a:off x="6370168" y="2318633"/>
            <a:ext cx="760781" cy="256032"/>
          </a:xfrm>
          <a:prstGeom prst="rect">
            <a:avLst/>
          </a:prstGeom>
          <a:noFill/>
          <a:ln/>
        </p:spPr>
        <p:txBody>
          <a:bodyPr wrap="square" lIns="0" tIns="0" rIns="0" bIns="0" rtlCol="0" anchor="ctr"/>
          <a:lstStyle/>
          <a:p>
            <a:pPr algn="ctr" indent="0" marL="0">
              <a:buNone/>
            </a:pPr>
            <a:r>
              <a:rPr lang="en-US" sz="1100" b="1" dirty="0">
                <a:solidFill>
                  <a:srgbClr val="3F9468"/>
                </a:solidFill>
              </a:rPr>
              <a:t>PEDIDO</a:t>
            </a:r>
            <a:endParaRPr lang="en-US" sz="1100" dirty="0"/>
          </a:p>
        </p:txBody>
      </p:sp>
      <p:sp>
        <p:nvSpPr>
          <p:cNvPr id="19" name="card-h-1210"/>
          <p:cNvSpPr txBox="1"/>
          <p:nvPr/>
        </p:nvSpPr>
        <p:spPr>
          <a:xfrm>
            <a:off x="6370168" y="2702681"/>
            <a:ext cx="2202104" cy="459422"/>
          </a:xfrm>
          <a:prstGeom prst="rect">
            <a:avLst/>
          </a:prstGeom>
          <a:noFill/>
          <a:ln/>
        </p:spPr>
        <p:txBody>
          <a:bodyPr wrap="square" lIns="0" tIns="0" rIns="0" bIns="0" rtlCol="0" anchor="t"/>
          <a:lstStyle/>
          <a:p>
            <a:pPr algn="l" indent="0" marL="0">
              <a:buNone/>
            </a:pPr>
            <a:r>
              <a:rPr lang="en-US" sz="2400" b="1" dirty="0">
                <a:solidFill>
                  <a:srgbClr val="15171C"/>
                </a:solidFill>
              </a:rPr>
              <a:t>Foránea</a:t>
            </a:r>
            <a:endParaRPr lang="en-US" sz="2400" dirty="0"/>
          </a:p>
        </p:txBody>
      </p:sp>
      <p:sp>
        <p:nvSpPr>
          <p:cNvPr id="20" name="card-p-1211"/>
          <p:cNvSpPr txBox="1"/>
          <p:nvPr/>
        </p:nvSpPr>
        <p:spPr>
          <a:xfrm>
            <a:off x="6370168" y="3162103"/>
            <a:ext cx="2202104" cy="1362710"/>
          </a:xfrm>
          <a:prstGeom prst="rect">
            <a:avLst/>
          </a:prstGeom>
          <a:noFill/>
          <a:ln/>
        </p:spPr>
        <p:txBody>
          <a:bodyPr wrap="square" lIns="0" tIns="0" rIns="0" bIns="0" rtlCol="0" anchor="t"/>
          <a:lstStyle/>
          <a:p>
            <a:pPr algn="l" indent="0" marL="0">
              <a:buNone/>
            </a:pPr>
            <a:r>
              <a:rPr lang="en-US" sz="2150" b="1" dirty="0">
                <a:solidFill>
                  <a:srgbClr val="4B4F58"/>
                </a:solidFill>
              </a:rPr>
              <a:t>Código cliente de PEDIDO</a:t>
            </a:r>
            <a:pPr algn="l" indent="0" marL="0">
              <a:buNone/>
            </a:pPr>
            <a:r>
              <a:rPr lang="en-US" sz="2150" dirty="0">
                <a:solidFill>
                  <a:srgbClr val="4B4F58"/>
                </a:solidFill>
              </a:rPr>
              <a:t>: apunta a la primaria de </a:t>
            </a:r>
            <a:pPr algn="l" indent="0" marL="0">
              <a:buNone/>
            </a:pPr>
            <a:r>
              <a:rPr lang="en-US" sz="2150" dirty="0">
                <a:solidFill>
                  <a:srgbClr val="0D1A7A"/>
                </a:solidFill>
                <a:latin typeface="Courier New" pitchFamily="34" charset="0"/>
                <a:ea typeface="Courier New" pitchFamily="34" charset="-122"/>
                <a:cs typeface="Courier New" pitchFamily="34" charset="-120"/>
              </a:rPr>
              <a:t>CLIENTE</a:t>
            </a:r>
            <a:pPr algn="l" indent="0" marL="0">
              <a:buNone/>
            </a:pPr>
            <a:r>
              <a:rPr lang="en-US" sz="2150" dirty="0">
                <a:solidFill>
                  <a:srgbClr val="4B4F58"/>
                </a:solidFill>
              </a:rPr>
              <a:t>.</a:t>
            </a:r>
            <a:endParaRPr lang="en-US" sz="2150" dirty="0"/>
          </a:p>
        </p:txBody>
      </p:sp>
      <p:sp>
        <p:nvSpPr>
          <p:cNvPr id="21" name="card-1212"/>
          <p:cNvSpPr/>
          <p:nvPr/>
        </p:nvSpPr>
        <p:spPr>
          <a:xfrm>
            <a:off x="8938031" y="2154041"/>
            <a:ext cx="2567864" cy="3559683"/>
          </a:xfrm>
          <a:prstGeom prst="roundRect">
            <a:avLst>
              <a:gd name="adj" fmla="val 4273"/>
            </a:avLst>
          </a:prstGeom>
          <a:solidFill>
            <a:schemeClr val="bg1"/>
          </a:solidFill>
          <a:ln w="19050">
            <a:solidFill>
              <a:srgbClr val="15171C"/>
            </a:solidFill>
            <a:prstDash val="solid"/>
          </a:ln>
        </p:spPr>
      </p:sp>
      <p:sp>
        <p:nvSpPr>
          <p:cNvPr id="22" name="tag-pill-1213"/>
          <p:cNvSpPr/>
          <p:nvPr/>
        </p:nvSpPr>
        <p:spPr>
          <a:xfrm>
            <a:off x="9120911" y="2318633"/>
            <a:ext cx="1097280" cy="256032"/>
          </a:xfrm>
          <a:prstGeom prst="roundRect">
            <a:avLst>
              <a:gd name="adj" fmla="val 50000"/>
            </a:avLst>
          </a:prstGeom>
          <a:solidFill>
            <a:srgbClr val="E8EBFC"/>
          </a:solidFill>
          <a:ln/>
        </p:spPr>
      </p:sp>
      <p:sp>
        <p:nvSpPr>
          <p:cNvPr id="23" name="tag-1214"/>
          <p:cNvSpPr txBox="1"/>
          <p:nvPr/>
        </p:nvSpPr>
        <p:spPr>
          <a:xfrm>
            <a:off x="9120911" y="2318633"/>
            <a:ext cx="1097280" cy="256032"/>
          </a:xfrm>
          <a:prstGeom prst="rect">
            <a:avLst/>
          </a:prstGeom>
          <a:noFill/>
          <a:ln/>
        </p:spPr>
        <p:txBody>
          <a:bodyPr wrap="square" lIns="0" tIns="0" rIns="0" bIns="0" rtlCol="0" anchor="ctr"/>
          <a:lstStyle/>
          <a:p>
            <a:pPr algn="ctr" indent="0" marL="0">
              <a:buNone/>
            </a:pPr>
            <a:r>
              <a:rPr lang="en-US" sz="1100" b="1" dirty="0">
                <a:solidFill>
                  <a:srgbClr val="0D1A7A"/>
                </a:solidFill>
              </a:rPr>
              <a:t>DEFINICIÓN</a:t>
            </a:r>
            <a:endParaRPr lang="en-US" sz="1100" dirty="0"/>
          </a:p>
        </p:txBody>
      </p:sp>
      <p:sp>
        <p:nvSpPr>
          <p:cNvPr id="24" name="card-h-1215"/>
          <p:cNvSpPr txBox="1"/>
          <p:nvPr/>
        </p:nvSpPr>
        <p:spPr>
          <a:xfrm>
            <a:off x="9120911" y="2702681"/>
            <a:ext cx="2202104" cy="459422"/>
          </a:xfrm>
          <a:prstGeom prst="rect">
            <a:avLst/>
          </a:prstGeom>
          <a:noFill/>
          <a:ln/>
        </p:spPr>
        <p:txBody>
          <a:bodyPr wrap="square" lIns="0" tIns="0" rIns="0" bIns="0" rtlCol="0" anchor="t"/>
          <a:lstStyle/>
          <a:p>
            <a:pPr algn="l" indent="0" marL="0">
              <a:buNone/>
            </a:pPr>
            <a:r>
              <a:rPr lang="en-US" sz="2400" b="1" dirty="0">
                <a:solidFill>
                  <a:srgbClr val="15171C"/>
                </a:solidFill>
              </a:rPr>
              <a:t>Clave foránea</a:t>
            </a:r>
            <a:endParaRPr lang="en-US" sz="2400" dirty="0"/>
          </a:p>
        </p:txBody>
      </p:sp>
      <p:sp>
        <p:nvSpPr>
          <p:cNvPr id="25" name="card-p-1216"/>
          <p:cNvSpPr txBox="1"/>
          <p:nvPr/>
        </p:nvSpPr>
        <p:spPr>
          <a:xfrm>
            <a:off x="9120911" y="3162103"/>
            <a:ext cx="2202104" cy="2350452"/>
          </a:xfrm>
          <a:prstGeom prst="rect">
            <a:avLst/>
          </a:prstGeom>
          <a:noFill/>
          <a:ln/>
        </p:spPr>
        <p:txBody>
          <a:bodyPr wrap="square" lIns="0" tIns="0" rIns="0" bIns="0" rtlCol="0" anchor="t"/>
          <a:lstStyle/>
          <a:p>
            <a:pPr algn="l" indent="0" marL="0">
              <a:buNone/>
            </a:pPr>
            <a:r>
              <a:rPr lang="en-US" sz="2150" dirty="0">
                <a:solidFill>
                  <a:srgbClr val="4B4F58"/>
                </a:solidFill>
              </a:rPr>
              <a:t>Se llama </a:t>
            </a:r>
            <a:pPr algn="l" indent="0" marL="0">
              <a:buNone/>
            </a:pPr>
            <a:r>
              <a:rPr lang="en-US" sz="2150" b="1" dirty="0">
                <a:solidFill>
                  <a:srgbClr val="4B4F58"/>
                </a:solidFill>
              </a:rPr>
              <a:t>clave foránea</a:t>
            </a:r>
            <a:pPr algn="l" indent="0" marL="0">
              <a:buNone/>
            </a:pPr>
            <a:r>
              <a:rPr lang="en-US" sz="2150" dirty="0">
                <a:solidFill>
                  <a:srgbClr val="4B4F58"/>
                </a:solidFill>
              </a:rPr>
              <a:t> (o ajena) al conjunto de atributos que son clave primaria de otra relación.</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03 — RESTRICCIONES</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Valores nulos</a:t>
            </a:r>
            <a:endParaRPr lang="en-US" sz="4000" dirty="0"/>
          </a:p>
        </p:txBody>
      </p:sp>
      <p:sp>
        <p:nvSpPr>
          <p:cNvPr id="4" name="lede-1238"/>
          <p:cNvSpPr txBox="1"/>
          <p:nvPr/>
        </p:nvSpPr>
        <p:spPr>
          <a:xfrm>
            <a:off x="685800" y="2377440"/>
            <a:ext cx="10820095" cy="359319"/>
          </a:xfrm>
          <a:prstGeom prst="rect">
            <a:avLst/>
          </a:prstGeom>
          <a:noFill/>
          <a:ln/>
        </p:spPr>
        <p:txBody>
          <a:bodyPr wrap="square" lIns="0" tIns="0" rIns="0" bIns="0" rtlCol="0" anchor="t"/>
          <a:lstStyle/>
          <a:p>
            <a:pPr algn="l" indent="0" marL="0">
              <a:buNone/>
            </a:pPr>
            <a:r>
              <a:rPr lang="en-US" sz="2000" dirty="0">
                <a:solidFill>
                  <a:srgbClr val="4B4F58"/>
                </a:solidFill>
              </a:rPr>
              <a:t>El </a:t>
            </a:r>
            <a:pPr algn="l" indent="0" marL="0">
              <a:buNone/>
            </a:pPr>
            <a:r>
              <a:rPr lang="en-US" sz="2000" b="1" dirty="0">
                <a:solidFill>
                  <a:srgbClr val="4B4F58"/>
                </a:solidFill>
              </a:rPr>
              <a:t>valor nulo</a:t>
            </a:r>
            <a:pPr algn="l" indent="0" marL="0">
              <a:buNone/>
            </a:pPr>
            <a:r>
              <a:rPr lang="en-US" sz="2000" dirty="0">
                <a:solidFill>
                  <a:srgbClr val="4B4F58"/>
                </a:solidFill>
              </a:rPr>
              <a:t> (</a:t>
            </a:r>
            <a:pPr algn="l" indent="0" marL="0">
              <a:buNone/>
            </a:pPr>
            <a:r>
              <a:rPr lang="en-US" sz="2000" dirty="0">
                <a:solidFill>
                  <a:srgbClr val="0D1A7A"/>
                </a:solidFill>
                <a:latin typeface="Courier New" pitchFamily="34" charset="0"/>
                <a:ea typeface="Courier New" pitchFamily="34" charset="-122"/>
                <a:cs typeface="Courier New" pitchFamily="34" charset="-120"/>
              </a:rPr>
              <a:t>NULL</a:t>
            </a:r>
            <a:pPr algn="l" indent="0" marL="0">
              <a:buNone/>
            </a:pPr>
            <a:r>
              <a:rPr lang="en-US" sz="2000" dirty="0">
                <a:solidFill>
                  <a:srgbClr val="4B4F58"/>
                </a:solidFill>
              </a:rPr>
              <a:t>) es la ausencia de valor en un atributo de una tupla.</a:t>
            </a:r>
            <a:endParaRPr lang="en-US" sz="2000" dirty="0"/>
          </a:p>
        </p:txBody>
      </p:sp>
      <p:pic>
        <p:nvPicPr>
          <p:cNvPr id="5" name="imagen-1239" descr="Diagrama / tabla de la diapositiva">    </p:cNvPr>
          <p:cNvPicPr>
            <a:picLocks noChangeAspect="1"/>
          </p:cNvPicPr>
          <p:nvPr/>
        </p:nvPicPr>
        <p:blipFill>
          <a:blip r:embed="rId1"/>
          <a:stretch>
            <a:fillRect/>
          </a:stretch>
        </p:blipFill>
        <p:spPr>
          <a:xfrm>
            <a:off x="685800" y="2919639"/>
            <a:ext cx="5416371" cy="2194560"/>
          </a:xfrm>
          <a:prstGeom prst="rect">
            <a:avLst/>
          </a:prstGeom>
        </p:spPr>
      </p:pic>
      <p:sp>
        <p:nvSpPr>
          <p:cNvPr id="6" name="note-1240"/>
          <p:cNvSpPr txBox="1"/>
          <p:nvPr/>
        </p:nvSpPr>
        <p:spPr>
          <a:xfrm>
            <a:off x="685800" y="5297079"/>
            <a:ext cx="10820095" cy="615899"/>
          </a:xfrm>
          <a:prstGeom prst="rect">
            <a:avLst/>
          </a:prstGeom>
          <a:noFill/>
          <a:ln/>
        </p:spPr>
        <p:txBody>
          <a:bodyPr wrap="square" lIns="0" tIns="0" rIns="0" bIns="0" rtlCol="0" anchor="t"/>
          <a:lstStyle/>
          <a:p>
            <a:pPr algn="l" indent="0" marL="0">
              <a:buNone/>
            </a:pPr>
            <a:r>
              <a:rPr lang="en-US" sz="1850" dirty="0">
                <a:solidFill>
                  <a:srgbClr val="0D1A7A"/>
                </a:solidFill>
                <a:latin typeface="Courier New" pitchFamily="34" charset="0"/>
                <a:ea typeface="Courier New" pitchFamily="34" charset="-122"/>
                <a:cs typeface="Courier New" pitchFamily="34" charset="-120"/>
              </a:rPr>
              <a:t>NULL</a:t>
            </a:r>
            <a:pPr algn="l" indent="0" marL="0">
              <a:buNone/>
            </a:pPr>
            <a:r>
              <a:rPr lang="en-US" sz="1850" dirty="0">
                <a:solidFill>
                  <a:srgbClr val="4B4F58"/>
                </a:solidFill>
              </a:rPr>
              <a:t> no es </a:t>
            </a:r>
            <a:pPr algn="l" indent="0" marL="0">
              <a:buNone/>
            </a:pPr>
            <a:r>
              <a:rPr lang="en-US" sz="1850" dirty="0">
                <a:solidFill>
                  <a:srgbClr val="0D1A7A"/>
                </a:solidFill>
                <a:latin typeface="Courier New" pitchFamily="34" charset="0"/>
                <a:ea typeface="Courier New" pitchFamily="34" charset="-122"/>
                <a:cs typeface="Courier New" pitchFamily="34" charset="-120"/>
              </a:rPr>
              <a:t>0</a:t>
            </a:r>
            <a:pPr algn="l" indent="0" marL="0">
              <a:buNone/>
            </a:pPr>
            <a:r>
              <a:rPr lang="en-US" sz="1850" dirty="0">
                <a:solidFill>
                  <a:srgbClr val="4B4F58"/>
                </a:solidFill>
              </a:rPr>
              <a:t>: la leche desnatada ha vendido 0 unidades; del pack de servilletas no sabemos nada.</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03 — RESTRICCIONES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3000" b="1" dirty="0">
                <a:solidFill>
                  <a:schemeClr val="tx1"/>
                </a:solidFill>
              </a:rPr>
              <a:t>Restricciones inherentes y reglas de integridad</a:t>
            </a:r>
            <a:endParaRPr lang="en-US" sz="4000" dirty="0"/>
          </a:p>
        </p:txBody>
      </p:sp>
      <p:sp>
        <p:nvSpPr>
          <p:cNvPr id="4" name="lede-1321"/>
          <p:cNvSpPr txBox="1"/>
          <p:nvPr/>
        </p:nvSpPr>
        <p:spPr>
          <a:xfrm>
            <a:off x="685800" y="1783080"/>
            <a:ext cx="10820095" cy="781995"/>
          </a:xfrm>
          <a:prstGeom prst="rect">
            <a:avLst/>
          </a:prstGeom>
          <a:noFill/>
          <a:ln/>
        </p:spPr>
        <p:txBody>
          <a:bodyPr wrap="square" lIns="0" tIns="0" rIns="0" bIns="0" rtlCol="0" anchor="t"/>
          <a:lstStyle/>
          <a:p>
            <a:pPr algn="l" indent="0" marL="0">
              <a:buNone/>
            </a:pPr>
            <a:r>
              <a:rPr lang="en-US" sz="2400" dirty="0">
                <a:solidFill>
                  <a:srgbClr val="4B4F58"/>
                </a:solidFill>
              </a:rPr>
              <a:t>La </a:t>
            </a:r>
            <a:pPr algn="l" indent="0" marL="0">
              <a:buNone/>
            </a:pPr>
            <a:r>
              <a:rPr lang="en-US" sz="2400" b="1" dirty="0">
                <a:solidFill>
                  <a:srgbClr val="4B4F58"/>
                </a:solidFill>
              </a:rPr>
              <a:t>integridad</a:t>
            </a:r>
            <a:pPr algn="l" indent="0" marL="0">
              <a:buNone/>
            </a:pPr>
            <a:r>
              <a:rPr lang="en-US" sz="2400" dirty="0">
                <a:solidFill>
                  <a:srgbClr val="4B4F58"/>
                </a:solidFill>
              </a:rPr>
              <a:t> es uno de los objetivos de todo SGBD. Las </a:t>
            </a:r>
            <a:pPr algn="l" indent="0" marL="0">
              <a:buNone/>
            </a:pPr>
            <a:r>
              <a:rPr lang="en-US" sz="2400" b="1" dirty="0">
                <a:solidFill>
                  <a:srgbClr val="4B4F58"/>
                </a:solidFill>
              </a:rPr>
              <a:t>restricciones inherentes</a:t>
            </a:r>
            <a:pPr algn="l" indent="0" marL="0">
              <a:buNone/>
            </a:pPr>
            <a:r>
              <a:rPr lang="en-US" sz="2400" dirty="0">
                <a:solidFill>
                  <a:srgbClr val="4B4F58"/>
                </a:solidFill>
              </a:rPr>
              <a:t> son las propias del modelo:</a:t>
            </a:r>
            <a:endParaRPr lang="en-US" sz="2400" dirty="0"/>
          </a:p>
        </p:txBody>
      </p:sp>
      <p:sp>
        <p:nvSpPr>
          <p:cNvPr id="5" name="kv-k-1322"/>
          <p:cNvSpPr txBox="1"/>
          <p:nvPr/>
        </p:nvSpPr>
        <p:spPr>
          <a:xfrm>
            <a:off x="685800" y="2821107"/>
            <a:ext cx="1645920" cy="944850"/>
          </a:xfrm>
          <a:prstGeom prst="rect">
            <a:avLst/>
          </a:prstGeom>
          <a:noFill/>
          <a:ln/>
        </p:spPr>
        <p:txBody>
          <a:bodyPr wrap="square" lIns="0" tIns="0" rIns="0" bIns="0" rtlCol="0" anchor="t"/>
          <a:lstStyle/>
          <a:p>
            <a:pPr algn="l" indent="0" marL="0">
              <a:buNone/>
            </a:pPr>
            <a:r>
              <a:rPr lang="en-US" sz="1400" b="1" dirty="0">
                <a:solidFill>
                  <a:srgbClr val="0D1A7A"/>
                </a:solidFill>
              </a:rPr>
              <a:t>Un valor por celda</a:t>
            </a:r>
            <a:endParaRPr lang="en-US" sz="1400" dirty="0"/>
          </a:p>
        </p:txBody>
      </p:sp>
      <p:sp>
        <p:nvSpPr>
          <p:cNvPr id="6" name="kv-v-1323"/>
          <p:cNvSpPr txBox="1"/>
          <p:nvPr/>
        </p:nvSpPr>
        <p:spPr>
          <a:xfrm>
            <a:off x="2423160" y="2802819"/>
            <a:ext cx="3489808" cy="944850"/>
          </a:xfrm>
          <a:prstGeom prst="rect">
            <a:avLst/>
          </a:prstGeom>
          <a:noFill/>
          <a:ln/>
        </p:spPr>
        <p:txBody>
          <a:bodyPr wrap="square" lIns="0" tIns="0" rIns="0" bIns="0" rtlCol="0" anchor="t"/>
          <a:lstStyle/>
          <a:p>
            <a:pPr algn="l" indent="0" marL="0">
              <a:buNone/>
            </a:pPr>
            <a:r>
              <a:rPr lang="en-US" sz="1850" dirty="0">
                <a:solidFill>
                  <a:srgbClr val="4B4F58"/>
                </a:solidFill>
              </a:rPr>
              <a:t>Ningún atributo toma más de un valor en cada tupla.</a:t>
            </a:r>
            <a:endParaRPr lang="en-US" sz="1850" dirty="0"/>
          </a:p>
        </p:txBody>
      </p:sp>
      <p:sp>
        <p:nvSpPr>
          <p:cNvPr id="7" name="kv-line-1324"/>
          <p:cNvSpPr/>
          <p:nvPr/>
        </p:nvSpPr>
        <p:spPr>
          <a:xfrm>
            <a:off x="685800" y="3784244"/>
            <a:ext cx="5227168" cy="0"/>
          </a:xfrm>
          <a:prstGeom prst="line">
            <a:avLst/>
          </a:prstGeom>
          <a:noFill/>
          <a:ln w="12700">
            <a:solidFill>
              <a:srgbClr val="E7E3DA"/>
            </a:solidFill>
            <a:prstDash val="solid"/>
          </a:ln>
        </p:spPr>
      </p:sp>
      <p:sp>
        <p:nvSpPr>
          <p:cNvPr id="8" name="kv-k-1325"/>
          <p:cNvSpPr txBox="1"/>
          <p:nvPr/>
        </p:nvSpPr>
        <p:spPr>
          <a:xfrm>
            <a:off x="6278728" y="2821107"/>
            <a:ext cx="1645920" cy="944850"/>
          </a:xfrm>
          <a:prstGeom prst="rect">
            <a:avLst/>
          </a:prstGeom>
          <a:noFill/>
          <a:ln/>
        </p:spPr>
        <p:txBody>
          <a:bodyPr wrap="square" lIns="0" tIns="0" rIns="0" bIns="0" rtlCol="0" anchor="t"/>
          <a:lstStyle/>
          <a:p>
            <a:pPr algn="l" indent="0" marL="0">
              <a:buNone/>
            </a:pPr>
            <a:r>
              <a:rPr lang="en-US" sz="1400" b="1" dirty="0">
                <a:solidFill>
                  <a:srgbClr val="0D1A7A"/>
                </a:solidFill>
              </a:rPr>
              <a:t>Sin orden</a:t>
            </a:r>
            <a:endParaRPr lang="en-US" sz="1400" dirty="0"/>
          </a:p>
        </p:txBody>
      </p:sp>
      <p:sp>
        <p:nvSpPr>
          <p:cNvPr id="9" name="kv-v-1326"/>
          <p:cNvSpPr txBox="1"/>
          <p:nvPr/>
        </p:nvSpPr>
        <p:spPr>
          <a:xfrm>
            <a:off x="8016088" y="2802819"/>
            <a:ext cx="3489808" cy="944850"/>
          </a:xfrm>
          <a:prstGeom prst="rect">
            <a:avLst/>
          </a:prstGeom>
          <a:noFill/>
          <a:ln/>
        </p:spPr>
        <p:txBody>
          <a:bodyPr wrap="square" lIns="0" tIns="0" rIns="0" bIns="0" rtlCol="0" anchor="t"/>
          <a:lstStyle/>
          <a:p>
            <a:pPr algn="l" indent="0" marL="0">
              <a:buNone/>
            </a:pPr>
            <a:r>
              <a:rPr lang="en-US" sz="1850" dirty="0">
                <a:solidFill>
                  <a:srgbClr val="4B4F58"/>
                </a:solidFill>
              </a:rPr>
              <a:t>No importa el orden de las tuplas ni de los atributos.</a:t>
            </a:r>
            <a:endParaRPr lang="en-US" sz="1850" dirty="0"/>
          </a:p>
        </p:txBody>
      </p:sp>
      <p:sp>
        <p:nvSpPr>
          <p:cNvPr id="10" name="kv-line-1327"/>
          <p:cNvSpPr/>
          <p:nvPr/>
        </p:nvSpPr>
        <p:spPr>
          <a:xfrm>
            <a:off x="6278728" y="3784244"/>
            <a:ext cx="5227168" cy="0"/>
          </a:xfrm>
          <a:prstGeom prst="line">
            <a:avLst/>
          </a:prstGeom>
          <a:noFill/>
          <a:ln w="12700">
            <a:solidFill>
              <a:srgbClr val="E7E3DA"/>
            </a:solidFill>
            <a:prstDash val="solid"/>
          </a:ln>
        </p:spPr>
      </p:sp>
      <p:sp>
        <p:nvSpPr>
          <p:cNvPr id="11" name="kv-k-1328"/>
          <p:cNvSpPr txBox="1"/>
          <p:nvPr/>
        </p:nvSpPr>
        <p:spPr>
          <a:xfrm>
            <a:off x="685800" y="3893972"/>
            <a:ext cx="1645920" cy="944850"/>
          </a:xfrm>
          <a:prstGeom prst="rect">
            <a:avLst/>
          </a:prstGeom>
          <a:noFill/>
          <a:ln/>
        </p:spPr>
        <p:txBody>
          <a:bodyPr wrap="square" lIns="0" tIns="0" rIns="0" bIns="0" rtlCol="0" anchor="t"/>
          <a:lstStyle/>
          <a:p>
            <a:pPr algn="l" indent="0" marL="0">
              <a:buNone/>
            </a:pPr>
            <a:r>
              <a:rPr lang="en-US" sz="1400" b="1" dirty="0">
                <a:solidFill>
                  <a:srgbClr val="0D1A7A"/>
                </a:solidFill>
              </a:rPr>
              <a:t>Tuplas distintas</a:t>
            </a:r>
            <a:endParaRPr lang="en-US" sz="1400" dirty="0"/>
          </a:p>
        </p:txBody>
      </p:sp>
      <p:sp>
        <p:nvSpPr>
          <p:cNvPr id="12" name="kv-v-1329"/>
          <p:cNvSpPr txBox="1"/>
          <p:nvPr/>
        </p:nvSpPr>
        <p:spPr>
          <a:xfrm>
            <a:off x="2423160" y="3875684"/>
            <a:ext cx="3489808" cy="944850"/>
          </a:xfrm>
          <a:prstGeom prst="rect">
            <a:avLst/>
          </a:prstGeom>
          <a:noFill/>
          <a:ln/>
        </p:spPr>
        <p:txBody>
          <a:bodyPr wrap="square" lIns="0" tIns="0" rIns="0" bIns="0" rtlCol="0" anchor="t"/>
          <a:lstStyle/>
          <a:p>
            <a:pPr algn="l" indent="0" marL="0">
              <a:buNone/>
            </a:pPr>
            <a:r>
              <a:rPr lang="en-US" sz="1850" dirty="0">
                <a:solidFill>
                  <a:srgbClr val="4B4F58"/>
                </a:solidFill>
              </a:rPr>
              <a:t>Todas las tuplas de una relación son distintas.</a:t>
            </a:r>
            <a:endParaRPr lang="en-US" sz="1850" dirty="0"/>
          </a:p>
        </p:txBody>
      </p:sp>
      <p:sp>
        <p:nvSpPr>
          <p:cNvPr id="13" name="kv-line-1330"/>
          <p:cNvSpPr/>
          <p:nvPr/>
        </p:nvSpPr>
        <p:spPr>
          <a:xfrm>
            <a:off x="685800" y="4857110"/>
            <a:ext cx="5227168" cy="0"/>
          </a:xfrm>
          <a:prstGeom prst="line">
            <a:avLst/>
          </a:prstGeom>
          <a:noFill/>
          <a:ln w="12700">
            <a:solidFill>
              <a:srgbClr val="E7E3DA"/>
            </a:solidFill>
            <a:prstDash val="solid"/>
          </a:ln>
        </p:spPr>
      </p:sp>
      <p:sp>
        <p:nvSpPr>
          <p:cNvPr id="14" name="kv-k-1331"/>
          <p:cNvSpPr txBox="1"/>
          <p:nvPr/>
        </p:nvSpPr>
        <p:spPr>
          <a:xfrm>
            <a:off x="6278728" y="3893972"/>
            <a:ext cx="1645920" cy="944850"/>
          </a:xfrm>
          <a:prstGeom prst="rect">
            <a:avLst/>
          </a:prstGeom>
          <a:noFill/>
          <a:ln/>
        </p:spPr>
        <p:txBody>
          <a:bodyPr wrap="square" lIns="0" tIns="0" rIns="0" bIns="0" rtlCol="0" anchor="t"/>
          <a:lstStyle/>
          <a:p>
            <a:pPr algn="l" indent="0" marL="0">
              <a:buNone/>
            </a:pPr>
            <a:r>
              <a:rPr lang="en-US" sz="1400" b="1" dirty="0">
                <a:solidFill>
                  <a:srgbClr val="0D1A7A"/>
                </a:solidFill>
              </a:rPr>
              <a:t>Integridad de la entidad</a:t>
            </a:r>
            <a:endParaRPr lang="en-US" sz="1400" dirty="0"/>
          </a:p>
        </p:txBody>
      </p:sp>
      <p:sp>
        <p:nvSpPr>
          <p:cNvPr id="15" name="kv-v-1332"/>
          <p:cNvSpPr txBox="1"/>
          <p:nvPr/>
        </p:nvSpPr>
        <p:spPr>
          <a:xfrm>
            <a:off x="8016088" y="3875684"/>
            <a:ext cx="3489808" cy="944850"/>
          </a:xfrm>
          <a:prstGeom prst="rect">
            <a:avLst/>
          </a:prstGeom>
          <a:noFill/>
          <a:ln/>
        </p:spPr>
        <p:txBody>
          <a:bodyPr wrap="square" lIns="0" tIns="0" rIns="0" bIns="0" rtlCol="0" anchor="t"/>
          <a:lstStyle/>
          <a:p>
            <a:pPr algn="l" indent="0" marL="0">
              <a:buNone/>
            </a:pPr>
            <a:r>
              <a:rPr lang="en-US" sz="1850" dirty="0">
                <a:solidFill>
                  <a:srgbClr val="4B4F58"/>
                </a:solidFill>
              </a:rPr>
              <a:t>Ningún atributo de la clave primaria puede valer NULL.</a:t>
            </a:r>
            <a:endParaRPr lang="en-US" sz="1850" dirty="0"/>
          </a:p>
        </p:txBody>
      </p:sp>
      <p:sp>
        <p:nvSpPr>
          <p:cNvPr id="16" name="kv-line-1333"/>
          <p:cNvSpPr/>
          <p:nvPr/>
        </p:nvSpPr>
        <p:spPr>
          <a:xfrm>
            <a:off x="6278728" y="4857110"/>
            <a:ext cx="5227168" cy="0"/>
          </a:xfrm>
          <a:prstGeom prst="line">
            <a:avLst/>
          </a:prstGeom>
          <a:noFill/>
          <a:ln w="12700">
            <a:solidFill>
              <a:srgbClr val="E7E3DA"/>
            </a:solidFill>
            <a:prstDash val="solid"/>
          </a:ln>
        </p:spPr>
      </p:sp>
      <p:sp>
        <p:nvSpPr>
          <p:cNvPr id="17" name="kv-k-1334"/>
          <p:cNvSpPr txBox="1"/>
          <p:nvPr/>
        </p:nvSpPr>
        <p:spPr>
          <a:xfrm>
            <a:off x="685800" y="4966838"/>
            <a:ext cx="1645920" cy="944850"/>
          </a:xfrm>
          <a:prstGeom prst="rect">
            <a:avLst/>
          </a:prstGeom>
          <a:noFill/>
          <a:ln/>
        </p:spPr>
        <p:txBody>
          <a:bodyPr wrap="square" lIns="0" tIns="0" rIns="0" bIns="0" rtlCol="0" anchor="t"/>
          <a:lstStyle/>
          <a:p>
            <a:pPr algn="l" indent="0" marL="0">
              <a:buNone/>
            </a:pPr>
            <a:r>
              <a:rPr lang="en-US" sz="1400" b="1" dirty="0">
                <a:solidFill>
                  <a:srgbClr val="0D1A7A"/>
                </a:solidFill>
              </a:rPr>
              <a:t>Integridad referencial</a:t>
            </a:r>
            <a:endParaRPr lang="en-US" sz="1400" dirty="0"/>
          </a:p>
        </p:txBody>
      </p:sp>
      <p:sp>
        <p:nvSpPr>
          <p:cNvPr id="18" name="kv-v-1335"/>
          <p:cNvSpPr txBox="1"/>
          <p:nvPr/>
        </p:nvSpPr>
        <p:spPr>
          <a:xfrm>
            <a:off x="2423160" y="4948550"/>
            <a:ext cx="3489808" cy="944850"/>
          </a:xfrm>
          <a:prstGeom prst="rect">
            <a:avLst/>
          </a:prstGeom>
          <a:noFill/>
          <a:ln/>
        </p:spPr>
        <p:txBody>
          <a:bodyPr wrap="square" lIns="0" tIns="0" rIns="0" bIns="0" rtlCol="0" anchor="t"/>
          <a:lstStyle/>
          <a:p>
            <a:pPr algn="l" indent="0" marL="0">
              <a:buNone/>
            </a:pPr>
            <a:r>
              <a:rPr lang="en-US" sz="1850" dirty="0">
                <a:solidFill>
                  <a:srgbClr val="4B4F58"/>
                </a:solidFill>
              </a:rPr>
              <a:t>Cada clave ajena coincide con una clave primaria existente o es totalmente nula.</a:t>
            </a:r>
            <a:endParaRPr lang="en-US" sz="1850" dirty="0"/>
          </a:p>
        </p:txBody>
      </p:sp>
      <p:sp>
        <p:nvSpPr>
          <p:cNvPr id="19" name="kv-line-1336"/>
          <p:cNvSpPr/>
          <p:nvPr/>
        </p:nvSpPr>
        <p:spPr>
          <a:xfrm>
            <a:off x="685800" y="5929975"/>
            <a:ext cx="5227168" cy="0"/>
          </a:xfrm>
          <a:prstGeom prst="line">
            <a:avLst/>
          </a:prstGeom>
          <a:noFill/>
          <a:ln w="12700">
            <a:solidFill>
              <a:srgbClr val="E7E3DA"/>
            </a:solidFill>
            <a:prstDash val="solid"/>
          </a:ln>
        </p:spPr>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03 — RESTRICCIONES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Reglas que impone el modelo</a:t>
            </a:r>
            <a:endParaRPr lang="en-US" sz="4000" dirty="0"/>
          </a:p>
        </p:txBody>
      </p:sp>
      <p:sp>
        <p:nvSpPr>
          <p:cNvPr id="4" name="kv-k-1491"/>
          <p:cNvSpPr txBox="1"/>
          <p:nvPr/>
        </p:nvSpPr>
        <p:spPr>
          <a:xfrm>
            <a:off x="685800" y="1856232"/>
            <a:ext cx="1645920" cy="576092"/>
          </a:xfrm>
          <a:prstGeom prst="rect">
            <a:avLst/>
          </a:prstGeom>
          <a:noFill/>
          <a:ln/>
        </p:spPr>
        <p:txBody>
          <a:bodyPr wrap="square" lIns="0" tIns="0" rIns="0" bIns="0" rtlCol="0" anchor="t"/>
          <a:lstStyle/>
          <a:p>
            <a:pPr algn="l" indent="0" marL="0">
              <a:buNone/>
            </a:pPr>
            <a:r>
              <a:rPr lang="en-US" sz="1200" b="1" dirty="0">
                <a:solidFill>
                  <a:srgbClr val="0D1A7A"/>
                </a:solidFill>
              </a:rPr>
              <a:t>PRIMARY KEY</a:t>
            </a:r>
            <a:endParaRPr lang="en-US" sz="1200" dirty="0"/>
          </a:p>
        </p:txBody>
      </p:sp>
      <p:sp>
        <p:nvSpPr>
          <p:cNvPr id="5" name="kv-v-1492"/>
          <p:cNvSpPr txBox="1"/>
          <p:nvPr/>
        </p:nvSpPr>
        <p:spPr>
          <a:xfrm>
            <a:off x="2423160" y="1837944"/>
            <a:ext cx="3489808" cy="576092"/>
          </a:xfrm>
          <a:prstGeom prst="rect">
            <a:avLst/>
          </a:prstGeom>
          <a:noFill/>
          <a:ln/>
        </p:spPr>
        <p:txBody>
          <a:bodyPr wrap="square" lIns="0" tIns="0" rIns="0" bIns="0" rtlCol="0" anchor="t"/>
          <a:lstStyle/>
          <a:p>
            <a:pPr algn="l" indent="0" marL="0">
              <a:buNone/>
            </a:pPr>
            <a:r>
              <a:rPr lang="en-US" sz="1550" dirty="0">
                <a:solidFill>
                  <a:srgbClr val="4B4F58"/>
                </a:solidFill>
              </a:rPr>
              <a:t>Identifica la fila: valores únicos y nunca nulos.</a:t>
            </a:r>
            <a:endParaRPr lang="en-US" sz="1550" dirty="0"/>
          </a:p>
        </p:txBody>
      </p:sp>
      <p:sp>
        <p:nvSpPr>
          <p:cNvPr id="6" name="kv-line-1493"/>
          <p:cNvSpPr/>
          <p:nvPr/>
        </p:nvSpPr>
        <p:spPr>
          <a:xfrm>
            <a:off x="685800" y="2450612"/>
            <a:ext cx="5227168" cy="0"/>
          </a:xfrm>
          <a:prstGeom prst="line">
            <a:avLst/>
          </a:prstGeom>
          <a:noFill/>
          <a:ln w="12700">
            <a:solidFill>
              <a:srgbClr val="E7E3DA"/>
            </a:solidFill>
            <a:prstDash val="solid"/>
          </a:ln>
        </p:spPr>
      </p:sp>
      <p:sp>
        <p:nvSpPr>
          <p:cNvPr id="7" name="kv-k-1494"/>
          <p:cNvSpPr txBox="1"/>
          <p:nvPr/>
        </p:nvSpPr>
        <p:spPr>
          <a:xfrm>
            <a:off x="6278728" y="1856232"/>
            <a:ext cx="1645920" cy="576092"/>
          </a:xfrm>
          <a:prstGeom prst="rect">
            <a:avLst/>
          </a:prstGeom>
          <a:noFill/>
          <a:ln/>
        </p:spPr>
        <p:txBody>
          <a:bodyPr wrap="square" lIns="0" tIns="0" rIns="0" bIns="0" rtlCol="0" anchor="t"/>
          <a:lstStyle/>
          <a:p>
            <a:pPr algn="l" indent="0" marL="0">
              <a:buNone/>
            </a:pPr>
            <a:r>
              <a:rPr lang="en-US" sz="1200" b="1" dirty="0">
                <a:solidFill>
                  <a:srgbClr val="0D1A7A"/>
                </a:solidFill>
              </a:rPr>
              <a:t>UNIQUE</a:t>
            </a:r>
            <a:endParaRPr lang="en-US" sz="1200" dirty="0"/>
          </a:p>
        </p:txBody>
      </p:sp>
      <p:sp>
        <p:nvSpPr>
          <p:cNvPr id="8" name="kv-v-1495"/>
          <p:cNvSpPr txBox="1"/>
          <p:nvPr/>
        </p:nvSpPr>
        <p:spPr>
          <a:xfrm>
            <a:off x="8016088" y="1837944"/>
            <a:ext cx="3489808" cy="576092"/>
          </a:xfrm>
          <a:prstGeom prst="rect">
            <a:avLst/>
          </a:prstGeom>
          <a:noFill/>
          <a:ln/>
        </p:spPr>
        <p:txBody>
          <a:bodyPr wrap="square" lIns="0" tIns="0" rIns="0" bIns="0" rtlCol="0" anchor="t"/>
          <a:lstStyle/>
          <a:p>
            <a:pPr algn="l" indent="0" marL="0">
              <a:buNone/>
            </a:pPr>
            <a:r>
              <a:rPr lang="en-US" sz="1550" dirty="0">
                <a:solidFill>
                  <a:srgbClr val="4B4F58"/>
                </a:solidFill>
              </a:rPr>
              <a:t>No se repite entre filas (sí puede quedar vacío).</a:t>
            </a:r>
            <a:endParaRPr lang="en-US" sz="1550" dirty="0"/>
          </a:p>
        </p:txBody>
      </p:sp>
      <p:sp>
        <p:nvSpPr>
          <p:cNvPr id="9" name="kv-line-1496"/>
          <p:cNvSpPr/>
          <p:nvPr/>
        </p:nvSpPr>
        <p:spPr>
          <a:xfrm>
            <a:off x="6278728" y="2450612"/>
            <a:ext cx="5227168" cy="0"/>
          </a:xfrm>
          <a:prstGeom prst="line">
            <a:avLst/>
          </a:prstGeom>
          <a:noFill/>
          <a:ln w="12700">
            <a:solidFill>
              <a:srgbClr val="E7E3DA"/>
            </a:solidFill>
            <a:prstDash val="solid"/>
          </a:ln>
        </p:spPr>
      </p:sp>
      <p:sp>
        <p:nvSpPr>
          <p:cNvPr id="10" name="kv-k-1497"/>
          <p:cNvSpPr txBox="1"/>
          <p:nvPr/>
        </p:nvSpPr>
        <p:spPr>
          <a:xfrm>
            <a:off x="685800" y="2560340"/>
            <a:ext cx="1645920" cy="576092"/>
          </a:xfrm>
          <a:prstGeom prst="rect">
            <a:avLst/>
          </a:prstGeom>
          <a:noFill/>
          <a:ln/>
        </p:spPr>
        <p:txBody>
          <a:bodyPr wrap="square" lIns="0" tIns="0" rIns="0" bIns="0" rtlCol="0" anchor="t"/>
          <a:lstStyle/>
          <a:p>
            <a:pPr algn="l" indent="0" marL="0">
              <a:buNone/>
            </a:pPr>
            <a:r>
              <a:rPr lang="en-US" sz="1200" b="1" dirty="0">
                <a:solidFill>
                  <a:srgbClr val="0D1A7A"/>
                </a:solidFill>
              </a:rPr>
              <a:t>NOT NULL</a:t>
            </a:r>
            <a:endParaRPr lang="en-US" sz="1200" dirty="0"/>
          </a:p>
        </p:txBody>
      </p:sp>
      <p:sp>
        <p:nvSpPr>
          <p:cNvPr id="11" name="kv-v-1498"/>
          <p:cNvSpPr txBox="1"/>
          <p:nvPr/>
        </p:nvSpPr>
        <p:spPr>
          <a:xfrm>
            <a:off x="2423160" y="2542052"/>
            <a:ext cx="3489808" cy="576092"/>
          </a:xfrm>
          <a:prstGeom prst="rect">
            <a:avLst/>
          </a:prstGeom>
          <a:noFill/>
          <a:ln/>
        </p:spPr>
        <p:txBody>
          <a:bodyPr wrap="square" lIns="0" tIns="0" rIns="0" bIns="0" rtlCol="0" anchor="t"/>
          <a:lstStyle/>
          <a:p>
            <a:pPr algn="l" indent="0" marL="0">
              <a:buNone/>
            </a:pPr>
            <a:r>
              <a:rPr lang="en-US" sz="1550" dirty="0">
                <a:solidFill>
                  <a:srgbClr val="4B4F58"/>
                </a:solidFill>
              </a:rPr>
              <a:t>El atributo no puede quedar vacío.</a:t>
            </a:r>
            <a:endParaRPr lang="en-US" sz="1550" dirty="0"/>
          </a:p>
        </p:txBody>
      </p:sp>
      <p:sp>
        <p:nvSpPr>
          <p:cNvPr id="12" name="kv-line-1499"/>
          <p:cNvSpPr/>
          <p:nvPr/>
        </p:nvSpPr>
        <p:spPr>
          <a:xfrm>
            <a:off x="685800" y="3154721"/>
            <a:ext cx="5227168" cy="0"/>
          </a:xfrm>
          <a:prstGeom prst="line">
            <a:avLst/>
          </a:prstGeom>
          <a:noFill/>
          <a:ln w="12700">
            <a:solidFill>
              <a:srgbClr val="E7E3DA"/>
            </a:solidFill>
            <a:prstDash val="solid"/>
          </a:ln>
        </p:spPr>
      </p:sp>
      <p:sp>
        <p:nvSpPr>
          <p:cNvPr id="13" name="kv-k-1500"/>
          <p:cNvSpPr txBox="1"/>
          <p:nvPr/>
        </p:nvSpPr>
        <p:spPr>
          <a:xfrm>
            <a:off x="6278728" y="2560340"/>
            <a:ext cx="1645920" cy="576092"/>
          </a:xfrm>
          <a:prstGeom prst="rect">
            <a:avLst/>
          </a:prstGeom>
          <a:noFill/>
          <a:ln/>
        </p:spPr>
        <p:txBody>
          <a:bodyPr wrap="square" lIns="0" tIns="0" rIns="0" bIns="0" rtlCol="0" anchor="t"/>
          <a:lstStyle/>
          <a:p>
            <a:pPr algn="l" indent="0" marL="0">
              <a:buNone/>
            </a:pPr>
            <a:r>
              <a:rPr lang="en-US" sz="1200" b="1" dirty="0">
                <a:solidFill>
                  <a:srgbClr val="0D1A7A"/>
                </a:solidFill>
              </a:rPr>
              <a:t>UNIQUE + NOT NULL</a:t>
            </a:r>
            <a:endParaRPr lang="en-US" sz="1200" dirty="0"/>
          </a:p>
        </p:txBody>
      </p:sp>
      <p:sp>
        <p:nvSpPr>
          <p:cNvPr id="14" name="kv-v-1501"/>
          <p:cNvSpPr txBox="1"/>
          <p:nvPr/>
        </p:nvSpPr>
        <p:spPr>
          <a:xfrm>
            <a:off x="8016088" y="2542052"/>
            <a:ext cx="3489808" cy="576092"/>
          </a:xfrm>
          <a:prstGeom prst="rect">
            <a:avLst/>
          </a:prstGeom>
          <a:noFill/>
          <a:ln/>
        </p:spPr>
        <p:txBody>
          <a:bodyPr wrap="square" lIns="0" tIns="0" rIns="0" bIns="0" rtlCol="0" anchor="t"/>
          <a:lstStyle/>
          <a:p>
            <a:pPr algn="l" indent="0" marL="0">
              <a:buNone/>
            </a:pPr>
            <a:r>
              <a:rPr lang="en-US" sz="1550" dirty="0">
                <a:solidFill>
                  <a:srgbClr val="4B4F58"/>
                </a:solidFill>
              </a:rPr>
              <a:t>Clave alternativa: no hay marca propia en la mayoría de SGBD.</a:t>
            </a:r>
            <a:endParaRPr lang="en-US" sz="1550" dirty="0"/>
          </a:p>
        </p:txBody>
      </p:sp>
      <p:sp>
        <p:nvSpPr>
          <p:cNvPr id="15" name="kv-line-1502"/>
          <p:cNvSpPr/>
          <p:nvPr/>
        </p:nvSpPr>
        <p:spPr>
          <a:xfrm>
            <a:off x="6278728" y="3154721"/>
            <a:ext cx="5227168" cy="0"/>
          </a:xfrm>
          <a:prstGeom prst="line">
            <a:avLst/>
          </a:prstGeom>
          <a:noFill/>
          <a:ln w="12700">
            <a:solidFill>
              <a:srgbClr val="E7E3DA"/>
            </a:solidFill>
            <a:prstDash val="solid"/>
          </a:ln>
        </p:spPr>
      </p:sp>
      <p:sp>
        <p:nvSpPr>
          <p:cNvPr id="16" name="kv-k-1503"/>
          <p:cNvSpPr txBox="1"/>
          <p:nvPr/>
        </p:nvSpPr>
        <p:spPr>
          <a:xfrm>
            <a:off x="685800" y="3264449"/>
            <a:ext cx="1645920" cy="818418"/>
          </a:xfrm>
          <a:prstGeom prst="rect">
            <a:avLst/>
          </a:prstGeom>
          <a:noFill/>
          <a:ln/>
        </p:spPr>
        <p:txBody>
          <a:bodyPr wrap="square" lIns="0" tIns="0" rIns="0" bIns="0" rtlCol="0" anchor="t"/>
          <a:lstStyle/>
          <a:p>
            <a:pPr algn="l" indent="0" marL="0">
              <a:buNone/>
            </a:pPr>
            <a:r>
              <a:rPr lang="en-US" sz="1200" b="1" dirty="0">
                <a:solidFill>
                  <a:srgbClr val="0D1A7A"/>
                </a:solidFill>
              </a:rPr>
              <a:t>FOREIGN KEY</a:t>
            </a:r>
            <a:endParaRPr lang="en-US" sz="1200" dirty="0"/>
          </a:p>
        </p:txBody>
      </p:sp>
      <p:sp>
        <p:nvSpPr>
          <p:cNvPr id="17" name="kv-v-1504"/>
          <p:cNvSpPr txBox="1"/>
          <p:nvPr/>
        </p:nvSpPr>
        <p:spPr>
          <a:xfrm>
            <a:off x="2423160" y="3246161"/>
            <a:ext cx="3489808" cy="818418"/>
          </a:xfrm>
          <a:prstGeom prst="rect">
            <a:avLst/>
          </a:prstGeom>
          <a:noFill/>
          <a:ln/>
        </p:spPr>
        <p:txBody>
          <a:bodyPr wrap="square" lIns="0" tIns="0" rIns="0" bIns="0" rtlCol="0" anchor="t"/>
          <a:lstStyle/>
          <a:p>
            <a:pPr algn="l" indent="0" marL="0">
              <a:buNone/>
            </a:pPr>
            <a:r>
              <a:rPr lang="en-US" sz="1550" dirty="0">
                <a:solidFill>
                  <a:srgbClr val="4B4F58"/>
                </a:solidFill>
              </a:rPr>
              <a:t>Solo admite valores que existan como primaria en la tabla destino (o nulo).</a:t>
            </a:r>
            <a:endParaRPr lang="en-US" sz="1550" dirty="0"/>
          </a:p>
        </p:txBody>
      </p:sp>
      <p:sp>
        <p:nvSpPr>
          <p:cNvPr id="18" name="kv-line-1505"/>
          <p:cNvSpPr/>
          <p:nvPr/>
        </p:nvSpPr>
        <p:spPr>
          <a:xfrm>
            <a:off x="685800" y="4101155"/>
            <a:ext cx="5227168" cy="0"/>
          </a:xfrm>
          <a:prstGeom prst="line">
            <a:avLst/>
          </a:prstGeom>
          <a:noFill/>
          <a:ln w="12700">
            <a:solidFill>
              <a:srgbClr val="E7E3DA"/>
            </a:solidFill>
            <a:prstDash val="solid"/>
          </a:ln>
        </p:spPr>
      </p:sp>
      <p:sp>
        <p:nvSpPr>
          <p:cNvPr id="19" name="kv-k-1506"/>
          <p:cNvSpPr txBox="1"/>
          <p:nvPr/>
        </p:nvSpPr>
        <p:spPr>
          <a:xfrm>
            <a:off x="6278728" y="3264449"/>
            <a:ext cx="1645920" cy="818418"/>
          </a:xfrm>
          <a:prstGeom prst="rect">
            <a:avLst/>
          </a:prstGeom>
          <a:noFill/>
          <a:ln/>
        </p:spPr>
        <p:txBody>
          <a:bodyPr wrap="square" lIns="0" tIns="0" rIns="0" bIns="0" rtlCol="0" anchor="t"/>
          <a:lstStyle/>
          <a:p>
            <a:pPr algn="l" indent="0" marL="0">
              <a:buNone/>
            </a:pPr>
            <a:r>
              <a:rPr lang="en-US" sz="1200" b="1" dirty="0">
                <a:solidFill>
                  <a:srgbClr val="0D1A7A"/>
                </a:solidFill>
              </a:rPr>
              <a:t>CHECK</a:t>
            </a:r>
            <a:endParaRPr lang="en-US" sz="1200" dirty="0"/>
          </a:p>
        </p:txBody>
      </p:sp>
      <p:sp>
        <p:nvSpPr>
          <p:cNvPr id="20" name="kv-v-1507"/>
          <p:cNvSpPr txBox="1"/>
          <p:nvPr/>
        </p:nvSpPr>
        <p:spPr>
          <a:xfrm>
            <a:off x="8016088" y="3246161"/>
            <a:ext cx="3489808" cy="818418"/>
          </a:xfrm>
          <a:prstGeom prst="rect">
            <a:avLst/>
          </a:prstGeom>
          <a:noFill/>
          <a:ln/>
        </p:spPr>
        <p:txBody>
          <a:bodyPr wrap="square" lIns="0" tIns="0" rIns="0" bIns="0" rtlCol="0" anchor="t"/>
          <a:lstStyle/>
          <a:p>
            <a:pPr algn="l" indent="0" marL="0">
              <a:buNone/>
            </a:pPr>
            <a:r>
              <a:rPr lang="en-US" sz="1550" dirty="0">
                <a:solidFill>
                  <a:srgbClr val="4B4F58"/>
                </a:solidFill>
              </a:rPr>
              <a:t>Condición lógica: </a:t>
            </a:r>
            <a:pPr algn="l" indent="0" marL="0">
              <a:buNone/>
            </a:pPr>
            <a:r>
              <a:rPr lang="en-US" sz="1550" dirty="0">
                <a:solidFill>
                  <a:srgbClr val="0D1A7A"/>
                </a:solidFill>
                <a:latin typeface="Courier New" pitchFamily="34" charset="0"/>
                <a:ea typeface="Courier New" pitchFamily="34" charset="-122"/>
                <a:cs typeface="Courier New" pitchFamily="34" charset="-120"/>
              </a:rPr>
              <a:t>sueldo &gt; 1000</a:t>
            </a:r>
            <a:pPr algn="l" indent="0" marL="0">
              <a:buNone/>
            </a:pPr>
            <a:r>
              <a:rPr lang="en-US" sz="1550" dirty="0">
                <a:solidFill>
                  <a:srgbClr val="4B4F58"/>
                </a:solidFill>
              </a:rPr>
              <a:t>, </a:t>
            </a:r>
            <a:pPr algn="l" indent="0" marL="0">
              <a:buNone/>
            </a:pPr>
            <a:r>
              <a:rPr lang="en-US" sz="1550" dirty="0">
                <a:solidFill>
                  <a:srgbClr val="0D1A7A"/>
                </a:solidFill>
                <a:latin typeface="Courier New" pitchFamily="34" charset="0"/>
                <a:ea typeface="Courier New" pitchFamily="34" charset="-122"/>
                <a:cs typeface="Courier New" pitchFamily="34" charset="-120"/>
              </a:rPr>
              <a:t>fecha_inicio &lt; fecha_fin</a:t>
            </a:r>
            <a:pPr algn="l" indent="0" marL="0">
              <a:buNone/>
            </a:pPr>
            <a:r>
              <a:rPr lang="en-US" sz="1550" dirty="0">
                <a:solidFill>
                  <a:srgbClr val="4B4F58"/>
                </a:solidFill>
              </a:rPr>
              <a:t>.</a:t>
            </a:r>
            <a:endParaRPr lang="en-US" sz="1550" dirty="0"/>
          </a:p>
        </p:txBody>
      </p:sp>
      <p:sp>
        <p:nvSpPr>
          <p:cNvPr id="21" name="kv-line-1508"/>
          <p:cNvSpPr/>
          <p:nvPr/>
        </p:nvSpPr>
        <p:spPr>
          <a:xfrm>
            <a:off x="6278728" y="4101155"/>
            <a:ext cx="5227168" cy="0"/>
          </a:xfrm>
          <a:prstGeom prst="line">
            <a:avLst/>
          </a:prstGeom>
          <a:noFill/>
          <a:ln w="12700">
            <a:solidFill>
              <a:srgbClr val="E7E3DA"/>
            </a:solidFill>
            <a:prstDash val="solid"/>
          </a:ln>
        </p:spPr>
      </p:sp>
      <p:sp>
        <p:nvSpPr>
          <p:cNvPr id="22" name="kv-k-1509"/>
          <p:cNvSpPr txBox="1"/>
          <p:nvPr/>
        </p:nvSpPr>
        <p:spPr>
          <a:xfrm>
            <a:off x="685800" y="4210883"/>
            <a:ext cx="1645920" cy="818418"/>
          </a:xfrm>
          <a:prstGeom prst="rect">
            <a:avLst/>
          </a:prstGeom>
          <a:noFill/>
          <a:ln/>
        </p:spPr>
        <p:txBody>
          <a:bodyPr wrap="square" lIns="0" tIns="0" rIns="0" bIns="0" rtlCol="0" anchor="t"/>
          <a:lstStyle/>
          <a:p>
            <a:pPr algn="l" indent="0" marL="0">
              <a:buNone/>
            </a:pPr>
            <a:r>
              <a:rPr lang="en-US" sz="1200" b="1" dirty="0">
                <a:solidFill>
                  <a:srgbClr val="0D1A7A"/>
                </a:solidFill>
              </a:rPr>
              <a:t>TRIGGER</a:t>
            </a:r>
            <a:endParaRPr lang="en-US" sz="1200" dirty="0"/>
          </a:p>
        </p:txBody>
      </p:sp>
      <p:sp>
        <p:nvSpPr>
          <p:cNvPr id="23" name="kv-v-1510"/>
          <p:cNvSpPr txBox="1"/>
          <p:nvPr/>
        </p:nvSpPr>
        <p:spPr>
          <a:xfrm>
            <a:off x="2423160" y="4192595"/>
            <a:ext cx="3489808" cy="818418"/>
          </a:xfrm>
          <a:prstGeom prst="rect">
            <a:avLst/>
          </a:prstGeom>
          <a:noFill/>
          <a:ln/>
        </p:spPr>
        <p:txBody>
          <a:bodyPr wrap="square" lIns="0" tIns="0" rIns="0" bIns="0" rtlCol="0" anchor="t"/>
          <a:lstStyle/>
          <a:p>
            <a:pPr algn="l" indent="0" marL="0">
              <a:buNone/>
            </a:pPr>
            <a:r>
              <a:rPr lang="en-US" sz="1550" dirty="0">
                <a:solidFill>
                  <a:srgbClr val="4B4F58"/>
                </a:solidFill>
              </a:rPr>
              <a:t>Código que se ejecuta ante un evento: la restricción más potente (y más cara).</a:t>
            </a:r>
            <a:endParaRPr lang="en-US" sz="1550" dirty="0"/>
          </a:p>
        </p:txBody>
      </p:sp>
      <p:sp>
        <p:nvSpPr>
          <p:cNvPr id="24" name="kv-line-1511"/>
          <p:cNvSpPr/>
          <p:nvPr/>
        </p:nvSpPr>
        <p:spPr>
          <a:xfrm>
            <a:off x="685800" y="5047590"/>
            <a:ext cx="5227168" cy="0"/>
          </a:xfrm>
          <a:prstGeom prst="line">
            <a:avLst/>
          </a:prstGeom>
          <a:noFill/>
          <a:ln w="12700">
            <a:solidFill>
              <a:srgbClr val="E7E3DA"/>
            </a:solidFill>
            <a:prstDash val="solid"/>
          </a:ln>
        </p:spPr>
      </p:sp>
      <p:sp>
        <p:nvSpPr>
          <p:cNvPr id="25" name="note-1512"/>
          <p:cNvSpPr txBox="1"/>
          <p:nvPr/>
        </p:nvSpPr>
        <p:spPr>
          <a:xfrm>
            <a:off x="685800" y="5221326"/>
            <a:ext cx="10820095" cy="615899"/>
          </a:xfrm>
          <a:prstGeom prst="rect">
            <a:avLst/>
          </a:prstGeom>
          <a:noFill/>
          <a:ln/>
        </p:spPr>
        <p:txBody>
          <a:bodyPr wrap="square" lIns="0" tIns="0" rIns="0" bIns="0" rtlCol="0" anchor="t"/>
          <a:lstStyle/>
          <a:p>
            <a:pPr algn="l" indent="0" marL="0">
              <a:buNone/>
            </a:pPr>
            <a:r>
              <a:rPr lang="en-US" sz="1850" dirty="0">
                <a:solidFill>
                  <a:srgbClr val="4B4F58"/>
                </a:solidFill>
              </a:rPr>
              <a:t>Lo que el esquema no puede expresar —por ejemplo, un mínimo (2,N)— se controla con un disparador o desde la aplicación.</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03 — RESTRICCIONES</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3400" b="1" dirty="0">
                <a:solidFill>
                  <a:schemeClr val="tx1"/>
                </a:solidFill>
              </a:rPr>
              <a:t>Integridad referencial: borrar y modificar</a:t>
            </a:r>
            <a:endParaRPr lang="en-US" sz="4000" dirty="0"/>
          </a:p>
        </p:txBody>
      </p:sp>
      <p:sp>
        <p:nvSpPr>
          <p:cNvPr id="4" name="card-1598"/>
          <p:cNvSpPr/>
          <p:nvPr/>
        </p:nvSpPr>
        <p:spPr>
          <a:xfrm>
            <a:off x="685800" y="2377440"/>
            <a:ext cx="2567864" cy="2786817"/>
          </a:xfrm>
          <a:prstGeom prst="roundRect">
            <a:avLst>
              <a:gd name="adj" fmla="val 4273"/>
            </a:avLst>
          </a:prstGeom>
          <a:solidFill>
            <a:schemeClr val="bg1"/>
          </a:solidFill>
          <a:ln w="19050">
            <a:solidFill>
              <a:srgbClr val="15171C"/>
            </a:solidFill>
            <a:prstDash val="solid"/>
          </a:ln>
        </p:spPr>
      </p:sp>
      <p:sp>
        <p:nvSpPr>
          <p:cNvPr id="5" name="tag-pill-1599"/>
          <p:cNvSpPr/>
          <p:nvPr/>
        </p:nvSpPr>
        <p:spPr>
          <a:xfrm>
            <a:off x="868680" y="2542032"/>
            <a:ext cx="1938528" cy="256032"/>
          </a:xfrm>
          <a:prstGeom prst="roundRect">
            <a:avLst>
              <a:gd name="adj" fmla="val 50000"/>
            </a:avLst>
          </a:prstGeom>
          <a:solidFill>
            <a:srgbClr val="E8EBFC"/>
          </a:solidFill>
          <a:ln/>
        </p:spPr>
      </p:sp>
      <p:sp>
        <p:nvSpPr>
          <p:cNvPr id="6" name="tag-1600"/>
          <p:cNvSpPr txBox="1"/>
          <p:nvPr/>
        </p:nvSpPr>
        <p:spPr>
          <a:xfrm>
            <a:off x="868680" y="2542032"/>
            <a:ext cx="1938528" cy="256032"/>
          </a:xfrm>
          <a:prstGeom prst="rect">
            <a:avLst/>
          </a:prstGeom>
          <a:noFill/>
          <a:ln/>
        </p:spPr>
        <p:txBody>
          <a:bodyPr wrap="square" lIns="0" tIns="0" rIns="0" bIns="0" rtlCol="0" anchor="ctr"/>
          <a:lstStyle/>
          <a:p>
            <a:pPr algn="ctr" indent="0" marL="0">
              <a:buNone/>
            </a:pPr>
            <a:r>
              <a:rPr lang="en-US" sz="1100" b="1" dirty="0">
                <a:solidFill>
                  <a:srgbClr val="0D1A7A"/>
                </a:solidFill>
              </a:rPr>
              <a:t>NO ACTION / RESTRICT</a:t>
            </a:r>
            <a:endParaRPr lang="en-US" sz="1100" dirty="0"/>
          </a:p>
        </p:txBody>
      </p:sp>
      <p:sp>
        <p:nvSpPr>
          <p:cNvPr id="7" name="card-p-1601"/>
          <p:cNvSpPr txBox="1"/>
          <p:nvPr/>
        </p:nvSpPr>
        <p:spPr>
          <a:xfrm>
            <a:off x="868680" y="2926080"/>
            <a:ext cx="2202104" cy="1752539"/>
          </a:xfrm>
          <a:prstGeom prst="rect">
            <a:avLst/>
          </a:prstGeom>
          <a:noFill/>
          <a:ln/>
        </p:spPr>
        <p:txBody>
          <a:bodyPr wrap="square" lIns="0" tIns="0" rIns="0" bIns="0" rtlCol="0" anchor="t"/>
          <a:lstStyle/>
          <a:p>
            <a:pPr algn="l" indent="0" marL="0">
              <a:buNone/>
            </a:pPr>
            <a:r>
              <a:rPr lang="en-US" sz="1850" dirty="0">
                <a:solidFill>
                  <a:srgbClr val="4B4F58"/>
                </a:solidFill>
              </a:rPr>
              <a:t>Rechaza la operación si hay filas que dependen de la clave afectada. Es la política por defecto.</a:t>
            </a:r>
            <a:endParaRPr lang="en-US" sz="1850" dirty="0"/>
          </a:p>
        </p:txBody>
      </p:sp>
      <p:sp>
        <p:nvSpPr>
          <p:cNvPr id="8" name="card-1602"/>
          <p:cNvSpPr/>
          <p:nvPr/>
        </p:nvSpPr>
        <p:spPr>
          <a:xfrm>
            <a:off x="3436544" y="2377440"/>
            <a:ext cx="2567864" cy="2786817"/>
          </a:xfrm>
          <a:prstGeom prst="roundRect">
            <a:avLst>
              <a:gd name="adj" fmla="val 4273"/>
            </a:avLst>
          </a:prstGeom>
          <a:solidFill>
            <a:schemeClr val="bg1"/>
          </a:solidFill>
          <a:ln w="19050">
            <a:solidFill>
              <a:srgbClr val="15171C"/>
            </a:solidFill>
            <a:prstDash val="solid"/>
          </a:ln>
        </p:spPr>
      </p:sp>
      <p:sp>
        <p:nvSpPr>
          <p:cNvPr id="9" name="tag-pill-1603"/>
          <p:cNvSpPr/>
          <p:nvPr/>
        </p:nvSpPr>
        <p:spPr>
          <a:xfrm>
            <a:off x="3619424" y="2542032"/>
            <a:ext cx="844906" cy="256032"/>
          </a:xfrm>
          <a:prstGeom prst="roundRect">
            <a:avLst>
              <a:gd name="adj" fmla="val 50000"/>
            </a:avLst>
          </a:prstGeom>
          <a:solidFill>
            <a:srgbClr val="E8EBFC"/>
          </a:solidFill>
          <a:ln/>
        </p:spPr>
      </p:sp>
      <p:sp>
        <p:nvSpPr>
          <p:cNvPr id="10" name="tag-1604"/>
          <p:cNvSpPr txBox="1"/>
          <p:nvPr/>
        </p:nvSpPr>
        <p:spPr>
          <a:xfrm>
            <a:off x="3619424" y="2542032"/>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CASCADE</a:t>
            </a:r>
            <a:endParaRPr lang="en-US" sz="1100" dirty="0"/>
          </a:p>
        </p:txBody>
      </p:sp>
      <p:sp>
        <p:nvSpPr>
          <p:cNvPr id="11" name="card-p-1605"/>
          <p:cNvSpPr txBox="1"/>
          <p:nvPr/>
        </p:nvSpPr>
        <p:spPr>
          <a:xfrm>
            <a:off x="3619424" y="2926080"/>
            <a:ext cx="2202104" cy="2037009"/>
          </a:xfrm>
          <a:prstGeom prst="rect">
            <a:avLst/>
          </a:prstGeom>
          <a:noFill/>
          <a:ln/>
        </p:spPr>
        <p:txBody>
          <a:bodyPr wrap="square" lIns="0" tIns="0" rIns="0" bIns="0" rtlCol="0" anchor="t"/>
          <a:lstStyle/>
          <a:p>
            <a:pPr algn="l" indent="0" marL="0">
              <a:buNone/>
            </a:pPr>
            <a:r>
              <a:rPr lang="en-US" sz="1850" dirty="0">
                <a:solidFill>
                  <a:srgbClr val="4B4F58"/>
                </a:solidFill>
              </a:rPr>
              <a:t>Propaga el cambio: al borrar la principal, se borran las dependientes; al cambiar la clave, se actualizan.</a:t>
            </a:r>
            <a:endParaRPr lang="en-US" sz="1850" dirty="0"/>
          </a:p>
        </p:txBody>
      </p:sp>
      <p:sp>
        <p:nvSpPr>
          <p:cNvPr id="12" name="card-1606"/>
          <p:cNvSpPr/>
          <p:nvPr/>
        </p:nvSpPr>
        <p:spPr>
          <a:xfrm>
            <a:off x="6187288" y="2377440"/>
            <a:ext cx="2567864" cy="2786817"/>
          </a:xfrm>
          <a:prstGeom prst="roundRect">
            <a:avLst>
              <a:gd name="adj" fmla="val 4273"/>
            </a:avLst>
          </a:prstGeom>
          <a:solidFill>
            <a:schemeClr val="bg1"/>
          </a:solidFill>
          <a:ln w="19050">
            <a:solidFill>
              <a:srgbClr val="15171C"/>
            </a:solidFill>
            <a:prstDash val="solid"/>
          </a:ln>
        </p:spPr>
      </p:sp>
      <p:sp>
        <p:nvSpPr>
          <p:cNvPr id="13" name="tag-pill-1607"/>
          <p:cNvSpPr/>
          <p:nvPr/>
        </p:nvSpPr>
        <p:spPr>
          <a:xfrm>
            <a:off x="6370168" y="2542032"/>
            <a:ext cx="929030" cy="256032"/>
          </a:xfrm>
          <a:prstGeom prst="roundRect">
            <a:avLst>
              <a:gd name="adj" fmla="val 50000"/>
            </a:avLst>
          </a:prstGeom>
          <a:solidFill>
            <a:srgbClr val="E8EBFC"/>
          </a:solidFill>
          <a:ln/>
        </p:spPr>
      </p:sp>
      <p:sp>
        <p:nvSpPr>
          <p:cNvPr id="14" name="tag-1608"/>
          <p:cNvSpPr txBox="1"/>
          <p:nvPr/>
        </p:nvSpPr>
        <p:spPr>
          <a:xfrm>
            <a:off x="6370168" y="2542032"/>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SET NULL</a:t>
            </a:r>
            <a:endParaRPr lang="en-US" sz="1100" dirty="0"/>
          </a:p>
        </p:txBody>
      </p:sp>
      <p:sp>
        <p:nvSpPr>
          <p:cNvPr id="15" name="card-p-1609"/>
          <p:cNvSpPr txBox="1"/>
          <p:nvPr/>
        </p:nvSpPr>
        <p:spPr>
          <a:xfrm>
            <a:off x="6370168" y="2926080"/>
            <a:ext cx="2202104" cy="1468069"/>
          </a:xfrm>
          <a:prstGeom prst="rect">
            <a:avLst/>
          </a:prstGeom>
          <a:noFill/>
          <a:ln/>
        </p:spPr>
        <p:txBody>
          <a:bodyPr wrap="square" lIns="0" tIns="0" rIns="0" bIns="0" rtlCol="0" anchor="t"/>
          <a:lstStyle/>
          <a:p>
            <a:pPr algn="l" indent="0" marL="0">
              <a:buNone/>
            </a:pPr>
            <a:r>
              <a:rPr lang="en-US" sz="1850" dirty="0">
                <a:solidFill>
                  <a:srgbClr val="4B4F58"/>
                </a:solidFill>
              </a:rPr>
              <a:t>Las dependientes siguen existiendo con la foránea a </a:t>
            </a:r>
            <a:pPr algn="l" indent="0" marL="0">
              <a:buNone/>
            </a:pPr>
            <a:r>
              <a:rPr lang="en-US" sz="1850" dirty="0">
                <a:solidFill>
                  <a:srgbClr val="0D1A7A"/>
                </a:solidFill>
                <a:latin typeface="Courier New" pitchFamily="34" charset="0"/>
                <a:ea typeface="Courier New" pitchFamily="34" charset="-122"/>
                <a:cs typeface="Courier New" pitchFamily="34" charset="-120"/>
              </a:rPr>
              <a:t>NULL</a:t>
            </a:r>
            <a:pPr algn="l" indent="0" marL="0">
              <a:buNone/>
            </a:pPr>
            <a:r>
              <a:rPr lang="en-US" sz="1850" dirty="0">
                <a:solidFill>
                  <a:srgbClr val="4B4F58"/>
                </a:solidFill>
              </a:rPr>
              <a:t>. Solo si admite nulos.</a:t>
            </a:r>
            <a:endParaRPr lang="en-US" sz="1850" dirty="0"/>
          </a:p>
        </p:txBody>
      </p:sp>
      <p:sp>
        <p:nvSpPr>
          <p:cNvPr id="16" name="card-1610"/>
          <p:cNvSpPr/>
          <p:nvPr/>
        </p:nvSpPr>
        <p:spPr>
          <a:xfrm>
            <a:off x="8938031" y="2377440"/>
            <a:ext cx="2567864" cy="2786817"/>
          </a:xfrm>
          <a:prstGeom prst="roundRect">
            <a:avLst>
              <a:gd name="adj" fmla="val 4273"/>
            </a:avLst>
          </a:prstGeom>
          <a:solidFill>
            <a:schemeClr val="bg1"/>
          </a:solidFill>
          <a:ln w="19050">
            <a:solidFill>
              <a:srgbClr val="15171C"/>
            </a:solidFill>
            <a:prstDash val="solid"/>
          </a:ln>
        </p:spPr>
      </p:sp>
      <p:sp>
        <p:nvSpPr>
          <p:cNvPr id="17" name="tag-pill-1611"/>
          <p:cNvSpPr/>
          <p:nvPr/>
        </p:nvSpPr>
        <p:spPr>
          <a:xfrm>
            <a:off x="9120911" y="2542032"/>
            <a:ext cx="1181405" cy="256032"/>
          </a:xfrm>
          <a:prstGeom prst="roundRect">
            <a:avLst>
              <a:gd name="adj" fmla="val 50000"/>
            </a:avLst>
          </a:prstGeom>
          <a:solidFill>
            <a:srgbClr val="E8EBFC"/>
          </a:solidFill>
          <a:ln/>
        </p:spPr>
      </p:sp>
      <p:sp>
        <p:nvSpPr>
          <p:cNvPr id="18" name="tag-1612"/>
          <p:cNvSpPr txBox="1"/>
          <p:nvPr/>
        </p:nvSpPr>
        <p:spPr>
          <a:xfrm>
            <a:off x="9120911" y="2542032"/>
            <a:ext cx="1181405" cy="256032"/>
          </a:xfrm>
          <a:prstGeom prst="rect">
            <a:avLst/>
          </a:prstGeom>
          <a:noFill/>
          <a:ln/>
        </p:spPr>
        <p:txBody>
          <a:bodyPr wrap="square" lIns="0" tIns="0" rIns="0" bIns="0" rtlCol="0" anchor="ctr"/>
          <a:lstStyle/>
          <a:p>
            <a:pPr algn="ctr" indent="0" marL="0">
              <a:buNone/>
            </a:pPr>
            <a:r>
              <a:rPr lang="en-US" sz="1100" b="1" dirty="0">
                <a:solidFill>
                  <a:srgbClr val="0D1A7A"/>
                </a:solidFill>
              </a:rPr>
              <a:t>SET DEFAULT</a:t>
            </a:r>
            <a:endParaRPr lang="en-US" sz="1100" dirty="0"/>
          </a:p>
        </p:txBody>
      </p:sp>
      <p:sp>
        <p:nvSpPr>
          <p:cNvPr id="19" name="card-p-1613"/>
          <p:cNvSpPr txBox="1"/>
          <p:nvPr/>
        </p:nvSpPr>
        <p:spPr>
          <a:xfrm>
            <a:off x="9120911" y="2926080"/>
            <a:ext cx="2202104" cy="1468069"/>
          </a:xfrm>
          <a:prstGeom prst="rect">
            <a:avLst/>
          </a:prstGeom>
          <a:noFill/>
          <a:ln/>
        </p:spPr>
        <p:txBody>
          <a:bodyPr wrap="square" lIns="0" tIns="0" rIns="0" bIns="0" rtlCol="0" anchor="t"/>
          <a:lstStyle/>
          <a:p>
            <a:pPr algn="l" indent="0" marL="0">
              <a:buNone/>
            </a:pPr>
            <a:r>
              <a:rPr lang="en-US" sz="1850" dirty="0">
                <a:solidFill>
                  <a:srgbClr val="4B4F58"/>
                </a:solidFill>
              </a:rPr>
              <a:t>Las dependientes pasan a un valor por defecto (que debe existir en la principal).</a:t>
            </a:r>
            <a:endParaRPr lang="en-US" sz="1850" dirty="0"/>
          </a:p>
        </p:txBody>
      </p:sp>
      <p:sp>
        <p:nvSpPr>
          <p:cNvPr id="20" name="note-1614"/>
          <p:cNvSpPr txBox="1"/>
          <p:nvPr/>
        </p:nvSpPr>
        <p:spPr>
          <a:xfrm>
            <a:off x="685800" y="5347137"/>
            <a:ext cx="10820095" cy="715061"/>
          </a:xfrm>
          <a:prstGeom prst="rect">
            <a:avLst/>
          </a:prstGeom>
          <a:noFill/>
          <a:ln/>
        </p:spPr>
        <p:txBody>
          <a:bodyPr wrap="square" lIns="0" tIns="0" rIns="0" bIns="0" rtlCol="0" anchor="t"/>
          <a:lstStyle/>
          <a:p>
            <a:pPr algn="l" indent="0" marL="0">
              <a:buNone/>
            </a:pPr>
            <a:r>
              <a:rPr lang="en-US" sz="2150" dirty="0">
                <a:solidFill>
                  <a:srgbClr val="4B4F58"/>
                </a:solidFill>
              </a:rPr>
              <a:t>Regla práctica: lo débil depende de lo fuerte, así que un hijo de empleado usa </a:t>
            </a:r>
            <a:pPr algn="l" indent="0" marL="0">
              <a:buNone/>
            </a:pPr>
            <a:r>
              <a:rPr lang="en-US" sz="2150" dirty="0">
                <a:solidFill>
                  <a:srgbClr val="0D1A7A"/>
                </a:solidFill>
                <a:latin typeface="Courier New" pitchFamily="34" charset="0"/>
                <a:ea typeface="Courier New" pitchFamily="34" charset="-122"/>
                <a:cs typeface="Courier New" pitchFamily="34" charset="-120"/>
              </a:rPr>
              <a:t>CASCADE</a:t>
            </a:r>
            <a:pPr algn="l" indent="0" marL="0">
              <a:buNone/>
            </a:pPr>
            <a:r>
              <a:rPr lang="en-US" sz="2150" dirty="0">
                <a:solidFill>
                  <a:srgbClr val="4B4F58"/>
                </a:solidFill>
              </a:rPr>
              <a:t>; un alquiler no debería desaparecer con su cliente.</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¿Qué acepta el SGBD?</a:t>
            </a:r>
            <a:endParaRPr lang="en-US" sz="4000" dirty="0"/>
          </a:p>
        </p:txBody>
      </p:sp>
      <p:sp>
        <p:nvSpPr>
          <p:cNvPr id="4" name="badge-1615"/>
          <p:cNvSpPr/>
          <p:nvPr/>
        </p:nvSpPr>
        <p:spPr>
          <a:xfrm>
            <a:off x="685800" y="292608"/>
            <a:ext cx="475488" cy="475488"/>
          </a:xfrm>
          <a:prstGeom prst="ellipse">
            <a:avLst/>
          </a:prstGeom>
          <a:solidFill>
            <a:srgbClr val="FF5A2E"/>
          </a:solidFill>
          <a:ln/>
        </p:spPr>
      </p:sp>
      <p:sp>
        <p:nvSpPr>
          <p:cNvPr id="5" name="badge-glyph-1616"/>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1697" descr="Diagrama / tabla de la diapositiva">    </p:cNvPr>
          <p:cNvPicPr>
            <a:picLocks noChangeAspect="1"/>
          </p:cNvPicPr>
          <p:nvPr/>
        </p:nvPicPr>
        <p:blipFill>
          <a:blip r:embed="rId1"/>
          <a:stretch>
            <a:fillRect/>
          </a:stretch>
        </p:blipFill>
        <p:spPr>
          <a:xfrm>
            <a:off x="685800" y="1965960"/>
            <a:ext cx="7427550" cy="1781985"/>
          </a:xfrm>
          <a:prstGeom prst="rect">
            <a:avLst/>
          </a:prstGeom>
        </p:spPr>
      </p:pic>
      <p:sp>
        <p:nvSpPr>
          <p:cNvPr id="7" name="note-1698"/>
          <p:cNvSpPr txBox="1"/>
          <p:nvPr/>
        </p:nvSpPr>
        <p:spPr>
          <a:xfrm>
            <a:off x="685800" y="3930825"/>
            <a:ext cx="10820095" cy="309118"/>
          </a:xfrm>
          <a:prstGeom prst="rect">
            <a:avLst/>
          </a:prstGeom>
          <a:noFill/>
          <a:ln/>
        </p:spPr>
        <p:txBody>
          <a:bodyPr wrap="square" lIns="0" tIns="0" rIns="0" bIns="0" rtlCol="0" anchor="t"/>
          <a:lstStyle/>
          <a:p>
            <a:pPr algn="l" indent="0" marL="0">
              <a:buNone/>
            </a:pPr>
            <a:r>
              <a:rPr lang="en-US" sz="1700" dirty="0">
                <a:solidFill>
                  <a:srgbClr val="0D1A7A"/>
                </a:solidFill>
                <a:latin typeface="Courier New" pitchFamily="34" charset="0"/>
                <a:ea typeface="Courier New" pitchFamily="34" charset="-122"/>
                <a:cs typeface="Courier New" pitchFamily="34" charset="-120"/>
              </a:rPr>
              <a:t>ALQUILER.cod_cliente</a:t>
            </a:r>
            <a:pPr algn="l" indent="0" marL="0">
              <a:buNone/>
            </a:pPr>
            <a:r>
              <a:rPr lang="en-US" sz="1700" dirty="0">
                <a:solidFill>
                  <a:srgbClr val="4B4F58"/>
                </a:solidFill>
              </a:rPr>
              <a:t> es foránea hacia </a:t>
            </a:r>
            <a:pPr algn="l" indent="0" marL="0">
              <a:buNone/>
            </a:pPr>
            <a:r>
              <a:rPr lang="en-US" sz="1700" dirty="0">
                <a:solidFill>
                  <a:srgbClr val="0D1A7A"/>
                </a:solidFill>
                <a:latin typeface="Courier New" pitchFamily="34" charset="0"/>
                <a:ea typeface="Courier New" pitchFamily="34" charset="-122"/>
                <a:cs typeface="Courier New" pitchFamily="34" charset="-120"/>
              </a:rPr>
              <a:t>CLIENTE</a:t>
            </a:r>
            <a:pPr algn="l" indent="0" marL="0">
              <a:buNone/>
            </a:pPr>
            <a:r>
              <a:rPr lang="en-US" sz="1700" dirty="0">
                <a:solidFill>
                  <a:srgbClr val="4B4F58"/>
                </a:solidFill>
              </a:rPr>
              <a:t> con </a:t>
            </a:r>
            <a:pPr algn="l" indent="0" marL="0">
              <a:buNone/>
            </a:pPr>
            <a:r>
              <a:rPr lang="en-US" sz="1700" dirty="0">
                <a:solidFill>
                  <a:srgbClr val="0D1A7A"/>
                </a:solidFill>
                <a:latin typeface="Courier New" pitchFamily="34" charset="0"/>
                <a:ea typeface="Courier New" pitchFamily="34" charset="-122"/>
                <a:cs typeface="Courier New" pitchFamily="34" charset="-120"/>
              </a:rPr>
              <a:t>NO ACTION</a:t>
            </a:r>
            <a:pPr algn="l" indent="0" marL="0">
              <a:buNone/>
            </a:pPr>
            <a:r>
              <a:rPr lang="en-US" sz="1700" dirty="0">
                <a:solidFill>
                  <a:srgbClr val="4B4F58"/>
                </a:solidFill>
              </a:rPr>
              <a:t> y admite nulos.</a:t>
            </a:r>
            <a:endParaRPr lang="en-US" sz="1700" dirty="0"/>
          </a:p>
        </p:txBody>
      </p:sp>
      <p:sp>
        <p:nvSpPr>
          <p:cNvPr id="8" name="marker-1699"/>
          <p:cNvSpPr txBox="1"/>
          <p:nvPr/>
        </p:nvSpPr>
        <p:spPr>
          <a:xfrm>
            <a:off x="685800" y="4377103"/>
            <a:ext cx="365760" cy="344602"/>
          </a:xfrm>
          <a:prstGeom prst="rect">
            <a:avLst/>
          </a:prstGeom>
          <a:noFill/>
          <a:ln/>
        </p:spPr>
        <p:txBody>
          <a:bodyPr wrap="square" lIns="0" tIns="0" rIns="0" bIns="0" rtlCol="0" anchor="t"/>
          <a:lstStyle/>
          <a:p>
            <a:pPr indent="0" marL="0">
              <a:buNone/>
            </a:pPr>
            <a:r>
              <a:rPr lang="en-US" sz="1870" b="1" dirty="0">
                <a:solidFill>
                  <a:srgbClr val="1B39E6"/>
                </a:solidFill>
              </a:rPr>
              <a:t>1.</a:t>
            </a:r>
            <a:endParaRPr lang="en-US" sz="1870" dirty="0"/>
          </a:p>
        </p:txBody>
      </p:sp>
      <p:sp>
        <p:nvSpPr>
          <p:cNvPr id="9" name="item-1700"/>
          <p:cNvSpPr txBox="1"/>
          <p:nvPr/>
        </p:nvSpPr>
        <p:spPr>
          <a:xfrm>
            <a:off x="1097280" y="4377103"/>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Borrar el cliente 2.</a:t>
            </a:r>
            <a:endParaRPr lang="en-US" sz="1850" dirty="0"/>
          </a:p>
        </p:txBody>
      </p:sp>
      <p:sp>
        <p:nvSpPr>
          <p:cNvPr id="10" name="marker-1701"/>
          <p:cNvSpPr txBox="1"/>
          <p:nvPr/>
        </p:nvSpPr>
        <p:spPr>
          <a:xfrm>
            <a:off x="685800" y="4813144"/>
            <a:ext cx="365760" cy="344602"/>
          </a:xfrm>
          <a:prstGeom prst="rect">
            <a:avLst/>
          </a:prstGeom>
          <a:noFill/>
          <a:ln/>
        </p:spPr>
        <p:txBody>
          <a:bodyPr wrap="square" lIns="0" tIns="0" rIns="0" bIns="0" rtlCol="0" anchor="t"/>
          <a:lstStyle/>
          <a:p>
            <a:pPr indent="0" marL="0">
              <a:buNone/>
            </a:pPr>
            <a:r>
              <a:rPr lang="en-US" sz="1870" b="1" dirty="0">
                <a:solidFill>
                  <a:srgbClr val="1B39E6"/>
                </a:solidFill>
              </a:rPr>
              <a:t>2.</a:t>
            </a:r>
            <a:endParaRPr lang="en-US" sz="1870" dirty="0"/>
          </a:p>
        </p:txBody>
      </p:sp>
      <p:sp>
        <p:nvSpPr>
          <p:cNvPr id="11" name="item-1702"/>
          <p:cNvSpPr txBox="1"/>
          <p:nvPr/>
        </p:nvSpPr>
        <p:spPr>
          <a:xfrm>
            <a:off x="1097280" y="4813144"/>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Insertar el alquiler 4 del cliente 7.</a:t>
            </a:r>
            <a:endParaRPr lang="en-US" sz="1850" dirty="0"/>
          </a:p>
        </p:txBody>
      </p:sp>
      <p:sp>
        <p:nvSpPr>
          <p:cNvPr id="12" name="marker-1703"/>
          <p:cNvSpPr txBox="1"/>
          <p:nvPr/>
        </p:nvSpPr>
        <p:spPr>
          <a:xfrm>
            <a:off x="685800" y="5249186"/>
            <a:ext cx="365760" cy="344602"/>
          </a:xfrm>
          <a:prstGeom prst="rect">
            <a:avLst/>
          </a:prstGeom>
          <a:noFill/>
          <a:ln/>
        </p:spPr>
        <p:txBody>
          <a:bodyPr wrap="square" lIns="0" tIns="0" rIns="0" bIns="0" rtlCol="0" anchor="t"/>
          <a:lstStyle/>
          <a:p>
            <a:pPr indent="0" marL="0">
              <a:buNone/>
            </a:pPr>
            <a:r>
              <a:rPr lang="en-US" sz="1870" b="1" dirty="0">
                <a:solidFill>
                  <a:srgbClr val="1B39E6"/>
                </a:solidFill>
              </a:rPr>
              <a:t>3.</a:t>
            </a:r>
            <a:endParaRPr lang="en-US" sz="1870" dirty="0"/>
          </a:p>
        </p:txBody>
      </p:sp>
      <p:sp>
        <p:nvSpPr>
          <p:cNvPr id="13" name="item-1704"/>
          <p:cNvSpPr txBox="1"/>
          <p:nvPr/>
        </p:nvSpPr>
        <p:spPr>
          <a:xfrm>
            <a:off x="1097280" y="5249186"/>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Insertar el alquiler 4 con </a:t>
            </a:r>
            <a:pPr algn="l" indent="0" marL="0">
              <a:buNone/>
            </a:pPr>
            <a:r>
              <a:rPr lang="en-US" sz="1850" b="1" dirty="0">
                <a:solidFill>
                  <a:srgbClr val="0D1A7A"/>
                </a:solidFill>
                <a:latin typeface="Courier New" pitchFamily="34" charset="0"/>
                <a:ea typeface="Courier New" pitchFamily="34" charset="-122"/>
                <a:cs typeface="Courier New" pitchFamily="34" charset="-120"/>
              </a:rPr>
              <a:t>cod_cliente</a:t>
            </a:r>
            <a:pPr algn="l" indent="0" marL="0">
              <a:buNone/>
            </a:pPr>
            <a:r>
              <a:rPr lang="en-US" sz="1850" b="1" dirty="0">
                <a:solidFill>
                  <a:srgbClr val="15171C"/>
                </a:solidFill>
              </a:rPr>
              <a:t> nulo.</a:t>
            </a:r>
            <a:endParaRPr lang="en-US" sz="1850" dirty="0"/>
          </a:p>
        </p:txBody>
      </p:sp>
      <p:sp>
        <p:nvSpPr>
          <p:cNvPr id="14" name="marker-1705"/>
          <p:cNvSpPr txBox="1"/>
          <p:nvPr/>
        </p:nvSpPr>
        <p:spPr>
          <a:xfrm>
            <a:off x="685800" y="5685228"/>
            <a:ext cx="365760" cy="344602"/>
          </a:xfrm>
          <a:prstGeom prst="rect">
            <a:avLst/>
          </a:prstGeom>
          <a:noFill/>
          <a:ln/>
        </p:spPr>
        <p:txBody>
          <a:bodyPr wrap="square" lIns="0" tIns="0" rIns="0" bIns="0" rtlCol="0" anchor="t"/>
          <a:lstStyle/>
          <a:p>
            <a:pPr indent="0" marL="0">
              <a:buNone/>
            </a:pPr>
            <a:r>
              <a:rPr lang="en-US" sz="1870" b="1" dirty="0">
                <a:solidFill>
                  <a:srgbClr val="1B39E6"/>
                </a:solidFill>
              </a:rPr>
              <a:t>4.</a:t>
            </a:r>
            <a:endParaRPr lang="en-US" sz="1870" dirty="0"/>
          </a:p>
        </p:txBody>
      </p:sp>
      <p:sp>
        <p:nvSpPr>
          <p:cNvPr id="15" name="item-1706"/>
          <p:cNvSpPr txBox="1"/>
          <p:nvPr/>
        </p:nvSpPr>
        <p:spPr>
          <a:xfrm>
            <a:off x="1097280" y="5685228"/>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Cambiar el código del cliente 1 a 10.</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3400" b="1" dirty="0">
                <a:solidFill>
                  <a:schemeClr val="tx1"/>
                </a:solidFill>
              </a:rPr>
              <a:t>Rechazada, rechazada, aceptada, rechazada</a:t>
            </a:r>
            <a:endParaRPr lang="en-US" sz="4000" dirty="0"/>
          </a:p>
        </p:txBody>
      </p:sp>
      <p:sp>
        <p:nvSpPr>
          <p:cNvPr id="4" name="badge-1707"/>
          <p:cNvSpPr/>
          <p:nvPr/>
        </p:nvSpPr>
        <p:spPr>
          <a:xfrm>
            <a:off x="685800" y="292608"/>
            <a:ext cx="475488" cy="475488"/>
          </a:xfrm>
          <a:prstGeom prst="ellipse">
            <a:avLst/>
          </a:prstGeom>
          <a:solidFill>
            <a:srgbClr val="3F9468"/>
          </a:solidFill>
          <a:ln/>
        </p:spPr>
      </p:sp>
      <p:sp>
        <p:nvSpPr>
          <p:cNvPr id="5" name="badge-glyph-1708"/>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card-1760"/>
          <p:cNvSpPr/>
          <p:nvPr/>
        </p:nvSpPr>
        <p:spPr>
          <a:xfrm>
            <a:off x="685800" y="1965960"/>
            <a:ext cx="2567864" cy="2771013"/>
          </a:xfrm>
          <a:prstGeom prst="roundRect">
            <a:avLst>
              <a:gd name="adj" fmla="val 4273"/>
            </a:avLst>
          </a:prstGeom>
          <a:solidFill>
            <a:schemeClr val="bg1"/>
          </a:solidFill>
          <a:ln w="19050">
            <a:solidFill>
              <a:srgbClr val="FF5A2E"/>
            </a:solidFill>
            <a:prstDash val="solid"/>
          </a:ln>
        </p:spPr>
      </p:sp>
      <p:sp>
        <p:nvSpPr>
          <p:cNvPr id="7" name="tag-pill-1761"/>
          <p:cNvSpPr/>
          <p:nvPr/>
        </p:nvSpPr>
        <p:spPr>
          <a:xfrm>
            <a:off x="868680" y="2130552"/>
            <a:ext cx="1349654" cy="256032"/>
          </a:xfrm>
          <a:prstGeom prst="roundRect">
            <a:avLst>
              <a:gd name="adj" fmla="val 50000"/>
            </a:avLst>
          </a:prstGeom>
          <a:solidFill>
            <a:srgbClr val="FFE3DA"/>
          </a:solidFill>
          <a:ln/>
        </p:spPr>
      </p:sp>
      <p:sp>
        <p:nvSpPr>
          <p:cNvPr id="8" name="tag-1762"/>
          <p:cNvSpPr txBox="1"/>
          <p:nvPr/>
        </p:nvSpPr>
        <p:spPr>
          <a:xfrm>
            <a:off x="868680" y="2130552"/>
            <a:ext cx="1349654" cy="256032"/>
          </a:xfrm>
          <a:prstGeom prst="rect">
            <a:avLst/>
          </a:prstGeom>
          <a:noFill/>
          <a:ln/>
        </p:spPr>
        <p:txBody>
          <a:bodyPr wrap="square" lIns="0" tIns="0" rIns="0" bIns="0" rtlCol="0" anchor="ctr"/>
          <a:lstStyle/>
          <a:p>
            <a:pPr algn="ctr" indent="0" marL="0">
              <a:buNone/>
            </a:pPr>
            <a:r>
              <a:rPr lang="en-US" sz="1100" b="1" dirty="0">
                <a:solidFill>
                  <a:srgbClr val="FF5A2E"/>
                </a:solidFill>
              </a:rPr>
              <a:t>1 · RECHAZADA</a:t>
            </a:r>
            <a:endParaRPr lang="en-US" sz="1100" dirty="0"/>
          </a:p>
        </p:txBody>
      </p:sp>
      <p:sp>
        <p:nvSpPr>
          <p:cNvPr id="9" name="card-p-1763"/>
          <p:cNvSpPr txBox="1"/>
          <p:nvPr/>
        </p:nvSpPr>
        <p:spPr>
          <a:xfrm>
            <a:off x="868680" y="2514600"/>
            <a:ext cx="2202104" cy="2021205"/>
          </a:xfrm>
          <a:prstGeom prst="rect">
            <a:avLst/>
          </a:prstGeom>
          <a:noFill/>
          <a:ln/>
        </p:spPr>
        <p:txBody>
          <a:bodyPr wrap="square" lIns="0" tIns="0" rIns="0" bIns="0" rtlCol="0" anchor="t"/>
          <a:lstStyle/>
          <a:p>
            <a:pPr algn="l" indent="0" marL="0">
              <a:buNone/>
            </a:pPr>
            <a:r>
              <a:rPr lang="en-US" sz="2150" dirty="0">
                <a:solidFill>
                  <a:srgbClr val="4B4F58"/>
                </a:solidFill>
              </a:rPr>
              <a:t>El cliente 2 tiene el alquiler 3: con </a:t>
            </a:r>
            <a:pPr algn="l" indent="0" marL="0">
              <a:buNone/>
            </a:pPr>
            <a:r>
              <a:rPr lang="en-US" sz="2150" dirty="0">
                <a:solidFill>
                  <a:srgbClr val="0D1A7A"/>
                </a:solidFill>
                <a:latin typeface="Courier New" pitchFamily="34" charset="0"/>
                <a:ea typeface="Courier New" pitchFamily="34" charset="-122"/>
                <a:cs typeface="Courier New" pitchFamily="34" charset="-120"/>
              </a:rPr>
              <a:t>NO ACTION</a:t>
            </a:r>
            <a:pPr algn="l" indent="0" marL="0">
              <a:buNone/>
            </a:pPr>
            <a:r>
              <a:rPr lang="en-US" sz="2150" dirty="0">
                <a:solidFill>
                  <a:srgbClr val="4B4F58"/>
                </a:solidFill>
              </a:rPr>
              <a:t> no se borra una primaria referenciada.</a:t>
            </a:r>
            <a:endParaRPr lang="en-US" sz="2150" dirty="0"/>
          </a:p>
        </p:txBody>
      </p:sp>
      <p:sp>
        <p:nvSpPr>
          <p:cNvPr id="10" name="card-1764"/>
          <p:cNvSpPr/>
          <p:nvPr/>
        </p:nvSpPr>
        <p:spPr>
          <a:xfrm>
            <a:off x="3436544" y="1965960"/>
            <a:ext cx="2567864" cy="2771013"/>
          </a:xfrm>
          <a:prstGeom prst="roundRect">
            <a:avLst>
              <a:gd name="adj" fmla="val 4273"/>
            </a:avLst>
          </a:prstGeom>
          <a:solidFill>
            <a:schemeClr val="bg1"/>
          </a:solidFill>
          <a:ln w="19050">
            <a:solidFill>
              <a:srgbClr val="FF5A2E"/>
            </a:solidFill>
            <a:prstDash val="solid"/>
          </a:ln>
        </p:spPr>
      </p:sp>
      <p:sp>
        <p:nvSpPr>
          <p:cNvPr id="11" name="tag-pill-1765"/>
          <p:cNvSpPr/>
          <p:nvPr/>
        </p:nvSpPr>
        <p:spPr>
          <a:xfrm>
            <a:off x="3619424" y="2130552"/>
            <a:ext cx="1349654" cy="256032"/>
          </a:xfrm>
          <a:prstGeom prst="roundRect">
            <a:avLst>
              <a:gd name="adj" fmla="val 50000"/>
            </a:avLst>
          </a:prstGeom>
          <a:solidFill>
            <a:srgbClr val="FFE3DA"/>
          </a:solidFill>
          <a:ln/>
        </p:spPr>
      </p:sp>
      <p:sp>
        <p:nvSpPr>
          <p:cNvPr id="12" name="tag-1766"/>
          <p:cNvSpPr txBox="1"/>
          <p:nvPr/>
        </p:nvSpPr>
        <p:spPr>
          <a:xfrm>
            <a:off x="3619424" y="2130552"/>
            <a:ext cx="1349654" cy="256032"/>
          </a:xfrm>
          <a:prstGeom prst="rect">
            <a:avLst/>
          </a:prstGeom>
          <a:noFill/>
          <a:ln/>
        </p:spPr>
        <p:txBody>
          <a:bodyPr wrap="square" lIns="0" tIns="0" rIns="0" bIns="0" rtlCol="0" anchor="ctr"/>
          <a:lstStyle/>
          <a:p>
            <a:pPr algn="ctr" indent="0" marL="0">
              <a:buNone/>
            </a:pPr>
            <a:r>
              <a:rPr lang="en-US" sz="1100" b="1" dirty="0">
                <a:solidFill>
                  <a:srgbClr val="FF5A2E"/>
                </a:solidFill>
              </a:rPr>
              <a:t>2 · RECHAZADA</a:t>
            </a:r>
            <a:endParaRPr lang="en-US" sz="1100" dirty="0"/>
          </a:p>
        </p:txBody>
      </p:sp>
      <p:sp>
        <p:nvSpPr>
          <p:cNvPr id="13" name="card-p-1767"/>
          <p:cNvSpPr txBox="1"/>
          <p:nvPr/>
        </p:nvSpPr>
        <p:spPr>
          <a:xfrm>
            <a:off x="3619424" y="2514600"/>
            <a:ext cx="2202104" cy="1691958"/>
          </a:xfrm>
          <a:prstGeom prst="rect">
            <a:avLst/>
          </a:prstGeom>
          <a:noFill/>
          <a:ln/>
        </p:spPr>
        <p:txBody>
          <a:bodyPr wrap="square" lIns="0" tIns="0" rIns="0" bIns="0" rtlCol="0" anchor="t"/>
          <a:lstStyle/>
          <a:p>
            <a:pPr algn="l" indent="0" marL="0">
              <a:buNone/>
            </a:pPr>
            <a:r>
              <a:rPr lang="en-US" sz="2150" dirty="0">
                <a:solidFill>
                  <a:srgbClr val="4B4F58"/>
                </a:solidFill>
              </a:rPr>
              <a:t>El cliente 7 no existe: una foránea solo admite valores que existan.</a:t>
            </a:r>
            <a:endParaRPr lang="en-US" sz="2150" dirty="0"/>
          </a:p>
        </p:txBody>
      </p:sp>
      <p:sp>
        <p:nvSpPr>
          <p:cNvPr id="14" name="card-1768"/>
          <p:cNvSpPr/>
          <p:nvPr/>
        </p:nvSpPr>
        <p:spPr>
          <a:xfrm>
            <a:off x="6187288" y="1965960"/>
            <a:ext cx="2567864" cy="2771013"/>
          </a:xfrm>
          <a:prstGeom prst="roundRect">
            <a:avLst>
              <a:gd name="adj" fmla="val 4273"/>
            </a:avLst>
          </a:prstGeom>
          <a:solidFill>
            <a:schemeClr val="bg1"/>
          </a:solidFill>
          <a:ln w="19050">
            <a:solidFill>
              <a:srgbClr val="3F9468"/>
            </a:solidFill>
            <a:prstDash val="solid"/>
          </a:ln>
        </p:spPr>
      </p:sp>
      <p:sp>
        <p:nvSpPr>
          <p:cNvPr id="15" name="tag-pill-1769"/>
          <p:cNvSpPr/>
          <p:nvPr/>
        </p:nvSpPr>
        <p:spPr>
          <a:xfrm>
            <a:off x="6370168" y="2130552"/>
            <a:ext cx="1265530" cy="256032"/>
          </a:xfrm>
          <a:prstGeom prst="roundRect">
            <a:avLst>
              <a:gd name="adj" fmla="val 50000"/>
            </a:avLst>
          </a:prstGeom>
          <a:solidFill>
            <a:srgbClr val="DDF1E6"/>
          </a:solidFill>
          <a:ln/>
        </p:spPr>
      </p:sp>
      <p:sp>
        <p:nvSpPr>
          <p:cNvPr id="16" name="tag-1770"/>
          <p:cNvSpPr txBox="1"/>
          <p:nvPr/>
        </p:nvSpPr>
        <p:spPr>
          <a:xfrm>
            <a:off x="6370168" y="2130552"/>
            <a:ext cx="1265530" cy="256032"/>
          </a:xfrm>
          <a:prstGeom prst="rect">
            <a:avLst/>
          </a:prstGeom>
          <a:noFill/>
          <a:ln/>
        </p:spPr>
        <p:txBody>
          <a:bodyPr wrap="square" lIns="0" tIns="0" rIns="0" bIns="0" rtlCol="0" anchor="ctr"/>
          <a:lstStyle/>
          <a:p>
            <a:pPr algn="ctr" indent="0" marL="0">
              <a:buNone/>
            </a:pPr>
            <a:r>
              <a:rPr lang="en-US" sz="1100" b="1" dirty="0">
                <a:solidFill>
                  <a:srgbClr val="3F9468"/>
                </a:solidFill>
              </a:rPr>
              <a:t>3 · ACEPTADA</a:t>
            </a:r>
            <a:endParaRPr lang="en-US" sz="1100" dirty="0"/>
          </a:p>
        </p:txBody>
      </p:sp>
      <p:sp>
        <p:nvSpPr>
          <p:cNvPr id="17" name="card-p-1771"/>
          <p:cNvSpPr txBox="1"/>
          <p:nvPr/>
        </p:nvSpPr>
        <p:spPr>
          <a:xfrm>
            <a:off x="6370168" y="2514600"/>
            <a:ext cx="2202104" cy="1691958"/>
          </a:xfrm>
          <a:prstGeom prst="rect">
            <a:avLst/>
          </a:prstGeom>
          <a:noFill/>
          <a:ln/>
        </p:spPr>
        <p:txBody>
          <a:bodyPr wrap="square" lIns="0" tIns="0" rIns="0" bIns="0" rtlCol="0" anchor="t"/>
          <a:lstStyle/>
          <a:p>
            <a:pPr algn="l" indent="0" marL="0">
              <a:buNone/>
            </a:pPr>
            <a:r>
              <a:rPr lang="en-US" sz="2150" dirty="0">
                <a:solidFill>
                  <a:srgbClr val="4B4F58"/>
                </a:solidFill>
              </a:rPr>
              <a:t>Una foránea puede ser nula (alquiler aún sin cliente), salvo </a:t>
            </a:r>
            <a:pPr algn="l" indent="0" marL="0">
              <a:buNone/>
            </a:pPr>
            <a:r>
              <a:rPr lang="en-US" sz="2150" dirty="0">
                <a:solidFill>
                  <a:srgbClr val="0D1A7A"/>
                </a:solidFill>
                <a:latin typeface="Courier New" pitchFamily="34" charset="0"/>
                <a:ea typeface="Courier New" pitchFamily="34" charset="-122"/>
                <a:cs typeface="Courier New" pitchFamily="34" charset="-120"/>
              </a:rPr>
              <a:t>NOT NULL</a:t>
            </a:r>
            <a:pPr algn="l" indent="0" marL="0">
              <a:buNone/>
            </a:pPr>
            <a:r>
              <a:rPr lang="en-US" sz="2150" dirty="0">
                <a:solidFill>
                  <a:srgbClr val="4B4F58"/>
                </a:solidFill>
              </a:rPr>
              <a:t>.</a:t>
            </a:r>
            <a:endParaRPr lang="en-US" sz="2150" dirty="0"/>
          </a:p>
        </p:txBody>
      </p:sp>
      <p:sp>
        <p:nvSpPr>
          <p:cNvPr id="18" name="card-1772"/>
          <p:cNvSpPr/>
          <p:nvPr/>
        </p:nvSpPr>
        <p:spPr>
          <a:xfrm>
            <a:off x="8938031" y="1965960"/>
            <a:ext cx="2567864" cy="2771013"/>
          </a:xfrm>
          <a:prstGeom prst="roundRect">
            <a:avLst>
              <a:gd name="adj" fmla="val 4273"/>
            </a:avLst>
          </a:prstGeom>
          <a:solidFill>
            <a:schemeClr val="bg1"/>
          </a:solidFill>
          <a:ln w="19050">
            <a:solidFill>
              <a:srgbClr val="FF5A2E"/>
            </a:solidFill>
            <a:prstDash val="solid"/>
          </a:ln>
        </p:spPr>
      </p:sp>
      <p:sp>
        <p:nvSpPr>
          <p:cNvPr id="19" name="tag-pill-1773"/>
          <p:cNvSpPr/>
          <p:nvPr/>
        </p:nvSpPr>
        <p:spPr>
          <a:xfrm>
            <a:off x="9120911" y="2130552"/>
            <a:ext cx="1349654" cy="256032"/>
          </a:xfrm>
          <a:prstGeom prst="roundRect">
            <a:avLst>
              <a:gd name="adj" fmla="val 50000"/>
            </a:avLst>
          </a:prstGeom>
          <a:solidFill>
            <a:srgbClr val="FFE3DA"/>
          </a:solidFill>
          <a:ln/>
        </p:spPr>
      </p:sp>
      <p:sp>
        <p:nvSpPr>
          <p:cNvPr id="20" name="tag-1774"/>
          <p:cNvSpPr txBox="1"/>
          <p:nvPr/>
        </p:nvSpPr>
        <p:spPr>
          <a:xfrm>
            <a:off x="9120911" y="2130552"/>
            <a:ext cx="1349654" cy="256032"/>
          </a:xfrm>
          <a:prstGeom prst="rect">
            <a:avLst/>
          </a:prstGeom>
          <a:noFill/>
          <a:ln/>
        </p:spPr>
        <p:txBody>
          <a:bodyPr wrap="square" lIns="0" tIns="0" rIns="0" bIns="0" rtlCol="0" anchor="ctr"/>
          <a:lstStyle/>
          <a:p>
            <a:pPr algn="ctr" indent="0" marL="0">
              <a:buNone/>
            </a:pPr>
            <a:r>
              <a:rPr lang="en-US" sz="1100" b="1" dirty="0">
                <a:solidFill>
                  <a:srgbClr val="FF5A2E"/>
                </a:solidFill>
              </a:rPr>
              <a:t>4 · RECHAZADA</a:t>
            </a:r>
            <a:endParaRPr lang="en-US" sz="1100" dirty="0"/>
          </a:p>
        </p:txBody>
      </p:sp>
      <p:sp>
        <p:nvSpPr>
          <p:cNvPr id="21" name="card-p-1775"/>
          <p:cNvSpPr txBox="1"/>
          <p:nvPr/>
        </p:nvSpPr>
        <p:spPr>
          <a:xfrm>
            <a:off x="9120911" y="2514600"/>
            <a:ext cx="2202104" cy="1691958"/>
          </a:xfrm>
          <a:prstGeom prst="rect">
            <a:avLst/>
          </a:prstGeom>
          <a:noFill/>
          <a:ln/>
        </p:spPr>
        <p:txBody>
          <a:bodyPr wrap="square" lIns="0" tIns="0" rIns="0" bIns="0" rtlCol="0" anchor="t"/>
          <a:lstStyle/>
          <a:p>
            <a:pPr algn="l" indent="0" marL="0">
              <a:buNone/>
            </a:pPr>
            <a:r>
              <a:rPr lang="en-US" sz="2150" dirty="0">
                <a:solidFill>
                  <a:srgbClr val="4B4F58"/>
                </a:solidFill>
              </a:rPr>
              <a:t>Los alquileres 1 y 2 quedarían apuntando a un cliente inexistente.</a:t>
            </a:r>
            <a:endParaRPr lang="en-US" sz="2150" dirty="0"/>
          </a:p>
        </p:txBody>
      </p:sp>
      <p:sp>
        <p:nvSpPr>
          <p:cNvPr id="22" name="note-1776"/>
          <p:cNvSpPr txBox="1"/>
          <p:nvPr/>
        </p:nvSpPr>
        <p:spPr>
          <a:xfrm>
            <a:off x="685800" y="4919853"/>
            <a:ext cx="10820095" cy="820420"/>
          </a:xfrm>
          <a:prstGeom prst="rect">
            <a:avLst/>
          </a:prstGeom>
          <a:noFill/>
          <a:ln/>
        </p:spPr>
        <p:txBody>
          <a:bodyPr wrap="square" lIns="0" tIns="0" rIns="0" bIns="0" rtlCol="0" anchor="t"/>
          <a:lstStyle/>
          <a:p>
            <a:pPr algn="l" indent="0" marL="0">
              <a:buNone/>
            </a:pPr>
            <a:r>
              <a:rPr lang="en-US" sz="2500" dirty="0">
                <a:solidFill>
                  <a:srgbClr val="4B4F58"/>
                </a:solidFill>
              </a:rPr>
              <a:t>Con </a:t>
            </a:r>
            <a:pPr algn="l" indent="0" marL="0">
              <a:buNone/>
            </a:pPr>
            <a:r>
              <a:rPr lang="en-US" sz="2500" dirty="0">
                <a:solidFill>
                  <a:srgbClr val="0D1A7A"/>
                </a:solidFill>
                <a:latin typeface="Courier New" pitchFamily="34" charset="0"/>
                <a:ea typeface="Courier New" pitchFamily="34" charset="-122"/>
                <a:cs typeface="Courier New" pitchFamily="34" charset="-120"/>
              </a:rPr>
              <a:t>CASCADE</a:t>
            </a:r>
            <a:pPr algn="l" indent="0" marL="0">
              <a:buNone/>
            </a:pPr>
            <a:r>
              <a:rPr lang="en-US" sz="2500" dirty="0">
                <a:solidFill>
                  <a:srgbClr val="4B4F58"/>
                </a:solidFill>
              </a:rPr>
              <a:t>, borrar al cliente 1 borraría los alquileres 1 y 2; con </a:t>
            </a:r>
            <a:pPr algn="l" indent="0" marL="0">
              <a:buNone/>
            </a:pPr>
            <a:r>
              <a:rPr lang="en-US" sz="2500" dirty="0">
                <a:solidFill>
                  <a:srgbClr val="0D1A7A"/>
                </a:solidFill>
                <a:latin typeface="Courier New" pitchFamily="34" charset="0"/>
                <a:ea typeface="Courier New" pitchFamily="34" charset="-122"/>
                <a:cs typeface="Courier New" pitchFamily="34" charset="-120"/>
              </a:rPr>
              <a:t>SET NULL</a:t>
            </a:r>
            <a:pPr algn="l" indent="0" marL="0">
              <a:buNone/>
            </a:pPr>
            <a:r>
              <a:rPr lang="en-US" sz="2500" dirty="0">
                <a:solidFill>
                  <a:srgbClr val="4B4F58"/>
                </a:solidFill>
              </a:rPr>
              <a:t>, quedarían con </a:t>
            </a:r>
            <a:pPr algn="l" indent="0" marL="0">
              <a:buNone/>
            </a:pPr>
            <a:r>
              <a:rPr lang="en-US" sz="2500" dirty="0">
                <a:solidFill>
                  <a:srgbClr val="0D1A7A"/>
                </a:solidFill>
                <a:latin typeface="Courier New" pitchFamily="34" charset="0"/>
                <a:ea typeface="Courier New" pitchFamily="34" charset="-122"/>
                <a:cs typeface="Courier New" pitchFamily="34" charset="-120"/>
              </a:rPr>
              <a:t>cod_cliente = NULL</a:t>
            </a:r>
            <a:pPr algn="l" indent="0" marL="0">
              <a:buNone/>
            </a:pPr>
            <a:r>
              <a:rPr lang="en-US" sz="2500" dirty="0">
                <a:solidFill>
                  <a:srgbClr val="4B4F58"/>
                </a:solidFill>
              </a:rPr>
              <a:t>.</a:t>
            </a:r>
            <a:endParaRPr lang="en-US" sz="2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EN EQUIPO</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Claves de PERSONA</a:t>
            </a:r>
            <a:endParaRPr lang="en-US" sz="4000" dirty="0"/>
          </a:p>
        </p:txBody>
      </p:sp>
      <p:sp>
        <p:nvSpPr>
          <p:cNvPr id="4" name="badge-1777"/>
          <p:cNvSpPr/>
          <p:nvPr/>
        </p:nvSpPr>
        <p:spPr>
          <a:xfrm>
            <a:off x="685800" y="292608"/>
            <a:ext cx="475488" cy="475488"/>
          </a:xfrm>
          <a:prstGeom prst="ellipse">
            <a:avLst/>
          </a:prstGeom>
          <a:solidFill>
            <a:srgbClr val="1B39E6"/>
          </a:solidFill>
          <a:ln/>
        </p:spPr>
      </p:sp>
      <p:sp>
        <p:nvSpPr>
          <p:cNvPr id="5" name="badge-glyph-1778"/>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6" name="scenario-card-1787"/>
          <p:cNvSpPr/>
          <p:nvPr/>
        </p:nvSpPr>
        <p:spPr>
          <a:xfrm>
            <a:off x="685800" y="1965960"/>
            <a:ext cx="10820095" cy="2073199"/>
          </a:xfrm>
          <a:prstGeom prst="roundRect">
            <a:avLst>
              <a:gd name="adj" fmla="val 5293"/>
            </a:avLst>
          </a:prstGeom>
          <a:solidFill>
            <a:schemeClr val="bg1"/>
          </a:solidFill>
          <a:ln w="19050">
            <a:solidFill>
              <a:schemeClr val="tx1"/>
            </a:solidFill>
            <a:prstDash val="solid"/>
          </a:ln>
        </p:spPr>
      </p:sp>
      <p:sp>
        <p:nvSpPr>
          <p:cNvPr id="7" name="scenario-1788"/>
          <p:cNvSpPr txBox="1"/>
          <p:nvPr/>
        </p:nvSpPr>
        <p:spPr>
          <a:xfrm>
            <a:off x="914400" y="2148840"/>
            <a:ext cx="10362895" cy="1707439"/>
          </a:xfrm>
          <a:prstGeom prst="rect">
            <a:avLst/>
          </a:prstGeom>
          <a:noFill/>
          <a:ln/>
        </p:spPr>
        <p:txBody>
          <a:bodyPr wrap="square" lIns="0" tIns="0" rIns="0" bIns="0" rtlCol="0" anchor="ctr"/>
          <a:lstStyle/>
          <a:p>
            <a:pPr algn="l" indent="0" marL="0">
              <a:buNone/>
            </a:pPr>
            <a:r>
              <a:rPr lang="en-US" sz="2750" b="1" dirty="0">
                <a:solidFill>
                  <a:srgbClr val="0D1A7A"/>
                </a:solidFill>
                <a:latin typeface="Courier New" pitchFamily="34" charset="0"/>
                <a:ea typeface="Courier New" pitchFamily="34" charset="-122"/>
                <a:cs typeface="Courier New" pitchFamily="34" charset="-120"/>
              </a:rPr>
              <a:t>PERSONA(dni, nss, email, nombre, telefono)</a:t>
            </a:r>
            <a:pPr algn="l" indent="0" marL="0">
              <a:buNone/>
            </a:pPr>
            <a:r>
              <a:rPr lang="en-US" sz="2750" b="1" dirty="0">
                <a:solidFill>
                  <a:srgbClr val="15171C"/>
                </a:solidFill>
              </a:rPr>
              <a:t>. El </a:t>
            </a:r>
            <a:pPr algn="l" indent="0" marL="0">
              <a:buNone/>
            </a:pPr>
            <a:r>
              <a:rPr lang="en-US" sz="2750" b="1" dirty="0">
                <a:solidFill>
                  <a:srgbClr val="0D1A7A"/>
                </a:solidFill>
                <a:latin typeface="Courier New" pitchFamily="34" charset="0"/>
                <a:ea typeface="Courier New" pitchFamily="34" charset="-122"/>
                <a:cs typeface="Courier New" pitchFamily="34" charset="-120"/>
              </a:rPr>
              <a:t>dni</a:t>
            </a:r>
            <a:pPr algn="l" indent="0" marL="0">
              <a:buNone/>
            </a:pPr>
            <a:r>
              <a:rPr lang="en-US" sz="2750" b="1" dirty="0">
                <a:solidFill>
                  <a:srgbClr val="15171C"/>
                </a:solidFill>
              </a:rPr>
              <a:t> y el </a:t>
            </a:r>
            <a:pPr algn="l" indent="0" marL="0">
              <a:buNone/>
            </a:pPr>
            <a:r>
              <a:rPr lang="en-US" sz="2750" b="1" dirty="0">
                <a:solidFill>
                  <a:srgbClr val="0D1A7A"/>
                </a:solidFill>
                <a:latin typeface="Courier New" pitchFamily="34" charset="0"/>
                <a:ea typeface="Courier New" pitchFamily="34" charset="-122"/>
                <a:cs typeface="Courier New" pitchFamily="34" charset="-120"/>
              </a:rPr>
              <a:t>nss</a:t>
            </a:r>
            <a:pPr algn="l" indent="0" marL="0">
              <a:buNone/>
            </a:pPr>
            <a:r>
              <a:rPr lang="en-US" sz="2750" b="1" dirty="0">
                <a:solidFill>
                  <a:srgbClr val="15171C"/>
                </a:solidFill>
              </a:rPr>
              <a:t> son únicos; el </a:t>
            </a:r>
            <a:pPr algn="l" indent="0" marL="0">
              <a:buNone/>
            </a:pPr>
            <a:r>
              <a:rPr lang="en-US" sz="2750" b="1" dirty="0">
                <a:solidFill>
                  <a:srgbClr val="0D1A7A"/>
                </a:solidFill>
                <a:latin typeface="Courier New" pitchFamily="34" charset="0"/>
                <a:ea typeface="Courier New" pitchFamily="34" charset="-122"/>
                <a:cs typeface="Courier New" pitchFamily="34" charset="-120"/>
              </a:rPr>
              <a:t>email</a:t>
            </a:r>
            <a:pPr algn="l" indent="0" marL="0">
              <a:buNone/>
            </a:pPr>
            <a:r>
              <a:rPr lang="en-US" sz="2750" b="1" dirty="0">
                <a:solidFill>
                  <a:srgbClr val="15171C"/>
                </a:solidFill>
              </a:rPr>
              <a:t> también es único y todo usuario tiene uno; el </a:t>
            </a:r>
            <a:pPr algn="l" indent="0" marL="0">
              <a:buNone/>
            </a:pPr>
            <a:r>
              <a:rPr lang="en-US" sz="2750" b="1" dirty="0">
                <a:solidFill>
                  <a:srgbClr val="0D1A7A"/>
                </a:solidFill>
                <a:latin typeface="Courier New" pitchFamily="34" charset="0"/>
                <a:ea typeface="Courier New" pitchFamily="34" charset="-122"/>
                <a:cs typeface="Courier New" pitchFamily="34" charset="-120"/>
              </a:rPr>
              <a:t>nombre</a:t>
            </a:r>
            <a:pPr algn="l" indent="0" marL="0">
              <a:buNone/>
            </a:pPr>
            <a:r>
              <a:rPr lang="en-US" sz="2750" b="1" dirty="0">
                <a:solidFill>
                  <a:srgbClr val="15171C"/>
                </a:solidFill>
              </a:rPr>
              <a:t> puede repetirse; el </a:t>
            </a:r>
            <a:pPr algn="l" indent="0" marL="0">
              <a:buNone/>
            </a:pPr>
            <a:r>
              <a:rPr lang="en-US" sz="2750" b="1" dirty="0">
                <a:solidFill>
                  <a:srgbClr val="0D1A7A"/>
                </a:solidFill>
                <a:latin typeface="Courier New" pitchFamily="34" charset="0"/>
                <a:ea typeface="Courier New" pitchFamily="34" charset="-122"/>
                <a:cs typeface="Courier New" pitchFamily="34" charset="-120"/>
              </a:rPr>
              <a:t>telefono</a:t>
            </a:r>
            <a:pPr algn="l" indent="0" marL="0">
              <a:buNone/>
            </a:pPr>
            <a:r>
              <a:rPr lang="en-US" sz="2750" b="1" dirty="0">
                <a:solidFill>
                  <a:srgbClr val="15171C"/>
                </a:solidFill>
              </a:rPr>
              <a:t> es opcional.</a:t>
            </a:r>
            <a:endParaRPr lang="en-US" sz="2750" dirty="0"/>
          </a:p>
        </p:txBody>
      </p:sp>
      <p:sp>
        <p:nvSpPr>
          <p:cNvPr id="8" name="marker-1789"/>
          <p:cNvSpPr txBox="1"/>
          <p:nvPr/>
        </p:nvSpPr>
        <p:spPr>
          <a:xfrm>
            <a:off x="685800" y="4222039"/>
            <a:ext cx="365760" cy="549123"/>
          </a:xfrm>
          <a:prstGeom prst="rect">
            <a:avLst/>
          </a:prstGeom>
          <a:noFill/>
          <a:ln/>
        </p:spPr>
        <p:txBody>
          <a:bodyPr wrap="square" lIns="0" tIns="0" rIns="0" bIns="0" rtlCol="0" anchor="t"/>
          <a:lstStyle/>
          <a:p>
            <a:pPr indent="0" marL="0">
              <a:buNone/>
            </a:pPr>
            <a:r>
              <a:rPr lang="en-US" sz="3190" b="1" dirty="0">
                <a:solidFill>
                  <a:srgbClr val="1B39E6"/>
                </a:solidFill>
              </a:rPr>
              <a:t>1.</a:t>
            </a:r>
            <a:endParaRPr lang="en-US" sz="3190" dirty="0"/>
          </a:p>
        </p:txBody>
      </p:sp>
      <p:sp>
        <p:nvSpPr>
          <p:cNvPr id="9" name="item-1790"/>
          <p:cNvSpPr txBox="1"/>
          <p:nvPr/>
        </p:nvSpPr>
        <p:spPr>
          <a:xfrm>
            <a:off x="1097280" y="4222039"/>
            <a:ext cx="10408615" cy="549123"/>
          </a:xfrm>
          <a:prstGeom prst="rect">
            <a:avLst/>
          </a:prstGeom>
          <a:noFill/>
          <a:ln/>
        </p:spPr>
        <p:txBody>
          <a:bodyPr wrap="square" lIns="0" tIns="0" rIns="0" bIns="0" rtlCol="0" anchor="t"/>
          <a:lstStyle/>
          <a:p>
            <a:pPr algn="l" indent="0" marL="0">
              <a:buNone/>
            </a:pPr>
            <a:r>
              <a:rPr lang="en-US" sz="3200" b="1" dirty="0">
                <a:solidFill>
                  <a:srgbClr val="15171C"/>
                </a:solidFill>
              </a:rPr>
              <a:t>¿Cuáles son las claves candidatas?</a:t>
            </a:r>
            <a:endParaRPr lang="en-US" sz="3200" dirty="0"/>
          </a:p>
        </p:txBody>
      </p:sp>
      <p:sp>
        <p:nvSpPr>
          <p:cNvPr id="10" name="marker-1791"/>
          <p:cNvSpPr txBox="1"/>
          <p:nvPr/>
        </p:nvSpPr>
        <p:spPr>
          <a:xfrm>
            <a:off x="685800" y="4862601"/>
            <a:ext cx="365760" cy="549123"/>
          </a:xfrm>
          <a:prstGeom prst="rect">
            <a:avLst/>
          </a:prstGeom>
          <a:noFill/>
          <a:ln/>
        </p:spPr>
        <p:txBody>
          <a:bodyPr wrap="square" lIns="0" tIns="0" rIns="0" bIns="0" rtlCol="0" anchor="t"/>
          <a:lstStyle/>
          <a:p>
            <a:pPr indent="0" marL="0">
              <a:buNone/>
            </a:pPr>
            <a:r>
              <a:rPr lang="en-US" sz="3190" b="1" dirty="0">
                <a:solidFill>
                  <a:srgbClr val="1B39E6"/>
                </a:solidFill>
              </a:rPr>
              <a:t>2.</a:t>
            </a:r>
            <a:endParaRPr lang="en-US" sz="3190" dirty="0"/>
          </a:p>
        </p:txBody>
      </p:sp>
      <p:sp>
        <p:nvSpPr>
          <p:cNvPr id="11" name="item-1792"/>
          <p:cNvSpPr txBox="1"/>
          <p:nvPr/>
        </p:nvSpPr>
        <p:spPr>
          <a:xfrm>
            <a:off x="1097280" y="4862601"/>
            <a:ext cx="10408615" cy="549123"/>
          </a:xfrm>
          <a:prstGeom prst="rect">
            <a:avLst/>
          </a:prstGeom>
          <a:noFill/>
          <a:ln/>
        </p:spPr>
        <p:txBody>
          <a:bodyPr wrap="square" lIns="0" tIns="0" rIns="0" bIns="0" rtlCol="0" anchor="t"/>
          <a:lstStyle/>
          <a:p>
            <a:pPr algn="l" indent="0" marL="0">
              <a:buNone/>
            </a:pPr>
            <a:r>
              <a:rPr lang="en-US" sz="3200" b="1" dirty="0">
                <a:solidFill>
                  <a:srgbClr val="15171C"/>
                </a:solidFill>
              </a:rPr>
              <a:t>Elige la primaria; ¿qué son las demás?</a:t>
            </a:r>
            <a:endParaRPr lang="en-US" sz="3200" dirty="0"/>
          </a:p>
        </p:txBody>
      </p:sp>
      <p:sp>
        <p:nvSpPr>
          <p:cNvPr id="12" name="marker-1793"/>
          <p:cNvSpPr txBox="1"/>
          <p:nvPr/>
        </p:nvSpPr>
        <p:spPr>
          <a:xfrm>
            <a:off x="685800" y="5503164"/>
            <a:ext cx="365760" cy="549123"/>
          </a:xfrm>
          <a:prstGeom prst="rect">
            <a:avLst/>
          </a:prstGeom>
          <a:noFill/>
          <a:ln/>
        </p:spPr>
        <p:txBody>
          <a:bodyPr wrap="square" lIns="0" tIns="0" rIns="0" bIns="0" rtlCol="0" anchor="t"/>
          <a:lstStyle/>
          <a:p>
            <a:pPr indent="0" marL="0">
              <a:buNone/>
            </a:pPr>
            <a:r>
              <a:rPr lang="en-US" sz="3190" b="1" dirty="0">
                <a:solidFill>
                  <a:srgbClr val="1B39E6"/>
                </a:solidFill>
              </a:rPr>
              <a:t>3.</a:t>
            </a:r>
            <a:endParaRPr lang="en-US" sz="3190" dirty="0"/>
          </a:p>
        </p:txBody>
      </p:sp>
      <p:sp>
        <p:nvSpPr>
          <p:cNvPr id="13" name="item-1794"/>
          <p:cNvSpPr txBox="1"/>
          <p:nvPr/>
        </p:nvSpPr>
        <p:spPr>
          <a:xfrm>
            <a:off x="1097280" y="5503164"/>
            <a:ext cx="10408615" cy="549123"/>
          </a:xfrm>
          <a:prstGeom prst="rect">
            <a:avLst/>
          </a:prstGeom>
          <a:noFill/>
          <a:ln/>
        </p:spPr>
        <p:txBody>
          <a:bodyPr wrap="square" lIns="0" tIns="0" rIns="0" bIns="0" rtlCol="0" anchor="t"/>
          <a:lstStyle/>
          <a:p>
            <a:pPr algn="l" indent="0" marL="0">
              <a:buNone/>
            </a:pPr>
            <a:r>
              <a:rPr lang="en-US" sz="3200" b="1" dirty="0">
                <a:solidFill>
                  <a:srgbClr val="15171C"/>
                </a:solidFill>
              </a:rPr>
              <a:t>Escribe el </a:t>
            </a:r>
            <a:pPr algn="l" indent="0" marL="0">
              <a:buNone/>
            </a:pPr>
            <a:r>
              <a:rPr lang="en-US" sz="3200" b="1" dirty="0">
                <a:solidFill>
                  <a:srgbClr val="0D1A7A"/>
                </a:solidFill>
                <a:latin typeface="Courier New" pitchFamily="34" charset="0"/>
                <a:ea typeface="Courier New" pitchFamily="34" charset="-122"/>
                <a:cs typeface="Courier New" pitchFamily="34" charset="-120"/>
              </a:rPr>
              <a:t>CREATE TABLE</a:t>
            </a:r>
            <a:pPr algn="l" indent="0" marL="0">
              <a:buNone/>
            </a:pPr>
            <a:r>
              <a:rPr lang="en-US" sz="3200" b="1" dirty="0">
                <a:solidFill>
                  <a:srgbClr val="15171C"/>
                </a:solidFill>
              </a:rPr>
              <a:t>.</a:t>
            </a:r>
            <a:endParaRPr lang="en-US" sz="32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Tres candidatas, una primaria</a:t>
            </a:r>
            <a:endParaRPr lang="en-US" sz="4000" dirty="0"/>
          </a:p>
        </p:txBody>
      </p:sp>
      <p:sp>
        <p:nvSpPr>
          <p:cNvPr id="4" name="badge-1795"/>
          <p:cNvSpPr/>
          <p:nvPr/>
        </p:nvSpPr>
        <p:spPr>
          <a:xfrm>
            <a:off x="685800" y="292608"/>
            <a:ext cx="475488" cy="475488"/>
          </a:xfrm>
          <a:prstGeom prst="ellipse">
            <a:avLst/>
          </a:prstGeom>
          <a:solidFill>
            <a:srgbClr val="3F9468"/>
          </a:solidFill>
          <a:ln/>
        </p:spPr>
      </p:sp>
      <p:sp>
        <p:nvSpPr>
          <p:cNvPr id="5" name="badge-glyph-1796"/>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marker-1805"/>
          <p:cNvSpPr txBox="1"/>
          <p:nvPr/>
        </p:nvSpPr>
        <p:spPr>
          <a:xfrm>
            <a:off x="685800" y="1965960"/>
            <a:ext cx="365760" cy="1402842"/>
          </a:xfrm>
          <a:prstGeom prst="rect">
            <a:avLst/>
          </a:prstGeom>
          <a:noFill/>
          <a:ln/>
        </p:spPr>
        <p:txBody>
          <a:bodyPr wrap="square" lIns="0" tIns="0" rIns="0" bIns="0" rtlCol="0" anchor="t"/>
          <a:lstStyle/>
          <a:p>
            <a:pPr indent="0" marL="0">
              <a:buNone/>
            </a:pPr>
            <a:r>
              <a:rPr lang="en-US" sz="2900" b="1" dirty="0">
                <a:solidFill>
                  <a:srgbClr val="1B39E6"/>
                </a:solidFill>
              </a:rPr>
              <a:t>•</a:t>
            </a:r>
            <a:endParaRPr lang="en-US" sz="2900" dirty="0"/>
          </a:p>
        </p:txBody>
      </p:sp>
      <p:sp>
        <p:nvSpPr>
          <p:cNvPr id="7" name="item-1806"/>
          <p:cNvSpPr txBox="1"/>
          <p:nvPr/>
        </p:nvSpPr>
        <p:spPr>
          <a:xfrm>
            <a:off x="1097280" y="1965960"/>
            <a:ext cx="5214970" cy="1402842"/>
          </a:xfrm>
          <a:prstGeom prst="rect">
            <a:avLst/>
          </a:prstGeom>
          <a:noFill/>
          <a:ln/>
        </p:spPr>
        <p:txBody>
          <a:bodyPr wrap="square" lIns="0" tIns="0" rIns="0" bIns="0" rtlCol="0" anchor="t"/>
          <a:lstStyle/>
          <a:p>
            <a:pPr algn="l" indent="0" marL="0">
              <a:buNone/>
            </a:pPr>
            <a:r>
              <a:rPr lang="en-US" sz="2900" b="1" dirty="0">
                <a:solidFill>
                  <a:srgbClr val="4B4F58"/>
                </a:solidFill>
              </a:rPr>
              <a:t>Candidatas:</a:t>
            </a:r>
            <a:pPr algn="l" indent="0" marL="0">
              <a:buNone/>
            </a:pPr>
            <a:r>
              <a:rPr lang="en-US" sz="2900" dirty="0">
                <a:solidFill>
                  <a:srgbClr val="4B4F58"/>
                </a:solidFill>
              </a:rPr>
              <a:t> dni, nss y email (únicos y siempre con valor).</a:t>
            </a:r>
            <a:endParaRPr lang="en-US" sz="2900" dirty="0"/>
          </a:p>
        </p:txBody>
      </p:sp>
      <p:sp>
        <p:nvSpPr>
          <p:cNvPr id="8" name="marker-1807"/>
          <p:cNvSpPr txBox="1"/>
          <p:nvPr/>
        </p:nvSpPr>
        <p:spPr>
          <a:xfrm>
            <a:off x="685800" y="3460242"/>
            <a:ext cx="365760" cy="1402842"/>
          </a:xfrm>
          <a:prstGeom prst="rect">
            <a:avLst/>
          </a:prstGeom>
          <a:noFill/>
          <a:ln/>
        </p:spPr>
        <p:txBody>
          <a:bodyPr wrap="square" lIns="0" tIns="0" rIns="0" bIns="0" rtlCol="0" anchor="t"/>
          <a:lstStyle/>
          <a:p>
            <a:pPr indent="0" marL="0">
              <a:buNone/>
            </a:pPr>
            <a:r>
              <a:rPr lang="en-US" sz="2900" b="1" dirty="0">
                <a:solidFill>
                  <a:srgbClr val="1B39E6"/>
                </a:solidFill>
              </a:rPr>
              <a:t>•</a:t>
            </a:r>
            <a:endParaRPr lang="en-US" sz="2900" dirty="0"/>
          </a:p>
        </p:txBody>
      </p:sp>
      <p:sp>
        <p:nvSpPr>
          <p:cNvPr id="9" name="item-1808"/>
          <p:cNvSpPr txBox="1"/>
          <p:nvPr/>
        </p:nvSpPr>
        <p:spPr>
          <a:xfrm>
            <a:off x="1097280" y="3460242"/>
            <a:ext cx="5214970" cy="1402842"/>
          </a:xfrm>
          <a:prstGeom prst="rect">
            <a:avLst/>
          </a:prstGeom>
          <a:noFill/>
          <a:ln/>
        </p:spPr>
        <p:txBody>
          <a:bodyPr wrap="square" lIns="0" tIns="0" rIns="0" bIns="0" rtlCol="0" anchor="t"/>
          <a:lstStyle/>
          <a:p>
            <a:pPr algn="l" indent="0" marL="0">
              <a:buNone/>
            </a:pPr>
            <a:r>
              <a:rPr lang="en-US" sz="2900" b="1" dirty="0">
                <a:solidFill>
                  <a:srgbClr val="4B4F58"/>
                </a:solidFill>
              </a:rPr>
              <a:t>Primaria:</a:t>
            </a:r>
            <a:pPr algn="l" indent="0" marL="0">
              <a:buNone/>
            </a:pPr>
            <a:r>
              <a:rPr lang="en-US" sz="2900" dirty="0">
                <a:solidFill>
                  <a:srgbClr val="4B4F58"/>
                </a:solidFill>
              </a:rPr>
              <a:t> </a:t>
            </a:r>
            <a:pPr algn="l" indent="0" marL="0">
              <a:buNone/>
            </a:pPr>
            <a:r>
              <a:rPr lang="en-US" sz="2900" dirty="0">
                <a:solidFill>
                  <a:srgbClr val="0D1A7A"/>
                </a:solidFill>
                <a:latin typeface="Courier New" pitchFamily="34" charset="0"/>
                <a:ea typeface="Courier New" pitchFamily="34" charset="-122"/>
                <a:cs typeface="Courier New" pitchFamily="34" charset="-120"/>
              </a:rPr>
              <a:t>dni</a:t>
            </a:r>
            <a:pPr algn="l" indent="0" marL="0">
              <a:buNone/>
            </a:pPr>
            <a:r>
              <a:rPr lang="en-US" sz="2900" dirty="0">
                <a:solidFill>
                  <a:srgbClr val="4B4F58"/>
                </a:solidFill>
              </a:rPr>
              <a:t> (corto y estable). </a:t>
            </a:r>
            <a:pPr algn="l" indent="0" marL="0">
              <a:buNone/>
            </a:pPr>
            <a:r>
              <a:rPr lang="en-US" sz="2900" dirty="0">
                <a:solidFill>
                  <a:srgbClr val="0D1A7A"/>
                </a:solidFill>
                <a:latin typeface="Courier New" pitchFamily="34" charset="0"/>
                <a:ea typeface="Courier New" pitchFamily="34" charset="-122"/>
                <a:cs typeface="Courier New" pitchFamily="34" charset="-120"/>
              </a:rPr>
              <a:t>nss</a:t>
            </a:r>
            <a:pPr algn="l" indent="0" marL="0">
              <a:buNone/>
            </a:pPr>
            <a:r>
              <a:rPr lang="en-US" sz="2900" dirty="0">
                <a:solidFill>
                  <a:srgbClr val="4B4F58"/>
                </a:solidFill>
              </a:rPr>
              <a:t> y </a:t>
            </a:r>
            <a:pPr algn="l" indent="0" marL="0">
              <a:buNone/>
            </a:pPr>
            <a:r>
              <a:rPr lang="en-US" sz="2900" dirty="0">
                <a:solidFill>
                  <a:srgbClr val="0D1A7A"/>
                </a:solidFill>
                <a:latin typeface="Courier New" pitchFamily="34" charset="0"/>
                <a:ea typeface="Courier New" pitchFamily="34" charset="-122"/>
                <a:cs typeface="Courier New" pitchFamily="34" charset="-120"/>
              </a:rPr>
              <a:t>email</a:t>
            </a:r>
            <a:pPr algn="l" indent="0" marL="0">
              <a:buNone/>
            </a:pPr>
            <a:r>
              <a:rPr lang="en-US" sz="2900" dirty="0">
                <a:solidFill>
                  <a:srgbClr val="4B4F58"/>
                </a:solidFill>
              </a:rPr>
              <a:t> son alternativas.</a:t>
            </a:r>
            <a:endParaRPr lang="en-US" sz="2900" dirty="0"/>
          </a:p>
        </p:txBody>
      </p:sp>
      <p:sp>
        <p:nvSpPr>
          <p:cNvPr id="10" name="marker-1809"/>
          <p:cNvSpPr txBox="1"/>
          <p:nvPr/>
        </p:nvSpPr>
        <p:spPr>
          <a:xfrm>
            <a:off x="685800" y="4954524"/>
            <a:ext cx="365760" cy="953516"/>
          </a:xfrm>
          <a:prstGeom prst="rect">
            <a:avLst/>
          </a:prstGeom>
          <a:noFill/>
          <a:ln/>
        </p:spPr>
        <p:txBody>
          <a:bodyPr wrap="square" lIns="0" tIns="0" rIns="0" bIns="0" rtlCol="0" anchor="t"/>
          <a:lstStyle/>
          <a:p>
            <a:pPr indent="0" marL="0">
              <a:buNone/>
            </a:pPr>
            <a:r>
              <a:rPr lang="en-US" sz="2900" b="1" dirty="0">
                <a:solidFill>
                  <a:srgbClr val="1B39E6"/>
                </a:solidFill>
              </a:rPr>
              <a:t>•</a:t>
            </a:r>
            <a:endParaRPr lang="en-US" sz="2900" dirty="0"/>
          </a:p>
        </p:txBody>
      </p:sp>
      <p:sp>
        <p:nvSpPr>
          <p:cNvPr id="11" name="item-1810"/>
          <p:cNvSpPr txBox="1"/>
          <p:nvPr/>
        </p:nvSpPr>
        <p:spPr>
          <a:xfrm>
            <a:off x="1097280" y="4954524"/>
            <a:ext cx="5214970" cy="953516"/>
          </a:xfrm>
          <a:prstGeom prst="rect">
            <a:avLst/>
          </a:prstGeom>
          <a:noFill/>
          <a:ln/>
        </p:spPr>
        <p:txBody>
          <a:bodyPr wrap="square" lIns="0" tIns="0" rIns="0" bIns="0" rtlCol="0" anchor="t"/>
          <a:lstStyle/>
          <a:p>
            <a:pPr algn="l" indent="0" marL="0">
              <a:buNone/>
            </a:pPr>
            <a:r>
              <a:rPr lang="en-US" sz="2900" dirty="0">
                <a:solidFill>
                  <a:srgbClr val="4B4F58"/>
                </a:solidFill>
              </a:rPr>
              <a:t>El teléfono es opcional: sin </a:t>
            </a:r>
            <a:pPr algn="l" indent="0" marL="0">
              <a:buNone/>
            </a:pPr>
            <a:r>
              <a:rPr lang="en-US" sz="2900" dirty="0">
                <a:solidFill>
                  <a:srgbClr val="0D1A7A"/>
                </a:solidFill>
                <a:latin typeface="Courier New" pitchFamily="34" charset="0"/>
                <a:ea typeface="Courier New" pitchFamily="34" charset="-122"/>
                <a:cs typeface="Courier New" pitchFamily="34" charset="-120"/>
              </a:rPr>
              <a:t>NOT NULL</a:t>
            </a:r>
            <a:pPr algn="l" indent="0" marL="0">
              <a:buNone/>
            </a:pPr>
            <a:r>
              <a:rPr lang="en-US" sz="2900" dirty="0">
                <a:solidFill>
                  <a:srgbClr val="4B4F58"/>
                </a:solidFill>
              </a:rPr>
              <a:t>.</a:t>
            </a:r>
            <a:endParaRPr lang="en-US" sz="2900" dirty="0"/>
          </a:p>
        </p:txBody>
      </p:sp>
      <p:sp>
        <p:nvSpPr>
          <p:cNvPr id="12" name="code-box-1811"/>
          <p:cNvSpPr/>
          <p:nvPr/>
        </p:nvSpPr>
        <p:spPr>
          <a:xfrm>
            <a:off x="6745053" y="1965960"/>
            <a:ext cx="4760842" cy="2407615"/>
          </a:xfrm>
          <a:prstGeom prst="roundRect">
            <a:avLst>
              <a:gd name="adj" fmla="val 4558"/>
            </a:avLst>
          </a:prstGeom>
          <a:solidFill>
            <a:srgbClr val="15171C"/>
          </a:solidFill>
          <a:ln/>
        </p:spPr>
      </p:sp>
      <p:sp>
        <p:nvSpPr>
          <p:cNvPr id="13" name="code-1812"/>
          <p:cNvSpPr txBox="1"/>
          <p:nvPr/>
        </p:nvSpPr>
        <p:spPr>
          <a:xfrm>
            <a:off x="6927933" y="2148840"/>
            <a:ext cx="4395082" cy="2041855"/>
          </a:xfrm>
          <a:prstGeom prst="rect">
            <a:avLst/>
          </a:prstGeom>
          <a:noFill/>
          <a:ln/>
        </p:spPr>
        <p:txBody>
          <a:bodyPr wrap="square" lIns="0" tIns="0" rIns="0" bIns="0" rtlCol="0" anchor="t"/>
          <a:lstStyle/>
          <a:p>
            <a:pPr indent="0" marL="0">
              <a:buNone/>
            </a:pPr>
            <a:r>
              <a:rPr lang="en-US" sz="1595" dirty="0">
                <a:solidFill>
                  <a:srgbClr val="E9ECF7"/>
                </a:solidFill>
                <a:latin typeface="Courier New" pitchFamily="34" charset="0"/>
                <a:ea typeface="Courier New" pitchFamily="34" charset="-122"/>
                <a:cs typeface="Courier New" pitchFamily="34" charset="-120"/>
              </a:rPr>
              <a:t>CREATE TABLE persona (</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  dni      CHAR(9)      PRIMARY KEY,</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  nss      CHAR(12)     NOT NULL UNIQUE,</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  email    VARCHAR(100) NOT NULL UNIQUE,</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  nombre   VARCHAR(80)  NOT NULL,</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  telefono VARCHAR(15)</a:t>
            </a:r>
            <a:endParaRPr lang="en-US" sz="1595" dirty="0"/>
          </a:p>
          <a:p>
            <a:pPr indent="0" marL="0">
              <a:buNone/>
            </a:pPr>
            <a:r>
              <a:rPr lang="en-US" sz="1595" dirty="0">
                <a:solidFill>
                  <a:srgbClr val="E9ECF7"/>
                </a:solidFill>
                <a:latin typeface="Courier New" pitchFamily="34" charset="0"/>
                <a:ea typeface="Courier New" pitchFamily="34" charset="-122"/>
                <a:cs typeface="Courier New" pitchFamily="34" charset="-120"/>
              </a:rPr>
              <a:t>);</a:t>
            </a:r>
            <a:endParaRPr lang="en-US" sz="1595"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Primero, limpiar el E/R</a:t>
            </a:r>
            <a:endParaRPr lang="en-US" sz="4000" dirty="0"/>
          </a:p>
        </p:txBody>
      </p:sp>
      <p:sp>
        <p:nvSpPr>
          <p:cNvPr id="4" name="card-1845"/>
          <p:cNvSpPr/>
          <p:nvPr/>
        </p:nvSpPr>
        <p:spPr>
          <a:xfrm>
            <a:off x="685800" y="1783080"/>
            <a:ext cx="3484778" cy="3104159"/>
          </a:xfrm>
          <a:prstGeom prst="roundRect">
            <a:avLst>
              <a:gd name="adj" fmla="val 3535"/>
            </a:avLst>
          </a:prstGeom>
          <a:solidFill>
            <a:schemeClr val="bg1"/>
          </a:solidFill>
          <a:ln w="19050">
            <a:solidFill>
              <a:srgbClr val="15171C"/>
            </a:solidFill>
            <a:prstDash val="solid"/>
          </a:ln>
        </p:spPr>
      </p:sp>
      <p:sp>
        <p:nvSpPr>
          <p:cNvPr id="5" name="tag-pill-1846"/>
          <p:cNvSpPr/>
          <p:nvPr/>
        </p:nvSpPr>
        <p:spPr>
          <a:xfrm>
            <a:off x="868680" y="1947672"/>
            <a:ext cx="1097280" cy="256032"/>
          </a:xfrm>
          <a:prstGeom prst="roundRect">
            <a:avLst>
              <a:gd name="adj" fmla="val 50000"/>
            </a:avLst>
          </a:prstGeom>
          <a:solidFill>
            <a:srgbClr val="E8EBFC"/>
          </a:solidFill>
          <a:ln/>
        </p:spPr>
      </p:sp>
      <p:sp>
        <p:nvSpPr>
          <p:cNvPr id="6" name="tag-1847"/>
          <p:cNvSpPr txBox="1"/>
          <p:nvPr/>
        </p:nvSpPr>
        <p:spPr>
          <a:xfrm>
            <a:off x="868680" y="1947672"/>
            <a:ext cx="1097280" cy="256032"/>
          </a:xfrm>
          <a:prstGeom prst="rect">
            <a:avLst/>
          </a:prstGeom>
          <a:noFill/>
          <a:ln/>
        </p:spPr>
        <p:txBody>
          <a:bodyPr wrap="square" lIns="0" tIns="0" rIns="0" bIns="0" rtlCol="0" anchor="ctr"/>
          <a:lstStyle/>
          <a:p>
            <a:pPr algn="ctr" indent="0" marL="0">
              <a:buNone/>
            </a:pPr>
            <a:r>
              <a:rPr lang="en-US" sz="1100" b="1" dirty="0">
                <a:solidFill>
                  <a:srgbClr val="0D1A7A"/>
                </a:solidFill>
              </a:rPr>
              <a:t>COMPUESTOS</a:t>
            </a:r>
            <a:endParaRPr lang="en-US" sz="1100" dirty="0"/>
          </a:p>
        </p:txBody>
      </p:sp>
      <p:sp>
        <p:nvSpPr>
          <p:cNvPr id="7" name="card-h-1848"/>
          <p:cNvSpPr txBox="1"/>
          <p:nvPr/>
        </p:nvSpPr>
        <p:spPr>
          <a:xfrm>
            <a:off x="868680" y="2331720"/>
            <a:ext cx="3119018" cy="488861"/>
          </a:xfrm>
          <a:prstGeom prst="rect">
            <a:avLst/>
          </a:prstGeom>
          <a:noFill/>
          <a:ln/>
        </p:spPr>
        <p:txBody>
          <a:bodyPr wrap="square" lIns="0" tIns="0" rIns="0" bIns="0" rtlCol="0" anchor="t"/>
          <a:lstStyle/>
          <a:p>
            <a:pPr algn="l" indent="0" marL="0">
              <a:buNone/>
            </a:pPr>
            <a:r>
              <a:rPr lang="en-US" sz="2550" b="1" dirty="0">
                <a:solidFill>
                  <a:srgbClr val="15171C"/>
                </a:solidFill>
              </a:rPr>
              <a:t>Se descomponen</a:t>
            </a:r>
            <a:endParaRPr lang="en-US" sz="2550" dirty="0"/>
          </a:p>
        </p:txBody>
      </p:sp>
      <p:sp>
        <p:nvSpPr>
          <p:cNvPr id="8" name="card-p-1849"/>
          <p:cNvSpPr txBox="1"/>
          <p:nvPr/>
        </p:nvSpPr>
        <p:spPr>
          <a:xfrm>
            <a:off x="868680" y="2820581"/>
            <a:ext cx="3119018" cy="1468069"/>
          </a:xfrm>
          <a:prstGeom prst="rect">
            <a:avLst/>
          </a:prstGeom>
          <a:noFill/>
          <a:ln/>
        </p:spPr>
        <p:txBody>
          <a:bodyPr wrap="square" lIns="0" tIns="0" rIns="0" bIns="0" rtlCol="0" anchor="t"/>
          <a:lstStyle/>
          <a:p>
            <a:pPr algn="l" indent="0" marL="0">
              <a:buNone/>
            </a:pPr>
            <a:r>
              <a:rPr lang="en-US" sz="2300" dirty="0">
                <a:solidFill>
                  <a:srgbClr val="0D1A7A"/>
                </a:solidFill>
                <a:latin typeface="Courier New" pitchFamily="34" charset="0"/>
                <a:ea typeface="Courier New" pitchFamily="34" charset="-122"/>
                <a:cs typeface="Courier New" pitchFamily="34" charset="-120"/>
              </a:rPr>
              <a:t>nombre_completo</a:t>
            </a:r>
            <a:pPr algn="l" indent="0" marL="0">
              <a:buNone/>
            </a:pPr>
            <a:r>
              <a:rPr lang="en-US" sz="2300" dirty="0">
                <a:solidFill>
                  <a:srgbClr val="4B4F58"/>
                </a:solidFill>
              </a:rPr>
              <a:t> pasa a </a:t>
            </a:r>
            <a:pPr algn="l" indent="0" marL="0">
              <a:buNone/>
            </a:pPr>
            <a:r>
              <a:rPr lang="en-US" sz="2300" dirty="0">
                <a:solidFill>
                  <a:srgbClr val="0D1A7A"/>
                </a:solidFill>
                <a:latin typeface="Courier New" pitchFamily="34" charset="0"/>
                <a:ea typeface="Courier New" pitchFamily="34" charset="-122"/>
                <a:cs typeface="Courier New" pitchFamily="34" charset="-120"/>
              </a:rPr>
              <a:t>nombre</a:t>
            </a:r>
            <a:pPr algn="l" indent="0" marL="0">
              <a:buNone/>
            </a:pPr>
            <a:r>
              <a:rPr lang="en-US" sz="2300" dirty="0">
                <a:solidFill>
                  <a:srgbClr val="4B4F58"/>
                </a:solidFill>
              </a:rPr>
              <a:t>, </a:t>
            </a:r>
            <a:pPr algn="l" indent="0" marL="0">
              <a:buNone/>
            </a:pPr>
            <a:r>
              <a:rPr lang="en-US" sz="2300" dirty="0">
                <a:solidFill>
                  <a:srgbClr val="0D1A7A"/>
                </a:solidFill>
                <a:latin typeface="Courier New" pitchFamily="34" charset="0"/>
                <a:ea typeface="Courier New" pitchFamily="34" charset="-122"/>
                <a:cs typeface="Courier New" pitchFamily="34" charset="-120"/>
              </a:rPr>
              <a:t>apellido1</a:t>
            </a:r>
            <a:pPr algn="l" indent="0" marL="0">
              <a:buNone/>
            </a:pPr>
            <a:r>
              <a:rPr lang="en-US" sz="2300" dirty="0">
                <a:solidFill>
                  <a:srgbClr val="4B4F58"/>
                </a:solidFill>
              </a:rPr>
              <a:t> y </a:t>
            </a:r>
            <a:pPr algn="l" indent="0" marL="0">
              <a:buNone/>
            </a:pPr>
            <a:r>
              <a:rPr lang="en-US" sz="2300" dirty="0">
                <a:solidFill>
                  <a:srgbClr val="0D1A7A"/>
                </a:solidFill>
                <a:latin typeface="Courier New" pitchFamily="34" charset="0"/>
                <a:ea typeface="Courier New" pitchFamily="34" charset="-122"/>
                <a:cs typeface="Courier New" pitchFamily="34" charset="-120"/>
              </a:rPr>
              <a:t>apellido2</a:t>
            </a:r>
            <a:pPr algn="l" indent="0" marL="0">
              <a:buNone/>
            </a:pPr>
            <a:r>
              <a:rPr lang="en-US" sz="2300" dirty="0">
                <a:solidFill>
                  <a:srgbClr val="4B4F58"/>
                </a:solidFill>
              </a:rPr>
              <a:t>.</a:t>
            </a:r>
            <a:endParaRPr lang="en-US" sz="2300" dirty="0"/>
          </a:p>
        </p:txBody>
      </p:sp>
      <p:sp>
        <p:nvSpPr>
          <p:cNvPr id="9" name="card-1850"/>
          <p:cNvSpPr/>
          <p:nvPr/>
        </p:nvSpPr>
        <p:spPr>
          <a:xfrm>
            <a:off x="4353458" y="1783080"/>
            <a:ext cx="3484778" cy="3104159"/>
          </a:xfrm>
          <a:prstGeom prst="roundRect">
            <a:avLst>
              <a:gd name="adj" fmla="val 3535"/>
            </a:avLst>
          </a:prstGeom>
          <a:solidFill>
            <a:schemeClr val="bg1"/>
          </a:solidFill>
          <a:ln w="19050">
            <a:solidFill>
              <a:srgbClr val="15171C"/>
            </a:solidFill>
            <a:prstDash val="solid"/>
          </a:ln>
        </p:spPr>
      </p:sp>
      <p:sp>
        <p:nvSpPr>
          <p:cNvPr id="10" name="tag-pill-1851"/>
          <p:cNvSpPr/>
          <p:nvPr/>
        </p:nvSpPr>
        <p:spPr>
          <a:xfrm>
            <a:off x="4536338" y="1947672"/>
            <a:ext cx="1349654" cy="256032"/>
          </a:xfrm>
          <a:prstGeom prst="roundRect">
            <a:avLst>
              <a:gd name="adj" fmla="val 50000"/>
            </a:avLst>
          </a:prstGeom>
          <a:solidFill>
            <a:srgbClr val="E8EBFC"/>
          </a:solidFill>
          <a:ln/>
        </p:spPr>
      </p:sp>
      <p:sp>
        <p:nvSpPr>
          <p:cNvPr id="11" name="tag-1852"/>
          <p:cNvSpPr txBox="1"/>
          <p:nvPr/>
        </p:nvSpPr>
        <p:spPr>
          <a:xfrm>
            <a:off x="4536338" y="1947672"/>
            <a:ext cx="1349654" cy="256032"/>
          </a:xfrm>
          <a:prstGeom prst="rect">
            <a:avLst/>
          </a:prstGeom>
          <a:noFill/>
          <a:ln/>
        </p:spPr>
        <p:txBody>
          <a:bodyPr wrap="square" lIns="0" tIns="0" rIns="0" bIns="0" rtlCol="0" anchor="ctr"/>
          <a:lstStyle/>
          <a:p>
            <a:pPr algn="ctr" indent="0" marL="0">
              <a:buNone/>
            </a:pPr>
            <a:r>
              <a:rPr lang="en-US" sz="1100" b="1" dirty="0">
                <a:solidFill>
                  <a:srgbClr val="0D1A7A"/>
                </a:solidFill>
              </a:rPr>
              <a:t>MULTIVALUADOS</a:t>
            </a:r>
            <a:endParaRPr lang="en-US" sz="1100" dirty="0"/>
          </a:p>
        </p:txBody>
      </p:sp>
      <p:sp>
        <p:nvSpPr>
          <p:cNvPr id="12" name="card-h-1853"/>
          <p:cNvSpPr txBox="1"/>
          <p:nvPr/>
        </p:nvSpPr>
        <p:spPr>
          <a:xfrm>
            <a:off x="4536338" y="2331720"/>
            <a:ext cx="3119018" cy="886282"/>
          </a:xfrm>
          <a:prstGeom prst="rect">
            <a:avLst/>
          </a:prstGeom>
          <a:noFill/>
          <a:ln/>
        </p:spPr>
        <p:txBody>
          <a:bodyPr wrap="square" lIns="0" tIns="0" rIns="0" bIns="0" rtlCol="0" anchor="t"/>
          <a:lstStyle/>
          <a:p>
            <a:pPr algn="l" indent="0" marL="0">
              <a:buNone/>
            </a:pPr>
            <a:r>
              <a:rPr lang="en-US" sz="2550" b="1" dirty="0">
                <a:solidFill>
                  <a:srgbClr val="15171C"/>
                </a:solidFill>
              </a:rPr>
              <a:t>Se convierten en entidad</a:t>
            </a:r>
            <a:endParaRPr lang="en-US" sz="2550" dirty="0"/>
          </a:p>
        </p:txBody>
      </p:sp>
      <p:sp>
        <p:nvSpPr>
          <p:cNvPr id="13" name="card-p-1854"/>
          <p:cNvSpPr txBox="1"/>
          <p:nvPr/>
        </p:nvSpPr>
        <p:spPr>
          <a:xfrm>
            <a:off x="4536338" y="3218002"/>
            <a:ext cx="3119018" cy="1468069"/>
          </a:xfrm>
          <a:prstGeom prst="rect">
            <a:avLst/>
          </a:prstGeom>
          <a:noFill/>
          <a:ln/>
        </p:spPr>
        <p:txBody>
          <a:bodyPr wrap="square" lIns="0" tIns="0" rIns="0" bIns="0" rtlCol="0" anchor="t"/>
          <a:lstStyle/>
          <a:p>
            <a:pPr algn="l" indent="0" marL="0">
              <a:buNone/>
            </a:pPr>
            <a:r>
              <a:rPr lang="en-US" sz="2300" dirty="0">
                <a:solidFill>
                  <a:srgbClr val="4B4F58"/>
                </a:solidFill>
              </a:rPr>
              <a:t>Si </a:t>
            </a:r>
            <a:pPr algn="l" indent="0" marL="0">
              <a:buNone/>
            </a:pPr>
            <a:r>
              <a:rPr lang="en-US" sz="2300" dirty="0">
                <a:solidFill>
                  <a:srgbClr val="0D1A7A"/>
                </a:solidFill>
                <a:latin typeface="Courier New" pitchFamily="34" charset="0"/>
                <a:ea typeface="Courier New" pitchFamily="34" charset="-122"/>
                <a:cs typeface="Courier New" pitchFamily="34" charset="-120"/>
              </a:rPr>
              <a:t>email</a:t>
            </a:r>
            <a:pPr algn="l" indent="0" marL="0">
              <a:buNone/>
            </a:pPr>
            <a:r>
              <a:rPr lang="en-US" sz="2300" dirty="0">
                <a:solidFill>
                  <a:srgbClr val="4B4F58"/>
                </a:solidFill>
              </a:rPr>
              <a:t> admite varios valores: entidad EMAIL relacionada 1:N con EMPLEADO.</a:t>
            </a:r>
            <a:endParaRPr lang="en-US" sz="2300" dirty="0"/>
          </a:p>
        </p:txBody>
      </p:sp>
      <p:sp>
        <p:nvSpPr>
          <p:cNvPr id="14" name="card-1855"/>
          <p:cNvSpPr/>
          <p:nvPr/>
        </p:nvSpPr>
        <p:spPr>
          <a:xfrm>
            <a:off x="8021117" y="1783080"/>
            <a:ext cx="3484778" cy="3104159"/>
          </a:xfrm>
          <a:prstGeom prst="roundRect">
            <a:avLst>
              <a:gd name="adj" fmla="val 3535"/>
            </a:avLst>
          </a:prstGeom>
          <a:solidFill>
            <a:schemeClr val="bg1"/>
          </a:solidFill>
          <a:ln w="19050">
            <a:solidFill>
              <a:srgbClr val="15171C"/>
            </a:solidFill>
            <a:prstDash val="solid"/>
          </a:ln>
        </p:spPr>
      </p:sp>
      <p:sp>
        <p:nvSpPr>
          <p:cNvPr id="15" name="tag-pill-1856"/>
          <p:cNvSpPr/>
          <p:nvPr/>
        </p:nvSpPr>
        <p:spPr>
          <a:xfrm>
            <a:off x="8203997" y="1947672"/>
            <a:ext cx="1013155" cy="256032"/>
          </a:xfrm>
          <a:prstGeom prst="roundRect">
            <a:avLst>
              <a:gd name="adj" fmla="val 50000"/>
            </a:avLst>
          </a:prstGeom>
          <a:solidFill>
            <a:srgbClr val="E8EBFC"/>
          </a:solidFill>
          <a:ln/>
        </p:spPr>
      </p:sp>
      <p:sp>
        <p:nvSpPr>
          <p:cNvPr id="16" name="tag-1857"/>
          <p:cNvSpPr txBox="1"/>
          <p:nvPr/>
        </p:nvSpPr>
        <p:spPr>
          <a:xfrm>
            <a:off x="8203997" y="1947672"/>
            <a:ext cx="1013155" cy="256032"/>
          </a:xfrm>
          <a:prstGeom prst="rect">
            <a:avLst/>
          </a:prstGeom>
          <a:noFill/>
          <a:ln/>
        </p:spPr>
        <p:txBody>
          <a:bodyPr wrap="square" lIns="0" tIns="0" rIns="0" bIns="0" rtlCol="0" anchor="ctr"/>
          <a:lstStyle/>
          <a:p>
            <a:pPr algn="ctr" indent="0" marL="0">
              <a:buNone/>
            </a:pPr>
            <a:r>
              <a:rPr lang="en-US" sz="1100" b="1" dirty="0">
                <a:solidFill>
                  <a:srgbClr val="0D1A7A"/>
                </a:solidFill>
              </a:rPr>
              <a:t>DERIVADOS</a:t>
            </a:r>
            <a:endParaRPr lang="en-US" sz="1100" dirty="0"/>
          </a:p>
        </p:txBody>
      </p:sp>
      <p:sp>
        <p:nvSpPr>
          <p:cNvPr id="17" name="card-h-1858"/>
          <p:cNvSpPr txBox="1"/>
          <p:nvPr/>
        </p:nvSpPr>
        <p:spPr>
          <a:xfrm>
            <a:off x="8203997" y="2331720"/>
            <a:ext cx="3119018" cy="488861"/>
          </a:xfrm>
          <a:prstGeom prst="rect">
            <a:avLst/>
          </a:prstGeom>
          <a:noFill/>
          <a:ln/>
        </p:spPr>
        <p:txBody>
          <a:bodyPr wrap="square" lIns="0" tIns="0" rIns="0" bIns="0" rtlCol="0" anchor="t"/>
          <a:lstStyle/>
          <a:p>
            <a:pPr algn="l" indent="0" marL="0">
              <a:buNone/>
            </a:pPr>
            <a:r>
              <a:rPr lang="en-US" sz="2550" b="1" dirty="0">
                <a:solidFill>
                  <a:srgbClr val="15171C"/>
                </a:solidFill>
              </a:rPr>
              <a:t>No se almacenan</a:t>
            </a:r>
            <a:endParaRPr lang="en-US" sz="2550" dirty="0"/>
          </a:p>
        </p:txBody>
      </p:sp>
      <p:sp>
        <p:nvSpPr>
          <p:cNvPr id="18" name="card-p-1859"/>
          <p:cNvSpPr txBox="1"/>
          <p:nvPr/>
        </p:nvSpPr>
        <p:spPr>
          <a:xfrm>
            <a:off x="8203997" y="2820581"/>
            <a:ext cx="3119018" cy="1468069"/>
          </a:xfrm>
          <a:prstGeom prst="rect">
            <a:avLst/>
          </a:prstGeom>
          <a:noFill/>
          <a:ln/>
        </p:spPr>
        <p:txBody>
          <a:bodyPr wrap="square" lIns="0" tIns="0" rIns="0" bIns="0" rtlCol="0" anchor="t"/>
          <a:lstStyle/>
          <a:p>
            <a:pPr algn="l" indent="0" marL="0">
              <a:buNone/>
            </a:pPr>
            <a:r>
              <a:rPr lang="en-US" sz="2300" dirty="0">
                <a:solidFill>
                  <a:srgbClr val="0D1A7A"/>
                </a:solidFill>
                <a:latin typeface="Courier New" pitchFamily="34" charset="0"/>
                <a:ea typeface="Courier New" pitchFamily="34" charset="-122"/>
                <a:cs typeface="Courier New" pitchFamily="34" charset="-120"/>
              </a:rPr>
              <a:t>edad</a:t>
            </a:r>
            <a:pPr algn="l" indent="0" marL="0">
              <a:buNone/>
            </a:pPr>
            <a:r>
              <a:rPr lang="en-US" sz="2300" dirty="0">
                <a:solidFill>
                  <a:srgbClr val="4B4F58"/>
                </a:solidFill>
              </a:rPr>
              <a:t> se calcula al consultar; guardarla es pedir inconsistencias.</a:t>
            </a:r>
            <a:endParaRPr lang="en-US" sz="2300" dirty="0"/>
          </a:p>
        </p:txBody>
      </p:sp>
      <p:sp>
        <p:nvSpPr>
          <p:cNvPr id="19" name="note-1860"/>
          <p:cNvSpPr txBox="1"/>
          <p:nvPr/>
        </p:nvSpPr>
        <p:spPr>
          <a:xfrm>
            <a:off x="685800" y="5070119"/>
            <a:ext cx="10820095" cy="882396"/>
          </a:xfrm>
          <a:prstGeom prst="rect">
            <a:avLst/>
          </a:prstGeom>
          <a:noFill/>
          <a:ln/>
        </p:spPr>
        <p:txBody>
          <a:bodyPr wrap="square" lIns="0" tIns="0" rIns="0" bIns="0" rtlCol="0" anchor="t"/>
          <a:lstStyle/>
          <a:p>
            <a:pPr algn="l" indent="0" marL="0">
              <a:buNone/>
            </a:pPr>
            <a:r>
              <a:rPr lang="en-US" sz="2700" dirty="0">
                <a:solidFill>
                  <a:srgbClr val="4B4F58"/>
                </a:solidFill>
              </a:rPr>
              <a:t>Después, una pregunta lo resuelve casi todo: mira lo que está </a:t>
            </a:r>
            <a:pPr algn="l" indent="0" marL="0">
              <a:buNone/>
            </a:pPr>
            <a:r>
              <a:rPr lang="en-US" sz="2700" b="1" dirty="0">
                <a:solidFill>
                  <a:srgbClr val="4B4F58"/>
                </a:solidFill>
              </a:rPr>
              <a:t>pintado</a:t>
            </a:r>
            <a:pPr algn="l" indent="0" marL="0">
              <a:buNone/>
            </a:pPr>
            <a:r>
              <a:rPr lang="en-US" sz="2700" dirty="0">
                <a:solidFill>
                  <a:srgbClr val="4B4F58"/>
                </a:solidFill>
              </a:rPr>
              <a:t> junto a cada entidad (la N y el (0,1)).</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Reglas 1 y 2: entidades</a:t>
            </a:r>
            <a:endParaRPr lang="en-US" sz="4000" dirty="0"/>
          </a:p>
        </p:txBody>
      </p:sp>
      <p:pic>
        <p:nvPicPr>
          <p:cNvPr id="4" name="imagen-1870" descr="Diagrama / tabla de la diapositiva">    </p:cNvPr>
          <p:cNvPicPr>
            <a:picLocks noChangeAspect="1"/>
          </p:cNvPicPr>
          <p:nvPr/>
        </p:nvPicPr>
        <p:blipFill>
          <a:blip r:embed="rId1"/>
          <a:stretch>
            <a:fillRect/>
          </a:stretch>
        </p:blipFill>
        <p:spPr>
          <a:xfrm>
            <a:off x="685800" y="2377440"/>
            <a:ext cx="5626450" cy="1662028"/>
          </a:xfrm>
          <a:prstGeom prst="rect">
            <a:avLst/>
          </a:prstGeom>
        </p:spPr>
      </p:pic>
      <p:pic>
        <p:nvPicPr>
          <p:cNvPr id="5" name="imagen-1871" descr="Diagrama / tabla de la diapositiva">    </p:cNvPr>
          <p:cNvPicPr>
            <a:picLocks noChangeAspect="1"/>
          </p:cNvPicPr>
          <p:nvPr/>
        </p:nvPicPr>
        <p:blipFill>
          <a:blip r:embed="rId2"/>
          <a:stretch>
            <a:fillRect/>
          </a:stretch>
        </p:blipFill>
        <p:spPr>
          <a:xfrm>
            <a:off x="6745053" y="2377440"/>
            <a:ext cx="4760842" cy="1326771"/>
          </a:xfrm>
          <a:prstGeom prst="rect">
            <a:avLst/>
          </a:prstGeom>
        </p:spPr>
      </p:pic>
      <p:sp>
        <p:nvSpPr>
          <p:cNvPr id="6" name="note-1872"/>
          <p:cNvSpPr txBox="1"/>
          <p:nvPr/>
        </p:nvSpPr>
        <p:spPr>
          <a:xfrm>
            <a:off x="685800" y="4222348"/>
            <a:ext cx="10820095" cy="1595120"/>
          </a:xfrm>
          <a:prstGeom prst="rect">
            <a:avLst/>
          </a:prstGeom>
          <a:noFill/>
          <a:ln/>
        </p:spPr>
        <p:txBody>
          <a:bodyPr wrap="square" lIns="0" tIns="0" rIns="0" bIns="0" rtlCol="0" anchor="t"/>
          <a:lstStyle/>
          <a:p>
            <a:pPr algn="l" indent="0" marL="0">
              <a:buNone/>
            </a:pPr>
            <a:r>
              <a:rPr lang="en-US" sz="2500" b="1" dirty="0">
                <a:solidFill>
                  <a:srgbClr val="4B4F58"/>
                </a:solidFill>
              </a:rPr>
              <a:t>Fuerte</a:t>
            </a:r>
            <a:pPr algn="l" indent="0" marL="0">
              <a:buNone/>
            </a:pPr>
            <a:r>
              <a:rPr lang="en-US" sz="2500" dirty="0">
                <a:solidFill>
                  <a:srgbClr val="4B4F58"/>
                </a:solidFill>
              </a:rPr>
              <a:t> → una tabla; su identificador es la clave primaria. </a:t>
            </a:r>
            <a:pPr algn="l" indent="0" marL="0">
              <a:buNone/>
            </a:pPr>
            <a:r>
              <a:rPr lang="en-US" sz="2500" b="1" dirty="0">
                <a:solidFill>
                  <a:srgbClr val="4B4F58"/>
                </a:solidFill>
              </a:rPr>
              <a:t>Débil</a:t>
            </a:r>
            <a:pPr algn="l" indent="0" marL="0">
              <a:buNone/>
            </a:pPr>
            <a:r>
              <a:rPr lang="en-US" sz="2500" dirty="0">
                <a:solidFill>
                  <a:srgbClr val="4B4F58"/>
                </a:solidFill>
              </a:rPr>
              <a:t> → una tabla con todos sus atributos más la clave de la fuerte (foránea), que forma parte de su clave junto al identificador parcial. Normalmente con </a:t>
            </a:r>
            <a:pPr algn="l" indent="0" marL="0">
              <a:buNone/>
            </a:pPr>
            <a:r>
              <a:rPr lang="en-US" sz="2500" dirty="0">
                <a:solidFill>
                  <a:srgbClr val="0D1A7A"/>
                </a:solidFill>
                <a:latin typeface="Courier New" pitchFamily="34" charset="0"/>
                <a:ea typeface="Courier New" pitchFamily="34" charset="-122"/>
                <a:cs typeface="Courier New" pitchFamily="34" charset="-120"/>
              </a:rPr>
              <a:t>ON DELETE CASCADE</a:t>
            </a:r>
            <a:pPr algn="l" indent="0" marL="0">
              <a:buNone/>
            </a:pPr>
            <a:r>
              <a:rPr lang="en-US" sz="2500" dirty="0">
                <a:solidFill>
                  <a:srgbClr val="4B4F58"/>
                </a:solidFill>
              </a:rPr>
              <a:t>.</a:t>
            </a:r>
            <a:endParaRPr lang="en-US" sz="2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Regla 1 con diccionario de datos</a:t>
            </a:r>
            <a:endParaRPr lang="en-US" sz="4000" dirty="0"/>
          </a:p>
        </p:txBody>
      </p:sp>
      <p:sp>
        <p:nvSpPr>
          <p:cNvPr id="4" name="lede-2008"/>
          <p:cNvSpPr txBox="1"/>
          <p:nvPr/>
        </p:nvSpPr>
        <p:spPr>
          <a:xfrm>
            <a:off x="685800" y="2377440"/>
            <a:ext cx="10820095" cy="335458"/>
          </a:xfrm>
          <a:prstGeom prst="rect">
            <a:avLst/>
          </a:prstGeom>
          <a:noFill/>
          <a:ln/>
        </p:spPr>
        <p:txBody>
          <a:bodyPr wrap="square" lIns="0" tIns="0" rIns="0" bIns="0" rtlCol="0" anchor="t"/>
          <a:lstStyle/>
          <a:p>
            <a:pPr algn="l" indent="0" marL="0">
              <a:buNone/>
            </a:pPr>
            <a:r>
              <a:rPr lang="en-US" sz="1850" dirty="0">
                <a:solidFill>
                  <a:srgbClr val="4B4F58"/>
                </a:solidFill>
              </a:rPr>
              <a:t>Todas las entidades se transforman en </a:t>
            </a:r>
            <a:pPr algn="l" indent="0" marL="0">
              <a:buNone/>
            </a:pPr>
            <a:r>
              <a:rPr lang="en-US" sz="1850" b="1" dirty="0">
                <a:solidFill>
                  <a:srgbClr val="4B4F58"/>
                </a:solidFill>
              </a:rPr>
              <a:t>una tabla</a:t>
            </a:r>
            <a:pPr algn="l" indent="0" marL="0">
              <a:buNone/>
            </a:pPr>
            <a:r>
              <a:rPr lang="en-US" sz="1850" dirty="0">
                <a:solidFill>
                  <a:srgbClr val="4B4F58"/>
                </a:solidFill>
              </a:rPr>
              <a:t>.</a:t>
            </a:r>
            <a:endParaRPr lang="en-US" sz="1850" dirty="0"/>
          </a:p>
        </p:txBody>
      </p:sp>
      <p:sp>
        <p:nvSpPr>
          <p:cNvPr id="5" name="schema-card-2009"/>
          <p:cNvSpPr/>
          <p:nvPr/>
        </p:nvSpPr>
        <p:spPr>
          <a:xfrm>
            <a:off x="685800" y="2895778"/>
            <a:ext cx="5626450" cy="752666"/>
          </a:xfrm>
          <a:prstGeom prst="roundRect">
            <a:avLst>
              <a:gd name="adj" fmla="val 14579"/>
            </a:avLst>
          </a:prstGeom>
          <a:solidFill>
            <a:schemeClr val="bg1"/>
          </a:solidFill>
          <a:ln w="19050">
            <a:solidFill>
              <a:schemeClr val="tx1"/>
            </a:solidFill>
            <a:prstDash val="solid"/>
          </a:ln>
        </p:spPr>
      </p:sp>
      <p:sp>
        <p:nvSpPr>
          <p:cNvPr id="6" name="schema-text-2010"/>
          <p:cNvSpPr txBox="1"/>
          <p:nvPr/>
        </p:nvSpPr>
        <p:spPr>
          <a:xfrm>
            <a:off x="914400" y="3032938"/>
            <a:ext cx="5169250" cy="249746"/>
          </a:xfrm>
          <a:prstGeom prst="rect">
            <a:avLst/>
          </a:prstGeom>
          <a:noFill/>
          <a:ln/>
        </p:spPr>
        <p:txBody>
          <a:bodyPr wrap="square" lIns="0" tIns="0" rIns="0" bIns="0" rtlCol="0" anchor="t"/>
          <a:lstStyle/>
          <a:p>
            <a:pPr indent="0" marL="0">
              <a:buNone/>
            </a:pPr>
            <a:r>
              <a:rPr lang="en-US" sz="1200" b="1" dirty="0">
                <a:solidFill>
                  <a:srgbClr val="15171C"/>
                </a:solidFill>
                <a:latin typeface="Courier New" pitchFamily="34" charset="0"/>
                <a:ea typeface="Courier New" pitchFamily="34" charset="-122"/>
                <a:cs typeface="Courier New" pitchFamily="34" charset="-120"/>
              </a:rPr>
              <a:t>ALUMNOS</a:t>
            </a:r>
            <a:pPr indent="0" marL="0">
              <a:buNone/>
            </a:pPr>
            <a:r>
              <a:rPr lang="en-US" sz="1200" dirty="0">
                <a:solidFill>
                  <a:srgbClr val="15171C"/>
                </a:solidFill>
                <a:latin typeface="Courier New" pitchFamily="34" charset="0"/>
                <a:ea typeface="Courier New" pitchFamily="34" charset="-122"/>
                <a:cs typeface="Courier New" pitchFamily="34" charset="-120"/>
              </a:rPr>
              <a:t>(</a:t>
            </a:r>
            <a:pPr indent="0" marL="0">
              <a:buNone/>
            </a:pPr>
            <a:r>
              <a:rPr lang="en-US" sz="1200" u="sng" dirty="0">
                <a:solidFill>
                  <a:srgbClr val="15171C"/>
                </a:solidFill>
                <a:latin typeface="Courier New" pitchFamily="34" charset="0"/>
                <a:ea typeface="Courier New" pitchFamily="34" charset="-122"/>
                <a:cs typeface="Courier New" pitchFamily="34" charset="-120"/>
              </a:rPr>
              <a:t>DNI</a:t>
            </a:r>
            <a:pPr indent="0" marL="0">
              <a:buNone/>
            </a:pPr>
            <a:r>
              <a:rPr lang="en-US" sz="1200" dirty="0">
                <a:solidFill>
                  <a:srgbClr val="15171C"/>
                </a:solidFill>
                <a:latin typeface="Courier New" pitchFamily="34" charset="0"/>
                <a:ea typeface="Courier New" pitchFamily="34" charset="-122"/>
                <a:cs typeface="Courier New" pitchFamily="34" charset="-120"/>
              </a:rPr>
              <a:t>, </a:t>
            </a:r>
            <a:pPr indent="0" marL="0">
              <a:buNone/>
            </a:pPr>
            <a:r>
              <a:rPr lang="en-US" sz="1200" dirty="0">
                <a:solidFill>
                  <a:srgbClr val="15171C"/>
                </a:solidFill>
                <a:latin typeface="Courier New" pitchFamily="34" charset="0"/>
                <a:ea typeface="Courier New" pitchFamily="34" charset="-122"/>
                <a:cs typeface="Courier New" pitchFamily="34" charset="-120"/>
              </a:rPr>
              <a:t>Nombre</a:t>
            </a:r>
            <a:pPr indent="0" marL="0">
              <a:buNone/>
            </a:pPr>
            <a:r>
              <a:rPr lang="en-US" sz="1200" dirty="0">
                <a:solidFill>
                  <a:srgbClr val="15171C"/>
                </a:solidFill>
                <a:latin typeface="Courier New" pitchFamily="34" charset="0"/>
                <a:ea typeface="Courier New" pitchFamily="34" charset="-122"/>
                <a:cs typeface="Courier New" pitchFamily="34" charset="-120"/>
              </a:rPr>
              <a:t>, </a:t>
            </a:r>
            <a:pPr indent="0" marL="0">
              <a:buNone/>
            </a:pPr>
            <a:r>
              <a:rPr lang="en-US" sz="1200" dirty="0">
                <a:solidFill>
                  <a:srgbClr val="15171C"/>
                </a:solidFill>
                <a:latin typeface="Courier New" pitchFamily="34" charset="0"/>
                <a:ea typeface="Courier New" pitchFamily="34" charset="-122"/>
                <a:cs typeface="Courier New" pitchFamily="34" charset="-120"/>
              </a:rPr>
              <a:t>Teléfono</a:t>
            </a:r>
            <a:pPr indent="0" marL="0">
              <a:buNone/>
            </a:pPr>
            <a:r>
              <a:rPr lang="en-US" sz="1200" dirty="0">
                <a:solidFill>
                  <a:srgbClr val="15171C"/>
                </a:solidFill>
                <a:latin typeface="Courier New" pitchFamily="34" charset="0"/>
                <a:ea typeface="Courier New" pitchFamily="34" charset="-122"/>
                <a:cs typeface="Courier New" pitchFamily="34" charset="-120"/>
              </a:rPr>
              <a:t>, </a:t>
            </a:r>
            <a:pPr indent="0" marL="0">
              <a:buNone/>
            </a:pPr>
            <a:r>
              <a:rPr lang="en-US" sz="1200" dirty="0">
                <a:solidFill>
                  <a:srgbClr val="15171C"/>
                </a:solidFill>
                <a:latin typeface="Courier New" pitchFamily="34" charset="0"/>
                <a:ea typeface="Courier New" pitchFamily="34" charset="-122"/>
                <a:cs typeface="Courier New" pitchFamily="34" charset="-120"/>
              </a:rPr>
              <a:t>Email</a:t>
            </a:r>
            <a:pPr indent="0" marL="0">
              <a:buNone/>
            </a:pPr>
            <a:r>
              <a:rPr lang="en-US" sz="1200" dirty="0">
                <a:solidFill>
                  <a:srgbClr val="15171C"/>
                </a:solidFill>
                <a:latin typeface="Courier New" pitchFamily="34" charset="0"/>
                <a:ea typeface="Courier New" pitchFamily="34" charset="-122"/>
                <a:cs typeface="Courier New" pitchFamily="34" charset="-120"/>
              </a:rPr>
              <a:t>, </a:t>
            </a:r>
            <a:pPr indent="0" marL="0">
              <a:buNone/>
            </a:pPr>
            <a:r>
              <a:rPr lang="en-US" sz="1200" dirty="0">
                <a:solidFill>
                  <a:srgbClr val="15171C"/>
                </a:solidFill>
                <a:latin typeface="Courier New" pitchFamily="34" charset="0"/>
                <a:ea typeface="Courier New" pitchFamily="34" charset="-122"/>
                <a:cs typeface="Courier New" pitchFamily="34" charset="-120"/>
              </a:rPr>
              <a:t>Dirección</a:t>
            </a:r>
            <a:pPr indent="0" marL="0">
              <a:buNone/>
            </a:pPr>
            <a:r>
              <a:rPr lang="en-US" sz="1200" dirty="0">
                <a:solidFill>
                  <a:srgbClr val="15171C"/>
                </a:solidFill>
                <a:latin typeface="Courier New" pitchFamily="34" charset="0"/>
                <a:ea typeface="Courier New" pitchFamily="34" charset="-122"/>
                <a:cs typeface="Courier New" pitchFamily="34" charset="-120"/>
              </a:rPr>
              <a:t>)</a:t>
            </a:r>
            <a:endParaRPr lang="en-US" sz="1200" dirty="0"/>
          </a:p>
        </p:txBody>
      </p:sp>
      <p:sp>
        <p:nvSpPr>
          <p:cNvPr id="7" name="schema-legend-2011"/>
          <p:cNvSpPr txBox="1"/>
          <p:nvPr/>
        </p:nvSpPr>
        <p:spPr>
          <a:xfrm>
            <a:off x="914400" y="3355835"/>
            <a:ext cx="5169250"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8" name="marker-2012"/>
          <p:cNvSpPr txBox="1"/>
          <p:nvPr/>
        </p:nvSpPr>
        <p:spPr>
          <a:xfrm>
            <a:off x="6745053" y="2895778"/>
            <a:ext cx="365760" cy="581660"/>
          </a:xfrm>
          <a:prstGeom prst="rect">
            <a:avLst/>
          </a:prstGeom>
          <a:noFill/>
          <a:ln/>
        </p:spPr>
        <p:txBody>
          <a:bodyPr wrap="square" lIns="0" tIns="0" rIns="0" bIns="0" rtlCol="0" anchor="t"/>
          <a:lstStyle/>
          <a:p>
            <a:pPr indent="0" marL="0">
              <a:buNone/>
            </a:pPr>
            <a:r>
              <a:rPr lang="en-US" sz="1700" b="1" dirty="0">
                <a:solidFill>
                  <a:srgbClr val="1B39E6"/>
                </a:solidFill>
              </a:rPr>
              <a:t>•</a:t>
            </a:r>
            <a:endParaRPr lang="en-US" sz="1700" dirty="0"/>
          </a:p>
        </p:txBody>
      </p:sp>
      <p:sp>
        <p:nvSpPr>
          <p:cNvPr id="9" name="item-2013"/>
          <p:cNvSpPr txBox="1"/>
          <p:nvPr/>
        </p:nvSpPr>
        <p:spPr>
          <a:xfrm>
            <a:off x="7156533" y="2895778"/>
            <a:ext cx="4349362" cy="581660"/>
          </a:xfrm>
          <a:prstGeom prst="rect">
            <a:avLst/>
          </a:prstGeom>
          <a:noFill/>
          <a:ln/>
        </p:spPr>
        <p:txBody>
          <a:bodyPr wrap="square" lIns="0" tIns="0" rIns="0" bIns="0" rtlCol="0" anchor="t"/>
          <a:lstStyle/>
          <a:p>
            <a:pPr algn="l" indent="0" marL="0">
              <a:buNone/>
            </a:pPr>
            <a:r>
              <a:rPr lang="en-US" sz="1700" dirty="0">
                <a:solidFill>
                  <a:srgbClr val="4B4F58"/>
                </a:solidFill>
              </a:rPr>
              <a:t>Forma compacta, solo con los nombres.</a:t>
            </a:r>
            <a:endParaRPr lang="en-US" sz="1700" dirty="0"/>
          </a:p>
        </p:txBody>
      </p:sp>
      <p:sp>
        <p:nvSpPr>
          <p:cNvPr id="10" name="marker-2014"/>
          <p:cNvSpPr txBox="1"/>
          <p:nvPr/>
        </p:nvSpPr>
        <p:spPr>
          <a:xfrm>
            <a:off x="6745053" y="3568878"/>
            <a:ext cx="365760" cy="845058"/>
          </a:xfrm>
          <a:prstGeom prst="rect">
            <a:avLst/>
          </a:prstGeom>
          <a:noFill/>
          <a:ln/>
        </p:spPr>
        <p:txBody>
          <a:bodyPr wrap="square" lIns="0" tIns="0" rIns="0" bIns="0" rtlCol="0" anchor="t"/>
          <a:lstStyle/>
          <a:p>
            <a:pPr indent="0" marL="0">
              <a:buNone/>
            </a:pPr>
            <a:r>
              <a:rPr lang="en-US" sz="1700" b="1" dirty="0">
                <a:solidFill>
                  <a:srgbClr val="1B39E6"/>
                </a:solidFill>
              </a:rPr>
              <a:t>•</a:t>
            </a:r>
            <a:endParaRPr lang="en-US" sz="1700" dirty="0"/>
          </a:p>
        </p:txBody>
      </p:sp>
      <p:sp>
        <p:nvSpPr>
          <p:cNvPr id="11" name="item-2015"/>
          <p:cNvSpPr txBox="1"/>
          <p:nvPr/>
        </p:nvSpPr>
        <p:spPr>
          <a:xfrm>
            <a:off x="7156533" y="3568878"/>
            <a:ext cx="4349362" cy="845058"/>
          </a:xfrm>
          <a:prstGeom prst="rect">
            <a:avLst/>
          </a:prstGeom>
          <a:noFill/>
          <a:ln/>
        </p:spPr>
        <p:txBody>
          <a:bodyPr wrap="square" lIns="0" tIns="0" rIns="0" bIns="0" rtlCol="0" anchor="t"/>
          <a:lstStyle/>
          <a:p>
            <a:pPr algn="l" indent="0" marL="0">
              <a:buNone/>
            </a:pPr>
            <a:r>
              <a:rPr lang="en-US" sz="1700" dirty="0">
                <a:solidFill>
                  <a:srgbClr val="4B4F58"/>
                </a:solidFill>
              </a:rPr>
              <a:t>O bien un </a:t>
            </a:r>
            <a:pPr algn="l" indent="0" marL="0">
              <a:buNone/>
            </a:pPr>
            <a:r>
              <a:rPr lang="en-US" sz="1700" b="1" dirty="0">
                <a:solidFill>
                  <a:srgbClr val="4B4F58"/>
                </a:solidFill>
              </a:rPr>
              <a:t>diccionario de datos</a:t>
            </a:r>
            <a:pPr algn="l" indent="0" marL="0">
              <a:buNone/>
            </a:pPr>
            <a:r>
              <a:rPr lang="en-US" sz="1700" dirty="0">
                <a:solidFill>
                  <a:srgbClr val="4B4F58"/>
                </a:solidFill>
              </a:rPr>
              <a:t>: significado, tipo y regla de integridad de cada atributo.</a:t>
            </a:r>
            <a:endParaRPr lang="en-US" sz="1700" dirty="0"/>
          </a:p>
        </p:txBody>
      </p:sp>
      <p:pic>
        <p:nvPicPr>
          <p:cNvPr id="12" name="imagen-2016" descr="Diagrama / tabla de la diapositiva">    </p:cNvPr>
          <p:cNvPicPr>
            <a:picLocks noChangeAspect="1"/>
          </p:cNvPicPr>
          <p:nvPr/>
        </p:nvPicPr>
        <p:blipFill>
          <a:blip r:embed="rId1"/>
          <a:stretch>
            <a:fillRect/>
          </a:stretch>
        </p:blipFill>
        <p:spPr>
          <a:xfrm>
            <a:off x="685800" y="4596816"/>
            <a:ext cx="9641222" cy="1803984"/>
          </a:xfrm>
          <a:prstGeom prst="rect">
            <a:avLst/>
          </a:prstGeom>
        </p:spPr>
      </p:pic>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Regla 3: N:M siempre es una tabla</a:t>
            </a:r>
            <a:endParaRPr lang="en-US" sz="4000" dirty="0"/>
          </a:p>
        </p:txBody>
      </p:sp>
      <p:pic>
        <p:nvPicPr>
          <p:cNvPr id="4" name="imagen-2020" descr="Diagrama / tabla de la diapositiva">    </p:cNvPr>
          <p:cNvPicPr>
            <a:picLocks noChangeAspect="1"/>
          </p:cNvPicPr>
          <p:nvPr/>
        </p:nvPicPr>
        <p:blipFill>
          <a:blip r:embed="rId1"/>
          <a:stretch>
            <a:fillRect/>
          </a:stretch>
        </p:blipFill>
        <p:spPr>
          <a:xfrm>
            <a:off x="685800" y="1981978"/>
            <a:ext cx="5626450" cy="2187667"/>
          </a:xfrm>
          <a:prstGeom prst="rect">
            <a:avLst/>
          </a:prstGeom>
        </p:spPr>
      </p:pic>
      <p:pic>
        <p:nvPicPr>
          <p:cNvPr id="5" name="imagen-2021" descr="Diagrama / tabla de la diapositiva">    </p:cNvPr>
          <p:cNvPicPr>
            <a:picLocks noChangeAspect="1"/>
          </p:cNvPicPr>
          <p:nvPr/>
        </p:nvPicPr>
        <p:blipFill>
          <a:blip r:embed="rId2"/>
          <a:stretch>
            <a:fillRect/>
          </a:stretch>
        </p:blipFill>
        <p:spPr>
          <a:xfrm>
            <a:off x="6745053" y="1981978"/>
            <a:ext cx="4760842" cy="1655373"/>
          </a:xfrm>
          <a:prstGeom prst="rect">
            <a:avLst/>
          </a:prstGeom>
        </p:spPr>
      </p:pic>
      <p:sp>
        <p:nvSpPr>
          <p:cNvPr id="6" name="note-2022"/>
          <p:cNvSpPr txBox="1"/>
          <p:nvPr/>
        </p:nvSpPr>
        <p:spPr>
          <a:xfrm>
            <a:off x="685800" y="4352525"/>
            <a:ext cx="10820095" cy="1393698"/>
          </a:xfrm>
          <a:prstGeom prst="rect">
            <a:avLst/>
          </a:prstGeom>
          <a:noFill/>
          <a:ln/>
        </p:spPr>
        <p:txBody>
          <a:bodyPr wrap="square" lIns="0" tIns="0" rIns="0" bIns="0" rtlCol="0" anchor="t"/>
          <a:lstStyle/>
          <a:p>
            <a:pPr algn="l" indent="0" marL="0">
              <a:buNone/>
            </a:pPr>
            <a:r>
              <a:rPr lang="en-US" sz="2900" dirty="0">
                <a:solidFill>
                  <a:srgbClr val="4B4F58"/>
                </a:solidFill>
              </a:rPr>
              <a:t>La clave primaria es la </a:t>
            </a:r>
            <a:pPr algn="l" indent="0" marL="0">
              <a:buNone/>
            </a:pPr>
            <a:r>
              <a:rPr lang="en-US" sz="2900" b="1" dirty="0">
                <a:solidFill>
                  <a:srgbClr val="4B4F58"/>
                </a:solidFill>
              </a:rPr>
              <a:t>unión de las dos foráneas</a:t>
            </a:r>
            <a:pPr algn="l" indent="0" marL="0">
              <a:buNone/>
            </a:pPr>
            <a:r>
              <a:rPr lang="en-US" sz="2900" dirty="0">
                <a:solidFill>
                  <a:srgbClr val="4B4F58"/>
                </a:solidFill>
              </a:rPr>
              <a:t>. Si hay que guardar un histórico (repetir la pareja en fechas distintas), la fecha entra en la clave.</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N:M: alumnos y asignaturas</a:t>
            </a:r>
            <a:endParaRPr lang="en-US" sz="4000" dirty="0"/>
          </a:p>
        </p:txBody>
      </p:sp>
      <p:pic>
        <p:nvPicPr>
          <p:cNvPr id="4" name="imagen-2033" descr="Diagrama / tabla de la diapositiva">    </p:cNvPr>
          <p:cNvPicPr>
            <a:picLocks noChangeAspect="1"/>
          </p:cNvPicPr>
          <p:nvPr/>
        </p:nvPicPr>
        <p:blipFill>
          <a:blip r:embed="rId1"/>
          <a:stretch>
            <a:fillRect/>
          </a:stretch>
        </p:blipFill>
        <p:spPr>
          <a:xfrm>
            <a:off x="685800" y="1783080"/>
            <a:ext cx="5615118" cy="2194560"/>
          </a:xfrm>
          <a:prstGeom prst="rect">
            <a:avLst/>
          </a:prstGeom>
        </p:spPr>
      </p:pic>
      <p:sp>
        <p:nvSpPr>
          <p:cNvPr id="5" name="schema-card-2034"/>
          <p:cNvSpPr/>
          <p:nvPr/>
        </p:nvSpPr>
        <p:spPr>
          <a:xfrm>
            <a:off x="6745053" y="1783080"/>
            <a:ext cx="4760842" cy="2492883"/>
          </a:xfrm>
          <a:prstGeom prst="roundRect">
            <a:avLst>
              <a:gd name="adj" fmla="val 4402"/>
            </a:avLst>
          </a:prstGeom>
          <a:solidFill>
            <a:schemeClr val="bg1"/>
          </a:solidFill>
          <a:ln w="19050">
            <a:solidFill>
              <a:schemeClr val="tx1"/>
            </a:solidFill>
            <a:prstDash val="solid"/>
          </a:ln>
        </p:spPr>
      </p:sp>
      <p:sp>
        <p:nvSpPr>
          <p:cNvPr id="6" name="schema-text-2035"/>
          <p:cNvSpPr txBox="1"/>
          <p:nvPr/>
        </p:nvSpPr>
        <p:spPr>
          <a:xfrm>
            <a:off x="6973653" y="1920240"/>
            <a:ext cx="4303642" cy="1989963"/>
          </a:xfrm>
          <a:prstGeom prst="rect">
            <a:avLst/>
          </a:prstGeom>
          <a:noFill/>
          <a:ln/>
        </p:spPr>
        <p:txBody>
          <a:bodyPr wrap="square" lIns="0" tIns="0" rIns="0" bIns="0" rtlCol="0" anchor="t"/>
          <a:lstStyle/>
          <a:p>
            <a:pPr indent="0" marL="0">
              <a:buNone/>
            </a:pPr>
            <a:r>
              <a:rPr lang="en-US" sz="1900" b="1" dirty="0">
                <a:solidFill>
                  <a:srgbClr val="15171C"/>
                </a:solidFill>
                <a:latin typeface="Courier New" pitchFamily="34" charset="0"/>
                <a:ea typeface="Courier New" pitchFamily="34" charset="-122"/>
                <a:cs typeface="Courier New" pitchFamily="34" charset="-120"/>
              </a:rPr>
              <a:t>ALUMNOS</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u="sng" dirty="0">
                <a:solidFill>
                  <a:srgbClr val="15171C"/>
                </a:solidFill>
                <a:latin typeface="Courier New" pitchFamily="34" charset="0"/>
                <a:ea typeface="Courier New" pitchFamily="34" charset="-122"/>
                <a:cs typeface="Courier New" pitchFamily="34" charset="-120"/>
              </a:rPr>
              <a:t>DNI</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Nombre</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Teléfono</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Email</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Dirección</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a:p>
            <a:pPr indent="0" marL="0">
              <a:buNone/>
            </a:pPr>
            <a:r>
              <a:rPr lang="en-US" sz="1900" b="1" dirty="0">
                <a:solidFill>
                  <a:srgbClr val="15171C"/>
                </a:solidFill>
                <a:latin typeface="Courier New" pitchFamily="34" charset="0"/>
                <a:ea typeface="Courier New" pitchFamily="34" charset="-122"/>
                <a:cs typeface="Courier New" pitchFamily="34" charset="-120"/>
              </a:rPr>
              <a:t>ASIGNATURA</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u="sng" dirty="0">
                <a:solidFill>
                  <a:srgbClr val="15171C"/>
                </a:solidFill>
                <a:latin typeface="Courier New" pitchFamily="34" charset="0"/>
                <a:ea typeface="Courier New" pitchFamily="34" charset="-122"/>
                <a:cs typeface="Courier New" pitchFamily="34" charset="-120"/>
              </a:rPr>
              <a:t>Código</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Nombre</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Resumen</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Créditos</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Curso</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a:p>
            <a:pPr indent="0" marL="0">
              <a:buNone/>
            </a:pPr>
            <a:r>
              <a:rPr lang="en-US" sz="1900" b="1" dirty="0">
                <a:solidFill>
                  <a:srgbClr val="15171C"/>
                </a:solidFill>
                <a:latin typeface="Courier New" pitchFamily="34" charset="0"/>
                <a:ea typeface="Courier New" pitchFamily="34" charset="-122"/>
                <a:cs typeface="Courier New" pitchFamily="34" charset="-120"/>
              </a:rPr>
              <a:t>MATRICULADO</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i="1" u="sng" dirty="0">
                <a:solidFill>
                  <a:srgbClr val="0D1A7A"/>
                </a:solidFill>
                <a:latin typeface="Courier New" pitchFamily="34" charset="0"/>
                <a:ea typeface="Courier New" pitchFamily="34" charset="-122"/>
                <a:cs typeface="Courier New" pitchFamily="34" charset="-120"/>
              </a:rPr>
              <a:t>DNI</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i="1" u="sng" dirty="0">
                <a:solidFill>
                  <a:srgbClr val="0D1A7A"/>
                </a:solidFill>
                <a:latin typeface="Courier New" pitchFamily="34" charset="0"/>
                <a:ea typeface="Courier New" pitchFamily="34" charset="-122"/>
                <a:cs typeface="Courier New" pitchFamily="34" charset="-120"/>
              </a:rPr>
              <a:t>Código</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Fecha</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p:txBody>
      </p:sp>
      <p:sp>
        <p:nvSpPr>
          <p:cNvPr id="7" name="schema-legend-2036"/>
          <p:cNvSpPr txBox="1"/>
          <p:nvPr/>
        </p:nvSpPr>
        <p:spPr>
          <a:xfrm>
            <a:off x="6973653" y="3983355"/>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8" name="note-2037"/>
          <p:cNvSpPr txBox="1"/>
          <p:nvPr/>
        </p:nvSpPr>
        <p:spPr>
          <a:xfrm>
            <a:off x="685800" y="4458843"/>
            <a:ext cx="10820095" cy="1719072"/>
          </a:xfrm>
          <a:prstGeom prst="rect">
            <a:avLst/>
          </a:prstGeom>
          <a:noFill/>
          <a:ln/>
        </p:spPr>
        <p:txBody>
          <a:bodyPr wrap="square" lIns="0" tIns="0" rIns="0" bIns="0" rtlCol="0" anchor="t"/>
          <a:lstStyle/>
          <a:p>
            <a:pPr algn="l" indent="0" marL="0">
              <a:buNone/>
            </a:pPr>
            <a:r>
              <a:rPr lang="en-US" sz="2700" dirty="0">
                <a:solidFill>
                  <a:srgbClr val="4B4F58"/>
                </a:solidFill>
              </a:rPr>
              <a:t>Una tabla nueva con las claves primarias de las entidades que asocia; su clave es la </a:t>
            </a:r>
            <a:pPr algn="l" indent="0" marL="0">
              <a:buNone/>
            </a:pPr>
            <a:r>
              <a:rPr lang="en-US" sz="2700" b="1" dirty="0">
                <a:solidFill>
                  <a:srgbClr val="4B4F58"/>
                </a:solidFill>
              </a:rPr>
              <a:t>concatenación</a:t>
            </a:r>
            <a:pPr algn="l" indent="0" marL="0">
              <a:buNone/>
            </a:pPr>
            <a:r>
              <a:rPr lang="en-US" sz="2700" dirty="0">
                <a:solidFill>
                  <a:srgbClr val="4B4F58"/>
                </a:solidFill>
              </a:rPr>
              <a:t> de ambas. Si la relación tiene atributos (</a:t>
            </a:r>
            <a:pPr algn="l" indent="0" marL="0">
              <a:buNone/>
            </a:pPr>
            <a:r>
              <a:rPr lang="en-US" sz="2700" dirty="0">
                <a:solidFill>
                  <a:srgbClr val="0D1A7A"/>
                </a:solidFill>
                <a:latin typeface="Courier New" pitchFamily="34" charset="0"/>
                <a:ea typeface="Courier New" pitchFamily="34" charset="-122"/>
                <a:cs typeface="Courier New" pitchFamily="34" charset="-120"/>
              </a:rPr>
              <a:t>Fecha</a:t>
            </a:r>
            <a:pPr algn="l" indent="0" marL="0">
              <a:buNone/>
            </a:pPr>
            <a:r>
              <a:rPr lang="en-US" sz="2700" dirty="0">
                <a:solidFill>
                  <a:srgbClr val="4B4F58"/>
                </a:solidFill>
              </a:rPr>
              <a:t>), viajan a esa tabla. Sin atributos: </a:t>
            </a:r>
            <a:pPr algn="l" indent="0" marL="0">
              <a:buNone/>
            </a:pPr>
            <a:r>
              <a:rPr lang="en-US" sz="2700" dirty="0">
                <a:solidFill>
                  <a:srgbClr val="0D1A7A"/>
                </a:solidFill>
                <a:latin typeface="Courier New" pitchFamily="34" charset="0"/>
                <a:ea typeface="Courier New" pitchFamily="34" charset="-122"/>
                <a:cs typeface="Courier New" pitchFamily="34" charset="-120"/>
              </a:rPr>
              <a:t>MATRICULADO(DNI, Código)</a:t>
            </a:r>
            <a:pPr algn="l" indent="0" marL="0">
              <a:buNone/>
            </a:pPr>
            <a:r>
              <a:rPr lang="en-US" sz="2700" dirty="0">
                <a:solidFill>
                  <a:srgbClr val="4B4F58"/>
                </a:solidFill>
              </a:rPr>
              <a:t>.</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3000" b="1" dirty="0">
                <a:solidFill>
                  <a:schemeClr val="tx1"/>
                </a:solidFill>
              </a:rPr>
              <a:t>Regla 4: 1:N, la clave viaja al lado «muchos»</a:t>
            </a:r>
            <a:endParaRPr lang="en-US" sz="4000" dirty="0"/>
          </a:p>
        </p:txBody>
      </p:sp>
      <p:pic>
        <p:nvPicPr>
          <p:cNvPr id="4" name="imagen-2041" descr="Diagrama / tabla de la diapositiva">    </p:cNvPr>
          <p:cNvPicPr>
            <a:picLocks noChangeAspect="1"/>
          </p:cNvPicPr>
          <p:nvPr/>
        </p:nvPicPr>
        <p:blipFill>
          <a:blip r:embed="rId1"/>
          <a:stretch>
            <a:fillRect/>
          </a:stretch>
        </p:blipFill>
        <p:spPr>
          <a:xfrm>
            <a:off x="685800" y="1783080"/>
            <a:ext cx="5626450" cy="1662028"/>
          </a:xfrm>
          <a:prstGeom prst="rect">
            <a:avLst/>
          </a:prstGeom>
        </p:spPr>
      </p:pic>
      <p:pic>
        <p:nvPicPr>
          <p:cNvPr id="5" name="imagen-2042" descr="Diagrama / tabla de la diapositiva">    </p:cNvPr>
          <p:cNvPicPr>
            <a:picLocks noChangeAspect="1"/>
          </p:cNvPicPr>
          <p:nvPr/>
        </p:nvPicPr>
        <p:blipFill>
          <a:blip r:embed="rId2"/>
          <a:stretch>
            <a:fillRect/>
          </a:stretch>
        </p:blipFill>
        <p:spPr>
          <a:xfrm>
            <a:off x="6745053" y="1783080"/>
            <a:ext cx="4760842" cy="1326771"/>
          </a:xfrm>
          <a:prstGeom prst="rect">
            <a:avLst/>
          </a:prstGeom>
        </p:spPr>
      </p:pic>
      <p:sp>
        <p:nvSpPr>
          <p:cNvPr id="6" name="note-2043"/>
          <p:cNvSpPr txBox="1"/>
          <p:nvPr/>
        </p:nvSpPr>
        <p:spPr>
          <a:xfrm>
            <a:off x="685800" y="3627988"/>
            <a:ext cx="10820095" cy="2292350"/>
          </a:xfrm>
          <a:prstGeom prst="rect">
            <a:avLst/>
          </a:prstGeom>
          <a:noFill/>
          <a:ln/>
        </p:spPr>
        <p:txBody>
          <a:bodyPr wrap="square" lIns="0" tIns="0" rIns="0" bIns="0" rtlCol="0" anchor="t"/>
          <a:lstStyle/>
          <a:p>
            <a:pPr algn="l" indent="0" marL="0">
              <a:buNone/>
            </a:pPr>
            <a:r>
              <a:rPr lang="en-US" sz="2900" dirty="0">
                <a:solidFill>
                  <a:srgbClr val="4B4F58"/>
                </a:solidFill>
              </a:rPr>
              <a:t>La N está pintada junto a EMPLEADO: ahí viaja la clave. Como junto a DEPARTAMENTO está pintado (1,1), </a:t>
            </a:r>
            <a:pPr algn="l" indent="0" marL="0">
              <a:buNone/>
            </a:pPr>
            <a:r>
              <a:rPr lang="en-US" sz="2900" dirty="0">
                <a:solidFill>
                  <a:srgbClr val="0D1A7A"/>
                </a:solidFill>
                <a:latin typeface="Courier New" pitchFamily="34" charset="0"/>
                <a:ea typeface="Courier New" pitchFamily="34" charset="-122"/>
                <a:cs typeface="Courier New" pitchFamily="34" charset="-120"/>
              </a:rPr>
              <a:t>cod_dep</a:t>
            </a:r>
            <a:pPr algn="l" indent="0" marL="0">
              <a:buNone/>
            </a:pPr>
            <a:r>
              <a:rPr lang="en-US" sz="2900" dirty="0">
                <a:solidFill>
                  <a:srgbClr val="4B4F58"/>
                </a:solidFill>
              </a:rPr>
              <a:t> lleva </a:t>
            </a:r>
            <a:pPr algn="l" indent="0" marL="0">
              <a:buNone/>
            </a:pPr>
            <a:r>
              <a:rPr lang="en-US" sz="2900" dirty="0">
                <a:solidFill>
                  <a:srgbClr val="0D1A7A"/>
                </a:solidFill>
                <a:latin typeface="Courier New" pitchFamily="34" charset="0"/>
                <a:ea typeface="Courier New" pitchFamily="34" charset="-122"/>
                <a:cs typeface="Courier New" pitchFamily="34" charset="-120"/>
              </a:rPr>
              <a:t>NOT NULL</a:t>
            </a:r>
            <a:pPr algn="l" indent="0" marL="0">
              <a:buNone/>
            </a:pPr>
            <a:r>
              <a:rPr lang="en-US" sz="2900" dirty="0">
                <a:solidFill>
                  <a:srgbClr val="4B4F58"/>
                </a:solidFill>
              </a:rPr>
              <a:t>; con (0,1) admitiría nulos. Tabla propia solo si hay muchos nulos, si puede acabar siendo N:M o si la relación tiene atributos.</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1:N: alumnos y colegios</a:t>
            </a:r>
            <a:endParaRPr lang="en-US" sz="4000" dirty="0"/>
          </a:p>
        </p:txBody>
      </p:sp>
      <p:pic>
        <p:nvPicPr>
          <p:cNvPr id="4" name="imagen-2100" descr="Diagrama / tabla de la diapositiva">    </p:cNvPr>
          <p:cNvPicPr>
            <a:picLocks noChangeAspect="1"/>
          </p:cNvPicPr>
          <p:nvPr/>
        </p:nvPicPr>
        <p:blipFill>
          <a:blip r:embed="rId1"/>
          <a:stretch>
            <a:fillRect/>
          </a:stretch>
        </p:blipFill>
        <p:spPr>
          <a:xfrm>
            <a:off x="685800" y="1783080"/>
            <a:ext cx="5626450" cy="1672550"/>
          </a:xfrm>
          <a:prstGeom prst="rect">
            <a:avLst/>
          </a:prstGeom>
        </p:spPr>
      </p:pic>
      <p:sp>
        <p:nvSpPr>
          <p:cNvPr id="5" name="schema-card-2101"/>
          <p:cNvSpPr/>
          <p:nvPr/>
        </p:nvSpPr>
        <p:spPr>
          <a:xfrm>
            <a:off x="6745053" y="1783080"/>
            <a:ext cx="4760842" cy="1211123"/>
          </a:xfrm>
          <a:prstGeom prst="roundRect">
            <a:avLst>
              <a:gd name="adj" fmla="val 9060"/>
            </a:avLst>
          </a:prstGeom>
          <a:solidFill>
            <a:schemeClr val="bg1"/>
          </a:solidFill>
          <a:ln w="19050">
            <a:solidFill>
              <a:schemeClr val="tx1"/>
            </a:solidFill>
            <a:prstDash val="solid"/>
          </a:ln>
        </p:spPr>
      </p:sp>
      <p:sp>
        <p:nvSpPr>
          <p:cNvPr id="6" name="schema-text-2102"/>
          <p:cNvSpPr txBox="1"/>
          <p:nvPr/>
        </p:nvSpPr>
        <p:spPr>
          <a:xfrm>
            <a:off x="6973653" y="1920240"/>
            <a:ext cx="4303642" cy="708203"/>
          </a:xfrm>
          <a:prstGeom prst="rect">
            <a:avLst/>
          </a:prstGeom>
          <a:noFill/>
          <a:ln/>
        </p:spPr>
        <p:txBody>
          <a:bodyPr wrap="square" lIns="0" tIns="0" rIns="0" bIns="0" rtlCol="0" anchor="t"/>
          <a:lstStyle/>
          <a:p>
            <a:pPr indent="0" marL="0">
              <a:buNone/>
            </a:pPr>
            <a:r>
              <a:rPr lang="en-US" sz="1300" b="1" dirty="0">
                <a:solidFill>
                  <a:srgbClr val="15171C"/>
                </a:solidFill>
                <a:latin typeface="Courier New" pitchFamily="34" charset="0"/>
                <a:ea typeface="Courier New" pitchFamily="34" charset="-122"/>
                <a:cs typeface="Courier New" pitchFamily="34" charset="-120"/>
              </a:rPr>
              <a:t>ALUMNOS</a:t>
            </a:r>
            <a:pPr indent="0" marL="0">
              <a:buNone/>
            </a:pPr>
            <a:r>
              <a:rPr lang="en-US" sz="1300" dirty="0">
                <a:solidFill>
                  <a:srgbClr val="15171C"/>
                </a:solidFill>
                <a:latin typeface="Courier New" pitchFamily="34" charset="0"/>
                <a:ea typeface="Courier New" pitchFamily="34" charset="-122"/>
                <a:cs typeface="Courier New" pitchFamily="34" charset="-120"/>
              </a:rPr>
              <a:t>(</a:t>
            </a:r>
            <a:pPr indent="0" marL="0">
              <a:buNone/>
            </a:pPr>
            <a:r>
              <a:rPr lang="en-US" sz="1300" u="sng" dirty="0">
                <a:solidFill>
                  <a:srgbClr val="15171C"/>
                </a:solidFill>
                <a:latin typeface="Courier New" pitchFamily="34" charset="0"/>
                <a:ea typeface="Courier New" pitchFamily="34" charset="-122"/>
                <a:cs typeface="Courier New" pitchFamily="34" charset="-120"/>
              </a:rPr>
              <a:t>DNI</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Nombre</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Teléfono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Email</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Dirección</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i="1" dirty="0">
                <a:solidFill>
                  <a:srgbClr val="0D1A7A"/>
                </a:solidFill>
                <a:latin typeface="Courier New" pitchFamily="34" charset="0"/>
                <a:ea typeface="Courier New" pitchFamily="34" charset="-122"/>
                <a:cs typeface="Courier New" pitchFamily="34" charset="-120"/>
              </a:rPr>
              <a:t>cod_colegio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fecha_matriculación</a:t>
            </a:r>
            <a:pPr indent="0" marL="0">
              <a:buNone/>
            </a:pPr>
            <a:r>
              <a:rPr lang="en-US" sz="1300" dirty="0">
                <a:solidFill>
                  <a:srgbClr val="15171C"/>
                </a:solidFill>
                <a:latin typeface="Courier New" pitchFamily="34" charset="0"/>
                <a:ea typeface="Courier New" pitchFamily="34" charset="-122"/>
                <a:cs typeface="Courier New" pitchFamily="34" charset="-120"/>
              </a:rPr>
              <a:t>)</a:t>
            </a:r>
            <a:endParaRPr lang="en-US" sz="1300" dirty="0"/>
          </a:p>
          <a:p>
            <a:pPr indent="0" marL="0">
              <a:buNone/>
            </a:pPr>
            <a:r>
              <a:rPr lang="en-US" sz="1300" b="1" dirty="0">
                <a:solidFill>
                  <a:srgbClr val="15171C"/>
                </a:solidFill>
                <a:latin typeface="Courier New" pitchFamily="34" charset="0"/>
                <a:ea typeface="Courier New" pitchFamily="34" charset="-122"/>
                <a:cs typeface="Courier New" pitchFamily="34" charset="-120"/>
              </a:rPr>
              <a:t>COLEGIO</a:t>
            </a:r>
            <a:pPr indent="0" marL="0">
              <a:buNone/>
            </a:pPr>
            <a:r>
              <a:rPr lang="en-US" sz="1300" dirty="0">
                <a:solidFill>
                  <a:srgbClr val="15171C"/>
                </a:solidFill>
                <a:latin typeface="Courier New" pitchFamily="34" charset="0"/>
                <a:ea typeface="Courier New" pitchFamily="34" charset="-122"/>
                <a:cs typeface="Courier New" pitchFamily="34" charset="-120"/>
              </a:rPr>
              <a:t>(</a:t>
            </a:r>
            <a:pPr indent="0" marL="0">
              <a:buNone/>
            </a:pPr>
            <a:r>
              <a:rPr lang="en-US" sz="1300" u="sng" dirty="0">
                <a:solidFill>
                  <a:srgbClr val="15171C"/>
                </a:solidFill>
                <a:latin typeface="Courier New" pitchFamily="34" charset="0"/>
                <a:ea typeface="Courier New" pitchFamily="34" charset="-122"/>
                <a:cs typeface="Courier New" pitchFamily="34" charset="-120"/>
              </a:rPr>
              <a:t>Código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Nombre</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Dirección</a:t>
            </a:r>
            <a:pPr indent="0" marL="0">
              <a:buNone/>
            </a:pPr>
            <a:r>
              <a:rPr lang="en-US" sz="1300" dirty="0">
                <a:solidFill>
                  <a:srgbClr val="15171C"/>
                </a:solidFill>
                <a:latin typeface="Courier New" pitchFamily="34" charset="0"/>
                <a:ea typeface="Courier New" pitchFamily="34" charset="-122"/>
                <a:cs typeface="Courier New" pitchFamily="34" charset="-120"/>
              </a:rPr>
              <a:t>)</a:t>
            </a:r>
            <a:endParaRPr lang="en-US" sz="1300" dirty="0"/>
          </a:p>
        </p:txBody>
      </p:sp>
      <p:sp>
        <p:nvSpPr>
          <p:cNvPr id="7" name="schema-legend-2103"/>
          <p:cNvSpPr txBox="1"/>
          <p:nvPr/>
        </p:nvSpPr>
        <p:spPr>
          <a:xfrm>
            <a:off x="6973653" y="2701595"/>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8" name="schema-card-2104"/>
          <p:cNvSpPr/>
          <p:nvPr/>
        </p:nvSpPr>
        <p:spPr>
          <a:xfrm>
            <a:off x="6745053" y="3177083"/>
            <a:ext cx="4760842" cy="1652778"/>
          </a:xfrm>
          <a:prstGeom prst="roundRect">
            <a:avLst>
              <a:gd name="adj" fmla="val 6639"/>
            </a:avLst>
          </a:prstGeom>
          <a:solidFill>
            <a:schemeClr val="bg1"/>
          </a:solidFill>
          <a:ln w="19050">
            <a:solidFill>
              <a:schemeClr val="tx1"/>
            </a:solidFill>
            <a:prstDash val="solid"/>
          </a:ln>
        </p:spPr>
      </p:sp>
      <p:sp>
        <p:nvSpPr>
          <p:cNvPr id="9" name="schema-text-2105"/>
          <p:cNvSpPr txBox="1"/>
          <p:nvPr/>
        </p:nvSpPr>
        <p:spPr>
          <a:xfrm>
            <a:off x="6973653" y="3314243"/>
            <a:ext cx="4303642" cy="1149858"/>
          </a:xfrm>
          <a:prstGeom prst="rect">
            <a:avLst/>
          </a:prstGeom>
          <a:noFill/>
          <a:ln/>
        </p:spPr>
        <p:txBody>
          <a:bodyPr wrap="square" lIns="0" tIns="0" rIns="0" bIns="0" rtlCol="0" anchor="t"/>
          <a:lstStyle/>
          <a:p>
            <a:pPr indent="0" marL="0">
              <a:buNone/>
            </a:pPr>
            <a:r>
              <a:rPr lang="en-US" sz="1300" b="1" dirty="0">
                <a:solidFill>
                  <a:srgbClr val="15171C"/>
                </a:solidFill>
                <a:latin typeface="Courier New" pitchFamily="34" charset="0"/>
                <a:ea typeface="Courier New" pitchFamily="34" charset="-122"/>
                <a:cs typeface="Courier New" pitchFamily="34" charset="-120"/>
              </a:rPr>
              <a:t>ALUMNOS</a:t>
            </a:r>
            <a:pPr indent="0" marL="0">
              <a:buNone/>
            </a:pPr>
            <a:r>
              <a:rPr lang="en-US" sz="1300" dirty="0">
                <a:solidFill>
                  <a:srgbClr val="15171C"/>
                </a:solidFill>
                <a:latin typeface="Courier New" pitchFamily="34" charset="0"/>
                <a:ea typeface="Courier New" pitchFamily="34" charset="-122"/>
                <a:cs typeface="Courier New" pitchFamily="34" charset="-120"/>
              </a:rPr>
              <a:t>(</a:t>
            </a:r>
            <a:pPr indent="0" marL="0">
              <a:buNone/>
            </a:pPr>
            <a:r>
              <a:rPr lang="en-US" sz="1300" u="sng" dirty="0">
                <a:solidFill>
                  <a:srgbClr val="15171C"/>
                </a:solidFill>
                <a:latin typeface="Courier New" pitchFamily="34" charset="0"/>
                <a:ea typeface="Courier New" pitchFamily="34" charset="-122"/>
                <a:cs typeface="Courier New" pitchFamily="34" charset="-120"/>
              </a:rPr>
              <a:t>DNI</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Nombre</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Teléfono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Email</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Dirección</a:t>
            </a:r>
            <a:pPr indent="0" marL="0">
              <a:buNone/>
            </a:pPr>
            <a:r>
              <a:rPr lang="en-US" sz="1300" dirty="0">
                <a:solidFill>
                  <a:srgbClr val="15171C"/>
                </a:solidFill>
                <a:latin typeface="Courier New" pitchFamily="34" charset="0"/>
                <a:ea typeface="Courier New" pitchFamily="34" charset="-122"/>
                <a:cs typeface="Courier New" pitchFamily="34" charset="-120"/>
              </a:rPr>
              <a:t>)</a:t>
            </a:r>
            <a:endParaRPr lang="en-US" sz="1300" dirty="0"/>
          </a:p>
          <a:p>
            <a:pPr indent="0" marL="0">
              <a:buNone/>
            </a:pPr>
            <a:r>
              <a:rPr lang="en-US" sz="1300" b="1" dirty="0">
                <a:solidFill>
                  <a:srgbClr val="15171C"/>
                </a:solidFill>
                <a:latin typeface="Courier New" pitchFamily="34" charset="0"/>
                <a:ea typeface="Courier New" pitchFamily="34" charset="-122"/>
                <a:cs typeface="Courier New" pitchFamily="34" charset="-120"/>
              </a:rPr>
              <a:t>COLEGIO</a:t>
            </a:r>
            <a:pPr indent="0" marL="0">
              <a:buNone/>
            </a:pPr>
            <a:r>
              <a:rPr lang="en-US" sz="1300" dirty="0">
                <a:solidFill>
                  <a:srgbClr val="15171C"/>
                </a:solidFill>
                <a:latin typeface="Courier New" pitchFamily="34" charset="0"/>
                <a:ea typeface="Courier New" pitchFamily="34" charset="-122"/>
                <a:cs typeface="Courier New" pitchFamily="34" charset="-120"/>
              </a:rPr>
              <a:t>(</a:t>
            </a:r>
            <a:pPr indent="0" marL="0">
              <a:buNone/>
            </a:pPr>
            <a:r>
              <a:rPr lang="en-US" sz="1300" u="sng" dirty="0">
                <a:solidFill>
                  <a:srgbClr val="15171C"/>
                </a:solidFill>
                <a:latin typeface="Courier New" pitchFamily="34" charset="0"/>
                <a:ea typeface="Courier New" pitchFamily="34" charset="-122"/>
                <a:cs typeface="Courier New" pitchFamily="34" charset="-120"/>
              </a:rPr>
              <a:t>Código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Nombre</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Dirección</a:t>
            </a:r>
            <a:pPr indent="0" marL="0">
              <a:buNone/>
            </a:pPr>
            <a:r>
              <a:rPr lang="en-US" sz="1300" dirty="0">
                <a:solidFill>
                  <a:srgbClr val="15171C"/>
                </a:solidFill>
                <a:latin typeface="Courier New" pitchFamily="34" charset="0"/>
                <a:ea typeface="Courier New" pitchFamily="34" charset="-122"/>
                <a:cs typeface="Courier New" pitchFamily="34" charset="-120"/>
              </a:rPr>
              <a:t>)</a:t>
            </a:r>
            <a:endParaRPr lang="en-US" sz="1300" dirty="0"/>
          </a:p>
          <a:p>
            <a:pPr indent="0" marL="0">
              <a:buNone/>
            </a:pPr>
            <a:r>
              <a:rPr lang="en-US" sz="1300" b="1" dirty="0">
                <a:solidFill>
                  <a:srgbClr val="15171C"/>
                </a:solidFill>
                <a:latin typeface="Courier New" pitchFamily="34" charset="0"/>
                <a:ea typeface="Courier New" pitchFamily="34" charset="-122"/>
                <a:cs typeface="Courier New" pitchFamily="34" charset="-120"/>
              </a:rPr>
              <a:t>MATRICULADO</a:t>
            </a:r>
            <a:pPr indent="0" marL="0">
              <a:buNone/>
            </a:pPr>
            <a:r>
              <a:rPr lang="en-US" sz="1300" dirty="0">
                <a:solidFill>
                  <a:srgbClr val="15171C"/>
                </a:solidFill>
                <a:latin typeface="Courier New" pitchFamily="34" charset="0"/>
                <a:ea typeface="Courier New" pitchFamily="34" charset="-122"/>
                <a:cs typeface="Courier New" pitchFamily="34" charset="-120"/>
              </a:rPr>
              <a:t>(</a:t>
            </a:r>
            <a:pPr indent="0" marL="0">
              <a:buNone/>
            </a:pPr>
            <a:r>
              <a:rPr lang="en-US" sz="1300" i="1" u="sng" dirty="0">
                <a:solidFill>
                  <a:srgbClr val="0D1A7A"/>
                </a:solidFill>
                <a:latin typeface="Courier New" pitchFamily="34" charset="0"/>
                <a:ea typeface="Courier New" pitchFamily="34" charset="-122"/>
                <a:cs typeface="Courier New" pitchFamily="34" charset="-120"/>
              </a:rPr>
              <a:t>DNI</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i="1" dirty="0">
                <a:solidFill>
                  <a:srgbClr val="0D1A7A"/>
                </a:solidFill>
                <a:latin typeface="Courier New" pitchFamily="34" charset="0"/>
                <a:ea typeface="Courier New" pitchFamily="34" charset="-122"/>
                <a:cs typeface="Courier New" pitchFamily="34" charset="-120"/>
              </a:rPr>
              <a:t>Código</a:t>
            </a:r>
            <a:pPr indent="0" marL="0">
              <a:buNone/>
            </a:pPr>
            <a:r>
              <a:rPr lang="en-US" sz="1300" dirty="0">
                <a:solidFill>
                  <a:srgbClr val="15171C"/>
                </a:solidFill>
                <a:latin typeface="Courier New" pitchFamily="34" charset="0"/>
                <a:ea typeface="Courier New" pitchFamily="34" charset="-122"/>
                <a:cs typeface="Courier New" pitchFamily="34" charset="-120"/>
              </a:rPr>
              <a:t>, </a:t>
            </a:r>
            <a:pPr indent="0" marL="0">
              <a:buNone/>
            </a:pPr>
            <a:r>
              <a:rPr lang="en-US" sz="1300" dirty="0">
                <a:solidFill>
                  <a:srgbClr val="15171C"/>
                </a:solidFill>
                <a:latin typeface="Courier New" pitchFamily="34" charset="0"/>
                <a:ea typeface="Courier New" pitchFamily="34" charset="-122"/>
                <a:cs typeface="Courier New" pitchFamily="34" charset="-120"/>
              </a:rPr>
              <a:t>fecha_matriculación</a:t>
            </a:r>
            <a:pPr indent="0" marL="0">
              <a:buNone/>
            </a:pPr>
            <a:r>
              <a:rPr lang="en-US" sz="1300" dirty="0">
                <a:solidFill>
                  <a:srgbClr val="15171C"/>
                </a:solidFill>
                <a:latin typeface="Courier New" pitchFamily="34" charset="0"/>
                <a:ea typeface="Courier New" pitchFamily="34" charset="-122"/>
                <a:cs typeface="Courier New" pitchFamily="34" charset="-120"/>
              </a:rPr>
              <a:t>)</a:t>
            </a:r>
            <a:endParaRPr lang="en-US" sz="1300" dirty="0"/>
          </a:p>
        </p:txBody>
      </p:sp>
      <p:sp>
        <p:nvSpPr>
          <p:cNvPr id="10" name="schema-legend-2106"/>
          <p:cNvSpPr txBox="1"/>
          <p:nvPr/>
        </p:nvSpPr>
        <p:spPr>
          <a:xfrm>
            <a:off x="6973653" y="4537253"/>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11" name="note-2107"/>
          <p:cNvSpPr txBox="1"/>
          <p:nvPr/>
        </p:nvSpPr>
        <p:spPr>
          <a:xfrm>
            <a:off x="685800" y="5012741"/>
            <a:ext cx="10820095" cy="900989"/>
          </a:xfrm>
          <a:prstGeom prst="rect">
            <a:avLst/>
          </a:prstGeom>
          <a:noFill/>
          <a:ln/>
        </p:spPr>
        <p:txBody>
          <a:bodyPr wrap="square" lIns="0" tIns="0" rIns="0" bIns="0" rtlCol="0" anchor="t"/>
          <a:lstStyle/>
          <a:p>
            <a:pPr algn="l" indent="0" marL="0">
              <a:buNone/>
            </a:pPr>
            <a:r>
              <a:rPr lang="en-US" sz="1850" dirty="0">
                <a:solidFill>
                  <a:srgbClr val="4B4F58"/>
                </a:solidFill>
              </a:rPr>
              <a:t>Se añade la clave del lado «1» (</a:t>
            </a:r>
            <a:pPr algn="l" indent="0" marL="0">
              <a:buNone/>
            </a:pPr>
            <a:r>
              <a:rPr lang="en-US" sz="1850" dirty="0">
                <a:solidFill>
                  <a:srgbClr val="0D1A7A"/>
                </a:solidFill>
                <a:latin typeface="Courier New" pitchFamily="34" charset="0"/>
                <a:ea typeface="Courier New" pitchFamily="34" charset="-122"/>
                <a:cs typeface="Courier New" pitchFamily="34" charset="-120"/>
              </a:rPr>
              <a:t>COLEGIO</a:t>
            </a:r>
            <a:pPr algn="l" indent="0" marL="0">
              <a:buNone/>
            </a:pPr>
            <a:r>
              <a:rPr lang="en-US" sz="1850" dirty="0">
                <a:solidFill>
                  <a:srgbClr val="4B4F58"/>
                </a:solidFill>
              </a:rPr>
              <a:t>) a la tabla del lado «N» (</a:t>
            </a:r>
            <a:pPr algn="l" indent="0" marL="0">
              <a:buNone/>
            </a:pPr>
            <a:r>
              <a:rPr lang="en-US" sz="1850" dirty="0">
                <a:solidFill>
                  <a:srgbClr val="0D1A7A"/>
                </a:solidFill>
                <a:latin typeface="Courier New" pitchFamily="34" charset="0"/>
                <a:ea typeface="Courier New" pitchFamily="34" charset="-122"/>
                <a:cs typeface="Courier New" pitchFamily="34" charset="-120"/>
              </a:rPr>
              <a:t>ALUMNOS</a:t>
            </a:r>
            <a:pPr algn="l" indent="0" marL="0">
              <a:buNone/>
            </a:pPr>
            <a:r>
              <a:rPr lang="en-US" sz="1850" dirty="0">
                <a:solidFill>
                  <a:srgbClr val="4B4F58"/>
                </a:solidFill>
              </a:rPr>
              <a:t>); los atributos de la relación van también al lado N. Alternativa: tratarla como N:M, con la tabla </a:t>
            </a:r>
            <a:pPr algn="l" indent="0" marL="0">
              <a:buNone/>
            </a:pPr>
            <a:r>
              <a:rPr lang="en-US" sz="1850" dirty="0">
                <a:solidFill>
                  <a:srgbClr val="0D1A7A"/>
                </a:solidFill>
                <a:latin typeface="Courier New" pitchFamily="34" charset="0"/>
                <a:ea typeface="Courier New" pitchFamily="34" charset="-122"/>
                <a:cs typeface="Courier New" pitchFamily="34" charset="-120"/>
              </a:rPr>
              <a:t>MATRICULADO</a:t>
            </a:r>
            <a:pPr algn="l" indent="0" marL="0">
              <a:buNone/>
            </a:pPr>
            <a:r>
              <a:rPr lang="en-US" sz="1850" dirty="0">
                <a:solidFill>
                  <a:srgbClr val="4B4F58"/>
                </a:solidFill>
              </a:rPr>
              <a:t> de abajo.</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3000" b="1" dirty="0">
                <a:solidFill>
                  <a:schemeClr val="tx1"/>
                </a:solidFill>
              </a:rPr>
              <a:t>Regla 5: 1:1, la clave va donde está pintado el (0,1)</a:t>
            </a:r>
            <a:endParaRPr lang="en-US" sz="4000" dirty="0"/>
          </a:p>
        </p:txBody>
      </p:sp>
      <p:pic>
        <p:nvPicPr>
          <p:cNvPr id="4" name="imagen-2114" descr="Diagrama / tabla de la diapositiva">    </p:cNvPr>
          <p:cNvPicPr>
            <a:picLocks noChangeAspect="1"/>
          </p:cNvPicPr>
          <p:nvPr/>
        </p:nvPicPr>
        <p:blipFill>
          <a:blip r:embed="rId1"/>
          <a:stretch>
            <a:fillRect/>
          </a:stretch>
        </p:blipFill>
        <p:spPr>
          <a:xfrm>
            <a:off x="685800" y="2377440"/>
            <a:ext cx="5626450" cy="1662028"/>
          </a:xfrm>
          <a:prstGeom prst="rect">
            <a:avLst/>
          </a:prstGeom>
        </p:spPr>
      </p:pic>
      <p:pic>
        <p:nvPicPr>
          <p:cNvPr id="5" name="imagen-2115" descr="Diagrama / tabla de la diapositiva">    </p:cNvPr>
          <p:cNvPicPr>
            <a:picLocks noChangeAspect="1"/>
          </p:cNvPicPr>
          <p:nvPr/>
        </p:nvPicPr>
        <p:blipFill>
          <a:blip r:embed="rId2"/>
          <a:stretch>
            <a:fillRect/>
          </a:stretch>
        </p:blipFill>
        <p:spPr>
          <a:xfrm>
            <a:off x="6745053" y="2377440"/>
            <a:ext cx="4760842" cy="1326771"/>
          </a:xfrm>
          <a:prstGeom prst="rect">
            <a:avLst/>
          </a:prstGeom>
        </p:spPr>
      </p:pic>
      <p:sp>
        <p:nvSpPr>
          <p:cNvPr id="6" name="note-2116"/>
          <p:cNvSpPr txBox="1"/>
          <p:nvPr/>
        </p:nvSpPr>
        <p:spPr>
          <a:xfrm>
            <a:off x="685800" y="4222348"/>
            <a:ext cx="10820095" cy="1719072"/>
          </a:xfrm>
          <a:prstGeom prst="rect">
            <a:avLst/>
          </a:prstGeom>
          <a:noFill/>
          <a:ln/>
        </p:spPr>
        <p:txBody>
          <a:bodyPr wrap="square" lIns="0" tIns="0" rIns="0" bIns="0" rtlCol="0" anchor="t"/>
          <a:lstStyle/>
          <a:p>
            <a:pPr algn="l" indent="0" marL="0">
              <a:buNone/>
            </a:pPr>
            <a:r>
              <a:rPr lang="en-US" sz="2700" dirty="0">
                <a:solidFill>
                  <a:srgbClr val="4B4F58"/>
                </a:solidFill>
              </a:rPr>
              <a:t>Pintado: (1,1) junto a EMPLEADO y (0,1) junto a DEPARTAMENTO. La foránea va en DEPARTAMENTO, que tiene el (0,1) al lado, con </a:t>
            </a:r>
            <a:pPr algn="l" indent="0" marL="0">
              <a:buNone/>
            </a:pPr>
            <a:r>
              <a:rPr lang="en-US" sz="2700" dirty="0">
                <a:solidFill>
                  <a:srgbClr val="0D1A7A"/>
                </a:solidFill>
                <a:latin typeface="Courier New" pitchFamily="34" charset="0"/>
                <a:ea typeface="Courier New" pitchFamily="34" charset="-122"/>
                <a:cs typeface="Courier New" pitchFamily="34" charset="-120"/>
              </a:rPr>
              <a:t>NOT NULL</a:t>
            </a:r>
            <a:pPr algn="l" indent="0" marL="0">
              <a:buNone/>
            </a:pPr>
            <a:r>
              <a:rPr lang="en-US" sz="2700" dirty="0">
                <a:solidFill>
                  <a:srgbClr val="4B4F58"/>
                </a:solidFill>
              </a:rPr>
              <a:t> y </a:t>
            </a:r>
            <a:pPr algn="l" indent="0" marL="0">
              <a:buNone/>
            </a:pPr>
            <a:r>
              <a:rPr lang="en-US" sz="2700" dirty="0">
                <a:solidFill>
                  <a:srgbClr val="0D1A7A"/>
                </a:solidFill>
                <a:latin typeface="Courier New" pitchFamily="34" charset="0"/>
                <a:ea typeface="Courier New" pitchFamily="34" charset="-122"/>
                <a:cs typeface="Courier New" pitchFamily="34" charset="-120"/>
              </a:rPr>
              <a:t>UNIQUE</a:t>
            </a:r>
            <a:pPr algn="l" indent="0" marL="0">
              <a:buNone/>
            </a:pPr>
            <a:r>
              <a:rPr lang="en-US" sz="2700" dirty="0">
                <a:solidFill>
                  <a:srgbClr val="4B4F58"/>
                </a:solidFill>
              </a:rPr>
              <a:t> (subrayado discontinuo). Con dos (1,1), en cualquiera; con dos (0,1), tabla propia.</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04 — PASO A TABLAS</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1:1: alumnos y taquillas</a:t>
            </a:r>
            <a:endParaRPr lang="en-US" sz="4000" dirty="0"/>
          </a:p>
        </p:txBody>
      </p:sp>
      <p:sp>
        <p:nvSpPr>
          <p:cNvPr id="4" name="card-2181"/>
          <p:cNvSpPr/>
          <p:nvPr/>
        </p:nvSpPr>
        <p:spPr>
          <a:xfrm>
            <a:off x="685800" y="2377440"/>
            <a:ext cx="3484778" cy="2740050"/>
          </a:xfrm>
          <a:prstGeom prst="roundRect">
            <a:avLst>
              <a:gd name="adj" fmla="val 4005"/>
            </a:avLst>
          </a:prstGeom>
          <a:solidFill>
            <a:schemeClr val="bg1"/>
          </a:solidFill>
          <a:ln w="19050">
            <a:solidFill>
              <a:srgbClr val="15171C"/>
            </a:solidFill>
            <a:prstDash val="solid"/>
          </a:ln>
        </p:spPr>
      </p:sp>
      <p:sp>
        <p:nvSpPr>
          <p:cNvPr id="5" name="tag-pill-2182"/>
          <p:cNvSpPr/>
          <p:nvPr/>
        </p:nvSpPr>
        <p:spPr>
          <a:xfrm>
            <a:off x="868680" y="2542032"/>
            <a:ext cx="1770278" cy="256032"/>
          </a:xfrm>
          <a:prstGeom prst="roundRect">
            <a:avLst>
              <a:gd name="adj" fmla="val 50000"/>
            </a:avLst>
          </a:prstGeom>
          <a:solidFill>
            <a:srgbClr val="E8EBFC"/>
          </a:solidFill>
          <a:ln/>
        </p:spPr>
      </p:sp>
      <p:sp>
        <p:nvSpPr>
          <p:cNvPr id="6" name="tag-2183"/>
          <p:cNvSpPr txBox="1"/>
          <p:nvPr/>
        </p:nvSpPr>
        <p:spPr>
          <a:xfrm>
            <a:off x="868680" y="2542032"/>
            <a:ext cx="1770278" cy="256032"/>
          </a:xfrm>
          <a:prstGeom prst="rect">
            <a:avLst/>
          </a:prstGeom>
          <a:noFill/>
          <a:ln/>
        </p:spPr>
        <p:txBody>
          <a:bodyPr wrap="square" lIns="0" tIns="0" rIns="0" bIns="0" rtlCol="0" anchor="ctr"/>
          <a:lstStyle/>
          <a:p>
            <a:pPr algn="ctr" indent="0" marL="0">
              <a:buNone/>
            </a:pPr>
            <a:r>
              <a:rPr lang="en-US" sz="1100" b="1" dirty="0">
                <a:solidFill>
                  <a:srgbClr val="0D1A7A"/>
                </a:solidFill>
              </a:rPr>
              <a:t>SIEMPRE PARTICIPAN</a:t>
            </a:r>
            <a:endParaRPr lang="en-US" sz="1100" dirty="0"/>
          </a:p>
        </p:txBody>
      </p:sp>
      <p:sp>
        <p:nvSpPr>
          <p:cNvPr id="7" name="card-h-2184"/>
          <p:cNvSpPr txBox="1"/>
          <p:nvPr/>
        </p:nvSpPr>
        <p:spPr>
          <a:xfrm>
            <a:off x="868680" y="292608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(1,1) y (1,1)</a:t>
            </a:r>
            <a:endParaRPr lang="en-US" sz="2200" dirty="0"/>
          </a:p>
        </p:txBody>
      </p:sp>
      <p:sp>
        <p:nvSpPr>
          <p:cNvPr id="8" name="card-p-2185"/>
          <p:cNvSpPr txBox="1"/>
          <p:nvPr/>
        </p:nvSpPr>
        <p:spPr>
          <a:xfrm>
            <a:off x="868680" y="3356064"/>
            <a:ext cx="3119018" cy="1560258"/>
          </a:xfrm>
          <a:prstGeom prst="rect">
            <a:avLst/>
          </a:prstGeom>
          <a:noFill/>
          <a:ln/>
        </p:spPr>
        <p:txBody>
          <a:bodyPr wrap="square" lIns="0" tIns="0" rIns="0" bIns="0" rtlCol="0" anchor="t"/>
          <a:lstStyle/>
          <a:p>
            <a:pPr algn="l" indent="0" marL="0">
              <a:buNone/>
            </a:pPr>
            <a:r>
              <a:rPr lang="en-US" sz="1950" dirty="0">
                <a:solidFill>
                  <a:srgbClr val="4B4F58"/>
                </a:solidFill>
              </a:rPr>
              <a:t>Se añade la clave de una entidad en la otra, </a:t>
            </a:r>
            <a:pPr algn="l" indent="0" marL="0">
              <a:buNone/>
            </a:pPr>
            <a:r>
              <a:rPr lang="en-US" sz="1950" b="1" dirty="0">
                <a:solidFill>
                  <a:srgbClr val="4B4F58"/>
                </a:solidFill>
              </a:rPr>
              <a:t>cualquiera</a:t>
            </a:r>
            <a:pPr algn="l" indent="0" marL="0">
              <a:buNone/>
            </a:pPr>
            <a:r>
              <a:rPr lang="en-US" sz="1950" dirty="0">
                <a:solidFill>
                  <a:srgbClr val="4B4F58"/>
                </a:solidFill>
              </a:rPr>
              <a:t> de ellas: </a:t>
            </a:r>
            <a:pPr algn="l" indent="0" marL="0">
              <a:buNone/>
            </a:pPr>
            <a:r>
              <a:rPr lang="en-US" sz="1950" dirty="0">
                <a:solidFill>
                  <a:srgbClr val="0D1A7A"/>
                </a:solidFill>
                <a:latin typeface="Courier New" pitchFamily="34" charset="0"/>
                <a:ea typeface="Courier New" pitchFamily="34" charset="-122"/>
                <a:cs typeface="Courier New" pitchFamily="34" charset="-120"/>
              </a:rPr>
              <a:t>TAQUILLA(Código, Pasillo, DNI_alumno)</a:t>
            </a:r>
            <a:pPr algn="l" indent="0" marL="0">
              <a:buNone/>
            </a:pPr>
            <a:r>
              <a:rPr lang="en-US" sz="1950" dirty="0">
                <a:solidFill>
                  <a:srgbClr val="4B4F58"/>
                </a:solidFill>
              </a:rPr>
              <a:t>.</a:t>
            </a:r>
            <a:endParaRPr lang="en-US" sz="1950" dirty="0"/>
          </a:p>
        </p:txBody>
      </p:sp>
      <p:sp>
        <p:nvSpPr>
          <p:cNvPr id="9" name="card-2186"/>
          <p:cNvSpPr/>
          <p:nvPr/>
        </p:nvSpPr>
        <p:spPr>
          <a:xfrm>
            <a:off x="4353458" y="2377440"/>
            <a:ext cx="3484778" cy="2740050"/>
          </a:xfrm>
          <a:prstGeom prst="roundRect">
            <a:avLst>
              <a:gd name="adj" fmla="val 4005"/>
            </a:avLst>
          </a:prstGeom>
          <a:solidFill>
            <a:schemeClr val="bg1"/>
          </a:solidFill>
          <a:ln w="19050">
            <a:solidFill>
              <a:srgbClr val="15171C"/>
            </a:solidFill>
            <a:prstDash val="solid"/>
          </a:ln>
        </p:spPr>
      </p:sp>
      <p:sp>
        <p:nvSpPr>
          <p:cNvPr id="10" name="tag-pill-2187"/>
          <p:cNvSpPr/>
          <p:nvPr/>
        </p:nvSpPr>
        <p:spPr>
          <a:xfrm>
            <a:off x="4536338" y="2542032"/>
            <a:ext cx="1517904" cy="256032"/>
          </a:xfrm>
          <a:prstGeom prst="roundRect">
            <a:avLst>
              <a:gd name="adj" fmla="val 50000"/>
            </a:avLst>
          </a:prstGeom>
          <a:solidFill>
            <a:srgbClr val="E8EBFC"/>
          </a:solidFill>
          <a:ln/>
        </p:spPr>
      </p:sp>
      <p:sp>
        <p:nvSpPr>
          <p:cNvPr id="11" name="tag-2188"/>
          <p:cNvSpPr txBox="1"/>
          <p:nvPr/>
        </p:nvSpPr>
        <p:spPr>
          <a:xfrm>
            <a:off x="4536338" y="2542032"/>
            <a:ext cx="1517904" cy="256032"/>
          </a:xfrm>
          <a:prstGeom prst="rect">
            <a:avLst/>
          </a:prstGeom>
          <a:noFill/>
          <a:ln/>
        </p:spPr>
        <p:txBody>
          <a:bodyPr wrap="square" lIns="0" tIns="0" rIns="0" bIns="0" rtlCol="0" anchor="ctr"/>
          <a:lstStyle/>
          <a:p>
            <a:pPr algn="ctr" indent="0" marL="0">
              <a:buNone/>
            </a:pPr>
            <a:r>
              <a:rPr lang="en-US" sz="1100" b="1" dirty="0">
                <a:solidFill>
                  <a:srgbClr val="0D1A7A"/>
                </a:solidFill>
              </a:rPr>
              <a:t>UNA ES OPCIONAL</a:t>
            </a:r>
            <a:endParaRPr lang="en-US" sz="1100" dirty="0"/>
          </a:p>
        </p:txBody>
      </p:sp>
      <p:sp>
        <p:nvSpPr>
          <p:cNvPr id="12" name="card-h-2189"/>
          <p:cNvSpPr txBox="1"/>
          <p:nvPr/>
        </p:nvSpPr>
        <p:spPr>
          <a:xfrm>
            <a:off x="4536338" y="292608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(0,1) y (1,1)</a:t>
            </a:r>
            <a:endParaRPr lang="en-US" sz="2200" dirty="0"/>
          </a:p>
        </p:txBody>
      </p:sp>
      <p:sp>
        <p:nvSpPr>
          <p:cNvPr id="13" name="card-p-2190"/>
          <p:cNvSpPr txBox="1"/>
          <p:nvPr/>
        </p:nvSpPr>
        <p:spPr>
          <a:xfrm>
            <a:off x="4536338" y="3356064"/>
            <a:ext cx="3119018" cy="1257351"/>
          </a:xfrm>
          <a:prstGeom prst="rect">
            <a:avLst/>
          </a:prstGeom>
          <a:noFill/>
          <a:ln/>
        </p:spPr>
        <p:txBody>
          <a:bodyPr wrap="square" lIns="0" tIns="0" rIns="0" bIns="0" rtlCol="0" anchor="t"/>
          <a:lstStyle/>
          <a:p>
            <a:pPr algn="l" indent="0" marL="0">
              <a:buNone/>
            </a:pPr>
            <a:r>
              <a:rPr lang="en-US" sz="1950" dirty="0">
                <a:solidFill>
                  <a:srgbClr val="4B4F58"/>
                </a:solidFill>
              </a:rPr>
              <a:t>La clave ajena va en la entidad </a:t>
            </a:r>
            <a:pPr algn="l" indent="0" marL="0">
              <a:buNone/>
            </a:pPr>
            <a:r>
              <a:rPr lang="en-US" sz="1950" b="1" dirty="0">
                <a:solidFill>
                  <a:srgbClr val="4B4F58"/>
                </a:solidFill>
              </a:rPr>
              <a:t>sin opcionalidad</a:t>
            </a:r>
            <a:pPr algn="l" indent="0" marL="0">
              <a:buNone/>
            </a:pPr>
            <a:r>
              <a:rPr lang="en-US" sz="1950" dirty="0">
                <a:solidFill>
                  <a:srgbClr val="4B4F58"/>
                </a:solidFill>
              </a:rPr>
              <a:t>: </a:t>
            </a:r>
            <a:pPr algn="l" indent="0" marL="0">
              <a:buNone/>
            </a:pPr>
            <a:r>
              <a:rPr lang="en-US" sz="1950" dirty="0">
                <a:solidFill>
                  <a:srgbClr val="0D1A7A"/>
                </a:solidFill>
                <a:latin typeface="Courier New" pitchFamily="34" charset="0"/>
                <a:ea typeface="Courier New" pitchFamily="34" charset="-122"/>
                <a:cs typeface="Courier New" pitchFamily="34" charset="-120"/>
              </a:rPr>
              <a:t>TAQUILLA(Código, Pasillo, DNI)</a:t>
            </a:r>
            <a:pPr algn="l" indent="0" marL="0">
              <a:buNone/>
            </a:pPr>
            <a:r>
              <a:rPr lang="en-US" sz="1950" dirty="0">
                <a:solidFill>
                  <a:srgbClr val="4B4F58"/>
                </a:solidFill>
              </a:rPr>
              <a:t>.</a:t>
            </a:r>
            <a:endParaRPr lang="en-US" sz="1950" dirty="0"/>
          </a:p>
        </p:txBody>
      </p:sp>
      <p:sp>
        <p:nvSpPr>
          <p:cNvPr id="14" name="card-2191"/>
          <p:cNvSpPr/>
          <p:nvPr/>
        </p:nvSpPr>
        <p:spPr>
          <a:xfrm>
            <a:off x="8021117" y="2377440"/>
            <a:ext cx="3484778" cy="2740050"/>
          </a:xfrm>
          <a:prstGeom prst="roundRect">
            <a:avLst>
              <a:gd name="adj" fmla="val 4005"/>
            </a:avLst>
          </a:prstGeom>
          <a:solidFill>
            <a:schemeClr val="bg1"/>
          </a:solidFill>
          <a:ln w="19050">
            <a:solidFill>
              <a:srgbClr val="15171C"/>
            </a:solidFill>
            <a:prstDash val="solid"/>
          </a:ln>
        </p:spPr>
      </p:sp>
      <p:sp>
        <p:nvSpPr>
          <p:cNvPr id="15" name="tag-pill-2192"/>
          <p:cNvSpPr/>
          <p:nvPr/>
        </p:nvSpPr>
        <p:spPr>
          <a:xfrm>
            <a:off x="8203997" y="2542032"/>
            <a:ext cx="1602029" cy="256032"/>
          </a:xfrm>
          <a:prstGeom prst="roundRect">
            <a:avLst>
              <a:gd name="adj" fmla="val 50000"/>
            </a:avLst>
          </a:prstGeom>
          <a:solidFill>
            <a:srgbClr val="E8EBFC"/>
          </a:solidFill>
          <a:ln/>
        </p:spPr>
      </p:sp>
      <p:sp>
        <p:nvSpPr>
          <p:cNvPr id="16" name="tag-2193"/>
          <p:cNvSpPr txBox="1"/>
          <p:nvPr/>
        </p:nvSpPr>
        <p:spPr>
          <a:xfrm>
            <a:off x="8203997" y="2542032"/>
            <a:ext cx="1602029" cy="256032"/>
          </a:xfrm>
          <a:prstGeom prst="rect">
            <a:avLst/>
          </a:prstGeom>
          <a:noFill/>
          <a:ln/>
        </p:spPr>
        <p:txBody>
          <a:bodyPr wrap="square" lIns="0" tIns="0" rIns="0" bIns="0" rtlCol="0" anchor="ctr"/>
          <a:lstStyle/>
          <a:p>
            <a:pPr algn="ctr" indent="0" marL="0">
              <a:buNone/>
            </a:pPr>
            <a:r>
              <a:rPr lang="en-US" sz="1100" b="1" dirty="0">
                <a:solidFill>
                  <a:srgbClr val="0D1A7A"/>
                </a:solidFill>
              </a:rPr>
              <a:t>AMBAS OPCIONALES</a:t>
            </a:r>
            <a:endParaRPr lang="en-US" sz="1100" dirty="0"/>
          </a:p>
        </p:txBody>
      </p:sp>
      <p:sp>
        <p:nvSpPr>
          <p:cNvPr id="17" name="card-h-2194"/>
          <p:cNvSpPr txBox="1"/>
          <p:nvPr/>
        </p:nvSpPr>
        <p:spPr>
          <a:xfrm>
            <a:off x="8203997" y="292608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(0,1) y (0,1)</a:t>
            </a:r>
            <a:endParaRPr lang="en-US" sz="2200" dirty="0"/>
          </a:p>
        </p:txBody>
      </p:sp>
      <p:sp>
        <p:nvSpPr>
          <p:cNvPr id="18" name="card-p-2195"/>
          <p:cNvSpPr txBox="1"/>
          <p:nvPr/>
        </p:nvSpPr>
        <p:spPr>
          <a:xfrm>
            <a:off x="8203997" y="3356064"/>
            <a:ext cx="3119018" cy="1257351"/>
          </a:xfrm>
          <a:prstGeom prst="rect">
            <a:avLst/>
          </a:prstGeom>
          <a:noFill/>
          <a:ln/>
        </p:spPr>
        <p:txBody>
          <a:bodyPr wrap="square" lIns="0" tIns="0" rIns="0" bIns="0" rtlCol="0" anchor="t"/>
          <a:lstStyle/>
          <a:p>
            <a:pPr algn="l" indent="0" marL="0">
              <a:buNone/>
            </a:pPr>
            <a:r>
              <a:rPr lang="en-US" sz="1950" dirty="0">
                <a:solidFill>
                  <a:srgbClr val="4B4F58"/>
                </a:solidFill>
              </a:rPr>
              <a:t>Tabla nueva, como en N:M: </a:t>
            </a:r>
            <a:pPr algn="l" indent="0" marL="0">
              <a:buNone/>
            </a:pPr>
            <a:r>
              <a:rPr lang="en-US" sz="1950" dirty="0">
                <a:solidFill>
                  <a:srgbClr val="0D1A7A"/>
                </a:solidFill>
                <a:latin typeface="Courier New" pitchFamily="34" charset="0"/>
                <a:ea typeface="Courier New" pitchFamily="34" charset="-122"/>
                <a:cs typeface="Courier New" pitchFamily="34" charset="-120"/>
              </a:rPr>
              <a:t>UTILIZA(DNI, Código)</a:t>
            </a:r>
            <a:pPr algn="l" indent="0" marL="0">
              <a:buNone/>
            </a:pPr>
            <a:r>
              <a:rPr lang="en-US" sz="1950" dirty="0">
                <a:solidFill>
                  <a:srgbClr val="4B4F58"/>
                </a:solidFill>
              </a:rPr>
              <a:t>, con una de las dos claves única.</a:t>
            </a:r>
            <a:endParaRPr lang="en-US" sz="1950" dirty="0"/>
          </a:p>
        </p:txBody>
      </p:sp>
      <p:sp>
        <p:nvSpPr>
          <p:cNvPr id="19" name="note-2196"/>
          <p:cNvSpPr txBox="1"/>
          <p:nvPr/>
        </p:nvSpPr>
        <p:spPr>
          <a:xfrm>
            <a:off x="685800" y="5300370"/>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Si la relación es opcional, la clave ajena nunca puede quedar en un lado que a veces no participa: acabaría llena de nulos.</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EN EQUIPO</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Dormitorios a medida</a:t>
            </a:r>
            <a:endParaRPr lang="en-US" sz="4000" dirty="0"/>
          </a:p>
        </p:txBody>
      </p:sp>
      <p:sp>
        <p:nvSpPr>
          <p:cNvPr id="4" name="badge-2197"/>
          <p:cNvSpPr/>
          <p:nvPr/>
        </p:nvSpPr>
        <p:spPr>
          <a:xfrm>
            <a:off x="685800" y="292608"/>
            <a:ext cx="475488" cy="475488"/>
          </a:xfrm>
          <a:prstGeom prst="ellipse">
            <a:avLst/>
          </a:prstGeom>
          <a:solidFill>
            <a:srgbClr val="1B39E6"/>
          </a:solidFill>
          <a:ln/>
        </p:spPr>
      </p:sp>
      <p:sp>
        <p:nvSpPr>
          <p:cNvPr id="5" name="badge-glyph-2198"/>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6" name="scenario-card-2208"/>
          <p:cNvSpPr/>
          <p:nvPr/>
        </p:nvSpPr>
        <p:spPr>
          <a:xfrm>
            <a:off x="685800" y="2111407"/>
            <a:ext cx="10820095" cy="2573655"/>
          </a:xfrm>
          <a:prstGeom prst="roundRect">
            <a:avLst>
              <a:gd name="adj" fmla="val 4264"/>
            </a:avLst>
          </a:prstGeom>
          <a:solidFill>
            <a:schemeClr val="bg1"/>
          </a:solidFill>
          <a:ln w="19050">
            <a:solidFill>
              <a:schemeClr val="tx1"/>
            </a:solidFill>
            <a:prstDash val="solid"/>
          </a:ln>
        </p:spPr>
      </p:sp>
      <p:sp>
        <p:nvSpPr>
          <p:cNvPr id="7" name="scenario-2209"/>
          <p:cNvSpPr txBox="1"/>
          <p:nvPr/>
        </p:nvSpPr>
        <p:spPr>
          <a:xfrm>
            <a:off x="914400" y="2294287"/>
            <a:ext cx="10362895" cy="2207895"/>
          </a:xfrm>
          <a:prstGeom prst="rect">
            <a:avLst/>
          </a:prstGeom>
          <a:noFill/>
          <a:ln/>
        </p:spPr>
        <p:txBody>
          <a:bodyPr wrap="square" lIns="0" tIns="0" rIns="0" bIns="0" rtlCol="0" anchor="ctr"/>
          <a:lstStyle/>
          <a:p>
            <a:pPr algn="l" indent="0" marL="0">
              <a:buNone/>
            </a:pPr>
            <a:r>
              <a:rPr lang="en-US" sz="2400" b="1" dirty="0">
                <a:solidFill>
                  <a:srgbClr val="15171C"/>
                </a:solidFill>
              </a:rPr>
              <a:t>De cada </a:t>
            </a:r>
            <a:pPr algn="l" indent="0" marL="0">
              <a:buNone/>
            </a:pPr>
            <a:r>
              <a:rPr lang="en-US" sz="2400" b="1" dirty="0">
                <a:solidFill>
                  <a:srgbClr val="15171C"/>
                </a:solidFill>
              </a:rPr>
              <a:t>modelo</a:t>
            </a:r>
            <a:pPr algn="l" indent="0" marL="0">
              <a:buNone/>
            </a:pPr>
            <a:r>
              <a:rPr lang="en-US" sz="2400" b="1" dirty="0">
                <a:solidFill>
                  <a:srgbClr val="15171C"/>
                </a:solidFill>
              </a:rPr>
              <a:t> interesa su código; de cada </a:t>
            </a:r>
            <a:pPr algn="l" indent="0" marL="0">
              <a:buNone/>
            </a:pPr>
            <a:r>
              <a:rPr lang="en-US" sz="2400" b="1" dirty="0">
                <a:solidFill>
                  <a:srgbClr val="15171C"/>
                </a:solidFill>
              </a:rPr>
              <a:t>montador</a:t>
            </a:r>
            <a:pPr algn="l" indent="0" marL="0">
              <a:buNone/>
            </a:pPr>
            <a:r>
              <a:rPr lang="en-US" sz="2400" b="1" dirty="0">
                <a:solidFill>
                  <a:srgbClr val="15171C"/>
                </a:solidFill>
              </a:rPr>
              <a:t>, NIF, nombre, dirección y teléfono. Cada modelo debe ser montado por </a:t>
            </a:r>
            <a:pPr algn="l" indent="0" marL="0">
              <a:buNone/>
            </a:pPr>
            <a:r>
              <a:rPr lang="en-US" sz="2400" b="1" dirty="0">
                <a:solidFill>
                  <a:srgbClr val="15171C"/>
                </a:solidFill>
              </a:rPr>
              <a:t>al menos dos</a:t>
            </a:r>
            <a:pPr algn="l" indent="0" marL="0">
              <a:buNone/>
            </a:pPr>
            <a:r>
              <a:rPr lang="en-US" sz="2400" b="1" dirty="0">
                <a:solidFill>
                  <a:srgbClr val="15171C"/>
                </a:solidFill>
              </a:rPr>
              <a:t> montadores y un montador puede montar varios modelos, incluso el mismo en fechas distintas (importa la fecha y la cantidad montada). De cada </a:t>
            </a:r>
            <a:pPr algn="l" indent="0" marL="0">
              <a:buNone/>
            </a:pPr>
            <a:r>
              <a:rPr lang="en-US" sz="2400" b="1" dirty="0">
                <a:solidFill>
                  <a:srgbClr val="15171C"/>
                </a:solidFill>
              </a:rPr>
              <a:t>cliente</a:t>
            </a:r>
            <a:pPr algn="l" indent="0" marL="0">
              <a:buNone/>
            </a:pPr>
            <a:r>
              <a:rPr lang="en-US" sz="2400" b="1" dirty="0">
                <a:solidFill>
                  <a:srgbClr val="15171C"/>
                </a:solidFill>
              </a:rPr>
              <a:t>: NIF, nombre, dirección y teléfono; compra varios modelos, con fecha de compra.</a:t>
            </a:r>
            <a:endParaRPr lang="en-US" sz="2400" dirty="0"/>
          </a:p>
        </p:txBody>
      </p:sp>
      <p:sp>
        <p:nvSpPr>
          <p:cNvPr id="8" name="lede-2210"/>
          <p:cNvSpPr txBox="1"/>
          <p:nvPr/>
        </p:nvSpPr>
        <p:spPr>
          <a:xfrm>
            <a:off x="685800" y="4867942"/>
            <a:ext cx="10820095" cy="897890"/>
          </a:xfrm>
          <a:prstGeom prst="rect">
            <a:avLst/>
          </a:prstGeom>
          <a:noFill/>
          <a:ln/>
        </p:spPr>
        <p:txBody>
          <a:bodyPr wrap="square" lIns="0" tIns="0" rIns="0" bIns="0" rtlCol="0" anchor="t"/>
          <a:lstStyle/>
          <a:p>
            <a:pPr algn="l" indent="0" marL="0">
              <a:buNone/>
            </a:pPr>
            <a:r>
              <a:rPr lang="en-US" sz="2750" dirty="0">
                <a:solidFill>
                  <a:srgbClr val="4B4F58"/>
                </a:solidFill>
              </a:rPr>
              <a:t>Pasa a tablas. ¿Hay alguna regla del enunciado que el esquema no pueda expresar?</a:t>
            </a:r>
            <a:endParaRPr lang="en-US" sz="27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Dos N:M... y una regla que se escapa</a:t>
            </a:r>
            <a:endParaRPr lang="en-US" sz="4000" dirty="0"/>
          </a:p>
        </p:txBody>
      </p:sp>
      <p:sp>
        <p:nvSpPr>
          <p:cNvPr id="4" name="badge-2211"/>
          <p:cNvSpPr/>
          <p:nvPr/>
        </p:nvSpPr>
        <p:spPr>
          <a:xfrm>
            <a:off x="685800" y="292608"/>
            <a:ext cx="475488" cy="475488"/>
          </a:xfrm>
          <a:prstGeom prst="ellipse">
            <a:avLst/>
          </a:prstGeom>
          <a:solidFill>
            <a:srgbClr val="3F9468"/>
          </a:solidFill>
          <a:ln/>
        </p:spPr>
      </p:sp>
      <p:sp>
        <p:nvSpPr>
          <p:cNvPr id="5" name="badge-glyph-2212"/>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2223" descr="Diagrama / tabla de la diapositiva">    </p:cNvPr>
          <p:cNvPicPr>
            <a:picLocks noChangeAspect="1"/>
          </p:cNvPicPr>
          <p:nvPr/>
        </p:nvPicPr>
        <p:blipFill>
          <a:blip r:embed="rId1"/>
          <a:stretch>
            <a:fillRect/>
          </a:stretch>
        </p:blipFill>
        <p:spPr>
          <a:xfrm>
            <a:off x="685800" y="1965960"/>
            <a:ext cx="8241494" cy="3395506"/>
          </a:xfrm>
          <a:prstGeom prst="rect">
            <a:avLst/>
          </a:prstGeom>
        </p:spPr>
      </p:pic>
      <p:sp>
        <p:nvSpPr>
          <p:cNvPr id="7" name="note-2224"/>
          <p:cNvSpPr txBox="1"/>
          <p:nvPr/>
        </p:nvSpPr>
        <p:spPr>
          <a:xfrm>
            <a:off x="685800" y="5544346"/>
            <a:ext cx="10820095" cy="715061"/>
          </a:xfrm>
          <a:prstGeom prst="rect">
            <a:avLst/>
          </a:prstGeom>
          <a:noFill/>
          <a:ln/>
        </p:spPr>
        <p:txBody>
          <a:bodyPr wrap="square" lIns="0" tIns="0" rIns="0" bIns="0" rtlCol="0" anchor="t"/>
          <a:lstStyle/>
          <a:p>
            <a:pPr algn="l" indent="0" marL="0">
              <a:buNone/>
            </a:pPr>
            <a:r>
              <a:rPr lang="en-US" sz="2150" b="1" dirty="0">
                <a:solidFill>
                  <a:srgbClr val="4B4F58"/>
                </a:solidFill>
              </a:rPr>
              <a:t>(2,N)</a:t>
            </a:r>
            <a:pPr algn="l" indent="0" marL="0">
              <a:buNone/>
            </a:pPr>
            <a:r>
              <a:rPr lang="en-US" sz="2150" dirty="0">
                <a:solidFill>
                  <a:srgbClr val="4B4F58"/>
                </a:solidFill>
              </a:rPr>
              <a:t> —«al menos dos montadores por modelo»— no se puede expresar con tablas y claves: se comprueba con un disparador o desde la aplicación.</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Pasa a tablas: alumno y curso</a:t>
            </a:r>
            <a:endParaRPr lang="en-US" sz="4000" dirty="0"/>
          </a:p>
        </p:txBody>
      </p:sp>
      <p:sp>
        <p:nvSpPr>
          <p:cNvPr id="4" name="badge-2225"/>
          <p:cNvSpPr/>
          <p:nvPr/>
        </p:nvSpPr>
        <p:spPr>
          <a:xfrm>
            <a:off x="685800" y="292608"/>
            <a:ext cx="475488" cy="475488"/>
          </a:xfrm>
          <a:prstGeom prst="ellipse">
            <a:avLst/>
          </a:prstGeom>
          <a:solidFill>
            <a:srgbClr val="FF5A2E"/>
          </a:solidFill>
          <a:ln/>
        </p:spPr>
      </p:sp>
      <p:sp>
        <p:nvSpPr>
          <p:cNvPr id="5" name="badge-glyph-2226"/>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pic>
        <p:nvPicPr>
          <p:cNvPr id="6" name="imagen-2233" descr="Diagrama / tabla de la diapositiva">    </p:cNvPr>
          <p:cNvPicPr>
            <a:picLocks noChangeAspect="1"/>
          </p:cNvPicPr>
          <p:nvPr/>
        </p:nvPicPr>
        <p:blipFill>
          <a:blip r:embed="rId1"/>
          <a:stretch>
            <a:fillRect/>
          </a:stretch>
        </p:blipFill>
        <p:spPr>
          <a:xfrm>
            <a:off x="685800" y="2163180"/>
            <a:ext cx="5626450" cy="1672550"/>
          </a:xfrm>
          <a:prstGeom prst="rect">
            <a:avLst/>
          </a:prstGeom>
        </p:spPr>
      </p:pic>
      <p:pic>
        <p:nvPicPr>
          <p:cNvPr id="7" name="imagen-2234" descr="Diagrama / tabla de la diapositiva">    </p:cNvPr>
          <p:cNvPicPr>
            <a:picLocks noChangeAspect="1"/>
          </p:cNvPicPr>
          <p:nvPr/>
        </p:nvPicPr>
        <p:blipFill>
          <a:blip r:embed="rId2"/>
          <a:stretch>
            <a:fillRect/>
          </a:stretch>
        </p:blipFill>
        <p:spPr>
          <a:xfrm>
            <a:off x="6745053" y="2163180"/>
            <a:ext cx="4760842" cy="1415235"/>
          </a:xfrm>
          <a:prstGeom prst="rect">
            <a:avLst/>
          </a:prstGeom>
        </p:spPr>
      </p:pic>
      <p:sp>
        <p:nvSpPr>
          <p:cNvPr id="8" name="marker-2235"/>
          <p:cNvSpPr txBox="1"/>
          <p:nvPr/>
        </p:nvSpPr>
        <p:spPr>
          <a:xfrm>
            <a:off x="685800" y="4018610"/>
            <a:ext cx="365760" cy="1043381"/>
          </a:xfrm>
          <a:prstGeom prst="rect">
            <a:avLst/>
          </a:prstGeom>
          <a:noFill/>
          <a:ln/>
        </p:spPr>
        <p:txBody>
          <a:bodyPr wrap="square" lIns="0" tIns="0" rIns="0" bIns="0" rtlCol="0" anchor="t"/>
          <a:lstStyle/>
          <a:p>
            <a:pPr indent="0" marL="0">
              <a:buNone/>
            </a:pPr>
            <a:r>
              <a:rPr lang="en-US" sz="3190" b="1" dirty="0">
                <a:solidFill>
                  <a:srgbClr val="1B39E6"/>
                </a:solidFill>
              </a:rPr>
              <a:t>1.</a:t>
            </a:r>
            <a:endParaRPr lang="en-US" sz="3190" dirty="0"/>
          </a:p>
        </p:txBody>
      </p:sp>
      <p:sp>
        <p:nvSpPr>
          <p:cNvPr id="9" name="item-2236"/>
          <p:cNvSpPr txBox="1"/>
          <p:nvPr/>
        </p:nvSpPr>
        <p:spPr>
          <a:xfrm>
            <a:off x="1097280" y="4018610"/>
            <a:ext cx="10408615" cy="1043381"/>
          </a:xfrm>
          <a:prstGeom prst="rect">
            <a:avLst/>
          </a:prstGeom>
          <a:noFill/>
          <a:ln/>
        </p:spPr>
        <p:txBody>
          <a:bodyPr wrap="square" lIns="0" tIns="0" rIns="0" bIns="0" rtlCol="0" anchor="t"/>
          <a:lstStyle/>
          <a:p>
            <a:pPr algn="l" indent="0" marL="0">
              <a:buNone/>
            </a:pPr>
            <a:r>
              <a:rPr lang="en-US" sz="3200" b="1" dirty="0">
                <a:solidFill>
                  <a:srgbClr val="15171C"/>
                </a:solidFill>
              </a:rPr>
              <a:t>Escribe las tablas del diagrama de la izquierda (N:1).</a:t>
            </a:r>
            <a:endParaRPr lang="en-US" sz="3200" dirty="0"/>
          </a:p>
        </p:txBody>
      </p:sp>
      <p:sp>
        <p:nvSpPr>
          <p:cNvPr id="10" name="marker-2237"/>
          <p:cNvSpPr txBox="1"/>
          <p:nvPr/>
        </p:nvSpPr>
        <p:spPr>
          <a:xfrm>
            <a:off x="685800" y="5153431"/>
            <a:ext cx="365760" cy="549123"/>
          </a:xfrm>
          <a:prstGeom prst="rect">
            <a:avLst/>
          </a:prstGeom>
          <a:noFill/>
          <a:ln/>
        </p:spPr>
        <p:txBody>
          <a:bodyPr wrap="square" lIns="0" tIns="0" rIns="0" bIns="0" rtlCol="0" anchor="t"/>
          <a:lstStyle/>
          <a:p>
            <a:pPr indent="0" marL="0">
              <a:buNone/>
            </a:pPr>
            <a:r>
              <a:rPr lang="en-US" sz="3190" b="1" dirty="0">
                <a:solidFill>
                  <a:srgbClr val="1B39E6"/>
                </a:solidFill>
              </a:rPr>
              <a:t>2.</a:t>
            </a:r>
            <a:endParaRPr lang="en-US" sz="3190" dirty="0"/>
          </a:p>
        </p:txBody>
      </p:sp>
      <p:sp>
        <p:nvSpPr>
          <p:cNvPr id="11" name="item-2238"/>
          <p:cNvSpPr txBox="1"/>
          <p:nvPr/>
        </p:nvSpPr>
        <p:spPr>
          <a:xfrm>
            <a:off x="1097280" y="5153431"/>
            <a:ext cx="10408615" cy="549123"/>
          </a:xfrm>
          <a:prstGeom prst="rect">
            <a:avLst/>
          </a:prstGeom>
          <a:noFill/>
          <a:ln/>
        </p:spPr>
        <p:txBody>
          <a:bodyPr wrap="square" lIns="0" tIns="0" rIns="0" bIns="0" rtlCol="0" anchor="t"/>
          <a:lstStyle/>
          <a:p>
            <a:pPr algn="l" indent="0" marL="0">
              <a:buNone/>
            </a:pPr>
            <a:r>
              <a:rPr lang="en-US" sz="3200" b="1" dirty="0">
                <a:solidFill>
                  <a:srgbClr val="15171C"/>
                </a:solidFill>
              </a:rPr>
              <a:t>Y las del de la derecha (N:M).</a:t>
            </a:r>
            <a:endParaRPr lang="en-US" sz="32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N:1 sin tabla nueva, N:M con ella</a:t>
            </a:r>
            <a:endParaRPr lang="en-US" sz="4000" dirty="0"/>
          </a:p>
        </p:txBody>
      </p:sp>
      <p:sp>
        <p:nvSpPr>
          <p:cNvPr id="4" name="badge-2239"/>
          <p:cNvSpPr/>
          <p:nvPr/>
        </p:nvSpPr>
        <p:spPr>
          <a:xfrm>
            <a:off x="685800" y="292608"/>
            <a:ext cx="475488" cy="475488"/>
          </a:xfrm>
          <a:prstGeom prst="ellipse">
            <a:avLst/>
          </a:prstGeom>
          <a:solidFill>
            <a:srgbClr val="3F9468"/>
          </a:solidFill>
          <a:ln/>
        </p:spPr>
      </p:sp>
      <p:sp>
        <p:nvSpPr>
          <p:cNvPr id="5" name="badge-glyph-2240"/>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schema-card-2248"/>
          <p:cNvSpPr/>
          <p:nvPr/>
        </p:nvSpPr>
        <p:spPr>
          <a:xfrm>
            <a:off x="685800" y="2552462"/>
            <a:ext cx="5626450" cy="1244727"/>
          </a:xfrm>
          <a:prstGeom prst="roundRect">
            <a:avLst>
              <a:gd name="adj" fmla="val 8815"/>
            </a:avLst>
          </a:prstGeom>
          <a:solidFill>
            <a:schemeClr val="bg1"/>
          </a:solidFill>
          <a:ln w="19050">
            <a:solidFill>
              <a:schemeClr val="tx1"/>
            </a:solidFill>
            <a:prstDash val="solid"/>
          </a:ln>
        </p:spPr>
      </p:sp>
      <p:sp>
        <p:nvSpPr>
          <p:cNvPr id="7" name="schema-text-2249"/>
          <p:cNvSpPr txBox="1"/>
          <p:nvPr/>
        </p:nvSpPr>
        <p:spPr>
          <a:xfrm>
            <a:off x="914400" y="2689622"/>
            <a:ext cx="5169250" cy="741807"/>
          </a:xfrm>
          <a:prstGeom prst="rect">
            <a:avLst/>
          </a:prstGeom>
          <a:noFill/>
          <a:ln/>
        </p:spPr>
        <p:txBody>
          <a:bodyPr wrap="square" lIns="0" tIns="0" rIns="0" bIns="0" rtlCol="0" anchor="t"/>
          <a:lstStyle/>
          <a:p>
            <a:pPr indent="0" marL="0">
              <a:buNone/>
            </a:pPr>
            <a:r>
              <a:rPr lang="en-US" sz="2050" b="1" dirty="0">
                <a:solidFill>
                  <a:srgbClr val="15171C"/>
                </a:solidFill>
                <a:latin typeface="Courier New" pitchFamily="34" charset="0"/>
                <a:ea typeface="Courier New" pitchFamily="34" charset="-122"/>
                <a:cs typeface="Courier New" pitchFamily="34" charset="-120"/>
              </a:rPr>
              <a:t>ALUMNO</a:t>
            </a:r>
            <a:pPr indent="0" marL="0">
              <a:buNone/>
            </a:pPr>
            <a:r>
              <a:rPr lang="en-US" sz="2050" dirty="0">
                <a:solidFill>
                  <a:srgbClr val="15171C"/>
                </a:solidFill>
                <a:latin typeface="Courier New" pitchFamily="34" charset="0"/>
                <a:ea typeface="Courier New" pitchFamily="34" charset="-122"/>
                <a:cs typeface="Courier New" pitchFamily="34" charset="-120"/>
              </a:rPr>
              <a:t>(</a:t>
            </a:r>
            <a:pPr indent="0" marL="0">
              <a:buNone/>
            </a:pPr>
            <a:r>
              <a:rPr lang="en-US" sz="2050" u="sng" dirty="0">
                <a:solidFill>
                  <a:srgbClr val="15171C"/>
                </a:solidFill>
                <a:latin typeface="Courier New" pitchFamily="34" charset="0"/>
                <a:ea typeface="Courier New" pitchFamily="34" charset="-122"/>
                <a:cs typeface="Courier New" pitchFamily="34" charset="-120"/>
              </a:rPr>
              <a:t>DNI</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dirty="0">
                <a:solidFill>
                  <a:srgbClr val="15171C"/>
                </a:solidFill>
                <a:latin typeface="Courier New" pitchFamily="34" charset="0"/>
                <a:ea typeface="Courier New" pitchFamily="34" charset="-122"/>
                <a:cs typeface="Courier New" pitchFamily="34" charset="-120"/>
              </a:rPr>
              <a:t>Nombre</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i="1" dirty="0">
                <a:solidFill>
                  <a:srgbClr val="0D1A7A"/>
                </a:solidFill>
                <a:latin typeface="Courier New" pitchFamily="34" charset="0"/>
                <a:ea typeface="Courier New" pitchFamily="34" charset="-122"/>
                <a:cs typeface="Courier New" pitchFamily="34" charset="-120"/>
              </a:rPr>
              <a:t>Código_curso</a:t>
            </a:r>
            <a:pPr indent="0" marL="0">
              <a:buNone/>
            </a:pPr>
            <a:r>
              <a:rPr lang="en-US" sz="2050" dirty="0">
                <a:solidFill>
                  <a:srgbClr val="15171C"/>
                </a:solidFill>
                <a:latin typeface="Courier New" pitchFamily="34" charset="0"/>
                <a:ea typeface="Courier New" pitchFamily="34" charset="-122"/>
                <a:cs typeface="Courier New" pitchFamily="34" charset="-120"/>
              </a:rPr>
              <a:t>)</a:t>
            </a:r>
            <a:endParaRPr lang="en-US" sz="2050" dirty="0"/>
          </a:p>
          <a:p>
            <a:pPr indent="0" marL="0">
              <a:buNone/>
            </a:pPr>
            <a:r>
              <a:rPr lang="en-US" sz="2050" b="1" dirty="0">
                <a:solidFill>
                  <a:srgbClr val="15171C"/>
                </a:solidFill>
                <a:latin typeface="Courier New" pitchFamily="34" charset="0"/>
                <a:ea typeface="Courier New" pitchFamily="34" charset="-122"/>
                <a:cs typeface="Courier New" pitchFamily="34" charset="-120"/>
              </a:rPr>
              <a:t>CURSO</a:t>
            </a:r>
            <a:pPr indent="0" marL="0">
              <a:buNone/>
            </a:pPr>
            <a:r>
              <a:rPr lang="en-US" sz="2050" dirty="0">
                <a:solidFill>
                  <a:srgbClr val="15171C"/>
                </a:solidFill>
                <a:latin typeface="Courier New" pitchFamily="34" charset="0"/>
                <a:ea typeface="Courier New" pitchFamily="34" charset="-122"/>
                <a:cs typeface="Courier New" pitchFamily="34" charset="-120"/>
              </a:rPr>
              <a:t>(</a:t>
            </a:r>
            <a:pPr indent="0" marL="0">
              <a:buNone/>
            </a:pPr>
            <a:r>
              <a:rPr lang="en-US" sz="2050" u="sng" dirty="0">
                <a:solidFill>
                  <a:srgbClr val="15171C"/>
                </a:solidFill>
                <a:latin typeface="Courier New" pitchFamily="34" charset="0"/>
                <a:ea typeface="Courier New" pitchFamily="34" charset="-122"/>
                <a:cs typeface="Courier New" pitchFamily="34" charset="-120"/>
              </a:rPr>
              <a:t>Código</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dirty="0">
                <a:solidFill>
                  <a:srgbClr val="15171C"/>
                </a:solidFill>
                <a:latin typeface="Courier New" pitchFamily="34" charset="0"/>
                <a:ea typeface="Courier New" pitchFamily="34" charset="-122"/>
                <a:cs typeface="Courier New" pitchFamily="34" charset="-120"/>
              </a:rPr>
              <a:t>Descripción</a:t>
            </a:r>
            <a:pPr indent="0" marL="0">
              <a:buNone/>
            </a:pPr>
            <a:r>
              <a:rPr lang="en-US" sz="2050" dirty="0">
                <a:solidFill>
                  <a:srgbClr val="15171C"/>
                </a:solidFill>
                <a:latin typeface="Courier New" pitchFamily="34" charset="0"/>
                <a:ea typeface="Courier New" pitchFamily="34" charset="-122"/>
                <a:cs typeface="Courier New" pitchFamily="34" charset="-120"/>
              </a:rPr>
              <a:t>)</a:t>
            </a:r>
            <a:endParaRPr lang="en-US" sz="2050" dirty="0"/>
          </a:p>
        </p:txBody>
      </p:sp>
      <p:sp>
        <p:nvSpPr>
          <p:cNvPr id="8" name="schema-legend-2250"/>
          <p:cNvSpPr txBox="1"/>
          <p:nvPr/>
        </p:nvSpPr>
        <p:spPr>
          <a:xfrm>
            <a:off x="914400" y="3504581"/>
            <a:ext cx="5169250"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9" name="schema-card-2251"/>
          <p:cNvSpPr/>
          <p:nvPr/>
        </p:nvSpPr>
        <p:spPr>
          <a:xfrm>
            <a:off x="6745053" y="2552462"/>
            <a:ext cx="4760842" cy="1592771"/>
          </a:xfrm>
          <a:prstGeom prst="roundRect">
            <a:avLst>
              <a:gd name="adj" fmla="val 6889"/>
            </a:avLst>
          </a:prstGeom>
          <a:solidFill>
            <a:schemeClr val="bg1"/>
          </a:solidFill>
          <a:ln w="19050">
            <a:solidFill>
              <a:schemeClr val="tx1"/>
            </a:solidFill>
            <a:prstDash val="solid"/>
          </a:ln>
        </p:spPr>
      </p:sp>
      <p:sp>
        <p:nvSpPr>
          <p:cNvPr id="10" name="schema-text-2252"/>
          <p:cNvSpPr txBox="1"/>
          <p:nvPr/>
        </p:nvSpPr>
        <p:spPr>
          <a:xfrm>
            <a:off x="6973653" y="2689622"/>
            <a:ext cx="4303642" cy="1089851"/>
          </a:xfrm>
          <a:prstGeom prst="rect">
            <a:avLst/>
          </a:prstGeom>
          <a:noFill/>
          <a:ln/>
        </p:spPr>
        <p:txBody>
          <a:bodyPr wrap="square" lIns="0" tIns="0" rIns="0" bIns="0" rtlCol="0" anchor="t"/>
          <a:lstStyle/>
          <a:p>
            <a:pPr indent="0" marL="0">
              <a:buNone/>
            </a:pPr>
            <a:r>
              <a:rPr lang="en-US" sz="2050" b="1" dirty="0">
                <a:solidFill>
                  <a:srgbClr val="15171C"/>
                </a:solidFill>
                <a:latin typeface="Courier New" pitchFamily="34" charset="0"/>
                <a:ea typeface="Courier New" pitchFamily="34" charset="-122"/>
                <a:cs typeface="Courier New" pitchFamily="34" charset="-120"/>
              </a:rPr>
              <a:t>ALUMNO</a:t>
            </a:r>
            <a:pPr indent="0" marL="0">
              <a:buNone/>
            </a:pPr>
            <a:r>
              <a:rPr lang="en-US" sz="2050" dirty="0">
                <a:solidFill>
                  <a:srgbClr val="15171C"/>
                </a:solidFill>
                <a:latin typeface="Courier New" pitchFamily="34" charset="0"/>
                <a:ea typeface="Courier New" pitchFamily="34" charset="-122"/>
                <a:cs typeface="Courier New" pitchFamily="34" charset="-120"/>
              </a:rPr>
              <a:t>(</a:t>
            </a:r>
            <a:pPr indent="0" marL="0">
              <a:buNone/>
            </a:pPr>
            <a:r>
              <a:rPr lang="en-US" sz="2050" u="sng" dirty="0">
                <a:solidFill>
                  <a:srgbClr val="15171C"/>
                </a:solidFill>
                <a:latin typeface="Courier New" pitchFamily="34" charset="0"/>
                <a:ea typeface="Courier New" pitchFamily="34" charset="-122"/>
                <a:cs typeface="Courier New" pitchFamily="34" charset="-120"/>
              </a:rPr>
              <a:t>DNI</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dirty="0">
                <a:solidFill>
                  <a:srgbClr val="15171C"/>
                </a:solidFill>
                <a:latin typeface="Courier New" pitchFamily="34" charset="0"/>
                <a:ea typeface="Courier New" pitchFamily="34" charset="-122"/>
                <a:cs typeface="Courier New" pitchFamily="34" charset="-120"/>
              </a:rPr>
              <a:t>Nombre</a:t>
            </a:r>
            <a:pPr indent="0" marL="0">
              <a:buNone/>
            </a:pPr>
            <a:r>
              <a:rPr lang="en-US" sz="2050" dirty="0">
                <a:solidFill>
                  <a:srgbClr val="15171C"/>
                </a:solidFill>
                <a:latin typeface="Courier New" pitchFamily="34" charset="0"/>
                <a:ea typeface="Courier New" pitchFamily="34" charset="-122"/>
                <a:cs typeface="Courier New" pitchFamily="34" charset="-120"/>
              </a:rPr>
              <a:t>)</a:t>
            </a:r>
            <a:endParaRPr lang="en-US" sz="2050" dirty="0"/>
          </a:p>
          <a:p>
            <a:pPr indent="0" marL="0">
              <a:buNone/>
            </a:pPr>
            <a:r>
              <a:rPr lang="en-US" sz="2050" b="1" dirty="0">
                <a:solidFill>
                  <a:srgbClr val="15171C"/>
                </a:solidFill>
                <a:latin typeface="Courier New" pitchFamily="34" charset="0"/>
                <a:ea typeface="Courier New" pitchFamily="34" charset="-122"/>
                <a:cs typeface="Courier New" pitchFamily="34" charset="-120"/>
              </a:rPr>
              <a:t>CURSO</a:t>
            </a:r>
            <a:pPr indent="0" marL="0">
              <a:buNone/>
            </a:pPr>
            <a:r>
              <a:rPr lang="en-US" sz="2050" dirty="0">
                <a:solidFill>
                  <a:srgbClr val="15171C"/>
                </a:solidFill>
                <a:latin typeface="Courier New" pitchFamily="34" charset="0"/>
                <a:ea typeface="Courier New" pitchFamily="34" charset="-122"/>
                <a:cs typeface="Courier New" pitchFamily="34" charset="-120"/>
              </a:rPr>
              <a:t>(</a:t>
            </a:r>
            <a:pPr indent="0" marL="0">
              <a:buNone/>
            </a:pPr>
            <a:r>
              <a:rPr lang="en-US" sz="2050" u="sng" dirty="0">
                <a:solidFill>
                  <a:srgbClr val="15171C"/>
                </a:solidFill>
                <a:latin typeface="Courier New" pitchFamily="34" charset="0"/>
                <a:ea typeface="Courier New" pitchFamily="34" charset="-122"/>
                <a:cs typeface="Courier New" pitchFamily="34" charset="-120"/>
              </a:rPr>
              <a:t>Código</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dirty="0">
                <a:solidFill>
                  <a:srgbClr val="15171C"/>
                </a:solidFill>
                <a:latin typeface="Courier New" pitchFamily="34" charset="0"/>
                <a:ea typeface="Courier New" pitchFamily="34" charset="-122"/>
                <a:cs typeface="Courier New" pitchFamily="34" charset="-120"/>
              </a:rPr>
              <a:t>Descripción</a:t>
            </a:r>
            <a:pPr indent="0" marL="0">
              <a:buNone/>
            </a:pPr>
            <a:r>
              <a:rPr lang="en-US" sz="2050" dirty="0">
                <a:solidFill>
                  <a:srgbClr val="15171C"/>
                </a:solidFill>
                <a:latin typeface="Courier New" pitchFamily="34" charset="0"/>
                <a:ea typeface="Courier New" pitchFamily="34" charset="-122"/>
                <a:cs typeface="Courier New" pitchFamily="34" charset="-120"/>
              </a:rPr>
              <a:t>)</a:t>
            </a:r>
            <a:endParaRPr lang="en-US" sz="2050" dirty="0"/>
          </a:p>
          <a:p>
            <a:pPr indent="0" marL="0">
              <a:buNone/>
            </a:pPr>
            <a:r>
              <a:rPr lang="en-US" sz="2050" b="1" dirty="0">
                <a:solidFill>
                  <a:srgbClr val="15171C"/>
                </a:solidFill>
                <a:latin typeface="Courier New" pitchFamily="34" charset="0"/>
                <a:ea typeface="Courier New" pitchFamily="34" charset="-122"/>
                <a:cs typeface="Courier New" pitchFamily="34" charset="-120"/>
              </a:rPr>
              <a:t>ASISTENTES</a:t>
            </a:r>
            <a:pPr indent="0" marL="0">
              <a:buNone/>
            </a:pPr>
            <a:r>
              <a:rPr lang="en-US" sz="2050" dirty="0">
                <a:solidFill>
                  <a:srgbClr val="15171C"/>
                </a:solidFill>
                <a:latin typeface="Courier New" pitchFamily="34" charset="0"/>
                <a:ea typeface="Courier New" pitchFamily="34" charset="-122"/>
                <a:cs typeface="Courier New" pitchFamily="34" charset="-120"/>
              </a:rPr>
              <a:t>(</a:t>
            </a:r>
            <a:pPr indent="0" marL="0">
              <a:buNone/>
            </a:pPr>
            <a:r>
              <a:rPr lang="en-US" sz="2050" i="1" u="sng" dirty="0">
                <a:solidFill>
                  <a:srgbClr val="0D1A7A"/>
                </a:solidFill>
                <a:latin typeface="Courier New" pitchFamily="34" charset="0"/>
                <a:ea typeface="Courier New" pitchFamily="34" charset="-122"/>
                <a:cs typeface="Courier New" pitchFamily="34" charset="-120"/>
              </a:rPr>
              <a:t>DNI</a:t>
            </a:r>
            <a:pPr indent="0" marL="0">
              <a:buNone/>
            </a:pPr>
            <a:r>
              <a:rPr lang="en-US" sz="2050" dirty="0">
                <a:solidFill>
                  <a:srgbClr val="15171C"/>
                </a:solidFill>
                <a:latin typeface="Courier New" pitchFamily="34" charset="0"/>
                <a:ea typeface="Courier New" pitchFamily="34" charset="-122"/>
                <a:cs typeface="Courier New" pitchFamily="34" charset="-120"/>
              </a:rPr>
              <a:t>, </a:t>
            </a:r>
            <a:pPr indent="0" marL="0">
              <a:buNone/>
            </a:pPr>
            <a:r>
              <a:rPr lang="en-US" sz="2050" i="1" u="sng" dirty="0">
                <a:solidFill>
                  <a:srgbClr val="0D1A7A"/>
                </a:solidFill>
                <a:latin typeface="Courier New" pitchFamily="34" charset="0"/>
                <a:ea typeface="Courier New" pitchFamily="34" charset="-122"/>
                <a:cs typeface="Courier New" pitchFamily="34" charset="-120"/>
              </a:rPr>
              <a:t>Código</a:t>
            </a:r>
            <a:pPr indent="0" marL="0">
              <a:buNone/>
            </a:pPr>
            <a:r>
              <a:rPr lang="en-US" sz="2050" dirty="0">
                <a:solidFill>
                  <a:srgbClr val="15171C"/>
                </a:solidFill>
                <a:latin typeface="Courier New" pitchFamily="34" charset="0"/>
                <a:ea typeface="Courier New" pitchFamily="34" charset="-122"/>
                <a:cs typeface="Courier New" pitchFamily="34" charset="-120"/>
              </a:rPr>
              <a:t>)</a:t>
            </a:r>
            <a:endParaRPr lang="en-US" sz="2050" dirty="0"/>
          </a:p>
        </p:txBody>
      </p:sp>
      <p:sp>
        <p:nvSpPr>
          <p:cNvPr id="11" name="schema-legend-2253"/>
          <p:cNvSpPr txBox="1"/>
          <p:nvPr/>
        </p:nvSpPr>
        <p:spPr>
          <a:xfrm>
            <a:off x="6973653" y="3852624"/>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12" name="note-2254"/>
          <p:cNvSpPr txBox="1"/>
          <p:nvPr/>
        </p:nvSpPr>
        <p:spPr>
          <a:xfrm>
            <a:off x="685800" y="4328112"/>
            <a:ext cx="10820095" cy="944372"/>
          </a:xfrm>
          <a:prstGeom prst="rect">
            <a:avLst/>
          </a:prstGeom>
          <a:noFill/>
          <a:ln/>
        </p:spPr>
        <p:txBody>
          <a:bodyPr wrap="square" lIns="0" tIns="0" rIns="0" bIns="0" rtlCol="0" anchor="t"/>
          <a:lstStyle/>
          <a:p>
            <a:pPr algn="l" indent="0" marL="0">
              <a:buNone/>
            </a:pPr>
            <a:r>
              <a:rPr lang="en-US" sz="2900" b="1" dirty="0">
                <a:solidFill>
                  <a:srgbClr val="4B4F58"/>
                </a:solidFill>
              </a:rPr>
              <a:t>N:1</a:t>
            </a:r>
            <a:pPr algn="l" indent="0" marL="0">
              <a:buNone/>
            </a:pPr>
            <a:r>
              <a:rPr lang="en-US" sz="2900" dirty="0">
                <a:solidFill>
                  <a:srgbClr val="4B4F58"/>
                </a:solidFill>
              </a:rPr>
              <a:t>: la clave de </a:t>
            </a:r>
            <a:pPr algn="l" indent="0" marL="0">
              <a:buNone/>
            </a:pPr>
            <a:r>
              <a:rPr lang="en-US" sz="2900" dirty="0">
                <a:solidFill>
                  <a:srgbClr val="0D1A7A"/>
                </a:solidFill>
                <a:latin typeface="Courier New" pitchFamily="34" charset="0"/>
                <a:ea typeface="Courier New" pitchFamily="34" charset="-122"/>
                <a:cs typeface="Courier New" pitchFamily="34" charset="-120"/>
              </a:rPr>
              <a:t>CURSO</a:t>
            </a:r>
            <a:pPr algn="l" indent="0" marL="0">
              <a:buNone/>
            </a:pPr>
            <a:r>
              <a:rPr lang="en-US" sz="2900" dirty="0">
                <a:solidFill>
                  <a:srgbClr val="4B4F58"/>
                </a:solidFill>
              </a:rPr>
              <a:t> viaja a </a:t>
            </a:r>
            <a:pPr algn="l" indent="0" marL="0">
              <a:buNone/>
            </a:pPr>
            <a:r>
              <a:rPr lang="en-US" sz="2900" dirty="0">
                <a:solidFill>
                  <a:srgbClr val="0D1A7A"/>
                </a:solidFill>
                <a:latin typeface="Courier New" pitchFamily="34" charset="0"/>
                <a:ea typeface="Courier New" pitchFamily="34" charset="-122"/>
                <a:cs typeface="Courier New" pitchFamily="34" charset="-120"/>
              </a:rPr>
              <a:t>ALUMNO</a:t>
            </a:r>
            <a:pPr algn="l" indent="0" marL="0">
              <a:buNone/>
            </a:pPr>
            <a:r>
              <a:rPr lang="en-US" sz="2900" dirty="0">
                <a:solidFill>
                  <a:srgbClr val="4B4F58"/>
                </a:solidFill>
              </a:rPr>
              <a:t>. </a:t>
            </a:r>
            <a:pPr algn="l" indent="0" marL="0">
              <a:buNone/>
            </a:pPr>
            <a:r>
              <a:rPr lang="en-US" sz="2900" b="1" dirty="0">
                <a:solidFill>
                  <a:srgbClr val="4B4F58"/>
                </a:solidFill>
              </a:rPr>
              <a:t>N:M</a:t>
            </a:r>
            <a:pPr algn="l" indent="0" marL="0">
              <a:buNone/>
            </a:pPr>
            <a:r>
              <a:rPr lang="en-US" sz="2900" dirty="0">
                <a:solidFill>
                  <a:srgbClr val="4B4F58"/>
                </a:solidFill>
              </a:rPr>
              <a:t>: tabla nueva </a:t>
            </a:r>
            <a:pPr algn="l" indent="0" marL="0">
              <a:buNone/>
            </a:pPr>
            <a:r>
              <a:rPr lang="en-US" sz="2900" dirty="0">
                <a:solidFill>
                  <a:srgbClr val="0D1A7A"/>
                </a:solidFill>
                <a:latin typeface="Courier New" pitchFamily="34" charset="0"/>
                <a:ea typeface="Courier New" pitchFamily="34" charset="-122"/>
                <a:cs typeface="Courier New" pitchFamily="34" charset="-120"/>
              </a:rPr>
              <a:t>ASISTENTES</a:t>
            </a:r>
            <a:pPr algn="l" indent="0" marL="0">
              <a:buNone/>
            </a:pPr>
            <a:r>
              <a:rPr lang="en-US" sz="2900" dirty="0">
                <a:solidFill>
                  <a:srgbClr val="4B4F58"/>
                </a:solidFill>
              </a:rPr>
              <a:t> con las dos claves.</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3000" b="1" dirty="0">
                <a:solidFill>
                  <a:schemeClr val="tx1"/>
                </a:solidFill>
              </a:rPr>
              <a:t>Reflexivas: la clave se repite con otro nombre</a:t>
            </a:r>
            <a:endParaRPr lang="en-US" sz="4000" dirty="0"/>
          </a:p>
        </p:txBody>
      </p:sp>
      <p:pic>
        <p:nvPicPr>
          <p:cNvPr id="4" name="imagen-2258" descr="Diagrama / tabla de la diapositiva">    </p:cNvPr>
          <p:cNvPicPr>
            <a:picLocks noChangeAspect="1"/>
          </p:cNvPicPr>
          <p:nvPr/>
        </p:nvPicPr>
        <p:blipFill>
          <a:blip r:embed="rId1"/>
          <a:stretch>
            <a:fillRect/>
          </a:stretch>
        </p:blipFill>
        <p:spPr>
          <a:xfrm>
            <a:off x="685800" y="2046532"/>
            <a:ext cx="5626450" cy="2044214"/>
          </a:xfrm>
          <a:prstGeom prst="rect">
            <a:avLst/>
          </a:prstGeom>
        </p:spPr>
      </p:pic>
      <p:pic>
        <p:nvPicPr>
          <p:cNvPr id="5" name="imagen-2259" descr="Diagrama / tabla de la diapositiva">    </p:cNvPr>
          <p:cNvPicPr>
            <a:picLocks noChangeAspect="1"/>
          </p:cNvPicPr>
          <p:nvPr/>
        </p:nvPicPr>
        <p:blipFill>
          <a:blip r:embed="rId2"/>
          <a:stretch>
            <a:fillRect/>
          </a:stretch>
        </p:blipFill>
        <p:spPr>
          <a:xfrm>
            <a:off x="6745053" y="2046532"/>
            <a:ext cx="4760842" cy="998169"/>
          </a:xfrm>
          <a:prstGeom prst="rect">
            <a:avLst/>
          </a:prstGeom>
        </p:spPr>
      </p:pic>
      <p:sp>
        <p:nvSpPr>
          <p:cNvPr id="6" name="note-2260"/>
          <p:cNvSpPr txBox="1"/>
          <p:nvPr/>
        </p:nvSpPr>
        <p:spPr>
          <a:xfrm>
            <a:off x="685800" y="4273625"/>
            <a:ext cx="10820095" cy="1393698"/>
          </a:xfrm>
          <a:prstGeom prst="rect">
            <a:avLst/>
          </a:prstGeom>
          <a:noFill/>
          <a:ln/>
        </p:spPr>
        <p:txBody>
          <a:bodyPr wrap="square" lIns="0" tIns="0" rIns="0" bIns="0" rtlCol="0" anchor="t"/>
          <a:lstStyle/>
          <a:p>
            <a:pPr algn="l" indent="0" marL="0">
              <a:buNone/>
            </a:pPr>
            <a:r>
              <a:rPr lang="en-US" sz="2900" dirty="0">
                <a:solidFill>
                  <a:srgbClr val="4B4F58"/>
                </a:solidFill>
              </a:rPr>
              <a:t>Se trata como una binaria: un empleado tiene como mucho un jefe, así que la foránea </a:t>
            </a:r>
            <a:pPr algn="l" indent="0" marL="0">
              <a:buNone/>
            </a:pPr>
            <a:r>
              <a:rPr lang="en-US" sz="2900" dirty="0">
                <a:solidFill>
                  <a:srgbClr val="0D1A7A"/>
                </a:solidFill>
                <a:latin typeface="Courier New" pitchFamily="34" charset="0"/>
                <a:ea typeface="Courier New" pitchFamily="34" charset="-122"/>
                <a:cs typeface="Courier New" pitchFamily="34" charset="-120"/>
              </a:rPr>
              <a:t>dni_jefe</a:t>
            </a:r>
            <a:pPr algn="l" indent="0" marL="0">
              <a:buNone/>
            </a:pPr>
            <a:r>
              <a:rPr lang="en-US" sz="2900" dirty="0">
                <a:solidFill>
                  <a:srgbClr val="4B4F58"/>
                </a:solidFill>
              </a:rPr>
              <a:t> apunta a la propia tabla y admite nulos (el director no tiene jefe).</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Reflexivas: 1:N y N:M</a:t>
            </a:r>
            <a:endParaRPr lang="en-US" sz="4000" dirty="0"/>
          </a:p>
        </p:txBody>
      </p:sp>
      <p:pic>
        <p:nvPicPr>
          <p:cNvPr id="4" name="imagen-2277" descr="Diagrama / tabla de la diapositiva">    </p:cNvPr>
          <p:cNvPicPr>
            <a:picLocks noChangeAspect="1"/>
          </p:cNvPicPr>
          <p:nvPr/>
        </p:nvPicPr>
        <p:blipFill>
          <a:blip r:embed="rId1"/>
          <a:stretch>
            <a:fillRect/>
          </a:stretch>
        </p:blipFill>
        <p:spPr>
          <a:xfrm>
            <a:off x="685800" y="1783080"/>
            <a:ext cx="5626450" cy="2055435"/>
          </a:xfrm>
          <a:prstGeom prst="rect">
            <a:avLst/>
          </a:prstGeom>
        </p:spPr>
      </p:pic>
      <p:sp>
        <p:nvSpPr>
          <p:cNvPr id="5" name="schema-card-2278"/>
          <p:cNvSpPr/>
          <p:nvPr/>
        </p:nvSpPr>
        <p:spPr>
          <a:xfrm>
            <a:off x="6745053" y="1783080"/>
            <a:ext cx="4760842" cy="1520762"/>
          </a:xfrm>
          <a:prstGeom prst="roundRect">
            <a:avLst>
              <a:gd name="adj" fmla="val 7215"/>
            </a:avLst>
          </a:prstGeom>
          <a:solidFill>
            <a:schemeClr val="bg1"/>
          </a:solidFill>
          <a:ln w="19050">
            <a:solidFill>
              <a:schemeClr val="tx1"/>
            </a:solidFill>
            <a:prstDash val="solid"/>
          </a:ln>
        </p:spPr>
      </p:sp>
      <p:sp>
        <p:nvSpPr>
          <p:cNvPr id="6" name="schema-text-2279"/>
          <p:cNvSpPr txBox="1"/>
          <p:nvPr/>
        </p:nvSpPr>
        <p:spPr>
          <a:xfrm>
            <a:off x="6973653" y="1920240"/>
            <a:ext cx="4303642" cy="1017842"/>
          </a:xfrm>
          <a:prstGeom prst="rect">
            <a:avLst/>
          </a:prstGeom>
          <a:noFill/>
          <a:ln/>
        </p:spPr>
        <p:txBody>
          <a:bodyPr wrap="square" lIns="0" tIns="0" rIns="0" bIns="0" rtlCol="0" anchor="t"/>
          <a:lstStyle/>
          <a:p>
            <a:pPr indent="0" marL="0">
              <a:buNone/>
            </a:pPr>
            <a:r>
              <a:rPr lang="en-US" sz="1900" b="1" dirty="0">
                <a:solidFill>
                  <a:srgbClr val="15171C"/>
                </a:solidFill>
                <a:latin typeface="Courier New" pitchFamily="34" charset="0"/>
                <a:ea typeface="Courier New" pitchFamily="34" charset="-122"/>
                <a:cs typeface="Courier New" pitchFamily="34" charset="-120"/>
              </a:rPr>
              <a:t>ENTIDAD1</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u="sng" dirty="0">
                <a:solidFill>
                  <a:srgbClr val="15171C"/>
                </a:solidFill>
                <a:latin typeface="Courier New" pitchFamily="34" charset="0"/>
                <a:ea typeface="Courier New" pitchFamily="34" charset="-122"/>
                <a:cs typeface="Courier New" pitchFamily="34" charset="-120"/>
              </a:rPr>
              <a:t>Identificador1</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Atributo1</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i="1" dirty="0">
                <a:solidFill>
                  <a:srgbClr val="0D1A7A"/>
                </a:solidFill>
                <a:latin typeface="Courier New" pitchFamily="34" charset="0"/>
                <a:ea typeface="Courier New" pitchFamily="34" charset="-122"/>
                <a:cs typeface="Courier New" pitchFamily="34" charset="-120"/>
              </a:rPr>
              <a:t>Identificador1_jefe</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Atributo2</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p:txBody>
      </p:sp>
      <p:sp>
        <p:nvSpPr>
          <p:cNvPr id="7" name="schema-legend-2280"/>
          <p:cNvSpPr txBox="1"/>
          <p:nvPr/>
        </p:nvSpPr>
        <p:spPr>
          <a:xfrm>
            <a:off x="6973653" y="3011234"/>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8" name="schema-card-2281"/>
          <p:cNvSpPr/>
          <p:nvPr/>
        </p:nvSpPr>
        <p:spPr>
          <a:xfrm>
            <a:off x="6745053" y="3486722"/>
            <a:ext cx="4760842" cy="1196721"/>
          </a:xfrm>
          <a:prstGeom prst="roundRect">
            <a:avLst>
              <a:gd name="adj" fmla="val 9169"/>
            </a:avLst>
          </a:prstGeom>
          <a:solidFill>
            <a:schemeClr val="bg1"/>
          </a:solidFill>
          <a:ln w="19050">
            <a:solidFill>
              <a:schemeClr val="tx1"/>
            </a:solidFill>
            <a:prstDash val="solid"/>
          </a:ln>
        </p:spPr>
      </p:sp>
      <p:sp>
        <p:nvSpPr>
          <p:cNvPr id="9" name="schema-text-2282"/>
          <p:cNvSpPr txBox="1"/>
          <p:nvPr/>
        </p:nvSpPr>
        <p:spPr>
          <a:xfrm>
            <a:off x="6973653" y="3623882"/>
            <a:ext cx="4303642" cy="693801"/>
          </a:xfrm>
          <a:prstGeom prst="rect">
            <a:avLst/>
          </a:prstGeom>
          <a:noFill/>
          <a:ln/>
        </p:spPr>
        <p:txBody>
          <a:bodyPr wrap="square" lIns="0" tIns="0" rIns="0" bIns="0" rtlCol="0" anchor="t"/>
          <a:lstStyle/>
          <a:p>
            <a:pPr indent="0" marL="0">
              <a:buNone/>
            </a:pPr>
            <a:r>
              <a:rPr lang="en-US" sz="1900" b="1" dirty="0">
                <a:solidFill>
                  <a:srgbClr val="15171C"/>
                </a:solidFill>
                <a:latin typeface="Courier New" pitchFamily="34" charset="0"/>
                <a:ea typeface="Courier New" pitchFamily="34" charset="-122"/>
                <a:cs typeface="Courier New" pitchFamily="34" charset="-120"/>
              </a:rPr>
              <a:t>PERSONA</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u="sng" dirty="0">
                <a:solidFill>
                  <a:srgbClr val="15171C"/>
                </a:solidFill>
                <a:latin typeface="Courier New" pitchFamily="34" charset="0"/>
                <a:ea typeface="Courier New" pitchFamily="34" charset="-122"/>
                <a:cs typeface="Courier New" pitchFamily="34" charset="-120"/>
              </a:rPr>
              <a:t>DNI</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Nombre</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a:p>
            <a:pPr indent="0" marL="0">
              <a:buNone/>
            </a:pPr>
            <a:r>
              <a:rPr lang="en-US" sz="1900" b="1" dirty="0">
                <a:solidFill>
                  <a:srgbClr val="15171C"/>
                </a:solidFill>
                <a:latin typeface="Courier New" pitchFamily="34" charset="0"/>
                <a:ea typeface="Courier New" pitchFamily="34" charset="-122"/>
                <a:cs typeface="Courier New" pitchFamily="34" charset="-120"/>
              </a:rPr>
              <a:t>AMISTAD</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i="1" u="sng" dirty="0">
                <a:solidFill>
                  <a:srgbClr val="0D1A7A"/>
                </a:solidFill>
                <a:latin typeface="Courier New" pitchFamily="34" charset="0"/>
                <a:ea typeface="Courier New" pitchFamily="34" charset="-122"/>
                <a:cs typeface="Courier New" pitchFamily="34" charset="-120"/>
              </a:rPr>
              <a:t>DNI_1</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i="1" u="sng" dirty="0">
                <a:solidFill>
                  <a:srgbClr val="0D1A7A"/>
                </a:solidFill>
                <a:latin typeface="Courier New" pitchFamily="34" charset="0"/>
                <a:ea typeface="Courier New" pitchFamily="34" charset="-122"/>
                <a:cs typeface="Courier New" pitchFamily="34" charset="-120"/>
              </a:rPr>
              <a:t>DNI_2</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desde</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p:txBody>
      </p:sp>
      <p:sp>
        <p:nvSpPr>
          <p:cNvPr id="10" name="schema-legend-2283"/>
          <p:cNvSpPr txBox="1"/>
          <p:nvPr/>
        </p:nvSpPr>
        <p:spPr>
          <a:xfrm>
            <a:off x="6973653" y="4390835"/>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11" name="note-2284"/>
          <p:cNvSpPr txBox="1"/>
          <p:nvPr/>
        </p:nvSpPr>
        <p:spPr>
          <a:xfrm>
            <a:off x="685800" y="4866323"/>
            <a:ext cx="10820095" cy="1300734"/>
          </a:xfrm>
          <a:prstGeom prst="rect">
            <a:avLst/>
          </a:prstGeom>
          <a:noFill/>
          <a:ln/>
        </p:spPr>
        <p:txBody>
          <a:bodyPr wrap="square" lIns="0" tIns="0" rIns="0" bIns="0" rtlCol="0" anchor="t"/>
          <a:lstStyle/>
          <a:p>
            <a:pPr algn="l" indent="0" marL="0">
              <a:buNone/>
            </a:pPr>
            <a:r>
              <a:rPr lang="en-US" sz="2700" b="1" dirty="0">
                <a:solidFill>
                  <a:srgbClr val="4B4F58"/>
                </a:solidFill>
              </a:rPr>
              <a:t>1:N</a:t>
            </a:r>
            <a:pPr algn="l" indent="0" marL="0">
              <a:buNone/>
            </a:pPr>
            <a:r>
              <a:rPr lang="en-US" sz="2700" dirty="0">
                <a:solidFill>
                  <a:srgbClr val="4B4F58"/>
                </a:solidFill>
              </a:rPr>
              <a:t>: una sola tabla, con la clave primaria repetida como foránea. </a:t>
            </a:r>
            <a:pPr algn="l" indent="0" marL="0">
              <a:buNone/>
            </a:pPr>
            <a:r>
              <a:rPr lang="en-US" sz="2700" b="1" dirty="0">
                <a:solidFill>
                  <a:srgbClr val="4B4F58"/>
                </a:solidFill>
              </a:rPr>
              <a:t>N:M</a:t>
            </a:r>
            <a:pPr algn="l" indent="0" marL="0">
              <a:buNone/>
            </a:pPr>
            <a:r>
              <a:rPr lang="en-US" sz="2700" dirty="0">
                <a:solidFill>
                  <a:srgbClr val="4B4F58"/>
                </a:solidFill>
              </a:rPr>
              <a:t>: dos tablas, la de la entidad y la de la relación, con las dos claves externas y sus atributos.</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Ternarias: tres claves foráneas</a:t>
            </a:r>
            <a:endParaRPr lang="en-US" sz="4000" dirty="0"/>
          </a:p>
        </p:txBody>
      </p:sp>
      <p:pic>
        <p:nvPicPr>
          <p:cNvPr id="4" name="imagen-2300" descr="Diagrama / tabla de la diapositiva">    </p:cNvPr>
          <p:cNvPicPr>
            <a:picLocks noChangeAspect="1"/>
          </p:cNvPicPr>
          <p:nvPr/>
        </p:nvPicPr>
        <p:blipFill>
          <a:blip r:embed="rId1"/>
          <a:stretch>
            <a:fillRect/>
          </a:stretch>
        </p:blipFill>
        <p:spPr>
          <a:xfrm>
            <a:off x="685800" y="2377440"/>
            <a:ext cx="5626450" cy="2617671"/>
          </a:xfrm>
          <a:prstGeom prst="rect">
            <a:avLst/>
          </a:prstGeom>
        </p:spPr>
      </p:pic>
      <p:pic>
        <p:nvPicPr>
          <p:cNvPr id="5" name="imagen-2301" descr="Diagrama / tabla de la diapositiva">    </p:cNvPr>
          <p:cNvPicPr>
            <a:picLocks noChangeAspect="1"/>
          </p:cNvPicPr>
          <p:nvPr/>
        </p:nvPicPr>
        <p:blipFill>
          <a:blip r:embed="rId2"/>
          <a:stretch>
            <a:fillRect/>
          </a:stretch>
        </p:blipFill>
        <p:spPr>
          <a:xfrm>
            <a:off x="6745053" y="2377440"/>
            <a:ext cx="4760842" cy="1265901"/>
          </a:xfrm>
          <a:prstGeom prst="rect">
            <a:avLst/>
          </a:prstGeom>
        </p:spPr>
      </p:pic>
      <p:sp>
        <p:nvSpPr>
          <p:cNvPr id="6" name="note-2302"/>
          <p:cNvSpPr txBox="1"/>
          <p:nvPr/>
        </p:nvSpPr>
        <p:spPr>
          <a:xfrm>
            <a:off x="685800" y="5177991"/>
            <a:ext cx="10820095" cy="1049731"/>
          </a:xfrm>
          <a:prstGeom prst="rect">
            <a:avLst/>
          </a:prstGeom>
          <a:noFill/>
          <a:ln/>
        </p:spPr>
        <p:txBody>
          <a:bodyPr wrap="square" lIns="0" tIns="0" rIns="0" bIns="0" rtlCol="0" anchor="t"/>
          <a:lstStyle/>
          <a:p>
            <a:pPr algn="l" indent="0" marL="0">
              <a:buNone/>
            </a:pPr>
            <a:r>
              <a:rPr lang="en-US" sz="2150" dirty="0">
                <a:solidFill>
                  <a:srgbClr val="4B4F58"/>
                </a:solidFill>
              </a:rPr>
              <a:t>La relación pasa a ser una tabla con las tres claves. La primaria son las claves de las entidades con máximo N: con N:N:N, las tres; con 1:N:N se quita la del lado 1; con 1:1:N, la del N más otra cualquiera.</a:t>
            </a:r>
            <a:endParaRPr lang="en-US" sz="21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Jerarquías ISA: tres opciones</a:t>
            </a:r>
            <a:endParaRPr lang="en-US" sz="4000" dirty="0"/>
          </a:p>
        </p:txBody>
      </p:sp>
      <p:sp>
        <p:nvSpPr>
          <p:cNvPr id="4" name="card-2367"/>
          <p:cNvSpPr/>
          <p:nvPr/>
        </p:nvSpPr>
        <p:spPr>
          <a:xfrm>
            <a:off x="685800" y="1783080"/>
            <a:ext cx="3484778" cy="3381502"/>
          </a:xfrm>
          <a:prstGeom prst="roundRect">
            <a:avLst>
              <a:gd name="adj" fmla="val 3245"/>
            </a:avLst>
          </a:prstGeom>
          <a:solidFill>
            <a:schemeClr val="bg1"/>
          </a:solidFill>
          <a:ln w="19050">
            <a:solidFill>
              <a:srgbClr val="15171C"/>
            </a:solidFill>
            <a:prstDash val="solid"/>
          </a:ln>
        </p:spPr>
      </p:sp>
      <p:sp>
        <p:nvSpPr>
          <p:cNvPr id="5" name="tag-pill-2368"/>
          <p:cNvSpPr/>
          <p:nvPr/>
        </p:nvSpPr>
        <p:spPr>
          <a:xfrm>
            <a:off x="868680" y="1947672"/>
            <a:ext cx="929030" cy="256032"/>
          </a:xfrm>
          <a:prstGeom prst="roundRect">
            <a:avLst>
              <a:gd name="adj" fmla="val 50000"/>
            </a:avLst>
          </a:prstGeom>
          <a:solidFill>
            <a:srgbClr val="E8EBFC"/>
          </a:solidFill>
          <a:ln/>
        </p:spPr>
      </p:sp>
      <p:sp>
        <p:nvSpPr>
          <p:cNvPr id="6" name="tag-2369"/>
          <p:cNvSpPr txBox="1"/>
          <p:nvPr/>
        </p:nvSpPr>
        <p:spPr>
          <a:xfrm>
            <a:off x="868680" y="1947672"/>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OPCIÓN 1</a:t>
            </a:r>
            <a:endParaRPr lang="en-US" sz="1100" dirty="0"/>
          </a:p>
        </p:txBody>
      </p:sp>
      <p:sp>
        <p:nvSpPr>
          <p:cNvPr id="7" name="card-h-2370"/>
          <p:cNvSpPr txBox="1"/>
          <p:nvPr/>
        </p:nvSpPr>
        <p:spPr>
          <a:xfrm>
            <a:off x="868680" y="233172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Una sola tabla</a:t>
            </a:r>
            <a:endParaRPr lang="en-US" sz="2200" dirty="0"/>
          </a:p>
        </p:txBody>
      </p:sp>
      <p:sp>
        <p:nvSpPr>
          <p:cNvPr id="8" name="card-p-2371"/>
          <p:cNvSpPr txBox="1"/>
          <p:nvPr/>
        </p:nvSpPr>
        <p:spPr>
          <a:xfrm>
            <a:off x="868680" y="2761704"/>
            <a:ext cx="3119018" cy="1560258"/>
          </a:xfrm>
          <a:prstGeom prst="rect">
            <a:avLst/>
          </a:prstGeom>
          <a:noFill/>
          <a:ln/>
        </p:spPr>
        <p:txBody>
          <a:bodyPr wrap="square" lIns="0" tIns="0" rIns="0" bIns="0" rtlCol="0" anchor="t"/>
          <a:lstStyle/>
          <a:p>
            <a:pPr algn="l" indent="0" marL="0">
              <a:buNone/>
            </a:pPr>
            <a:r>
              <a:rPr lang="en-US" sz="1950" dirty="0">
                <a:solidFill>
                  <a:srgbClr val="4B4F58"/>
                </a:solidFill>
              </a:rPr>
              <a:t>Todos los atributos juntos, más un tipo. Simple, pero llena de nulos. Va bien si los subtipos casi no difieren.</a:t>
            </a:r>
            <a:endParaRPr lang="en-US" sz="1950" dirty="0"/>
          </a:p>
        </p:txBody>
      </p:sp>
      <p:sp>
        <p:nvSpPr>
          <p:cNvPr id="9" name="card-2372"/>
          <p:cNvSpPr/>
          <p:nvPr/>
        </p:nvSpPr>
        <p:spPr>
          <a:xfrm>
            <a:off x="4353458" y="1783080"/>
            <a:ext cx="3484778" cy="3381502"/>
          </a:xfrm>
          <a:prstGeom prst="roundRect">
            <a:avLst>
              <a:gd name="adj" fmla="val 3245"/>
            </a:avLst>
          </a:prstGeom>
          <a:solidFill>
            <a:schemeClr val="bg1"/>
          </a:solidFill>
          <a:ln w="19050">
            <a:solidFill>
              <a:srgbClr val="15171C"/>
            </a:solidFill>
            <a:prstDash val="solid"/>
          </a:ln>
        </p:spPr>
      </p:sp>
      <p:sp>
        <p:nvSpPr>
          <p:cNvPr id="10" name="tag-pill-2373"/>
          <p:cNvSpPr/>
          <p:nvPr/>
        </p:nvSpPr>
        <p:spPr>
          <a:xfrm>
            <a:off x="4536338" y="1947672"/>
            <a:ext cx="929030" cy="256032"/>
          </a:xfrm>
          <a:prstGeom prst="roundRect">
            <a:avLst>
              <a:gd name="adj" fmla="val 50000"/>
            </a:avLst>
          </a:prstGeom>
          <a:solidFill>
            <a:srgbClr val="E8EBFC"/>
          </a:solidFill>
          <a:ln/>
        </p:spPr>
      </p:sp>
      <p:sp>
        <p:nvSpPr>
          <p:cNvPr id="11" name="tag-2374"/>
          <p:cNvSpPr txBox="1"/>
          <p:nvPr/>
        </p:nvSpPr>
        <p:spPr>
          <a:xfrm>
            <a:off x="4536338" y="1947672"/>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OPCIÓN 2</a:t>
            </a:r>
            <a:endParaRPr lang="en-US" sz="1100" dirty="0"/>
          </a:p>
        </p:txBody>
      </p:sp>
      <p:sp>
        <p:nvSpPr>
          <p:cNvPr id="12" name="card-h-2375"/>
          <p:cNvSpPr txBox="1"/>
          <p:nvPr/>
        </p:nvSpPr>
        <p:spPr>
          <a:xfrm>
            <a:off x="4536338" y="2331720"/>
            <a:ext cx="3119018" cy="768528"/>
          </a:xfrm>
          <a:prstGeom prst="rect">
            <a:avLst/>
          </a:prstGeom>
          <a:noFill/>
          <a:ln/>
        </p:spPr>
        <p:txBody>
          <a:bodyPr wrap="square" lIns="0" tIns="0" rIns="0" bIns="0" rtlCol="0" anchor="t"/>
          <a:lstStyle/>
          <a:p>
            <a:pPr algn="l" indent="0" marL="0">
              <a:buNone/>
            </a:pPr>
            <a:r>
              <a:rPr lang="en-US" sz="2200" b="1" dirty="0">
                <a:solidFill>
                  <a:srgbClr val="15171C"/>
                </a:solidFill>
              </a:rPr>
              <a:t>Una tabla por entidad</a:t>
            </a:r>
            <a:endParaRPr lang="en-US" sz="2200" dirty="0"/>
          </a:p>
        </p:txBody>
      </p:sp>
      <p:sp>
        <p:nvSpPr>
          <p:cNvPr id="13" name="card-p-2376"/>
          <p:cNvSpPr txBox="1"/>
          <p:nvPr/>
        </p:nvSpPr>
        <p:spPr>
          <a:xfrm>
            <a:off x="4536338" y="3100248"/>
            <a:ext cx="3119018" cy="1863166"/>
          </a:xfrm>
          <a:prstGeom prst="rect">
            <a:avLst/>
          </a:prstGeom>
          <a:noFill/>
          <a:ln/>
        </p:spPr>
        <p:txBody>
          <a:bodyPr wrap="square" lIns="0" tIns="0" rIns="0" bIns="0" rtlCol="0" anchor="t"/>
          <a:lstStyle/>
          <a:p>
            <a:pPr algn="l" indent="0" marL="0">
              <a:buNone/>
            </a:pPr>
            <a:r>
              <a:rPr lang="en-US" sz="1950" dirty="0">
                <a:solidFill>
                  <a:srgbClr val="4B4F58"/>
                </a:solidFill>
              </a:rPr>
              <a:t>Supertipo + una tabla por subtipo con la clave del supertipo (PK y FK). Es la más general: sirve también si es solapada.</a:t>
            </a:r>
            <a:endParaRPr lang="en-US" sz="1950" dirty="0"/>
          </a:p>
        </p:txBody>
      </p:sp>
      <p:sp>
        <p:nvSpPr>
          <p:cNvPr id="14" name="card-2377"/>
          <p:cNvSpPr/>
          <p:nvPr/>
        </p:nvSpPr>
        <p:spPr>
          <a:xfrm>
            <a:off x="8021117" y="1783080"/>
            <a:ext cx="3484778" cy="3381502"/>
          </a:xfrm>
          <a:prstGeom prst="roundRect">
            <a:avLst>
              <a:gd name="adj" fmla="val 3245"/>
            </a:avLst>
          </a:prstGeom>
          <a:solidFill>
            <a:schemeClr val="bg1"/>
          </a:solidFill>
          <a:ln w="19050">
            <a:solidFill>
              <a:srgbClr val="15171C"/>
            </a:solidFill>
            <a:prstDash val="solid"/>
          </a:ln>
        </p:spPr>
      </p:sp>
      <p:sp>
        <p:nvSpPr>
          <p:cNvPr id="15" name="tag-pill-2378"/>
          <p:cNvSpPr/>
          <p:nvPr/>
        </p:nvSpPr>
        <p:spPr>
          <a:xfrm>
            <a:off x="8203997" y="1947672"/>
            <a:ext cx="929030" cy="256032"/>
          </a:xfrm>
          <a:prstGeom prst="roundRect">
            <a:avLst>
              <a:gd name="adj" fmla="val 50000"/>
            </a:avLst>
          </a:prstGeom>
          <a:solidFill>
            <a:srgbClr val="E8EBFC"/>
          </a:solidFill>
          <a:ln/>
        </p:spPr>
      </p:sp>
      <p:sp>
        <p:nvSpPr>
          <p:cNvPr id="16" name="tag-2379"/>
          <p:cNvSpPr txBox="1"/>
          <p:nvPr/>
        </p:nvSpPr>
        <p:spPr>
          <a:xfrm>
            <a:off x="8203997" y="1947672"/>
            <a:ext cx="929030" cy="256032"/>
          </a:xfrm>
          <a:prstGeom prst="rect">
            <a:avLst/>
          </a:prstGeom>
          <a:noFill/>
          <a:ln/>
        </p:spPr>
        <p:txBody>
          <a:bodyPr wrap="square" lIns="0" tIns="0" rIns="0" bIns="0" rtlCol="0" anchor="ctr"/>
          <a:lstStyle/>
          <a:p>
            <a:pPr algn="ctr" indent="0" marL="0">
              <a:buNone/>
            </a:pPr>
            <a:r>
              <a:rPr lang="en-US" sz="1100" b="1" dirty="0">
                <a:solidFill>
                  <a:srgbClr val="0D1A7A"/>
                </a:solidFill>
              </a:rPr>
              <a:t>OPCIÓN 3</a:t>
            </a:r>
            <a:endParaRPr lang="en-US" sz="1100" dirty="0"/>
          </a:p>
        </p:txBody>
      </p:sp>
      <p:sp>
        <p:nvSpPr>
          <p:cNvPr id="17" name="card-h-2380"/>
          <p:cNvSpPr txBox="1"/>
          <p:nvPr/>
        </p:nvSpPr>
        <p:spPr>
          <a:xfrm>
            <a:off x="8203997" y="233172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Solo los subtipos</a:t>
            </a:r>
            <a:endParaRPr lang="en-US" sz="2200" dirty="0"/>
          </a:p>
        </p:txBody>
      </p:sp>
      <p:sp>
        <p:nvSpPr>
          <p:cNvPr id="18" name="card-p-2381"/>
          <p:cNvSpPr txBox="1"/>
          <p:nvPr/>
        </p:nvSpPr>
        <p:spPr>
          <a:xfrm>
            <a:off x="8203997" y="2761704"/>
            <a:ext cx="3119018" cy="1863166"/>
          </a:xfrm>
          <a:prstGeom prst="rect">
            <a:avLst/>
          </a:prstGeom>
          <a:noFill/>
          <a:ln/>
        </p:spPr>
        <p:txBody>
          <a:bodyPr wrap="square" lIns="0" tIns="0" rIns="0" bIns="0" rtlCol="0" anchor="t"/>
          <a:lstStyle/>
          <a:p>
            <a:pPr algn="l" indent="0" marL="0">
              <a:buNone/>
            </a:pPr>
            <a:r>
              <a:rPr lang="en-US" sz="1950" dirty="0">
                <a:solidFill>
                  <a:srgbClr val="4B4F58"/>
                </a:solidFill>
              </a:rPr>
              <a:t>Cada subtipo hereda los atributos del padre; el supertipo desaparece. Solo si es total y exclusiva y no tiene relaciones propias.</a:t>
            </a:r>
            <a:endParaRPr lang="en-US" sz="1950" dirty="0"/>
          </a:p>
        </p:txBody>
      </p:sp>
      <p:sp>
        <p:nvSpPr>
          <p:cNvPr id="19" name="note-2382"/>
          <p:cNvSpPr txBox="1"/>
          <p:nvPr/>
        </p:nvSpPr>
        <p:spPr>
          <a:xfrm>
            <a:off x="685800" y="5347462"/>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La parte </a:t>
            </a:r>
            <a:pPr algn="l" indent="0" marL="0">
              <a:buNone/>
            </a:pPr>
            <a:r>
              <a:rPr lang="en-US" sz="2300" i="1" dirty="0">
                <a:solidFill>
                  <a:srgbClr val="4B4F58"/>
                </a:solidFill>
              </a:rPr>
              <a:t>total</a:t>
            </a:r>
            <a:pPr algn="l" indent="0" marL="0">
              <a:buNone/>
            </a:pPr>
            <a:r>
              <a:rPr lang="en-US" sz="2300" dirty="0">
                <a:solidFill>
                  <a:srgbClr val="4B4F58"/>
                </a:solidFill>
              </a:rPr>
              <a:t> de una jerarquía («todo empleado es programador o comercial») no la garantiza ninguna clave: se vigila con un disparador.</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3400" b="1" dirty="0">
                <a:solidFill>
                  <a:schemeClr val="tx1"/>
                </a:solidFill>
              </a:rPr>
              <a:t>Jerarquías: el ejemplo de los vehículos</a:t>
            </a:r>
            <a:endParaRPr lang="en-US" sz="4000" dirty="0"/>
          </a:p>
        </p:txBody>
      </p:sp>
      <p:pic>
        <p:nvPicPr>
          <p:cNvPr id="4" name="imagen-2393" descr="Diagrama / tabla de la diapositiva">    </p:cNvPr>
          <p:cNvPicPr>
            <a:picLocks noChangeAspect="1"/>
          </p:cNvPicPr>
          <p:nvPr/>
        </p:nvPicPr>
        <p:blipFill>
          <a:blip r:embed="rId1"/>
          <a:stretch>
            <a:fillRect/>
          </a:stretch>
        </p:blipFill>
        <p:spPr>
          <a:xfrm>
            <a:off x="685800" y="2377440"/>
            <a:ext cx="4695526" cy="2194560"/>
          </a:xfrm>
          <a:prstGeom prst="rect">
            <a:avLst/>
          </a:prstGeom>
        </p:spPr>
      </p:pic>
      <p:sp>
        <p:nvSpPr>
          <p:cNvPr id="5" name="schema-card-2394"/>
          <p:cNvSpPr/>
          <p:nvPr/>
        </p:nvSpPr>
        <p:spPr>
          <a:xfrm>
            <a:off x="6745053" y="2377440"/>
            <a:ext cx="4760842" cy="2168843"/>
          </a:xfrm>
          <a:prstGeom prst="roundRect">
            <a:avLst>
              <a:gd name="adj" fmla="val 5059"/>
            </a:avLst>
          </a:prstGeom>
          <a:solidFill>
            <a:schemeClr val="bg1"/>
          </a:solidFill>
          <a:ln w="19050">
            <a:solidFill>
              <a:schemeClr val="tx1"/>
            </a:solidFill>
            <a:prstDash val="solid"/>
          </a:ln>
        </p:spPr>
      </p:sp>
      <p:sp>
        <p:nvSpPr>
          <p:cNvPr id="6" name="schema-text-2395"/>
          <p:cNvSpPr txBox="1"/>
          <p:nvPr/>
        </p:nvSpPr>
        <p:spPr>
          <a:xfrm>
            <a:off x="6973653" y="2514600"/>
            <a:ext cx="4303642" cy="1665923"/>
          </a:xfrm>
          <a:prstGeom prst="rect">
            <a:avLst/>
          </a:prstGeom>
          <a:noFill/>
          <a:ln/>
        </p:spPr>
        <p:txBody>
          <a:bodyPr wrap="square" lIns="0" tIns="0" rIns="0" bIns="0" rtlCol="0" anchor="t"/>
          <a:lstStyle/>
          <a:p>
            <a:pPr indent="0" marL="0">
              <a:buNone/>
            </a:pPr>
            <a:r>
              <a:rPr lang="en-US" sz="1900" b="1" dirty="0">
                <a:solidFill>
                  <a:srgbClr val="15171C"/>
                </a:solidFill>
                <a:latin typeface="Courier New" pitchFamily="34" charset="0"/>
                <a:ea typeface="Courier New" pitchFamily="34" charset="-122"/>
                <a:cs typeface="Courier New" pitchFamily="34" charset="-120"/>
              </a:rPr>
              <a:t>VEHICULOS</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u="sng" dirty="0">
                <a:solidFill>
                  <a:srgbClr val="15171C"/>
                </a:solidFill>
                <a:latin typeface="Courier New" pitchFamily="34" charset="0"/>
                <a:ea typeface="Courier New" pitchFamily="34" charset="-122"/>
                <a:cs typeface="Courier New" pitchFamily="34" charset="-120"/>
              </a:rPr>
              <a:t>Matrícula</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marca</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modelo</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combustible</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precio</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a:p>
            <a:pPr indent="0" marL="0">
              <a:buNone/>
            </a:pPr>
            <a:r>
              <a:rPr lang="en-US" sz="1900" b="1" dirty="0">
                <a:solidFill>
                  <a:srgbClr val="15171C"/>
                </a:solidFill>
                <a:latin typeface="Courier New" pitchFamily="34" charset="0"/>
                <a:ea typeface="Courier New" pitchFamily="34" charset="-122"/>
                <a:cs typeface="Courier New" pitchFamily="34" charset="-120"/>
              </a:rPr>
              <a:t>COCHE</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i="1" u="sng" dirty="0">
                <a:solidFill>
                  <a:srgbClr val="0D1A7A"/>
                </a:solidFill>
                <a:latin typeface="Courier New" pitchFamily="34" charset="0"/>
                <a:ea typeface="Courier New" pitchFamily="34" charset="-122"/>
                <a:cs typeface="Courier New" pitchFamily="34" charset="-120"/>
              </a:rPr>
              <a:t>Matrícula</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puertas</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maletero</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CV</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a:p>
            <a:pPr indent="0" marL="0">
              <a:buNone/>
            </a:pPr>
            <a:r>
              <a:rPr lang="en-US" sz="1900" b="1" dirty="0">
                <a:solidFill>
                  <a:srgbClr val="15171C"/>
                </a:solidFill>
                <a:latin typeface="Courier New" pitchFamily="34" charset="0"/>
                <a:ea typeface="Courier New" pitchFamily="34" charset="-122"/>
                <a:cs typeface="Courier New" pitchFamily="34" charset="-120"/>
              </a:rPr>
              <a:t>MOTOS</a:t>
            </a:r>
            <a:pPr indent="0" marL="0">
              <a:buNone/>
            </a:pPr>
            <a:r>
              <a:rPr lang="en-US" sz="1900" dirty="0">
                <a:solidFill>
                  <a:srgbClr val="15171C"/>
                </a:solidFill>
                <a:latin typeface="Courier New" pitchFamily="34" charset="0"/>
                <a:ea typeface="Courier New" pitchFamily="34" charset="-122"/>
                <a:cs typeface="Courier New" pitchFamily="34" charset="-120"/>
              </a:rPr>
              <a:t>(</a:t>
            </a:r>
            <a:pPr indent="0" marL="0">
              <a:buNone/>
            </a:pPr>
            <a:r>
              <a:rPr lang="en-US" sz="1900" i="1" u="sng" dirty="0">
                <a:solidFill>
                  <a:srgbClr val="0D1A7A"/>
                </a:solidFill>
                <a:latin typeface="Courier New" pitchFamily="34" charset="0"/>
                <a:ea typeface="Courier New" pitchFamily="34" charset="-122"/>
                <a:cs typeface="Courier New" pitchFamily="34" charset="-120"/>
              </a:rPr>
              <a:t>Matrícula</a:t>
            </a:r>
            <a:pPr indent="0" marL="0">
              <a:buNone/>
            </a:pPr>
            <a:r>
              <a:rPr lang="en-US" sz="1900" dirty="0">
                <a:solidFill>
                  <a:srgbClr val="15171C"/>
                </a:solidFill>
                <a:latin typeface="Courier New" pitchFamily="34" charset="0"/>
                <a:ea typeface="Courier New" pitchFamily="34" charset="-122"/>
                <a:cs typeface="Courier New" pitchFamily="34" charset="-120"/>
              </a:rPr>
              <a:t>, </a:t>
            </a:r>
            <a:pPr indent="0" marL="0">
              <a:buNone/>
            </a:pPr>
            <a:r>
              <a:rPr lang="en-US" sz="1900" dirty="0">
                <a:solidFill>
                  <a:srgbClr val="15171C"/>
                </a:solidFill>
                <a:latin typeface="Courier New" pitchFamily="34" charset="0"/>
                <a:ea typeface="Courier New" pitchFamily="34" charset="-122"/>
                <a:cs typeface="Courier New" pitchFamily="34" charset="-120"/>
              </a:rPr>
              <a:t>cilindrada</a:t>
            </a:r>
            <a:pPr indent="0" marL="0">
              <a:buNone/>
            </a:pPr>
            <a:r>
              <a:rPr lang="en-US" sz="1900" dirty="0">
                <a:solidFill>
                  <a:srgbClr val="15171C"/>
                </a:solidFill>
                <a:latin typeface="Courier New" pitchFamily="34" charset="0"/>
                <a:ea typeface="Courier New" pitchFamily="34" charset="-122"/>
                <a:cs typeface="Courier New" pitchFamily="34" charset="-120"/>
              </a:rPr>
              <a:t>)</a:t>
            </a:r>
            <a:endParaRPr lang="en-US" sz="1900" dirty="0"/>
          </a:p>
        </p:txBody>
      </p:sp>
      <p:sp>
        <p:nvSpPr>
          <p:cNvPr id="7" name="schema-legend-2396"/>
          <p:cNvSpPr txBox="1"/>
          <p:nvPr/>
        </p:nvSpPr>
        <p:spPr>
          <a:xfrm>
            <a:off x="6973653" y="4253675"/>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8" name="note-2397"/>
          <p:cNvSpPr txBox="1"/>
          <p:nvPr/>
        </p:nvSpPr>
        <p:spPr>
          <a:xfrm>
            <a:off x="685800" y="4754880"/>
            <a:ext cx="10820095" cy="1300734"/>
          </a:xfrm>
          <a:prstGeom prst="rect">
            <a:avLst/>
          </a:prstGeom>
          <a:noFill/>
          <a:ln/>
        </p:spPr>
        <p:txBody>
          <a:bodyPr wrap="square" lIns="0" tIns="0" rIns="0" bIns="0" rtlCol="0" anchor="t"/>
          <a:lstStyle/>
          <a:p>
            <a:pPr algn="l" indent="0" marL="0">
              <a:buNone/>
            </a:pPr>
            <a:r>
              <a:rPr lang="en-US" sz="2700" b="1" dirty="0">
                <a:solidFill>
                  <a:srgbClr val="4B4F58"/>
                </a:solidFill>
              </a:rPr>
              <a:t>Una tabla por entidad</a:t>
            </a:r>
            <a:pPr algn="l" indent="0" marL="0">
              <a:buNone/>
            </a:pPr>
            <a:r>
              <a:rPr lang="en-US" sz="2700" dirty="0">
                <a:solidFill>
                  <a:srgbClr val="4B4F58"/>
                </a:solidFill>
              </a:rPr>
              <a:t>: relación 1:1 entre el supertipo y cada subtipo; cada subentidad se identifica con una clave ajena que apunta a la primaria del supertipo.</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3400" b="1" dirty="0">
                <a:solidFill>
                  <a:schemeClr val="tx1"/>
                </a:solidFill>
              </a:rPr>
              <a:t>Vehículos: solo subtipos o una sola tabla</a:t>
            </a:r>
            <a:endParaRPr lang="en-US" sz="4000" dirty="0"/>
          </a:p>
        </p:txBody>
      </p:sp>
      <p:sp>
        <p:nvSpPr>
          <p:cNvPr id="4" name="schema-card-2428"/>
          <p:cNvSpPr/>
          <p:nvPr/>
        </p:nvSpPr>
        <p:spPr>
          <a:xfrm>
            <a:off x="685800" y="1783080"/>
            <a:ext cx="5626450" cy="1748790"/>
          </a:xfrm>
          <a:prstGeom prst="roundRect">
            <a:avLst>
              <a:gd name="adj" fmla="val 6275"/>
            </a:avLst>
          </a:prstGeom>
          <a:solidFill>
            <a:schemeClr val="bg1"/>
          </a:solidFill>
          <a:ln w="19050">
            <a:solidFill>
              <a:schemeClr val="tx1"/>
            </a:solidFill>
            <a:prstDash val="solid"/>
          </a:ln>
        </p:spPr>
      </p:sp>
      <p:sp>
        <p:nvSpPr>
          <p:cNvPr id="5" name="schema-text-2429"/>
          <p:cNvSpPr txBox="1"/>
          <p:nvPr/>
        </p:nvSpPr>
        <p:spPr>
          <a:xfrm>
            <a:off x="914400" y="1920240"/>
            <a:ext cx="5169250" cy="1245870"/>
          </a:xfrm>
          <a:prstGeom prst="rect">
            <a:avLst/>
          </a:prstGeom>
          <a:noFill/>
          <a:ln/>
        </p:spPr>
        <p:txBody>
          <a:bodyPr wrap="square" lIns="0" tIns="0" rIns="0" bIns="0" rtlCol="0" anchor="t"/>
          <a:lstStyle/>
          <a:p>
            <a:pPr indent="0" marL="0">
              <a:buNone/>
            </a:pPr>
            <a:r>
              <a:rPr lang="en-US" sz="1750" b="1" dirty="0">
                <a:solidFill>
                  <a:srgbClr val="15171C"/>
                </a:solidFill>
                <a:latin typeface="Courier New" pitchFamily="34" charset="0"/>
                <a:ea typeface="Courier New" pitchFamily="34" charset="-122"/>
                <a:cs typeface="Courier New" pitchFamily="34" charset="-120"/>
              </a:rPr>
              <a:t>COCHE</a:t>
            </a:r>
            <a:pPr indent="0" marL="0">
              <a:buNone/>
            </a:pPr>
            <a:r>
              <a:rPr lang="en-US" sz="1750" dirty="0">
                <a:solidFill>
                  <a:srgbClr val="15171C"/>
                </a:solidFill>
                <a:latin typeface="Courier New" pitchFamily="34" charset="0"/>
                <a:ea typeface="Courier New" pitchFamily="34" charset="-122"/>
                <a:cs typeface="Courier New" pitchFamily="34" charset="-120"/>
              </a:rPr>
              <a:t>(</a:t>
            </a:r>
            <a:pPr indent="0" marL="0">
              <a:buNone/>
            </a:pPr>
            <a:r>
              <a:rPr lang="en-US" sz="1750" u="sng" dirty="0">
                <a:solidFill>
                  <a:srgbClr val="15171C"/>
                </a:solidFill>
                <a:latin typeface="Courier New" pitchFamily="34" charset="0"/>
                <a:ea typeface="Courier New" pitchFamily="34" charset="-122"/>
                <a:cs typeface="Courier New" pitchFamily="34" charset="-120"/>
              </a:rPr>
              <a:t>Matrícula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puertas</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maletero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CV</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marca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modelo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combustible</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precio</a:t>
            </a:r>
            <a:pPr indent="0" marL="0">
              <a:buNone/>
            </a:pPr>
            <a:r>
              <a:rPr lang="en-US" sz="1750" dirty="0">
                <a:solidFill>
                  <a:srgbClr val="15171C"/>
                </a:solidFill>
                <a:latin typeface="Courier New" pitchFamily="34" charset="0"/>
                <a:ea typeface="Courier New" pitchFamily="34" charset="-122"/>
                <a:cs typeface="Courier New" pitchFamily="34" charset="-120"/>
              </a:rPr>
              <a:t>)</a:t>
            </a:r>
            <a:endParaRPr lang="en-US" sz="1750" dirty="0"/>
          </a:p>
          <a:p>
            <a:pPr indent="0" marL="0">
              <a:buNone/>
            </a:pPr>
            <a:r>
              <a:rPr lang="en-US" sz="1750" b="1" dirty="0">
                <a:solidFill>
                  <a:srgbClr val="15171C"/>
                </a:solidFill>
                <a:latin typeface="Courier New" pitchFamily="34" charset="0"/>
                <a:ea typeface="Courier New" pitchFamily="34" charset="-122"/>
                <a:cs typeface="Courier New" pitchFamily="34" charset="-120"/>
              </a:rPr>
              <a:t>MOTOS</a:t>
            </a:r>
            <a:pPr indent="0" marL="0">
              <a:buNone/>
            </a:pPr>
            <a:r>
              <a:rPr lang="en-US" sz="1750" dirty="0">
                <a:solidFill>
                  <a:srgbClr val="15171C"/>
                </a:solidFill>
                <a:latin typeface="Courier New" pitchFamily="34" charset="0"/>
                <a:ea typeface="Courier New" pitchFamily="34" charset="-122"/>
                <a:cs typeface="Courier New" pitchFamily="34" charset="-120"/>
              </a:rPr>
              <a:t>(</a:t>
            </a:r>
            <a:pPr indent="0" marL="0">
              <a:buNone/>
            </a:pPr>
            <a:r>
              <a:rPr lang="en-US" sz="1750" u="sng" dirty="0">
                <a:solidFill>
                  <a:srgbClr val="15171C"/>
                </a:solidFill>
                <a:latin typeface="Courier New" pitchFamily="34" charset="0"/>
                <a:ea typeface="Courier New" pitchFamily="34" charset="-122"/>
                <a:cs typeface="Courier New" pitchFamily="34" charset="-120"/>
              </a:rPr>
              <a:t>Matrícula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cilindrada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marca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modelo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combustible</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precio</a:t>
            </a:r>
            <a:pPr indent="0" marL="0">
              <a:buNone/>
            </a:pPr>
            <a:r>
              <a:rPr lang="en-US" sz="1750" dirty="0">
                <a:solidFill>
                  <a:srgbClr val="15171C"/>
                </a:solidFill>
                <a:latin typeface="Courier New" pitchFamily="34" charset="0"/>
                <a:ea typeface="Courier New" pitchFamily="34" charset="-122"/>
                <a:cs typeface="Courier New" pitchFamily="34" charset="-120"/>
              </a:rPr>
              <a:t>)</a:t>
            </a:r>
            <a:endParaRPr lang="en-US" sz="1750" dirty="0"/>
          </a:p>
        </p:txBody>
      </p:sp>
      <p:sp>
        <p:nvSpPr>
          <p:cNvPr id="6" name="schema-legend-2430"/>
          <p:cNvSpPr txBox="1"/>
          <p:nvPr/>
        </p:nvSpPr>
        <p:spPr>
          <a:xfrm>
            <a:off x="914400" y="3239262"/>
            <a:ext cx="5169250"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7" name="schema-card-2431"/>
          <p:cNvSpPr/>
          <p:nvPr/>
        </p:nvSpPr>
        <p:spPr>
          <a:xfrm>
            <a:off x="6745053" y="1783080"/>
            <a:ext cx="4760842" cy="1748790"/>
          </a:xfrm>
          <a:prstGeom prst="roundRect">
            <a:avLst>
              <a:gd name="adj" fmla="val 6275"/>
            </a:avLst>
          </a:prstGeom>
          <a:solidFill>
            <a:schemeClr val="bg1"/>
          </a:solidFill>
          <a:ln w="19050">
            <a:solidFill>
              <a:schemeClr val="tx1"/>
            </a:solidFill>
            <a:prstDash val="solid"/>
          </a:ln>
        </p:spPr>
      </p:sp>
      <p:sp>
        <p:nvSpPr>
          <p:cNvPr id="8" name="schema-text-2432"/>
          <p:cNvSpPr txBox="1"/>
          <p:nvPr/>
        </p:nvSpPr>
        <p:spPr>
          <a:xfrm>
            <a:off x="6973653" y="1920240"/>
            <a:ext cx="4303642" cy="1245870"/>
          </a:xfrm>
          <a:prstGeom prst="rect">
            <a:avLst/>
          </a:prstGeom>
          <a:noFill/>
          <a:ln/>
        </p:spPr>
        <p:txBody>
          <a:bodyPr wrap="square" lIns="0" tIns="0" rIns="0" bIns="0" rtlCol="0" anchor="t"/>
          <a:lstStyle/>
          <a:p>
            <a:pPr indent="0" marL="0">
              <a:buNone/>
            </a:pPr>
            <a:r>
              <a:rPr lang="en-US" sz="1750" b="1" dirty="0">
                <a:solidFill>
                  <a:srgbClr val="15171C"/>
                </a:solidFill>
                <a:latin typeface="Courier New" pitchFamily="34" charset="0"/>
                <a:ea typeface="Courier New" pitchFamily="34" charset="-122"/>
                <a:cs typeface="Courier New" pitchFamily="34" charset="-120"/>
              </a:rPr>
              <a:t>VEHICULOS</a:t>
            </a:r>
            <a:pPr indent="0" marL="0">
              <a:buNone/>
            </a:pPr>
            <a:r>
              <a:rPr lang="en-US" sz="1750" dirty="0">
                <a:solidFill>
                  <a:srgbClr val="15171C"/>
                </a:solidFill>
                <a:latin typeface="Courier New" pitchFamily="34" charset="0"/>
                <a:ea typeface="Courier New" pitchFamily="34" charset="-122"/>
                <a:cs typeface="Courier New" pitchFamily="34" charset="-120"/>
              </a:rPr>
              <a:t>(</a:t>
            </a:r>
            <a:pPr indent="0" marL="0">
              <a:buNone/>
            </a:pPr>
            <a:r>
              <a:rPr lang="en-US" sz="1750" u="sng" dirty="0">
                <a:solidFill>
                  <a:srgbClr val="15171C"/>
                </a:solidFill>
                <a:latin typeface="Courier New" pitchFamily="34" charset="0"/>
                <a:ea typeface="Courier New" pitchFamily="34" charset="-122"/>
                <a:cs typeface="Courier New" pitchFamily="34" charset="-120"/>
              </a:rPr>
              <a:t>Matrícula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tipo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marca</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modelo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combustible</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precio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puertas</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maletero</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CV</a:t>
            </a:r>
            <a:pPr indent="0" marL="0">
              <a:buNone/>
            </a:pPr>
            <a:r>
              <a:rPr lang="en-US" sz="1750" dirty="0">
                <a:solidFill>
                  <a:srgbClr val="15171C"/>
                </a:solidFill>
                <a:latin typeface="Courier New" pitchFamily="34" charset="0"/>
                <a:ea typeface="Courier New" pitchFamily="34" charset="-122"/>
                <a:cs typeface="Courier New" pitchFamily="34" charset="-120"/>
              </a:rPr>
              <a:t>, </a:t>
            </a:r>
            <a:pPr indent="0" marL="0">
              <a:buNone/>
            </a:pPr>
            <a:r>
              <a:rPr lang="en-US" sz="1750" dirty="0">
                <a:solidFill>
                  <a:srgbClr val="15171C"/>
                </a:solidFill>
                <a:latin typeface="Courier New" pitchFamily="34" charset="0"/>
                <a:ea typeface="Courier New" pitchFamily="34" charset="-122"/>
                <a:cs typeface="Courier New" pitchFamily="34" charset="-120"/>
              </a:rPr>
              <a:t>cilindrada</a:t>
            </a:r>
            <a:pPr indent="0" marL="0">
              <a:buNone/>
            </a:pPr>
            <a:r>
              <a:rPr lang="en-US" sz="1750" dirty="0">
                <a:solidFill>
                  <a:srgbClr val="15171C"/>
                </a:solidFill>
                <a:latin typeface="Courier New" pitchFamily="34" charset="0"/>
                <a:ea typeface="Courier New" pitchFamily="34" charset="-122"/>
                <a:cs typeface="Courier New" pitchFamily="34" charset="-120"/>
              </a:rPr>
              <a:t>)</a:t>
            </a:r>
            <a:endParaRPr lang="en-US" sz="1750" dirty="0"/>
          </a:p>
        </p:txBody>
      </p:sp>
      <p:sp>
        <p:nvSpPr>
          <p:cNvPr id="9" name="schema-legend-2433"/>
          <p:cNvSpPr txBox="1"/>
          <p:nvPr/>
        </p:nvSpPr>
        <p:spPr>
          <a:xfrm>
            <a:off x="6973653" y="3239262"/>
            <a:ext cx="4303642" cy="228600"/>
          </a:xfrm>
          <a:prstGeom prst="rect">
            <a:avLst/>
          </a:prstGeom>
          <a:noFill/>
          <a:ln/>
        </p:spPr>
        <p:txBody>
          <a:bodyPr wrap="square" lIns="0" tIns="0" rIns="0" bIns="0" rtlCol="0" anchor="ctr"/>
          <a:lstStyle/>
          <a:p>
            <a:pPr indent="0" marL="0">
              <a:buNone/>
            </a:pPr>
            <a:r>
              <a:rPr lang="en-US" sz="1000" dirty="0">
                <a:solidFill>
                  <a:srgbClr val="767C8A"/>
                </a:solidFill>
              </a:rPr>
              <a:t>subrayado = clave primaria · cursiva = clave foránea</a:t>
            </a:r>
            <a:endParaRPr lang="en-US" sz="1000" dirty="0"/>
          </a:p>
        </p:txBody>
      </p:sp>
      <p:sp>
        <p:nvSpPr>
          <p:cNvPr id="10" name="marker-2434"/>
          <p:cNvSpPr txBox="1"/>
          <p:nvPr/>
        </p:nvSpPr>
        <p:spPr>
          <a:xfrm>
            <a:off x="685800" y="3714750"/>
            <a:ext cx="365760" cy="1216914"/>
          </a:xfrm>
          <a:prstGeom prst="rect">
            <a:avLst/>
          </a:prstGeom>
          <a:noFill/>
          <a:ln/>
        </p:spPr>
        <p:txBody>
          <a:bodyPr wrap="square" lIns="0" tIns="0" rIns="0" bIns="0" rtlCol="0" anchor="t"/>
          <a:lstStyle/>
          <a:p>
            <a:pPr indent="0" marL="0">
              <a:buNone/>
            </a:pPr>
            <a:r>
              <a:rPr lang="en-US" sz="2500" b="1" dirty="0">
                <a:solidFill>
                  <a:srgbClr val="1B39E6"/>
                </a:solidFill>
              </a:rPr>
              <a:t>•</a:t>
            </a:r>
            <a:endParaRPr lang="en-US" sz="2500" dirty="0"/>
          </a:p>
        </p:txBody>
      </p:sp>
      <p:sp>
        <p:nvSpPr>
          <p:cNvPr id="11" name="item-2435"/>
          <p:cNvSpPr txBox="1"/>
          <p:nvPr/>
        </p:nvSpPr>
        <p:spPr>
          <a:xfrm>
            <a:off x="1097280" y="3714750"/>
            <a:ext cx="10408615" cy="1216914"/>
          </a:xfrm>
          <a:prstGeom prst="rect">
            <a:avLst/>
          </a:prstGeom>
          <a:noFill/>
          <a:ln/>
        </p:spPr>
        <p:txBody>
          <a:bodyPr wrap="square" lIns="0" tIns="0" rIns="0" bIns="0" rtlCol="0" anchor="t"/>
          <a:lstStyle/>
          <a:p>
            <a:pPr algn="l" indent="0" marL="0">
              <a:buNone/>
            </a:pPr>
            <a:r>
              <a:rPr lang="en-US" sz="2500" b="1" dirty="0">
                <a:solidFill>
                  <a:srgbClr val="4B4F58"/>
                </a:solidFill>
              </a:rPr>
              <a:t>Solo subtipos</a:t>
            </a:r>
            <a:pPr algn="l" indent="0" marL="0">
              <a:buNone/>
            </a:pPr>
            <a:r>
              <a:rPr lang="en-US" sz="2500" dirty="0">
                <a:solidFill>
                  <a:srgbClr val="4B4F58"/>
                </a:solidFill>
              </a:rPr>
              <a:t>: los atributos comunes se repiten en cada tabla, y mejora el acceso. Elimina el supertipo en jerarquías totales y exclusivas.</a:t>
            </a:r>
            <a:endParaRPr lang="en-US" sz="2500" dirty="0"/>
          </a:p>
        </p:txBody>
      </p:sp>
      <p:sp>
        <p:nvSpPr>
          <p:cNvPr id="12" name="marker-2436"/>
          <p:cNvSpPr txBox="1"/>
          <p:nvPr/>
        </p:nvSpPr>
        <p:spPr>
          <a:xfrm>
            <a:off x="685800" y="5023104"/>
            <a:ext cx="365760" cy="829564"/>
          </a:xfrm>
          <a:prstGeom prst="rect">
            <a:avLst/>
          </a:prstGeom>
          <a:noFill/>
          <a:ln/>
        </p:spPr>
        <p:txBody>
          <a:bodyPr wrap="square" lIns="0" tIns="0" rIns="0" bIns="0" rtlCol="0" anchor="t"/>
          <a:lstStyle/>
          <a:p>
            <a:pPr indent="0" marL="0">
              <a:buNone/>
            </a:pPr>
            <a:r>
              <a:rPr lang="en-US" sz="2500" b="1" dirty="0">
                <a:solidFill>
                  <a:srgbClr val="1B39E6"/>
                </a:solidFill>
              </a:rPr>
              <a:t>•</a:t>
            </a:r>
            <a:endParaRPr lang="en-US" sz="2500" dirty="0"/>
          </a:p>
        </p:txBody>
      </p:sp>
      <p:sp>
        <p:nvSpPr>
          <p:cNvPr id="13" name="item-2437"/>
          <p:cNvSpPr txBox="1"/>
          <p:nvPr/>
        </p:nvSpPr>
        <p:spPr>
          <a:xfrm>
            <a:off x="1097280" y="5023104"/>
            <a:ext cx="10408615" cy="829564"/>
          </a:xfrm>
          <a:prstGeom prst="rect">
            <a:avLst/>
          </a:prstGeom>
          <a:noFill/>
          <a:ln/>
        </p:spPr>
        <p:txBody>
          <a:bodyPr wrap="square" lIns="0" tIns="0" rIns="0" bIns="0" rtlCol="0" anchor="t"/>
          <a:lstStyle/>
          <a:p>
            <a:pPr algn="l" indent="0" marL="0">
              <a:buNone/>
            </a:pPr>
            <a:r>
              <a:rPr lang="en-US" sz="2500" b="1" dirty="0">
                <a:solidFill>
                  <a:srgbClr val="4B4F58"/>
                </a:solidFill>
              </a:rPr>
              <a:t>Una sola tabla</a:t>
            </a:r>
            <a:pPr algn="l" indent="0" marL="0">
              <a:buNone/>
            </a:pPr>
            <a:r>
              <a:rPr lang="en-US" sz="2500" dirty="0">
                <a:solidFill>
                  <a:srgbClr val="4B4F58"/>
                </a:solidFill>
              </a:rPr>
              <a:t>: todos los atributos más uno discriminador (</a:t>
            </a:r>
            <a:pPr algn="l" indent="0" marL="0">
              <a:buNone/>
            </a:pPr>
            <a:r>
              <a:rPr lang="en-US" sz="2500" dirty="0">
                <a:solidFill>
                  <a:srgbClr val="0D1A7A"/>
                </a:solidFill>
                <a:latin typeface="Courier New" pitchFamily="34" charset="0"/>
                <a:ea typeface="Courier New" pitchFamily="34" charset="-122"/>
                <a:cs typeface="Courier New" pitchFamily="34" charset="-120"/>
              </a:rPr>
              <a:t>tipo</a:t>
            </a:r>
            <a:pPr algn="l" indent="0" marL="0">
              <a:buNone/>
            </a:pPr>
            <a:r>
              <a:rPr lang="en-US" sz="2500" dirty="0">
                <a:solidFill>
                  <a:srgbClr val="4B4F58"/>
                </a:solidFill>
              </a:rPr>
              <a:t>). Vale para cualquier jerarquía.</a:t>
            </a:r>
            <a:endParaRPr lang="en-US" sz="25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05 — CASOS ESPECIALES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Chuleta: qué se convierte en qué</a:t>
            </a:r>
            <a:endParaRPr lang="en-US" sz="4000" dirty="0"/>
          </a:p>
        </p:txBody>
      </p:sp>
      <p:sp>
        <p:nvSpPr>
          <p:cNvPr id="4" name="kv-k-2654"/>
          <p:cNvSpPr txBox="1"/>
          <p:nvPr/>
        </p:nvSpPr>
        <p:spPr>
          <a:xfrm>
            <a:off x="685800" y="1856232"/>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Entidad fuerte</a:t>
            </a:r>
            <a:endParaRPr lang="en-US" sz="1100" dirty="0"/>
          </a:p>
        </p:txBody>
      </p:sp>
      <p:sp>
        <p:nvSpPr>
          <p:cNvPr id="5" name="kv-v-2655"/>
          <p:cNvSpPr txBox="1"/>
          <p:nvPr/>
        </p:nvSpPr>
        <p:spPr>
          <a:xfrm>
            <a:off x="2423160" y="1837944"/>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Tabla; identificador → clave primaria.</a:t>
            </a:r>
            <a:endParaRPr lang="en-US" sz="1450" dirty="0"/>
          </a:p>
        </p:txBody>
      </p:sp>
      <p:sp>
        <p:nvSpPr>
          <p:cNvPr id="6" name="kv-line-2656"/>
          <p:cNvSpPr/>
          <p:nvPr/>
        </p:nvSpPr>
        <p:spPr>
          <a:xfrm>
            <a:off x="685800" y="2413737"/>
            <a:ext cx="5227168" cy="0"/>
          </a:xfrm>
          <a:prstGeom prst="line">
            <a:avLst/>
          </a:prstGeom>
          <a:noFill/>
          <a:ln w="12700">
            <a:solidFill>
              <a:srgbClr val="E7E3DA"/>
            </a:solidFill>
            <a:prstDash val="solid"/>
          </a:ln>
        </p:spPr>
      </p:sp>
      <p:sp>
        <p:nvSpPr>
          <p:cNvPr id="7" name="kv-k-2657"/>
          <p:cNvSpPr txBox="1"/>
          <p:nvPr/>
        </p:nvSpPr>
        <p:spPr>
          <a:xfrm>
            <a:off x="6278728" y="1856232"/>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Entidad débil</a:t>
            </a:r>
            <a:endParaRPr lang="en-US" sz="1100" dirty="0"/>
          </a:p>
        </p:txBody>
      </p:sp>
      <p:sp>
        <p:nvSpPr>
          <p:cNvPr id="8" name="kv-v-2658"/>
          <p:cNvSpPr txBox="1"/>
          <p:nvPr/>
        </p:nvSpPr>
        <p:spPr>
          <a:xfrm>
            <a:off x="8016088" y="1837944"/>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Tabla con la clave de la fuerte (foránea) + identificador parcial.</a:t>
            </a:r>
            <a:endParaRPr lang="en-US" sz="1450" dirty="0"/>
          </a:p>
        </p:txBody>
      </p:sp>
      <p:sp>
        <p:nvSpPr>
          <p:cNvPr id="9" name="kv-line-2659"/>
          <p:cNvSpPr/>
          <p:nvPr/>
        </p:nvSpPr>
        <p:spPr>
          <a:xfrm>
            <a:off x="6278728" y="2413737"/>
            <a:ext cx="5227168" cy="0"/>
          </a:xfrm>
          <a:prstGeom prst="line">
            <a:avLst/>
          </a:prstGeom>
          <a:noFill/>
          <a:ln w="12700">
            <a:solidFill>
              <a:srgbClr val="E7E3DA"/>
            </a:solidFill>
            <a:prstDash val="solid"/>
          </a:ln>
        </p:spPr>
      </p:sp>
      <p:sp>
        <p:nvSpPr>
          <p:cNvPr id="10" name="kv-k-2660"/>
          <p:cNvSpPr txBox="1"/>
          <p:nvPr/>
        </p:nvSpPr>
        <p:spPr>
          <a:xfrm>
            <a:off x="685800" y="2523465"/>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Compuesto / multivaluado / derivado</a:t>
            </a:r>
            <a:endParaRPr lang="en-US" sz="1100" dirty="0"/>
          </a:p>
        </p:txBody>
      </p:sp>
      <p:sp>
        <p:nvSpPr>
          <p:cNvPr id="11" name="kv-v-2661"/>
          <p:cNvSpPr txBox="1"/>
          <p:nvPr/>
        </p:nvSpPr>
        <p:spPr>
          <a:xfrm>
            <a:off x="2423160" y="2505177"/>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Se descompone / nueva entidad / no se almacena.</a:t>
            </a:r>
            <a:endParaRPr lang="en-US" sz="1450" dirty="0"/>
          </a:p>
        </p:txBody>
      </p:sp>
      <p:sp>
        <p:nvSpPr>
          <p:cNvPr id="12" name="kv-line-2662"/>
          <p:cNvSpPr/>
          <p:nvPr/>
        </p:nvSpPr>
        <p:spPr>
          <a:xfrm>
            <a:off x="685800" y="3080969"/>
            <a:ext cx="5227168" cy="0"/>
          </a:xfrm>
          <a:prstGeom prst="line">
            <a:avLst/>
          </a:prstGeom>
          <a:noFill/>
          <a:ln w="12700">
            <a:solidFill>
              <a:srgbClr val="E7E3DA"/>
            </a:solidFill>
            <a:prstDash val="solid"/>
          </a:ln>
        </p:spPr>
      </p:sp>
      <p:sp>
        <p:nvSpPr>
          <p:cNvPr id="13" name="kv-k-2663"/>
          <p:cNvSpPr txBox="1"/>
          <p:nvPr/>
        </p:nvSpPr>
        <p:spPr>
          <a:xfrm>
            <a:off x="6278728" y="2523465"/>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N:M</a:t>
            </a:r>
            <a:endParaRPr lang="en-US" sz="1100" dirty="0"/>
          </a:p>
        </p:txBody>
      </p:sp>
      <p:sp>
        <p:nvSpPr>
          <p:cNvPr id="14" name="kv-v-2664"/>
          <p:cNvSpPr txBox="1"/>
          <p:nvPr/>
        </p:nvSpPr>
        <p:spPr>
          <a:xfrm>
            <a:off x="8016088" y="2505177"/>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Tabla nueva; clave = unión de las dos foráneas.</a:t>
            </a:r>
            <a:endParaRPr lang="en-US" sz="1450" dirty="0"/>
          </a:p>
        </p:txBody>
      </p:sp>
      <p:sp>
        <p:nvSpPr>
          <p:cNvPr id="15" name="kv-line-2665"/>
          <p:cNvSpPr/>
          <p:nvPr/>
        </p:nvSpPr>
        <p:spPr>
          <a:xfrm>
            <a:off x="6278728" y="3080969"/>
            <a:ext cx="5227168" cy="0"/>
          </a:xfrm>
          <a:prstGeom prst="line">
            <a:avLst/>
          </a:prstGeom>
          <a:noFill/>
          <a:ln w="12700">
            <a:solidFill>
              <a:srgbClr val="E7E3DA"/>
            </a:solidFill>
            <a:prstDash val="solid"/>
          </a:ln>
        </p:spPr>
      </p:sp>
      <p:sp>
        <p:nvSpPr>
          <p:cNvPr id="16" name="kv-k-2666"/>
          <p:cNvSpPr txBox="1"/>
          <p:nvPr/>
        </p:nvSpPr>
        <p:spPr>
          <a:xfrm>
            <a:off x="685800" y="3190697"/>
            <a:ext cx="1645920" cy="1210881"/>
          </a:xfrm>
          <a:prstGeom prst="rect">
            <a:avLst/>
          </a:prstGeom>
          <a:noFill/>
          <a:ln/>
        </p:spPr>
        <p:txBody>
          <a:bodyPr wrap="square" lIns="0" tIns="0" rIns="0" bIns="0" rtlCol="0" anchor="t"/>
          <a:lstStyle/>
          <a:p>
            <a:pPr algn="l" indent="0" marL="0">
              <a:buNone/>
            </a:pPr>
            <a:r>
              <a:rPr lang="en-US" sz="1100" b="1" dirty="0">
                <a:solidFill>
                  <a:srgbClr val="0D1A7A"/>
                </a:solidFill>
              </a:rPr>
              <a:t>1:N</a:t>
            </a:r>
            <a:endParaRPr lang="en-US" sz="1100" dirty="0"/>
          </a:p>
        </p:txBody>
      </p:sp>
      <p:sp>
        <p:nvSpPr>
          <p:cNvPr id="17" name="kv-v-2667"/>
          <p:cNvSpPr txBox="1"/>
          <p:nvPr/>
        </p:nvSpPr>
        <p:spPr>
          <a:xfrm>
            <a:off x="2423160" y="3172409"/>
            <a:ext cx="3489808" cy="1210881"/>
          </a:xfrm>
          <a:prstGeom prst="rect">
            <a:avLst/>
          </a:prstGeom>
          <a:noFill/>
          <a:ln/>
        </p:spPr>
        <p:txBody>
          <a:bodyPr wrap="square" lIns="0" tIns="0" rIns="0" bIns="0" rtlCol="0" anchor="t"/>
          <a:lstStyle/>
          <a:p>
            <a:pPr algn="l" indent="0" marL="0">
              <a:buNone/>
            </a:pPr>
            <a:r>
              <a:rPr lang="en-US" sz="1450" dirty="0">
                <a:solidFill>
                  <a:srgbClr val="4B4F58"/>
                </a:solidFill>
              </a:rPr>
              <a:t>La clave del «uno» pasa como foránea a la tabla de la entidad que tiene la N pintada al lado.</a:t>
            </a:r>
            <a:endParaRPr lang="en-US" sz="1450" dirty="0"/>
          </a:p>
        </p:txBody>
      </p:sp>
      <p:sp>
        <p:nvSpPr>
          <p:cNvPr id="18" name="kv-line-2668"/>
          <p:cNvSpPr/>
          <p:nvPr/>
        </p:nvSpPr>
        <p:spPr>
          <a:xfrm>
            <a:off x="685800" y="4419867"/>
            <a:ext cx="5227168" cy="0"/>
          </a:xfrm>
          <a:prstGeom prst="line">
            <a:avLst/>
          </a:prstGeom>
          <a:noFill/>
          <a:ln w="12700">
            <a:solidFill>
              <a:srgbClr val="E7E3DA"/>
            </a:solidFill>
            <a:prstDash val="solid"/>
          </a:ln>
        </p:spPr>
      </p:sp>
      <p:sp>
        <p:nvSpPr>
          <p:cNvPr id="19" name="kv-k-2669"/>
          <p:cNvSpPr txBox="1"/>
          <p:nvPr/>
        </p:nvSpPr>
        <p:spPr>
          <a:xfrm>
            <a:off x="6278728" y="3190697"/>
            <a:ext cx="1645920" cy="1210881"/>
          </a:xfrm>
          <a:prstGeom prst="rect">
            <a:avLst/>
          </a:prstGeom>
          <a:noFill/>
          <a:ln/>
        </p:spPr>
        <p:txBody>
          <a:bodyPr wrap="square" lIns="0" tIns="0" rIns="0" bIns="0" rtlCol="0" anchor="t"/>
          <a:lstStyle/>
          <a:p>
            <a:pPr algn="l" indent="0" marL="0">
              <a:buNone/>
            </a:pPr>
            <a:r>
              <a:rPr lang="en-US" sz="1100" b="1" dirty="0">
                <a:solidFill>
                  <a:srgbClr val="0D1A7A"/>
                </a:solidFill>
              </a:rPr>
              <a:t>1:1</a:t>
            </a:r>
            <a:endParaRPr lang="en-US" sz="1100" dirty="0"/>
          </a:p>
        </p:txBody>
      </p:sp>
      <p:sp>
        <p:nvSpPr>
          <p:cNvPr id="20" name="kv-v-2670"/>
          <p:cNvSpPr txBox="1"/>
          <p:nvPr/>
        </p:nvSpPr>
        <p:spPr>
          <a:xfrm>
            <a:off x="8016088" y="3172409"/>
            <a:ext cx="3489808" cy="1210881"/>
          </a:xfrm>
          <a:prstGeom prst="rect">
            <a:avLst/>
          </a:prstGeom>
          <a:noFill/>
          <a:ln/>
        </p:spPr>
        <p:txBody>
          <a:bodyPr wrap="square" lIns="0" tIns="0" rIns="0" bIns="0" rtlCol="0" anchor="t"/>
          <a:lstStyle/>
          <a:p>
            <a:pPr algn="l" indent="0" marL="0">
              <a:buNone/>
            </a:pPr>
            <a:r>
              <a:rPr lang="en-US" sz="1450" dirty="0">
                <a:solidFill>
                  <a:srgbClr val="4B4F58"/>
                </a:solidFill>
              </a:rPr>
              <a:t>Depende de los mínimos: la clave va en la que siempre participa, la que tiene el (0,1) pintado al lado. Dos (1,1): cualquiera. Dos (0,1): tabla propia.</a:t>
            </a:r>
            <a:endParaRPr lang="en-US" sz="1450" dirty="0"/>
          </a:p>
        </p:txBody>
      </p:sp>
      <p:sp>
        <p:nvSpPr>
          <p:cNvPr id="21" name="kv-line-2671"/>
          <p:cNvSpPr/>
          <p:nvPr/>
        </p:nvSpPr>
        <p:spPr>
          <a:xfrm>
            <a:off x="6278728" y="4419867"/>
            <a:ext cx="5227168" cy="0"/>
          </a:xfrm>
          <a:prstGeom prst="line">
            <a:avLst/>
          </a:prstGeom>
          <a:noFill/>
          <a:ln w="12700">
            <a:solidFill>
              <a:srgbClr val="E7E3DA"/>
            </a:solidFill>
            <a:prstDash val="solid"/>
          </a:ln>
        </p:spPr>
      </p:sp>
      <p:sp>
        <p:nvSpPr>
          <p:cNvPr id="22" name="kv-k-2672"/>
          <p:cNvSpPr txBox="1"/>
          <p:nvPr/>
        </p:nvSpPr>
        <p:spPr>
          <a:xfrm>
            <a:off x="685800" y="4529595"/>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Reflexiva</a:t>
            </a:r>
            <a:endParaRPr lang="en-US" sz="1100" dirty="0"/>
          </a:p>
        </p:txBody>
      </p:sp>
      <p:sp>
        <p:nvSpPr>
          <p:cNvPr id="23" name="kv-v-2673"/>
          <p:cNvSpPr txBox="1"/>
          <p:nvPr/>
        </p:nvSpPr>
        <p:spPr>
          <a:xfrm>
            <a:off x="2423160" y="4511307"/>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Como la binaria, con la clave repetida con otro nombre.</a:t>
            </a:r>
            <a:endParaRPr lang="en-US" sz="1450" dirty="0"/>
          </a:p>
        </p:txBody>
      </p:sp>
      <p:sp>
        <p:nvSpPr>
          <p:cNvPr id="24" name="kv-line-2674"/>
          <p:cNvSpPr/>
          <p:nvPr/>
        </p:nvSpPr>
        <p:spPr>
          <a:xfrm>
            <a:off x="685800" y="5087099"/>
            <a:ext cx="5227168" cy="0"/>
          </a:xfrm>
          <a:prstGeom prst="line">
            <a:avLst/>
          </a:prstGeom>
          <a:noFill/>
          <a:ln w="12700">
            <a:solidFill>
              <a:srgbClr val="E7E3DA"/>
            </a:solidFill>
            <a:prstDash val="solid"/>
          </a:ln>
        </p:spPr>
      </p:sp>
      <p:sp>
        <p:nvSpPr>
          <p:cNvPr id="25" name="kv-k-2675"/>
          <p:cNvSpPr txBox="1"/>
          <p:nvPr/>
        </p:nvSpPr>
        <p:spPr>
          <a:xfrm>
            <a:off x="6278728" y="4529595"/>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Ternaria</a:t>
            </a:r>
            <a:endParaRPr lang="en-US" sz="1100" dirty="0"/>
          </a:p>
        </p:txBody>
      </p:sp>
      <p:sp>
        <p:nvSpPr>
          <p:cNvPr id="26" name="kv-v-2676"/>
          <p:cNvSpPr txBox="1"/>
          <p:nvPr/>
        </p:nvSpPr>
        <p:spPr>
          <a:xfrm>
            <a:off x="8016088" y="4511307"/>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Tabla con tres foráneas; primaria según los máximos N.</a:t>
            </a:r>
            <a:endParaRPr lang="en-US" sz="1450" dirty="0"/>
          </a:p>
        </p:txBody>
      </p:sp>
      <p:sp>
        <p:nvSpPr>
          <p:cNvPr id="27" name="kv-line-2677"/>
          <p:cNvSpPr/>
          <p:nvPr/>
        </p:nvSpPr>
        <p:spPr>
          <a:xfrm>
            <a:off x="6278728" y="5087099"/>
            <a:ext cx="5227168" cy="0"/>
          </a:xfrm>
          <a:prstGeom prst="line">
            <a:avLst/>
          </a:prstGeom>
          <a:noFill/>
          <a:ln w="12700">
            <a:solidFill>
              <a:srgbClr val="E7E3DA"/>
            </a:solidFill>
            <a:prstDash val="solid"/>
          </a:ln>
        </p:spPr>
      </p:sp>
      <p:sp>
        <p:nvSpPr>
          <p:cNvPr id="28" name="kv-k-2678"/>
          <p:cNvSpPr txBox="1"/>
          <p:nvPr/>
        </p:nvSpPr>
        <p:spPr>
          <a:xfrm>
            <a:off x="685800" y="5196827"/>
            <a:ext cx="1645920" cy="539217"/>
          </a:xfrm>
          <a:prstGeom prst="rect">
            <a:avLst/>
          </a:prstGeom>
          <a:noFill/>
          <a:ln/>
        </p:spPr>
        <p:txBody>
          <a:bodyPr wrap="square" lIns="0" tIns="0" rIns="0" bIns="0" rtlCol="0" anchor="t"/>
          <a:lstStyle/>
          <a:p>
            <a:pPr algn="l" indent="0" marL="0">
              <a:buNone/>
            </a:pPr>
            <a:r>
              <a:rPr lang="en-US" sz="1100" b="1" dirty="0">
                <a:solidFill>
                  <a:srgbClr val="0D1A7A"/>
                </a:solidFill>
              </a:rPr>
              <a:t>ISA</a:t>
            </a:r>
            <a:endParaRPr lang="en-US" sz="1100" dirty="0"/>
          </a:p>
        </p:txBody>
      </p:sp>
      <p:sp>
        <p:nvSpPr>
          <p:cNvPr id="29" name="kv-v-2679"/>
          <p:cNvSpPr txBox="1"/>
          <p:nvPr/>
        </p:nvSpPr>
        <p:spPr>
          <a:xfrm>
            <a:off x="2423160" y="5178539"/>
            <a:ext cx="3489808" cy="539217"/>
          </a:xfrm>
          <a:prstGeom prst="rect">
            <a:avLst/>
          </a:prstGeom>
          <a:noFill/>
          <a:ln/>
        </p:spPr>
        <p:txBody>
          <a:bodyPr wrap="square" lIns="0" tIns="0" rIns="0" bIns="0" rtlCol="0" anchor="t"/>
          <a:lstStyle/>
          <a:p>
            <a:pPr algn="l" indent="0" marL="0">
              <a:buNone/>
            </a:pPr>
            <a:r>
              <a:rPr lang="en-US" sz="1450" dirty="0">
                <a:solidFill>
                  <a:srgbClr val="4B4F58"/>
                </a:solidFill>
              </a:rPr>
              <a:t>Una sola tabla (C), una por entidad (A) o solo subtipos (B).</a:t>
            </a:r>
            <a:endParaRPr lang="en-US" sz="1450" dirty="0"/>
          </a:p>
        </p:txBody>
      </p:sp>
      <p:sp>
        <p:nvSpPr>
          <p:cNvPr id="30" name="kv-line-2680"/>
          <p:cNvSpPr/>
          <p:nvPr/>
        </p:nvSpPr>
        <p:spPr>
          <a:xfrm>
            <a:off x="685800" y="5754332"/>
            <a:ext cx="5227168" cy="0"/>
          </a:xfrm>
          <a:prstGeom prst="line">
            <a:avLst/>
          </a:prstGeom>
          <a:noFill/>
          <a:ln w="12700">
            <a:solidFill>
              <a:srgbClr val="E7E3DA"/>
            </a:solidFill>
            <a:prstDash val="solid"/>
          </a:ln>
        </p:spPr>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06 — NORMALIZACIÓN</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Una tabla mal diseñada, en acción</a:t>
            </a:r>
            <a:endParaRPr lang="en-US" sz="4000" dirty="0"/>
          </a:p>
        </p:txBody>
      </p:sp>
      <p:pic>
        <p:nvPicPr>
          <p:cNvPr id="4" name="imagen-2835" descr="Diagrama / tabla de la diapositiva">    </p:cNvPr>
          <p:cNvPicPr>
            <a:picLocks noChangeAspect="1"/>
          </p:cNvPicPr>
          <p:nvPr/>
        </p:nvPicPr>
        <p:blipFill>
          <a:blip r:embed="rId1"/>
          <a:stretch>
            <a:fillRect/>
          </a:stretch>
        </p:blipFill>
        <p:spPr>
          <a:xfrm>
            <a:off x="685800" y="2377440"/>
            <a:ext cx="9838563" cy="1425588"/>
          </a:xfrm>
          <a:prstGeom prst="rect">
            <a:avLst/>
          </a:prstGeom>
        </p:spPr>
      </p:pic>
      <p:sp>
        <p:nvSpPr>
          <p:cNvPr id="5" name="card-2836"/>
          <p:cNvSpPr/>
          <p:nvPr/>
        </p:nvSpPr>
        <p:spPr>
          <a:xfrm>
            <a:off x="685800" y="3985908"/>
            <a:ext cx="3484778" cy="1467193"/>
          </a:xfrm>
          <a:prstGeom prst="roundRect">
            <a:avLst>
              <a:gd name="adj" fmla="val 7479"/>
            </a:avLst>
          </a:prstGeom>
          <a:solidFill>
            <a:schemeClr val="bg1"/>
          </a:solidFill>
          <a:ln w="19050">
            <a:solidFill>
              <a:srgbClr val="15171C"/>
            </a:solidFill>
            <a:prstDash val="solid"/>
          </a:ln>
        </p:spPr>
      </p:sp>
      <p:sp>
        <p:nvSpPr>
          <p:cNvPr id="6" name="tag-pill-2837"/>
          <p:cNvSpPr/>
          <p:nvPr/>
        </p:nvSpPr>
        <p:spPr>
          <a:xfrm>
            <a:off x="868680" y="4150500"/>
            <a:ext cx="1265530" cy="256032"/>
          </a:xfrm>
          <a:prstGeom prst="roundRect">
            <a:avLst>
              <a:gd name="adj" fmla="val 50000"/>
            </a:avLst>
          </a:prstGeom>
          <a:solidFill>
            <a:srgbClr val="E8EBFC"/>
          </a:solidFill>
          <a:ln/>
        </p:spPr>
      </p:sp>
      <p:sp>
        <p:nvSpPr>
          <p:cNvPr id="7" name="tag-2838"/>
          <p:cNvSpPr txBox="1"/>
          <p:nvPr/>
        </p:nvSpPr>
        <p:spPr>
          <a:xfrm>
            <a:off x="868680" y="4150500"/>
            <a:ext cx="1265530" cy="256032"/>
          </a:xfrm>
          <a:prstGeom prst="rect">
            <a:avLst/>
          </a:prstGeom>
          <a:noFill/>
          <a:ln/>
        </p:spPr>
        <p:txBody>
          <a:bodyPr wrap="square" lIns="0" tIns="0" rIns="0" bIns="0" rtlCol="0" anchor="ctr"/>
          <a:lstStyle/>
          <a:p>
            <a:pPr algn="ctr" indent="0" marL="0">
              <a:buNone/>
            </a:pPr>
            <a:r>
              <a:rPr lang="en-US" sz="1100" b="1" dirty="0">
                <a:solidFill>
                  <a:srgbClr val="0D1A7A"/>
                </a:solidFill>
              </a:rPr>
              <a:t>MODIFICACIÓN</a:t>
            </a:r>
            <a:endParaRPr lang="en-US" sz="1100" dirty="0"/>
          </a:p>
        </p:txBody>
      </p:sp>
      <p:sp>
        <p:nvSpPr>
          <p:cNvPr id="8" name="card-p-2839"/>
          <p:cNvSpPr txBox="1"/>
          <p:nvPr/>
        </p:nvSpPr>
        <p:spPr>
          <a:xfrm>
            <a:off x="868680" y="4534548"/>
            <a:ext cx="3119018" cy="717385"/>
          </a:xfrm>
          <a:prstGeom prst="rect">
            <a:avLst/>
          </a:prstGeom>
          <a:noFill/>
          <a:ln/>
        </p:spPr>
        <p:txBody>
          <a:bodyPr wrap="square" lIns="0" tIns="0" rIns="0" bIns="0" rtlCol="0" anchor="t"/>
          <a:lstStyle/>
          <a:p>
            <a:pPr algn="l" indent="0" marL="0">
              <a:buNone/>
            </a:pPr>
            <a:r>
              <a:rPr lang="en-US" sz="1450" dirty="0">
                <a:solidFill>
                  <a:srgbClr val="4B4F58"/>
                </a:solidFill>
              </a:rPr>
              <a:t>Marta se muda: hay que tocar dos filas. Si falla una, vive en dos ciudades.</a:t>
            </a:r>
            <a:endParaRPr lang="en-US" sz="1450" dirty="0"/>
          </a:p>
        </p:txBody>
      </p:sp>
      <p:sp>
        <p:nvSpPr>
          <p:cNvPr id="9" name="card-2840"/>
          <p:cNvSpPr/>
          <p:nvPr/>
        </p:nvSpPr>
        <p:spPr>
          <a:xfrm>
            <a:off x="4353458" y="3985908"/>
            <a:ext cx="3484778" cy="1467193"/>
          </a:xfrm>
          <a:prstGeom prst="roundRect">
            <a:avLst>
              <a:gd name="adj" fmla="val 7479"/>
            </a:avLst>
          </a:prstGeom>
          <a:solidFill>
            <a:schemeClr val="bg1"/>
          </a:solidFill>
          <a:ln w="19050">
            <a:solidFill>
              <a:srgbClr val="15171C"/>
            </a:solidFill>
            <a:prstDash val="solid"/>
          </a:ln>
        </p:spPr>
      </p:sp>
      <p:sp>
        <p:nvSpPr>
          <p:cNvPr id="10" name="tag-pill-2841"/>
          <p:cNvSpPr/>
          <p:nvPr/>
        </p:nvSpPr>
        <p:spPr>
          <a:xfrm>
            <a:off x="4536338" y="4150500"/>
            <a:ext cx="1013155" cy="256032"/>
          </a:xfrm>
          <a:prstGeom prst="roundRect">
            <a:avLst>
              <a:gd name="adj" fmla="val 50000"/>
            </a:avLst>
          </a:prstGeom>
          <a:solidFill>
            <a:srgbClr val="E8EBFC"/>
          </a:solidFill>
          <a:ln/>
        </p:spPr>
      </p:sp>
      <p:sp>
        <p:nvSpPr>
          <p:cNvPr id="11" name="tag-2842"/>
          <p:cNvSpPr txBox="1"/>
          <p:nvPr/>
        </p:nvSpPr>
        <p:spPr>
          <a:xfrm>
            <a:off x="4536338" y="4150500"/>
            <a:ext cx="1013155" cy="256032"/>
          </a:xfrm>
          <a:prstGeom prst="rect">
            <a:avLst/>
          </a:prstGeom>
          <a:noFill/>
          <a:ln/>
        </p:spPr>
        <p:txBody>
          <a:bodyPr wrap="square" lIns="0" tIns="0" rIns="0" bIns="0" rtlCol="0" anchor="ctr"/>
          <a:lstStyle/>
          <a:p>
            <a:pPr algn="ctr" indent="0" marL="0">
              <a:buNone/>
            </a:pPr>
            <a:r>
              <a:rPr lang="en-US" sz="1100" b="1" dirty="0">
                <a:solidFill>
                  <a:srgbClr val="0D1A7A"/>
                </a:solidFill>
              </a:rPr>
              <a:t>INSERCIÓN</a:t>
            </a:r>
            <a:endParaRPr lang="en-US" sz="1100" dirty="0"/>
          </a:p>
        </p:txBody>
      </p:sp>
      <p:sp>
        <p:nvSpPr>
          <p:cNvPr id="12" name="card-p-2843"/>
          <p:cNvSpPr txBox="1"/>
          <p:nvPr/>
        </p:nvSpPr>
        <p:spPr>
          <a:xfrm>
            <a:off x="4536338" y="4534548"/>
            <a:ext cx="3119018" cy="717385"/>
          </a:xfrm>
          <a:prstGeom prst="rect">
            <a:avLst/>
          </a:prstGeom>
          <a:noFill/>
          <a:ln/>
        </p:spPr>
        <p:txBody>
          <a:bodyPr wrap="square" lIns="0" tIns="0" rIns="0" bIns="0" rtlCol="0" anchor="t"/>
          <a:lstStyle/>
          <a:p>
            <a:pPr algn="l" indent="0" marL="0">
              <a:buNone/>
            </a:pPr>
            <a:r>
              <a:rPr lang="en-US" sz="1450" dirty="0">
                <a:solidFill>
                  <a:srgbClr val="4B4F58"/>
                </a:solidFill>
              </a:rPr>
              <a:t>No se puede dar de alta una clienta sin pedido: la clave es </a:t>
            </a:r>
            <a:pPr algn="l" indent="0" marL="0">
              <a:buNone/>
            </a:pPr>
            <a:r>
              <a:rPr lang="en-US" sz="1450" dirty="0">
                <a:solidFill>
                  <a:srgbClr val="0D1A7A"/>
                </a:solidFill>
                <a:latin typeface="Courier New" pitchFamily="34" charset="0"/>
                <a:ea typeface="Courier New" pitchFamily="34" charset="-122"/>
                <a:cs typeface="Courier New" pitchFamily="34" charset="-120"/>
              </a:rPr>
              <a:t>id_pedido</a:t>
            </a:r>
            <a:pPr algn="l" indent="0" marL="0">
              <a:buNone/>
            </a:pPr>
            <a:r>
              <a:rPr lang="en-US" sz="1450" dirty="0">
                <a:solidFill>
                  <a:srgbClr val="4B4F58"/>
                </a:solidFill>
              </a:rPr>
              <a:t>.</a:t>
            </a:r>
            <a:endParaRPr lang="en-US" sz="1450" dirty="0"/>
          </a:p>
        </p:txBody>
      </p:sp>
      <p:sp>
        <p:nvSpPr>
          <p:cNvPr id="13" name="card-2844"/>
          <p:cNvSpPr/>
          <p:nvPr/>
        </p:nvSpPr>
        <p:spPr>
          <a:xfrm>
            <a:off x="8021117" y="3985908"/>
            <a:ext cx="3484778" cy="1467193"/>
          </a:xfrm>
          <a:prstGeom prst="roundRect">
            <a:avLst>
              <a:gd name="adj" fmla="val 7479"/>
            </a:avLst>
          </a:prstGeom>
          <a:solidFill>
            <a:schemeClr val="bg1"/>
          </a:solidFill>
          <a:ln w="19050">
            <a:solidFill>
              <a:srgbClr val="15171C"/>
            </a:solidFill>
            <a:prstDash val="solid"/>
          </a:ln>
        </p:spPr>
      </p:sp>
      <p:sp>
        <p:nvSpPr>
          <p:cNvPr id="14" name="tag-pill-2845"/>
          <p:cNvSpPr/>
          <p:nvPr/>
        </p:nvSpPr>
        <p:spPr>
          <a:xfrm>
            <a:off x="8203997" y="4150500"/>
            <a:ext cx="844906" cy="256032"/>
          </a:xfrm>
          <a:prstGeom prst="roundRect">
            <a:avLst>
              <a:gd name="adj" fmla="val 50000"/>
            </a:avLst>
          </a:prstGeom>
          <a:solidFill>
            <a:srgbClr val="E8EBFC"/>
          </a:solidFill>
          <a:ln/>
        </p:spPr>
      </p:sp>
      <p:sp>
        <p:nvSpPr>
          <p:cNvPr id="15" name="tag-2846"/>
          <p:cNvSpPr txBox="1"/>
          <p:nvPr/>
        </p:nvSpPr>
        <p:spPr>
          <a:xfrm>
            <a:off x="8203997" y="4150500"/>
            <a:ext cx="844906" cy="256032"/>
          </a:xfrm>
          <a:prstGeom prst="rect">
            <a:avLst/>
          </a:prstGeom>
          <a:noFill/>
          <a:ln/>
        </p:spPr>
        <p:txBody>
          <a:bodyPr wrap="square" lIns="0" tIns="0" rIns="0" bIns="0" rtlCol="0" anchor="ctr"/>
          <a:lstStyle/>
          <a:p>
            <a:pPr algn="ctr" indent="0" marL="0">
              <a:buNone/>
            </a:pPr>
            <a:r>
              <a:rPr lang="en-US" sz="1100" b="1" dirty="0">
                <a:solidFill>
                  <a:srgbClr val="0D1A7A"/>
                </a:solidFill>
              </a:rPr>
              <a:t>BORRADO</a:t>
            </a:r>
            <a:endParaRPr lang="en-US" sz="1100" dirty="0"/>
          </a:p>
        </p:txBody>
      </p:sp>
      <p:sp>
        <p:nvSpPr>
          <p:cNvPr id="16" name="card-p-2847"/>
          <p:cNvSpPr txBox="1"/>
          <p:nvPr/>
        </p:nvSpPr>
        <p:spPr>
          <a:xfrm>
            <a:off x="8203997" y="4534548"/>
            <a:ext cx="3119018" cy="717385"/>
          </a:xfrm>
          <a:prstGeom prst="rect">
            <a:avLst/>
          </a:prstGeom>
          <a:noFill/>
          <a:ln/>
        </p:spPr>
        <p:txBody>
          <a:bodyPr wrap="square" lIns="0" tIns="0" rIns="0" bIns="0" rtlCol="0" anchor="t"/>
          <a:lstStyle/>
          <a:p>
            <a:pPr algn="l" indent="0" marL="0">
              <a:buNone/>
            </a:pPr>
            <a:r>
              <a:rPr lang="en-US" sz="1450" dirty="0">
                <a:solidFill>
                  <a:srgbClr val="4B4F58"/>
                </a:solidFill>
              </a:rPr>
              <a:t>Anular el pedido 3 borra para siempre que Iván existe y vive en Mérida.</a:t>
            </a:r>
            <a:endParaRPr lang="en-US" sz="1450" dirty="0"/>
          </a:p>
        </p:txBody>
      </p:sp>
      <p:sp>
        <p:nvSpPr>
          <p:cNvPr id="17" name="note-2848"/>
          <p:cNvSpPr txBox="1"/>
          <p:nvPr/>
        </p:nvSpPr>
        <p:spPr>
          <a:xfrm>
            <a:off x="685800" y="5635981"/>
            <a:ext cx="10820095" cy="572516"/>
          </a:xfrm>
          <a:prstGeom prst="rect">
            <a:avLst/>
          </a:prstGeom>
          <a:noFill/>
          <a:ln/>
        </p:spPr>
        <p:txBody>
          <a:bodyPr wrap="square" lIns="0" tIns="0" rIns="0" bIns="0" rtlCol="0" anchor="t"/>
          <a:lstStyle/>
          <a:p>
            <a:pPr algn="l" indent="0" marL="0">
              <a:buNone/>
            </a:pPr>
            <a:r>
              <a:rPr lang="en-US" sz="1700" dirty="0">
                <a:solidFill>
                  <a:srgbClr val="4B4F58"/>
                </a:solidFill>
              </a:rPr>
              <a:t>Misma raíz: la tabla mezcla hechos distintos (cliente, producto, pedido). Repartirlos en tablas separadas es, exactamente, normalizar.</a:t>
            </a:r>
            <a:endParaRPr lang="en-US" sz="1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06 — NORMALIZACIÓN</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Dependencias funcionales</a:t>
            </a:r>
            <a:endParaRPr lang="en-US" sz="4000" dirty="0"/>
          </a:p>
        </p:txBody>
      </p:sp>
      <p:sp>
        <p:nvSpPr>
          <p:cNvPr id="4" name="card-2913"/>
          <p:cNvSpPr/>
          <p:nvPr/>
        </p:nvSpPr>
        <p:spPr>
          <a:xfrm>
            <a:off x="685800" y="1783080"/>
            <a:ext cx="3484778" cy="3381502"/>
          </a:xfrm>
          <a:prstGeom prst="roundRect">
            <a:avLst>
              <a:gd name="adj" fmla="val 3245"/>
            </a:avLst>
          </a:prstGeom>
          <a:solidFill>
            <a:schemeClr val="bg1"/>
          </a:solidFill>
          <a:ln w="19050">
            <a:solidFill>
              <a:srgbClr val="15171C"/>
            </a:solidFill>
            <a:prstDash val="solid"/>
          </a:ln>
        </p:spPr>
      </p:sp>
      <p:sp>
        <p:nvSpPr>
          <p:cNvPr id="5" name="tag-pill-2914"/>
          <p:cNvSpPr/>
          <p:nvPr/>
        </p:nvSpPr>
        <p:spPr>
          <a:xfrm>
            <a:off x="868680" y="1947672"/>
            <a:ext cx="676656" cy="256032"/>
          </a:xfrm>
          <a:prstGeom prst="roundRect">
            <a:avLst>
              <a:gd name="adj" fmla="val 50000"/>
            </a:avLst>
          </a:prstGeom>
          <a:solidFill>
            <a:srgbClr val="E8EBFC"/>
          </a:solidFill>
          <a:ln/>
        </p:spPr>
      </p:sp>
      <p:sp>
        <p:nvSpPr>
          <p:cNvPr id="6" name="tag-2915"/>
          <p:cNvSpPr txBox="1"/>
          <p:nvPr/>
        </p:nvSpPr>
        <p:spPr>
          <a:xfrm>
            <a:off x="868680" y="1947672"/>
            <a:ext cx="676656" cy="256032"/>
          </a:xfrm>
          <a:prstGeom prst="rect">
            <a:avLst/>
          </a:prstGeom>
          <a:noFill/>
          <a:ln/>
        </p:spPr>
        <p:txBody>
          <a:bodyPr wrap="square" lIns="0" tIns="0" rIns="0" bIns="0" rtlCol="0" anchor="ctr"/>
          <a:lstStyle/>
          <a:p>
            <a:pPr algn="ctr" indent="0" marL="0">
              <a:buNone/>
            </a:pPr>
            <a:r>
              <a:rPr lang="en-US" sz="1100" b="1" dirty="0">
                <a:solidFill>
                  <a:srgbClr val="0D1A7A"/>
                </a:solidFill>
              </a:rPr>
              <a:t>X → Y</a:t>
            </a:r>
            <a:endParaRPr lang="en-US" sz="1100" dirty="0"/>
          </a:p>
        </p:txBody>
      </p:sp>
      <p:sp>
        <p:nvSpPr>
          <p:cNvPr id="7" name="card-h-2916"/>
          <p:cNvSpPr txBox="1"/>
          <p:nvPr/>
        </p:nvSpPr>
        <p:spPr>
          <a:xfrm>
            <a:off x="868680" y="2331720"/>
            <a:ext cx="3119018" cy="768528"/>
          </a:xfrm>
          <a:prstGeom prst="rect">
            <a:avLst/>
          </a:prstGeom>
          <a:noFill/>
          <a:ln/>
        </p:spPr>
        <p:txBody>
          <a:bodyPr wrap="square" lIns="0" tIns="0" rIns="0" bIns="0" rtlCol="0" anchor="t"/>
          <a:lstStyle/>
          <a:p>
            <a:pPr algn="l" indent="0" marL="0">
              <a:buNone/>
            </a:pPr>
            <a:r>
              <a:rPr lang="en-US" sz="2200" b="1" dirty="0">
                <a:solidFill>
                  <a:srgbClr val="15171C"/>
                </a:solidFill>
              </a:rPr>
              <a:t>Dependencia funcional</a:t>
            </a:r>
            <a:endParaRPr lang="en-US" sz="2200" dirty="0"/>
          </a:p>
        </p:txBody>
      </p:sp>
      <p:sp>
        <p:nvSpPr>
          <p:cNvPr id="8" name="card-p-2917"/>
          <p:cNvSpPr txBox="1"/>
          <p:nvPr/>
        </p:nvSpPr>
        <p:spPr>
          <a:xfrm>
            <a:off x="868680" y="3100248"/>
            <a:ext cx="3119018" cy="1863166"/>
          </a:xfrm>
          <a:prstGeom prst="rect">
            <a:avLst/>
          </a:prstGeom>
          <a:noFill/>
          <a:ln/>
        </p:spPr>
        <p:txBody>
          <a:bodyPr wrap="square" lIns="0" tIns="0" rIns="0" bIns="0" rtlCol="0" anchor="t"/>
          <a:lstStyle/>
          <a:p>
            <a:pPr algn="l" indent="0" marL="0">
              <a:buNone/>
            </a:pPr>
            <a:r>
              <a:rPr lang="en-US" sz="1950" dirty="0">
                <a:solidFill>
                  <a:srgbClr val="4B4F58"/>
                </a:solidFill>
              </a:rPr>
              <a:t>Si conoces X, sabes Y: </a:t>
            </a:r>
            <a:pPr algn="l" indent="0" marL="0">
              <a:buNone/>
            </a:pPr>
            <a:r>
              <a:rPr lang="en-US" sz="1950" dirty="0">
                <a:solidFill>
                  <a:srgbClr val="0D1A7A"/>
                </a:solidFill>
                <a:latin typeface="Courier New" pitchFamily="34" charset="0"/>
                <a:ea typeface="Courier New" pitchFamily="34" charset="-122"/>
                <a:cs typeface="Courier New" pitchFamily="34" charset="-120"/>
              </a:rPr>
              <a:t>dni → nombre</a:t>
            </a:r>
            <a:pPr algn="l" indent="0" marL="0">
              <a:buNone/>
            </a:pPr>
            <a:r>
              <a:rPr lang="en-US" sz="1950" dirty="0">
                <a:solidFill>
                  <a:srgbClr val="4B4F58"/>
                </a:solidFill>
              </a:rPr>
              <a:t>, </a:t>
            </a:r>
            <a:pPr algn="l" indent="0" marL="0">
              <a:buNone/>
            </a:pPr>
            <a:r>
              <a:rPr lang="en-US" sz="1950" dirty="0">
                <a:solidFill>
                  <a:srgbClr val="0D1A7A"/>
                </a:solidFill>
                <a:latin typeface="Courier New" pitchFamily="34" charset="0"/>
                <a:ea typeface="Courier New" pitchFamily="34" charset="-122"/>
                <a:cs typeface="Courier New" pitchFamily="34" charset="-120"/>
              </a:rPr>
              <a:t>matricula → modelo</a:t>
            </a:r>
            <a:pPr algn="l" indent="0" marL="0">
              <a:buNone/>
            </a:pPr>
            <a:r>
              <a:rPr lang="en-US" sz="1950" dirty="0">
                <a:solidFill>
                  <a:srgbClr val="4B4F58"/>
                </a:solidFill>
              </a:rPr>
              <a:t>. </a:t>
            </a:r>
            <a:pPr algn="l" indent="0" marL="0">
              <a:buNone/>
            </a:pPr>
            <a:r>
              <a:rPr lang="en-US" sz="1950" dirty="0">
                <a:solidFill>
                  <a:srgbClr val="0D1A7A"/>
                </a:solidFill>
                <a:latin typeface="Courier New" pitchFamily="34" charset="0"/>
                <a:ea typeface="Courier New" pitchFamily="34" charset="-122"/>
                <a:cs typeface="Courier New" pitchFamily="34" charset="-120"/>
              </a:rPr>
              <a:t>nombre → dni</a:t>
            </a:r>
            <a:pPr algn="l" indent="0" marL="0">
              <a:buNone/>
            </a:pPr>
            <a:r>
              <a:rPr lang="en-US" sz="1950" dirty="0">
                <a:solidFill>
                  <a:srgbClr val="4B4F58"/>
                </a:solidFill>
              </a:rPr>
              <a:t> no, dos personas pueden llamarse igual.</a:t>
            </a:r>
            <a:endParaRPr lang="en-US" sz="1950" dirty="0"/>
          </a:p>
        </p:txBody>
      </p:sp>
      <p:sp>
        <p:nvSpPr>
          <p:cNvPr id="9" name="card-2918"/>
          <p:cNvSpPr/>
          <p:nvPr/>
        </p:nvSpPr>
        <p:spPr>
          <a:xfrm>
            <a:off x="4353458" y="1783080"/>
            <a:ext cx="3484778" cy="3381502"/>
          </a:xfrm>
          <a:prstGeom prst="roundRect">
            <a:avLst>
              <a:gd name="adj" fmla="val 3245"/>
            </a:avLst>
          </a:prstGeom>
          <a:solidFill>
            <a:schemeClr val="bg1"/>
          </a:solidFill>
          <a:ln w="19050">
            <a:solidFill>
              <a:srgbClr val="15171C"/>
            </a:solidFill>
            <a:prstDash val="solid"/>
          </a:ln>
        </p:spPr>
      </p:sp>
      <p:sp>
        <p:nvSpPr>
          <p:cNvPr id="10" name="tag-pill-2919"/>
          <p:cNvSpPr/>
          <p:nvPr/>
        </p:nvSpPr>
        <p:spPr>
          <a:xfrm>
            <a:off x="4536338" y="1947672"/>
            <a:ext cx="1770278" cy="256032"/>
          </a:xfrm>
          <a:prstGeom prst="roundRect">
            <a:avLst>
              <a:gd name="adj" fmla="val 50000"/>
            </a:avLst>
          </a:prstGeom>
          <a:solidFill>
            <a:srgbClr val="E8EBFC"/>
          </a:solidFill>
          <a:ln/>
        </p:spPr>
      </p:sp>
      <p:sp>
        <p:nvSpPr>
          <p:cNvPr id="11" name="tag-2920"/>
          <p:cNvSpPr txBox="1"/>
          <p:nvPr/>
        </p:nvSpPr>
        <p:spPr>
          <a:xfrm>
            <a:off x="4536338" y="1947672"/>
            <a:ext cx="1770278" cy="256032"/>
          </a:xfrm>
          <a:prstGeom prst="rect">
            <a:avLst/>
          </a:prstGeom>
          <a:noFill/>
          <a:ln/>
        </p:spPr>
        <p:txBody>
          <a:bodyPr wrap="square" lIns="0" tIns="0" rIns="0" bIns="0" rtlCol="0" anchor="ctr"/>
          <a:lstStyle/>
          <a:p>
            <a:pPr algn="ctr" indent="0" marL="0">
              <a:buNone/>
            </a:pPr>
            <a:r>
              <a:rPr lang="en-US" sz="1100" b="1" dirty="0">
                <a:solidFill>
                  <a:srgbClr val="0D1A7A"/>
                </a:solidFill>
              </a:rPr>
              <a:t>COMPLETA / PARCIAL</a:t>
            </a:r>
            <a:endParaRPr lang="en-US" sz="1100" dirty="0"/>
          </a:p>
        </p:txBody>
      </p:sp>
      <p:sp>
        <p:nvSpPr>
          <p:cNvPr id="12" name="card-h-2921"/>
          <p:cNvSpPr txBox="1"/>
          <p:nvPr/>
        </p:nvSpPr>
        <p:spPr>
          <a:xfrm>
            <a:off x="4536338" y="233172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Con clave compuesta</a:t>
            </a:r>
            <a:endParaRPr lang="en-US" sz="2200" dirty="0"/>
          </a:p>
        </p:txBody>
      </p:sp>
      <p:sp>
        <p:nvSpPr>
          <p:cNvPr id="13" name="card-p-2922"/>
          <p:cNvSpPr txBox="1"/>
          <p:nvPr/>
        </p:nvSpPr>
        <p:spPr>
          <a:xfrm>
            <a:off x="4536338" y="2761704"/>
            <a:ext cx="3119018" cy="2166074"/>
          </a:xfrm>
          <a:prstGeom prst="rect">
            <a:avLst/>
          </a:prstGeom>
          <a:noFill/>
          <a:ln/>
        </p:spPr>
        <p:txBody>
          <a:bodyPr wrap="square" lIns="0" tIns="0" rIns="0" bIns="0" rtlCol="0" anchor="t"/>
          <a:lstStyle/>
          <a:p>
            <a:pPr algn="l" indent="0" marL="0">
              <a:buNone/>
            </a:pPr>
            <a:r>
              <a:rPr lang="en-US" sz="1950" dirty="0">
                <a:solidFill>
                  <a:srgbClr val="4B4F58"/>
                </a:solidFill>
              </a:rPr>
              <a:t>Completa: depende de toda la clave. Parcial: depende solo de una parte. En </a:t>
            </a:r>
            <a:pPr algn="l" indent="0" marL="0">
              <a:buNone/>
            </a:pPr>
            <a:r>
              <a:rPr lang="en-US" sz="1950" dirty="0">
                <a:solidFill>
                  <a:srgbClr val="0D1A7A"/>
                </a:solidFill>
                <a:latin typeface="Courier New" pitchFamily="34" charset="0"/>
                <a:ea typeface="Courier New" pitchFamily="34" charset="-122"/>
                <a:cs typeface="Courier New" pitchFamily="34" charset="-120"/>
              </a:rPr>
              <a:t>PRESTAMO(idUsuario, idLibro, …)</a:t>
            </a:r>
            <a:pPr algn="l" indent="0" marL="0">
              <a:buNone/>
            </a:pPr>
            <a:r>
              <a:rPr lang="en-US" sz="1950" dirty="0">
                <a:solidFill>
                  <a:srgbClr val="4B4F58"/>
                </a:solidFill>
              </a:rPr>
              <a:t>, </a:t>
            </a:r>
            <a:pPr algn="l" indent="0" marL="0">
              <a:buNone/>
            </a:pPr>
            <a:r>
              <a:rPr lang="en-US" sz="1950" dirty="0">
                <a:solidFill>
                  <a:srgbClr val="0D1A7A"/>
                </a:solidFill>
                <a:latin typeface="Courier New" pitchFamily="34" charset="0"/>
                <a:ea typeface="Courier New" pitchFamily="34" charset="-122"/>
                <a:cs typeface="Courier New" pitchFamily="34" charset="-120"/>
              </a:rPr>
              <a:t>nombreUsuario</a:t>
            </a:r>
            <a:pPr algn="l" indent="0" marL="0">
              <a:buNone/>
            </a:pPr>
            <a:r>
              <a:rPr lang="en-US" sz="1950" dirty="0">
                <a:solidFill>
                  <a:srgbClr val="4B4F58"/>
                </a:solidFill>
              </a:rPr>
              <a:t> solo depende de </a:t>
            </a:r>
            <a:pPr algn="l" indent="0" marL="0">
              <a:buNone/>
            </a:pPr>
            <a:r>
              <a:rPr lang="en-US" sz="1950" dirty="0">
                <a:solidFill>
                  <a:srgbClr val="0D1A7A"/>
                </a:solidFill>
                <a:latin typeface="Courier New" pitchFamily="34" charset="0"/>
                <a:ea typeface="Courier New" pitchFamily="34" charset="-122"/>
                <a:cs typeface="Courier New" pitchFamily="34" charset="-120"/>
              </a:rPr>
              <a:t>idUsuario</a:t>
            </a:r>
            <a:pPr algn="l" indent="0" marL="0">
              <a:buNone/>
            </a:pPr>
            <a:r>
              <a:rPr lang="en-US" sz="1950" dirty="0">
                <a:solidFill>
                  <a:srgbClr val="4B4F58"/>
                </a:solidFill>
              </a:rPr>
              <a:t>.</a:t>
            </a:r>
            <a:endParaRPr lang="en-US" sz="1950" dirty="0"/>
          </a:p>
        </p:txBody>
      </p:sp>
      <p:sp>
        <p:nvSpPr>
          <p:cNvPr id="14" name="card-2923"/>
          <p:cNvSpPr/>
          <p:nvPr/>
        </p:nvSpPr>
        <p:spPr>
          <a:xfrm>
            <a:off x="8021117" y="1783080"/>
            <a:ext cx="3484778" cy="3381502"/>
          </a:xfrm>
          <a:prstGeom prst="roundRect">
            <a:avLst>
              <a:gd name="adj" fmla="val 3245"/>
            </a:avLst>
          </a:prstGeom>
          <a:solidFill>
            <a:schemeClr val="bg1"/>
          </a:solidFill>
          <a:ln w="19050">
            <a:solidFill>
              <a:srgbClr val="15171C"/>
            </a:solidFill>
            <a:prstDash val="solid"/>
          </a:ln>
        </p:spPr>
      </p:sp>
      <p:sp>
        <p:nvSpPr>
          <p:cNvPr id="15" name="tag-pill-2924"/>
          <p:cNvSpPr/>
          <p:nvPr/>
        </p:nvSpPr>
        <p:spPr>
          <a:xfrm>
            <a:off x="8203997" y="1947672"/>
            <a:ext cx="1097280" cy="256032"/>
          </a:xfrm>
          <a:prstGeom prst="roundRect">
            <a:avLst>
              <a:gd name="adj" fmla="val 50000"/>
            </a:avLst>
          </a:prstGeom>
          <a:solidFill>
            <a:srgbClr val="E8EBFC"/>
          </a:solidFill>
          <a:ln/>
        </p:spPr>
      </p:sp>
      <p:sp>
        <p:nvSpPr>
          <p:cNvPr id="16" name="tag-2925"/>
          <p:cNvSpPr txBox="1"/>
          <p:nvPr/>
        </p:nvSpPr>
        <p:spPr>
          <a:xfrm>
            <a:off x="8203997" y="1947672"/>
            <a:ext cx="1097280" cy="256032"/>
          </a:xfrm>
          <a:prstGeom prst="rect">
            <a:avLst/>
          </a:prstGeom>
          <a:noFill/>
          <a:ln/>
        </p:spPr>
        <p:txBody>
          <a:bodyPr wrap="square" lIns="0" tIns="0" rIns="0" bIns="0" rtlCol="0" anchor="ctr"/>
          <a:lstStyle/>
          <a:p>
            <a:pPr algn="ctr" indent="0" marL="0">
              <a:buNone/>
            </a:pPr>
            <a:r>
              <a:rPr lang="en-US" sz="1100" b="1" dirty="0">
                <a:solidFill>
                  <a:srgbClr val="0D1A7A"/>
                </a:solidFill>
              </a:rPr>
              <a:t>TRANSITIVA</a:t>
            </a:r>
            <a:endParaRPr lang="en-US" sz="1100" dirty="0"/>
          </a:p>
        </p:txBody>
      </p:sp>
      <p:sp>
        <p:nvSpPr>
          <p:cNvPr id="17" name="card-h-2926"/>
          <p:cNvSpPr txBox="1"/>
          <p:nvPr/>
        </p:nvSpPr>
        <p:spPr>
          <a:xfrm>
            <a:off x="8203997" y="2331720"/>
            <a:ext cx="3119018" cy="429984"/>
          </a:xfrm>
          <a:prstGeom prst="rect">
            <a:avLst/>
          </a:prstGeom>
          <a:noFill/>
          <a:ln/>
        </p:spPr>
        <p:txBody>
          <a:bodyPr wrap="square" lIns="0" tIns="0" rIns="0" bIns="0" rtlCol="0" anchor="t"/>
          <a:lstStyle/>
          <a:p>
            <a:pPr algn="l" indent="0" marL="0">
              <a:buNone/>
            </a:pPr>
            <a:r>
              <a:rPr lang="en-US" sz="2200" b="1" dirty="0">
                <a:solidFill>
                  <a:srgbClr val="15171C"/>
                </a:solidFill>
              </a:rPr>
              <a:t>A → B → C</a:t>
            </a:r>
            <a:endParaRPr lang="en-US" sz="2200" dirty="0"/>
          </a:p>
        </p:txBody>
      </p:sp>
      <p:sp>
        <p:nvSpPr>
          <p:cNvPr id="18" name="card-p-2927"/>
          <p:cNvSpPr txBox="1"/>
          <p:nvPr/>
        </p:nvSpPr>
        <p:spPr>
          <a:xfrm>
            <a:off x="8203997" y="2761704"/>
            <a:ext cx="3119018" cy="1257351"/>
          </a:xfrm>
          <a:prstGeom prst="rect">
            <a:avLst/>
          </a:prstGeom>
          <a:noFill/>
          <a:ln/>
        </p:spPr>
        <p:txBody>
          <a:bodyPr wrap="square" lIns="0" tIns="0" rIns="0" bIns="0" rtlCol="0" anchor="t"/>
          <a:lstStyle/>
          <a:p>
            <a:pPr algn="l" indent="0" marL="0">
              <a:buNone/>
            </a:pPr>
            <a:r>
              <a:rPr lang="en-US" sz="1950" dirty="0">
                <a:solidFill>
                  <a:srgbClr val="0D1A7A"/>
                </a:solidFill>
                <a:latin typeface="Courier New" pitchFamily="34" charset="0"/>
                <a:ea typeface="Courier New" pitchFamily="34" charset="-122"/>
                <a:cs typeface="Courier New" pitchFamily="34" charset="-120"/>
              </a:rPr>
              <a:t>dni → ciudad → provincia</a:t>
            </a:r>
            <a:pPr algn="l" indent="0" marL="0">
              <a:buNone/>
            </a:pPr>
            <a:r>
              <a:rPr lang="en-US" sz="1950" dirty="0">
                <a:solidFill>
                  <a:srgbClr val="4B4F58"/>
                </a:solidFill>
              </a:rPr>
              <a:t>: la provincia depende del DNI solo «pasando por» la ciudad.</a:t>
            </a:r>
            <a:endParaRPr lang="en-US" sz="1950" dirty="0"/>
          </a:p>
        </p:txBody>
      </p:sp>
      <p:sp>
        <p:nvSpPr>
          <p:cNvPr id="19" name="note-2928"/>
          <p:cNvSpPr txBox="1"/>
          <p:nvPr/>
        </p:nvSpPr>
        <p:spPr>
          <a:xfrm>
            <a:off x="685800" y="5347462"/>
            <a:ext cx="10820095" cy="758444"/>
          </a:xfrm>
          <a:prstGeom prst="rect">
            <a:avLst/>
          </a:prstGeom>
          <a:noFill/>
          <a:ln/>
        </p:spPr>
        <p:txBody>
          <a:bodyPr wrap="square" lIns="0" tIns="0" rIns="0" bIns="0" rtlCol="0" anchor="t"/>
          <a:lstStyle/>
          <a:p>
            <a:pPr algn="l" indent="0" marL="0">
              <a:buNone/>
            </a:pPr>
            <a:r>
              <a:rPr lang="en-US" sz="2300" b="1" dirty="0">
                <a:solidFill>
                  <a:srgbClr val="4B4F58"/>
                </a:solidFill>
              </a:rPr>
              <a:t>Determinante</a:t>
            </a:r>
            <a:pPr algn="l" indent="0" marL="0">
              <a:buNone/>
            </a:pPr>
            <a:r>
              <a:rPr lang="en-US" sz="2300" dirty="0">
                <a:solidFill>
                  <a:srgbClr val="4B4F58"/>
                </a:solidFill>
              </a:rPr>
              <a:t> = lo que está a la izquierda de la flecha. </a:t>
            </a:r>
            <a:pPr algn="l" indent="0" marL="0">
              <a:buNone/>
            </a:pPr>
            <a:r>
              <a:rPr lang="en-US" sz="2300" b="1" dirty="0">
                <a:solidFill>
                  <a:srgbClr val="4B4F58"/>
                </a:solidFill>
              </a:rPr>
              <a:t>Clave</a:t>
            </a:r>
            <a:pPr algn="l" indent="0" marL="0">
              <a:buNone/>
            </a:pPr>
            <a:r>
              <a:rPr lang="en-US" sz="2300" dirty="0">
                <a:solidFill>
                  <a:srgbClr val="4B4F58"/>
                </a:solidFill>
              </a:rPr>
              <a:t> = determinante que determina todos los demás atributos.</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Analiza las dependencias</a:t>
            </a:r>
            <a:endParaRPr lang="en-US" sz="4000" dirty="0"/>
          </a:p>
        </p:txBody>
      </p:sp>
      <p:sp>
        <p:nvSpPr>
          <p:cNvPr id="4" name="badge-2929"/>
          <p:cNvSpPr/>
          <p:nvPr/>
        </p:nvSpPr>
        <p:spPr>
          <a:xfrm>
            <a:off x="685800" y="292608"/>
            <a:ext cx="475488" cy="475488"/>
          </a:xfrm>
          <a:prstGeom prst="ellipse">
            <a:avLst/>
          </a:prstGeom>
          <a:solidFill>
            <a:srgbClr val="FF5A2E"/>
          </a:solidFill>
          <a:ln/>
        </p:spPr>
      </p:sp>
      <p:sp>
        <p:nvSpPr>
          <p:cNvPr id="5" name="badge-glyph-2930"/>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scenario-card-2955"/>
          <p:cNvSpPr/>
          <p:nvPr/>
        </p:nvSpPr>
        <p:spPr>
          <a:xfrm>
            <a:off x="685800" y="2115064"/>
            <a:ext cx="10820095" cy="1837690"/>
          </a:xfrm>
          <a:prstGeom prst="roundRect">
            <a:avLst>
              <a:gd name="adj" fmla="val 5971"/>
            </a:avLst>
          </a:prstGeom>
          <a:solidFill>
            <a:schemeClr val="bg1"/>
          </a:solidFill>
          <a:ln w="19050">
            <a:solidFill>
              <a:schemeClr val="tx1"/>
            </a:solidFill>
            <a:prstDash val="solid"/>
          </a:ln>
        </p:spPr>
      </p:sp>
      <p:sp>
        <p:nvSpPr>
          <p:cNvPr id="7" name="scenario-2956"/>
          <p:cNvSpPr txBox="1"/>
          <p:nvPr/>
        </p:nvSpPr>
        <p:spPr>
          <a:xfrm>
            <a:off x="914400" y="2297944"/>
            <a:ext cx="10362895" cy="1471930"/>
          </a:xfrm>
          <a:prstGeom prst="rect">
            <a:avLst/>
          </a:prstGeom>
          <a:noFill/>
          <a:ln/>
        </p:spPr>
        <p:txBody>
          <a:bodyPr wrap="square" lIns="0" tIns="0" rIns="0" bIns="0" rtlCol="0" anchor="ctr"/>
          <a:lstStyle/>
          <a:p>
            <a:pPr algn="l" indent="0" marL="0">
              <a:buNone/>
            </a:pPr>
            <a:r>
              <a:rPr lang="en-US" sz="2400" b="1" dirty="0">
                <a:solidFill>
                  <a:srgbClr val="0D1A7A"/>
                </a:solidFill>
                <a:latin typeface="Courier New" pitchFamily="34" charset="0"/>
                <a:ea typeface="Courier New" pitchFamily="34" charset="-122"/>
                <a:cs typeface="Courier New" pitchFamily="34" charset="-120"/>
              </a:rPr>
              <a:t>LINEA(id_pedido, id_producto, nombre_producto, cantidad, id_cliente, ciudad_cliente)</a:t>
            </a:r>
            <a:pPr algn="l" indent="0" marL="0">
              <a:buNone/>
            </a:pPr>
            <a:r>
              <a:rPr lang="en-US" sz="2400" b="1" dirty="0">
                <a:solidFill>
                  <a:srgbClr val="15171C"/>
                </a:solidFill>
              </a:rPr>
              <a:t>, clave </a:t>
            </a:r>
            <a:pPr algn="l" indent="0" marL="0">
              <a:buNone/>
            </a:pPr>
            <a:r>
              <a:rPr lang="en-US" sz="2400" b="1" dirty="0">
                <a:solidFill>
                  <a:srgbClr val="0D1A7A"/>
                </a:solidFill>
                <a:latin typeface="Courier New" pitchFamily="34" charset="0"/>
                <a:ea typeface="Courier New" pitchFamily="34" charset="-122"/>
                <a:cs typeface="Courier New" pitchFamily="34" charset="-120"/>
              </a:rPr>
              <a:t>(id_pedido, id_producto)</a:t>
            </a:r>
            <a:pPr algn="l" indent="0" marL="0">
              <a:buNone/>
            </a:pPr>
            <a:r>
              <a:rPr lang="en-US" sz="2400" b="1" dirty="0">
                <a:solidFill>
                  <a:srgbClr val="15171C"/>
                </a:solidFill>
              </a:rPr>
              <a:t>. Cada pedido es de un único cliente; cada cliente vive en una ciudad; cada producto tiene un nombre.</a:t>
            </a:r>
            <a:endParaRPr lang="en-US" sz="2400" dirty="0"/>
          </a:p>
        </p:txBody>
      </p:sp>
      <p:sp>
        <p:nvSpPr>
          <p:cNvPr id="8" name="marker-2957"/>
          <p:cNvSpPr txBox="1"/>
          <p:nvPr/>
        </p:nvSpPr>
        <p:spPr>
          <a:xfrm>
            <a:off x="685800" y="4135634"/>
            <a:ext cx="365760" cy="480949"/>
          </a:xfrm>
          <a:prstGeom prst="rect">
            <a:avLst/>
          </a:prstGeom>
          <a:noFill/>
          <a:ln/>
        </p:spPr>
        <p:txBody>
          <a:bodyPr wrap="square" lIns="0" tIns="0" rIns="0" bIns="0" rtlCol="0" anchor="t"/>
          <a:lstStyle/>
          <a:p>
            <a:pPr indent="0" marL="0">
              <a:buNone/>
            </a:pPr>
            <a:r>
              <a:rPr lang="en-US" sz="2750" b="1" dirty="0">
                <a:solidFill>
                  <a:srgbClr val="1B39E6"/>
                </a:solidFill>
              </a:rPr>
              <a:t>1.</a:t>
            </a:r>
            <a:endParaRPr lang="en-US" sz="2750" dirty="0"/>
          </a:p>
        </p:txBody>
      </p:sp>
      <p:sp>
        <p:nvSpPr>
          <p:cNvPr id="9" name="item-2958"/>
          <p:cNvSpPr txBox="1"/>
          <p:nvPr/>
        </p:nvSpPr>
        <p:spPr>
          <a:xfrm>
            <a:off x="1097280" y="4135634"/>
            <a:ext cx="10408615" cy="480949"/>
          </a:xfrm>
          <a:prstGeom prst="rect">
            <a:avLst/>
          </a:prstGeom>
          <a:noFill/>
          <a:ln/>
        </p:spPr>
        <p:txBody>
          <a:bodyPr wrap="square" lIns="0" tIns="0" rIns="0" bIns="0" rtlCol="0" anchor="t"/>
          <a:lstStyle/>
          <a:p>
            <a:pPr algn="l" indent="0" marL="0">
              <a:buNone/>
            </a:pPr>
            <a:r>
              <a:rPr lang="en-US" sz="2750" b="1" dirty="0">
                <a:solidFill>
                  <a:srgbClr val="15171C"/>
                </a:solidFill>
              </a:rPr>
              <a:t>Escribe las dependencias funcionales.</a:t>
            </a:r>
            <a:endParaRPr lang="en-US" sz="2750" dirty="0"/>
          </a:p>
        </p:txBody>
      </p:sp>
      <p:sp>
        <p:nvSpPr>
          <p:cNvPr id="10" name="marker-2959"/>
          <p:cNvSpPr txBox="1"/>
          <p:nvPr/>
        </p:nvSpPr>
        <p:spPr>
          <a:xfrm>
            <a:off x="685800" y="4708023"/>
            <a:ext cx="365760" cy="480949"/>
          </a:xfrm>
          <a:prstGeom prst="rect">
            <a:avLst/>
          </a:prstGeom>
          <a:noFill/>
          <a:ln/>
        </p:spPr>
        <p:txBody>
          <a:bodyPr wrap="square" lIns="0" tIns="0" rIns="0" bIns="0" rtlCol="0" anchor="t"/>
          <a:lstStyle/>
          <a:p>
            <a:pPr indent="0" marL="0">
              <a:buNone/>
            </a:pPr>
            <a:r>
              <a:rPr lang="en-US" sz="2750" b="1" dirty="0">
                <a:solidFill>
                  <a:srgbClr val="1B39E6"/>
                </a:solidFill>
              </a:rPr>
              <a:t>2.</a:t>
            </a:r>
            <a:endParaRPr lang="en-US" sz="2750" dirty="0"/>
          </a:p>
        </p:txBody>
      </p:sp>
      <p:sp>
        <p:nvSpPr>
          <p:cNvPr id="11" name="item-2960"/>
          <p:cNvSpPr txBox="1"/>
          <p:nvPr/>
        </p:nvSpPr>
        <p:spPr>
          <a:xfrm>
            <a:off x="1097280" y="4708023"/>
            <a:ext cx="10408615" cy="480949"/>
          </a:xfrm>
          <a:prstGeom prst="rect">
            <a:avLst/>
          </a:prstGeom>
          <a:noFill/>
          <a:ln/>
        </p:spPr>
        <p:txBody>
          <a:bodyPr wrap="square" lIns="0" tIns="0" rIns="0" bIns="0" rtlCol="0" anchor="t"/>
          <a:lstStyle/>
          <a:p>
            <a:pPr algn="l" indent="0" marL="0">
              <a:buNone/>
            </a:pPr>
            <a:r>
              <a:rPr lang="en-US" sz="2750" b="1" dirty="0">
                <a:solidFill>
                  <a:srgbClr val="15171C"/>
                </a:solidFill>
              </a:rPr>
              <a:t>Clasifícalas: completa, parcial o transitiva.</a:t>
            </a:r>
            <a:endParaRPr lang="en-US" sz="2750" dirty="0"/>
          </a:p>
        </p:txBody>
      </p:sp>
      <p:sp>
        <p:nvSpPr>
          <p:cNvPr id="12" name="marker-2961"/>
          <p:cNvSpPr txBox="1"/>
          <p:nvPr/>
        </p:nvSpPr>
        <p:spPr>
          <a:xfrm>
            <a:off x="685800" y="5280412"/>
            <a:ext cx="365760" cy="480949"/>
          </a:xfrm>
          <a:prstGeom prst="rect">
            <a:avLst/>
          </a:prstGeom>
          <a:noFill/>
          <a:ln/>
        </p:spPr>
        <p:txBody>
          <a:bodyPr wrap="square" lIns="0" tIns="0" rIns="0" bIns="0" rtlCol="0" anchor="t"/>
          <a:lstStyle/>
          <a:p>
            <a:pPr indent="0" marL="0">
              <a:buNone/>
            </a:pPr>
            <a:r>
              <a:rPr lang="en-US" sz="2750" b="1" dirty="0">
                <a:solidFill>
                  <a:srgbClr val="1B39E6"/>
                </a:solidFill>
              </a:rPr>
              <a:t>3.</a:t>
            </a:r>
            <a:endParaRPr lang="en-US" sz="2750" dirty="0"/>
          </a:p>
        </p:txBody>
      </p:sp>
      <p:sp>
        <p:nvSpPr>
          <p:cNvPr id="13" name="item-2962"/>
          <p:cNvSpPr txBox="1"/>
          <p:nvPr/>
        </p:nvSpPr>
        <p:spPr>
          <a:xfrm>
            <a:off x="1097280" y="5280412"/>
            <a:ext cx="10408615" cy="480949"/>
          </a:xfrm>
          <a:prstGeom prst="rect">
            <a:avLst/>
          </a:prstGeom>
          <a:noFill/>
          <a:ln/>
        </p:spPr>
        <p:txBody>
          <a:bodyPr wrap="square" lIns="0" tIns="0" rIns="0" bIns="0" rtlCol="0" anchor="t"/>
          <a:lstStyle/>
          <a:p>
            <a:pPr algn="l" indent="0" marL="0">
              <a:buNone/>
            </a:pPr>
            <a:r>
              <a:rPr lang="en-US" sz="2750" b="1" dirty="0">
                <a:solidFill>
                  <a:srgbClr val="15171C"/>
                </a:solidFill>
              </a:rPr>
              <a:t>¿En qué forma normal está?</a:t>
            </a:r>
            <a:endParaRPr lang="en-US" sz="27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Está en 1FN, pero no en 2FN</a:t>
            </a:r>
            <a:endParaRPr lang="en-US" sz="4000" dirty="0"/>
          </a:p>
        </p:txBody>
      </p:sp>
      <p:sp>
        <p:nvSpPr>
          <p:cNvPr id="4" name="badge-2963"/>
          <p:cNvSpPr/>
          <p:nvPr/>
        </p:nvSpPr>
        <p:spPr>
          <a:xfrm>
            <a:off x="685800" y="292608"/>
            <a:ext cx="475488" cy="475488"/>
          </a:xfrm>
          <a:prstGeom prst="ellipse">
            <a:avLst/>
          </a:prstGeom>
          <a:solidFill>
            <a:srgbClr val="3F9468"/>
          </a:solidFill>
          <a:ln/>
        </p:spPr>
      </p:sp>
      <p:sp>
        <p:nvSpPr>
          <p:cNvPr id="5" name="badge-glyph-2964"/>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marker-2983"/>
          <p:cNvSpPr txBox="1"/>
          <p:nvPr/>
        </p:nvSpPr>
        <p:spPr>
          <a:xfrm>
            <a:off x="685800" y="1965960"/>
            <a:ext cx="365760" cy="473202"/>
          </a:xfrm>
          <a:prstGeom prst="rect">
            <a:avLst/>
          </a:prstGeom>
          <a:noFill/>
          <a:ln/>
        </p:spPr>
        <p:txBody>
          <a:bodyPr wrap="square" lIns="0" tIns="0" rIns="0" bIns="0" rtlCol="0" anchor="t"/>
          <a:lstStyle/>
          <a:p>
            <a:pPr indent="0" marL="0">
              <a:buNone/>
            </a:pPr>
            <a:r>
              <a:rPr lang="en-US" sz="2700" b="1" dirty="0">
                <a:solidFill>
                  <a:srgbClr val="1B39E6"/>
                </a:solidFill>
              </a:rPr>
              <a:t>•</a:t>
            </a:r>
            <a:endParaRPr lang="en-US" sz="2700" dirty="0"/>
          </a:p>
        </p:txBody>
      </p:sp>
      <p:sp>
        <p:nvSpPr>
          <p:cNvPr id="7" name="item-2984"/>
          <p:cNvSpPr txBox="1"/>
          <p:nvPr/>
        </p:nvSpPr>
        <p:spPr>
          <a:xfrm>
            <a:off x="1097280" y="1965960"/>
            <a:ext cx="10408615" cy="473202"/>
          </a:xfrm>
          <a:prstGeom prst="rect">
            <a:avLst/>
          </a:prstGeom>
          <a:noFill/>
          <a:ln/>
        </p:spPr>
        <p:txBody>
          <a:bodyPr wrap="square" lIns="0" tIns="0" rIns="0" bIns="0" rtlCol="0" anchor="t"/>
          <a:lstStyle/>
          <a:p>
            <a:pPr algn="l" indent="0" marL="0">
              <a:buNone/>
            </a:pPr>
            <a:r>
              <a:rPr lang="en-US" sz="2700" dirty="0">
                <a:solidFill>
                  <a:srgbClr val="0D1A7A"/>
                </a:solidFill>
                <a:latin typeface="Courier New" pitchFamily="34" charset="0"/>
                <a:ea typeface="Courier New" pitchFamily="34" charset="-122"/>
                <a:cs typeface="Courier New" pitchFamily="34" charset="-120"/>
              </a:rPr>
              <a:t>(id_pedido, id_producto) → cantidad</a:t>
            </a:r>
            <a:pPr algn="l" indent="0" marL="0">
              <a:buNone/>
            </a:pPr>
            <a:r>
              <a:rPr lang="en-US" sz="2700" dirty="0">
                <a:solidFill>
                  <a:srgbClr val="4B4F58"/>
                </a:solidFill>
              </a:rPr>
              <a:t>: </a:t>
            </a:r>
            <a:pPr algn="l" indent="0" marL="0">
              <a:buNone/>
            </a:pPr>
            <a:r>
              <a:rPr lang="en-US" sz="2700" b="1" dirty="0">
                <a:solidFill>
                  <a:srgbClr val="4B4F58"/>
                </a:solidFill>
              </a:rPr>
              <a:t>completa</a:t>
            </a:r>
            <a:pPr algn="l" indent="0" marL="0">
              <a:buNone/>
            </a:pPr>
            <a:r>
              <a:rPr lang="en-US" sz="2700" dirty="0">
                <a:solidFill>
                  <a:srgbClr val="4B4F58"/>
                </a:solidFill>
              </a:rPr>
              <a:t>.</a:t>
            </a:r>
            <a:endParaRPr lang="en-US" sz="2700" dirty="0"/>
          </a:p>
        </p:txBody>
      </p:sp>
      <p:sp>
        <p:nvSpPr>
          <p:cNvPr id="8" name="marker-2985"/>
          <p:cNvSpPr txBox="1"/>
          <p:nvPr/>
        </p:nvSpPr>
        <p:spPr>
          <a:xfrm>
            <a:off x="685800" y="2530602"/>
            <a:ext cx="365760" cy="473202"/>
          </a:xfrm>
          <a:prstGeom prst="rect">
            <a:avLst/>
          </a:prstGeom>
          <a:noFill/>
          <a:ln/>
        </p:spPr>
        <p:txBody>
          <a:bodyPr wrap="square" lIns="0" tIns="0" rIns="0" bIns="0" rtlCol="0" anchor="t"/>
          <a:lstStyle/>
          <a:p>
            <a:pPr indent="0" marL="0">
              <a:buNone/>
            </a:pPr>
            <a:r>
              <a:rPr lang="en-US" sz="2700" b="1" dirty="0">
                <a:solidFill>
                  <a:srgbClr val="1B39E6"/>
                </a:solidFill>
              </a:rPr>
              <a:t>•</a:t>
            </a:r>
            <a:endParaRPr lang="en-US" sz="2700" dirty="0"/>
          </a:p>
        </p:txBody>
      </p:sp>
      <p:sp>
        <p:nvSpPr>
          <p:cNvPr id="9" name="item-2986"/>
          <p:cNvSpPr txBox="1"/>
          <p:nvPr/>
        </p:nvSpPr>
        <p:spPr>
          <a:xfrm>
            <a:off x="1097280" y="2530602"/>
            <a:ext cx="10408615" cy="473202"/>
          </a:xfrm>
          <a:prstGeom prst="rect">
            <a:avLst/>
          </a:prstGeom>
          <a:noFill/>
          <a:ln/>
        </p:spPr>
        <p:txBody>
          <a:bodyPr wrap="square" lIns="0" tIns="0" rIns="0" bIns="0" rtlCol="0" anchor="t"/>
          <a:lstStyle/>
          <a:p>
            <a:pPr algn="l" indent="0" marL="0">
              <a:buNone/>
            </a:pPr>
            <a:r>
              <a:rPr lang="en-US" sz="2700" dirty="0">
                <a:solidFill>
                  <a:srgbClr val="0D1A7A"/>
                </a:solidFill>
                <a:latin typeface="Courier New" pitchFamily="34" charset="0"/>
                <a:ea typeface="Courier New" pitchFamily="34" charset="-122"/>
                <a:cs typeface="Courier New" pitchFamily="34" charset="-120"/>
              </a:rPr>
              <a:t>id_producto → nombre_producto</a:t>
            </a:r>
            <a:pPr algn="l" indent="0" marL="0">
              <a:buNone/>
            </a:pPr>
            <a:r>
              <a:rPr lang="en-US" sz="2700" dirty="0">
                <a:solidFill>
                  <a:srgbClr val="4B4F58"/>
                </a:solidFill>
              </a:rPr>
              <a:t>: </a:t>
            </a:r>
            <a:pPr algn="l" indent="0" marL="0">
              <a:buNone/>
            </a:pPr>
            <a:r>
              <a:rPr lang="en-US" sz="2700" b="1" dirty="0">
                <a:solidFill>
                  <a:srgbClr val="4B4F58"/>
                </a:solidFill>
              </a:rPr>
              <a:t>parcial</a:t>
            </a:r>
            <a:pPr algn="l" indent="0" marL="0">
              <a:buNone/>
            </a:pPr>
            <a:r>
              <a:rPr lang="en-US" sz="2700" dirty="0">
                <a:solidFill>
                  <a:srgbClr val="4B4F58"/>
                </a:solidFill>
              </a:rPr>
              <a:t>.</a:t>
            </a:r>
            <a:endParaRPr lang="en-US" sz="2700" dirty="0"/>
          </a:p>
        </p:txBody>
      </p:sp>
      <p:sp>
        <p:nvSpPr>
          <p:cNvPr id="10" name="marker-2987"/>
          <p:cNvSpPr txBox="1"/>
          <p:nvPr/>
        </p:nvSpPr>
        <p:spPr>
          <a:xfrm>
            <a:off x="685800" y="3095244"/>
            <a:ext cx="365760" cy="473202"/>
          </a:xfrm>
          <a:prstGeom prst="rect">
            <a:avLst/>
          </a:prstGeom>
          <a:noFill/>
          <a:ln/>
        </p:spPr>
        <p:txBody>
          <a:bodyPr wrap="square" lIns="0" tIns="0" rIns="0" bIns="0" rtlCol="0" anchor="t"/>
          <a:lstStyle/>
          <a:p>
            <a:pPr indent="0" marL="0">
              <a:buNone/>
            </a:pPr>
            <a:r>
              <a:rPr lang="en-US" sz="2700" b="1" dirty="0">
                <a:solidFill>
                  <a:srgbClr val="1B39E6"/>
                </a:solidFill>
              </a:rPr>
              <a:t>•</a:t>
            </a:r>
            <a:endParaRPr lang="en-US" sz="2700" dirty="0"/>
          </a:p>
        </p:txBody>
      </p:sp>
      <p:sp>
        <p:nvSpPr>
          <p:cNvPr id="11" name="item-2988"/>
          <p:cNvSpPr txBox="1"/>
          <p:nvPr/>
        </p:nvSpPr>
        <p:spPr>
          <a:xfrm>
            <a:off x="1097280" y="3095244"/>
            <a:ext cx="10408615" cy="473202"/>
          </a:xfrm>
          <a:prstGeom prst="rect">
            <a:avLst/>
          </a:prstGeom>
          <a:noFill/>
          <a:ln/>
        </p:spPr>
        <p:txBody>
          <a:bodyPr wrap="square" lIns="0" tIns="0" rIns="0" bIns="0" rtlCol="0" anchor="t"/>
          <a:lstStyle/>
          <a:p>
            <a:pPr algn="l" indent="0" marL="0">
              <a:buNone/>
            </a:pPr>
            <a:r>
              <a:rPr lang="en-US" sz="2700" dirty="0">
                <a:solidFill>
                  <a:srgbClr val="0D1A7A"/>
                </a:solidFill>
                <a:latin typeface="Courier New" pitchFamily="34" charset="0"/>
                <a:ea typeface="Courier New" pitchFamily="34" charset="-122"/>
                <a:cs typeface="Courier New" pitchFamily="34" charset="-120"/>
              </a:rPr>
              <a:t>id_pedido → id_cliente</a:t>
            </a:r>
            <a:pPr algn="l" indent="0" marL="0">
              <a:buNone/>
            </a:pPr>
            <a:r>
              <a:rPr lang="en-US" sz="2700" dirty="0">
                <a:solidFill>
                  <a:srgbClr val="4B4F58"/>
                </a:solidFill>
              </a:rPr>
              <a:t>: </a:t>
            </a:r>
            <a:pPr algn="l" indent="0" marL="0">
              <a:buNone/>
            </a:pPr>
            <a:r>
              <a:rPr lang="en-US" sz="2700" b="1" dirty="0">
                <a:solidFill>
                  <a:srgbClr val="4B4F58"/>
                </a:solidFill>
              </a:rPr>
              <a:t>parcial</a:t>
            </a:r>
            <a:pPr algn="l" indent="0" marL="0">
              <a:buNone/>
            </a:pPr>
            <a:r>
              <a:rPr lang="en-US" sz="2700" dirty="0">
                <a:solidFill>
                  <a:srgbClr val="4B4F58"/>
                </a:solidFill>
              </a:rPr>
              <a:t>.</a:t>
            </a:r>
            <a:endParaRPr lang="en-US" sz="2700" dirty="0"/>
          </a:p>
        </p:txBody>
      </p:sp>
      <p:sp>
        <p:nvSpPr>
          <p:cNvPr id="12" name="marker-2989"/>
          <p:cNvSpPr txBox="1"/>
          <p:nvPr/>
        </p:nvSpPr>
        <p:spPr>
          <a:xfrm>
            <a:off x="685800" y="3659886"/>
            <a:ext cx="365760" cy="1309878"/>
          </a:xfrm>
          <a:prstGeom prst="rect">
            <a:avLst/>
          </a:prstGeom>
          <a:noFill/>
          <a:ln/>
        </p:spPr>
        <p:txBody>
          <a:bodyPr wrap="square" lIns="0" tIns="0" rIns="0" bIns="0" rtlCol="0" anchor="t"/>
          <a:lstStyle/>
          <a:p>
            <a:pPr indent="0" marL="0">
              <a:buNone/>
            </a:pPr>
            <a:r>
              <a:rPr lang="en-US" sz="2700" b="1" dirty="0">
                <a:solidFill>
                  <a:srgbClr val="1B39E6"/>
                </a:solidFill>
              </a:rPr>
              <a:t>•</a:t>
            </a:r>
            <a:endParaRPr lang="en-US" sz="2700" dirty="0"/>
          </a:p>
        </p:txBody>
      </p:sp>
      <p:sp>
        <p:nvSpPr>
          <p:cNvPr id="13" name="item-2990"/>
          <p:cNvSpPr txBox="1"/>
          <p:nvPr/>
        </p:nvSpPr>
        <p:spPr>
          <a:xfrm>
            <a:off x="1097280" y="3659886"/>
            <a:ext cx="10408615" cy="1309878"/>
          </a:xfrm>
          <a:prstGeom prst="rect">
            <a:avLst/>
          </a:prstGeom>
          <a:noFill/>
          <a:ln/>
        </p:spPr>
        <p:txBody>
          <a:bodyPr wrap="square" lIns="0" tIns="0" rIns="0" bIns="0" rtlCol="0" anchor="t"/>
          <a:lstStyle/>
          <a:p>
            <a:pPr algn="l" indent="0" marL="0">
              <a:buNone/>
            </a:pPr>
            <a:r>
              <a:rPr lang="en-US" sz="2700" dirty="0">
                <a:solidFill>
                  <a:srgbClr val="0D1A7A"/>
                </a:solidFill>
                <a:latin typeface="Courier New" pitchFamily="34" charset="0"/>
                <a:ea typeface="Courier New" pitchFamily="34" charset="-122"/>
                <a:cs typeface="Courier New" pitchFamily="34" charset="-120"/>
              </a:rPr>
              <a:t>id_cliente → ciudad_cliente</a:t>
            </a:r>
            <a:pPr algn="l" indent="0" marL="0">
              <a:buNone/>
            </a:pPr>
            <a:r>
              <a:rPr lang="en-US" sz="2700" dirty="0">
                <a:solidFill>
                  <a:srgbClr val="4B4F58"/>
                </a:solidFill>
              </a:rPr>
              <a:t>: con la anterior, </a:t>
            </a:r>
            <a:pPr algn="l" indent="0" marL="0">
              <a:buNone/>
            </a:pPr>
            <a:r>
              <a:rPr lang="en-US" sz="2700" dirty="0">
                <a:solidFill>
                  <a:srgbClr val="0D1A7A"/>
                </a:solidFill>
                <a:latin typeface="Courier New" pitchFamily="34" charset="0"/>
                <a:ea typeface="Courier New" pitchFamily="34" charset="-122"/>
                <a:cs typeface="Courier New" pitchFamily="34" charset="-120"/>
              </a:rPr>
              <a:t>ciudad_cliente</a:t>
            </a:r>
            <a:pPr algn="l" indent="0" marL="0">
              <a:buNone/>
            </a:pPr>
            <a:r>
              <a:rPr lang="en-US" sz="2700" dirty="0">
                <a:solidFill>
                  <a:srgbClr val="4B4F58"/>
                </a:solidFill>
              </a:rPr>
              <a:t> depende de </a:t>
            </a:r>
            <a:pPr algn="l" indent="0" marL="0">
              <a:buNone/>
            </a:pPr>
            <a:r>
              <a:rPr lang="en-US" sz="2700" dirty="0">
                <a:solidFill>
                  <a:srgbClr val="0D1A7A"/>
                </a:solidFill>
                <a:latin typeface="Courier New" pitchFamily="34" charset="0"/>
                <a:ea typeface="Courier New" pitchFamily="34" charset="-122"/>
                <a:cs typeface="Courier New" pitchFamily="34" charset="-120"/>
              </a:rPr>
              <a:t>id_pedido</a:t>
            </a:r>
            <a:pPr algn="l" indent="0" marL="0">
              <a:buNone/>
            </a:pPr>
            <a:r>
              <a:rPr lang="en-US" sz="2700" dirty="0">
                <a:solidFill>
                  <a:srgbClr val="4B4F58"/>
                </a:solidFill>
              </a:rPr>
              <a:t> de forma </a:t>
            </a:r>
            <a:pPr algn="l" indent="0" marL="0">
              <a:buNone/>
            </a:pPr>
            <a:r>
              <a:rPr lang="en-US" sz="2700" b="1" dirty="0">
                <a:solidFill>
                  <a:srgbClr val="4B4F58"/>
                </a:solidFill>
              </a:rPr>
              <a:t>transitiva</a:t>
            </a:r>
            <a:pPr algn="l" indent="0" marL="0">
              <a:buNone/>
            </a:pPr>
            <a:r>
              <a:rPr lang="en-US" sz="2700" dirty="0">
                <a:solidFill>
                  <a:srgbClr val="4B4F58"/>
                </a:solidFill>
              </a:rPr>
              <a:t> (y parcial).</a:t>
            </a:r>
            <a:endParaRPr lang="en-US" sz="2700" dirty="0"/>
          </a:p>
        </p:txBody>
      </p:sp>
      <p:sp>
        <p:nvSpPr>
          <p:cNvPr id="14" name="note-2991"/>
          <p:cNvSpPr txBox="1"/>
          <p:nvPr/>
        </p:nvSpPr>
        <p:spPr>
          <a:xfrm>
            <a:off x="685800" y="5152644"/>
            <a:ext cx="10820095" cy="882396"/>
          </a:xfrm>
          <a:prstGeom prst="rect">
            <a:avLst/>
          </a:prstGeom>
          <a:noFill/>
          <a:ln/>
        </p:spPr>
        <p:txBody>
          <a:bodyPr wrap="square" lIns="0" tIns="0" rIns="0" bIns="0" rtlCol="0" anchor="t"/>
          <a:lstStyle/>
          <a:p>
            <a:pPr algn="l" indent="0" marL="0">
              <a:buNone/>
            </a:pPr>
            <a:r>
              <a:rPr lang="en-US" sz="2700" dirty="0">
                <a:solidFill>
                  <a:srgbClr val="4B4F58"/>
                </a:solidFill>
              </a:rPr>
              <a:t>Valores atómicos → 1FN. Las dependencias parciales impiden la 2FN.</a:t>
            </a:r>
            <a:endParaRPr lang="en-US" sz="2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07 — FORMAS NORMALES</a:t>
            </a:r>
            <a:endParaRPr lang="en-US" sz="1300" dirty="0"/>
          </a:p>
        </p:txBody>
      </p:sp>
      <p:sp>
        <p:nvSpPr>
          <p:cNvPr id="3" name="Text 0"/>
          <p:cNvSpPr/>
          <p:nvPr>
            <p:ph idx="102"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Cada forma contiene a la anterior</a:t>
            </a:r>
            <a:endParaRPr lang="en-US" sz="4000" dirty="0"/>
          </a:p>
        </p:txBody>
      </p:sp>
      <p:sp>
        <p:nvSpPr>
          <p:cNvPr id="4" name="card-3060"/>
          <p:cNvSpPr/>
          <p:nvPr/>
        </p:nvSpPr>
        <p:spPr>
          <a:xfrm>
            <a:off x="685800" y="2377440"/>
            <a:ext cx="2567864" cy="2612974"/>
          </a:xfrm>
          <a:prstGeom prst="roundRect">
            <a:avLst>
              <a:gd name="adj" fmla="val 4273"/>
            </a:avLst>
          </a:prstGeom>
          <a:solidFill>
            <a:schemeClr val="bg1"/>
          </a:solidFill>
          <a:ln w="19050">
            <a:solidFill>
              <a:srgbClr val="15171C"/>
            </a:solidFill>
            <a:prstDash val="solid"/>
          </a:ln>
        </p:spPr>
      </p:sp>
      <p:sp>
        <p:nvSpPr>
          <p:cNvPr id="5" name="tag-pill-3061"/>
          <p:cNvSpPr/>
          <p:nvPr/>
        </p:nvSpPr>
        <p:spPr>
          <a:xfrm>
            <a:off x="868680" y="2542032"/>
            <a:ext cx="508406" cy="256032"/>
          </a:xfrm>
          <a:prstGeom prst="roundRect">
            <a:avLst>
              <a:gd name="adj" fmla="val 50000"/>
            </a:avLst>
          </a:prstGeom>
          <a:solidFill>
            <a:srgbClr val="E8EBFC"/>
          </a:solidFill>
          <a:ln/>
        </p:spPr>
      </p:sp>
      <p:sp>
        <p:nvSpPr>
          <p:cNvPr id="6" name="tag-3062"/>
          <p:cNvSpPr txBox="1"/>
          <p:nvPr/>
        </p:nvSpPr>
        <p:spPr>
          <a:xfrm>
            <a:off x="868680" y="254203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1FN</a:t>
            </a:r>
            <a:endParaRPr lang="en-US" sz="1100" dirty="0"/>
          </a:p>
        </p:txBody>
      </p:sp>
      <p:sp>
        <p:nvSpPr>
          <p:cNvPr id="7" name="card-p-3063"/>
          <p:cNvSpPr txBox="1"/>
          <p:nvPr/>
        </p:nvSpPr>
        <p:spPr>
          <a:xfrm>
            <a:off x="868680" y="2926080"/>
            <a:ext cx="2202104" cy="1257351"/>
          </a:xfrm>
          <a:prstGeom prst="rect">
            <a:avLst/>
          </a:prstGeom>
          <a:noFill/>
          <a:ln/>
        </p:spPr>
        <p:txBody>
          <a:bodyPr wrap="square" lIns="0" tIns="0" rIns="0" bIns="0" rtlCol="0" anchor="t"/>
          <a:lstStyle/>
          <a:p>
            <a:pPr algn="l" indent="0" marL="0">
              <a:buNone/>
            </a:pPr>
            <a:r>
              <a:rPr lang="en-US" sz="1950" dirty="0">
                <a:solidFill>
                  <a:srgbClr val="4B4F58"/>
                </a:solidFill>
              </a:rPr>
              <a:t>Valores </a:t>
            </a:r>
            <a:pPr algn="l" indent="0" marL="0">
              <a:buNone/>
            </a:pPr>
            <a:r>
              <a:rPr lang="en-US" sz="1950" b="1" dirty="0">
                <a:solidFill>
                  <a:srgbClr val="4B4F58"/>
                </a:solidFill>
              </a:rPr>
              <a:t>atómicos</a:t>
            </a:r>
            <a:pPr algn="l" indent="0" marL="0">
              <a:buNone/>
            </a:pPr>
            <a:r>
              <a:rPr lang="en-US" sz="1950" dirty="0">
                <a:solidFill>
                  <a:srgbClr val="4B4F58"/>
                </a:solidFill>
              </a:rPr>
              <a:t>: sin listas en una celda ni grupos repetitivos.</a:t>
            </a:r>
            <a:endParaRPr lang="en-US" sz="1950" dirty="0"/>
          </a:p>
        </p:txBody>
      </p:sp>
      <p:sp>
        <p:nvSpPr>
          <p:cNvPr id="8" name="card-3064"/>
          <p:cNvSpPr/>
          <p:nvPr/>
        </p:nvSpPr>
        <p:spPr>
          <a:xfrm>
            <a:off x="3436544" y="2377440"/>
            <a:ext cx="2567864" cy="2612974"/>
          </a:xfrm>
          <a:prstGeom prst="roundRect">
            <a:avLst>
              <a:gd name="adj" fmla="val 4273"/>
            </a:avLst>
          </a:prstGeom>
          <a:solidFill>
            <a:schemeClr val="bg1"/>
          </a:solidFill>
          <a:ln w="19050">
            <a:solidFill>
              <a:srgbClr val="15171C"/>
            </a:solidFill>
            <a:prstDash val="solid"/>
          </a:ln>
        </p:spPr>
      </p:sp>
      <p:sp>
        <p:nvSpPr>
          <p:cNvPr id="9" name="tag-pill-3065"/>
          <p:cNvSpPr/>
          <p:nvPr/>
        </p:nvSpPr>
        <p:spPr>
          <a:xfrm>
            <a:off x="3619424" y="2542032"/>
            <a:ext cx="508406" cy="256032"/>
          </a:xfrm>
          <a:prstGeom prst="roundRect">
            <a:avLst>
              <a:gd name="adj" fmla="val 50000"/>
            </a:avLst>
          </a:prstGeom>
          <a:solidFill>
            <a:srgbClr val="E8EBFC"/>
          </a:solidFill>
          <a:ln/>
        </p:spPr>
      </p:sp>
      <p:sp>
        <p:nvSpPr>
          <p:cNvPr id="10" name="tag-3066"/>
          <p:cNvSpPr txBox="1"/>
          <p:nvPr/>
        </p:nvSpPr>
        <p:spPr>
          <a:xfrm>
            <a:off x="3619424" y="254203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2FN</a:t>
            </a:r>
            <a:endParaRPr lang="en-US" sz="1100" dirty="0"/>
          </a:p>
        </p:txBody>
      </p:sp>
      <p:sp>
        <p:nvSpPr>
          <p:cNvPr id="11" name="card-p-3067"/>
          <p:cNvSpPr txBox="1"/>
          <p:nvPr/>
        </p:nvSpPr>
        <p:spPr>
          <a:xfrm>
            <a:off x="3619424" y="2926080"/>
            <a:ext cx="2202104" cy="1863166"/>
          </a:xfrm>
          <a:prstGeom prst="rect">
            <a:avLst/>
          </a:prstGeom>
          <a:noFill/>
          <a:ln/>
        </p:spPr>
        <p:txBody>
          <a:bodyPr wrap="square" lIns="0" tIns="0" rIns="0" bIns="0" rtlCol="0" anchor="t"/>
          <a:lstStyle/>
          <a:p>
            <a:pPr algn="l" indent="0" marL="0">
              <a:buNone/>
            </a:pPr>
            <a:r>
              <a:rPr lang="en-US" sz="1950" dirty="0">
                <a:solidFill>
                  <a:srgbClr val="4B4F58"/>
                </a:solidFill>
              </a:rPr>
              <a:t>1FN + ningún atributo depende solo de </a:t>
            </a:r>
            <a:pPr algn="l" indent="0" marL="0">
              <a:buNone/>
            </a:pPr>
            <a:r>
              <a:rPr lang="en-US" sz="1950" b="1" dirty="0">
                <a:solidFill>
                  <a:srgbClr val="4B4F58"/>
                </a:solidFill>
              </a:rPr>
              <a:t>parte</a:t>
            </a:r>
            <a:pPr algn="l" indent="0" marL="0">
              <a:buNone/>
            </a:pPr>
            <a:r>
              <a:rPr lang="en-US" sz="1950" dirty="0">
                <a:solidFill>
                  <a:srgbClr val="4B4F58"/>
                </a:solidFill>
              </a:rPr>
              <a:t> de la clave. (Solo importa con clave compuesta.)</a:t>
            </a:r>
            <a:endParaRPr lang="en-US" sz="1950" dirty="0"/>
          </a:p>
        </p:txBody>
      </p:sp>
      <p:sp>
        <p:nvSpPr>
          <p:cNvPr id="12" name="card-3068"/>
          <p:cNvSpPr/>
          <p:nvPr/>
        </p:nvSpPr>
        <p:spPr>
          <a:xfrm>
            <a:off x="6187288" y="2377440"/>
            <a:ext cx="2567864" cy="2612974"/>
          </a:xfrm>
          <a:prstGeom prst="roundRect">
            <a:avLst>
              <a:gd name="adj" fmla="val 4273"/>
            </a:avLst>
          </a:prstGeom>
          <a:solidFill>
            <a:schemeClr val="bg1"/>
          </a:solidFill>
          <a:ln w="19050">
            <a:solidFill>
              <a:srgbClr val="15171C"/>
            </a:solidFill>
            <a:prstDash val="solid"/>
          </a:ln>
        </p:spPr>
      </p:sp>
      <p:sp>
        <p:nvSpPr>
          <p:cNvPr id="13" name="tag-pill-3069"/>
          <p:cNvSpPr/>
          <p:nvPr/>
        </p:nvSpPr>
        <p:spPr>
          <a:xfrm>
            <a:off x="6370168" y="2542032"/>
            <a:ext cx="508406" cy="256032"/>
          </a:xfrm>
          <a:prstGeom prst="roundRect">
            <a:avLst>
              <a:gd name="adj" fmla="val 50000"/>
            </a:avLst>
          </a:prstGeom>
          <a:solidFill>
            <a:srgbClr val="E8EBFC"/>
          </a:solidFill>
          <a:ln/>
        </p:spPr>
      </p:sp>
      <p:sp>
        <p:nvSpPr>
          <p:cNvPr id="14" name="tag-3070"/>
          <p:cNvSpPr txBox="1"/>
          <p:nvPr/>
        </p:nvSpPr>
        <p:spPr>
          <a:xfrm>
            <a:off x="6370168" y="254203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3FN</a:t>
            </a:r>
            <a:endParaRPr lang="en-US" sz="1100" dirty="0"/>
          </a:p>
        </p:txBody>
      </p:sp>
      <p:sp>
        <p:nvSpPr>
          <p:cNvPr id="15" name="card-p-3071"/>
          <p:cNvSpPr txBox="1"/>
          <p:nvPr/>
        </p:nvSpPr>
        <p:spPr>
          <a:xfrm>
            <a:off x="6370168" y="2926080"/>
            <a:ext cx="2202104" cy="1257351"/>
          </a:xfrm>
          <a:prstGeom prst="rect">
            <a:avLst/>
          </a:prstGeom>
          <a:noFill/>
          <a:ln/>
        </p:spPr>
        <p:txBody>
          <a:bodyPr wrap="square" lIns="0" tIns="0" rIns="0" bIns="0" rtlCol="0" anchor="t"/>
          <a:lstStyle/>
          <a:p>
            <a:pPr algn="l" indent="0" marL="0">
              <a:buNone/>
            </a:pPr>
            <a:r>
              <a:rPr lang="en-US" sz="1950" dirty="0">
                <a:solidFill>
                  <a:srgbClr val="4B4F58"/>
                </a:solidFill>
              </a:rPr>
              <a:t>2FN + ninguna dependencia </a:t>
            </a:r>
            <a:pPr algn="l" indent="0" marL="0">
              <a:buNone/>
            </a:pPr>
            <a:r>
              <a:rPr lang="en-US" sz="1950" b="1" dirty="0">
                <a:solidFill>
                  <a:srgbClr val="4B4F58"/>
                </a:solidFill>
              </a:rPr>
              <a:t>transitiva</a:t>
            </a:r>
            <a:pPr algn="l" indent="0" marL="0">
              <a:buNone/>
            </a:pPr>
            <a:r>
              <a:rPr lang="en-US" sz="1950" dirty="0">
                <a:solidFill>
                  <a:srgbClr val="4B4F58"/>
                </a:solidFill>
              </a:rPr>
              <a:t> entre atributos no clave.</a:t>
            </a:r>
            <a:endParaRPr lang="en-US" sz="1950" dirty="0"/>
          </a:p>
        </p:txBody>
      </p:sp>
      <p:sp>
        <p:nvSpPr>
          <p:cNvPr id="16" name="card-3072"/>
          <p:cNvSpPr/>
          <p:nvPr/>
        </p:nvSpPr>
        <p:spPr>
          <a:xfrm>
            <a:off x="8938031" y="2377440"/>
            <a:ext cx="2567864" cy="2612974"/>
          </a:xfrm>
          <a:prstGeom prst="roundRect">
            <a:avLst>
              <a:gd name="adj" fmla="val 4273"/>
            </a:avLst>
          </a:prstGeom>
          <a:solidFill>
            <a:schemeClr val="bg1"/>
          </a:solidFill>
          <a:ln w="19050">
            <a:solidFill>
              <a:srgbClr val="15171C"/>
            </a:solidFill>
            <a:prstDash val="solid"/>
          </a:ln>
        </p:spPr>
      </p:sp>
      <p:sp>
        <p:nvSpPr>
          <p:cNvPr id="17" name="tag-pill-3073"/>
          <p:cNvSpPr/>
          <p:nvPr/>
        </p:nvSpPr>
        <p:spPr>
          <a:xfrm>
            <a:off x="9120911" y="2542032"/>
            <a:ext cx="592531" cy="256032"/>
          </a:xfrm>
          <a:prstGeom prst="roundRect">
            <a:avLst>
              <a:gd name="adj" fmla="val 50000"/>
            </a:avLst>
          </a:prstGeom>
          <a:solidFill>
            <a:srgbClr val="E8EBFC"/>
          </a:solidFill>
          <a:ln/>
        </p:spPr>
      </p:sp>
      <p:sp>
        <p:nvSpPr>
          <p:cNvPr id="18" name="tag-3074"/>
          <p:cNvSpPr txBox="1"/>
          <p:nvPr/>
        </p:nvSpPr>
        <p:spPr>
          <a:xfrm>
            <a:off x="9120911" y="2542032"/>
            <a:ext cx="592531" cy="256032"/>
          </a:xfrm>
          <a:prstGeom prst="rect">
            <a:avLst/>
          </a:prstGeom>
          <a:noFill/>
          <a:ln/>
        </p:spPr>
        <p:txBody>
          <a:bodyPr wrap="square" lIns="0" tIns="0" rIns="0" bIns="0" rtlCol="0" anchor="ctr"/>
          <a:lstStyle/>
          <a:p>
            <a:pPr algn="ctr" indent="0" marL="0">
              <a:buNone/>
            </a:pPr>
            <a:r>
              <a:rPr lang="en-US" sz="1100" b="1" dirty="0">
                <a:solidFill>
                  <a:srgbClr val="0D1A7A"/>
                </a:solidFill>
              </a:rPr>
              <a:t>FNBC</a:t>
            </a:r>
            <a:endParaRPr lang="en-US" sz="1100" dirty="0"/>
          </a:p>
        </p:txBody>
      </p:sp>
      <p:sp>
        <p:nvSpPr>
          <p:cNvPr id="19" name="card-p-3075"/>
          <p:cNvSpPr txBox="1"/>
          <p:nvPr/>
        </p:nvSpPr>
        <p:spPr>
          <a:xfrm>
            <a:off x="9120911" y="2926080"/>
            <a:ext cx="2202104" cy="1560258"/>
          </a:xfrm>
          <a:prstGeom prst="rect">
            <a:avLst/>
          </a:prstGeom>
          <a:noFill/>
          <a:ln/>
        </p:spPr>
        <p:txBody>
          <a:bodyPr wrap="square" lIns="0" tIns="0" rIns="0" bIns="0" rtlCol="0" anchor="t"/>
          <a:lstStyle/>
          <a:p>
            <a:pPr algn="l" indent="0" marL="0">
              <a:buNone/>
            </a:pPr>
            <a:r>
              <a:rPr lang="en-US" sz="1950" dirty="0">
                <a:solidFill>
                  <a:srgbClr val="4B4F58"/>
                </a:solidFill>
              </a:rPr>
              <a:t>Todo determinante es clave candidata. Detecta lo que la 3FN deja pasar.</a:t>
            </a:r>
            <a:endParaRPr lang="en-US" sz="1950" dirty="0"/>
          </a:p>
        </p:txBody>
      </p:sp>
      <p:sp>
        <p:nvSpPr>
          <p:cNvPr id="20" name="note-3076"/>
          <p:cNvSpPr txBox="1"/>
          <p:nvPr/>
        </p:nvSpPr>
        <p:spPr>
          <a:xfrm>
            <a:off x="685800" y="5173294"/>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Objetivo mínimo: llegar a </a:t>
            </a:r>
            <a:pPr algn="l" indent="0" marL="0">
              <a:buNone/>
            </a:pPr>
            <a:r>
              <a:rPr lang="en-US" sz="2300" b="1" dirty="0">
                <a:solidFill>
                  <a:srgbClr val="4B4F58"/>
                </a:solidFill>
              </a:rPr>
              <a:t>3FN</a:t>
            </a:r>
            <a:pPr algn="l" indent="0" marL="0">
              <a:buNone/>
            </a:pPr>
            <a:r>
              <a:rPr lang="en-US" sz="2300" dirty="0">
                <a:solidFill>
                  <a:srgbClr val="4B4F58"/>
                </a:solidFill>
              </a:rPr>
              <a:t>. Más allá existen 4FN, 5FN y DKNF, que rara vez hacen falta.</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07 — FORMAS NORMALES</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El método: dos partes y repetir</a:t>
            </a:r>
            <a:endParaRPr lang="en-US" sz="4000" dirty="0"/>
          </a:p>
        </p:txBody>
      </p:sp>
      <p:sp>
        <p:nvSpPr>
          <p:cNvPr id="4" name="chain-step-3093"/>
          <p:cNvSpPr/>
          <p:nvPr/>
        </p:nvSpPr>
        <p:spPr>
          <a:xfrm>
            <a:off x="685800" y="1783080"/>
            <a:ext cx="2430704" cy="2707767"/>
          </a:xfrm>
          <a:prstGeom prst="roundRect">
            <a:avLst>
              <a:gd name="adj" fmla="val 4514"/>
            </a:avLst>
          </a:prstGeom>
          <a:solidFill>
            <a:srgbClr val="FFFFFF"/>
          </a:solidFill>
          <a:ln w="19050">
            <a:solidFill>
              <a:schemeClr val="tx1"/>
            </a:solidFill>
            <a:prstDash val="solid"/>
          </a:ln>
        </p:spPr>
      </p:sp>
      <p:sp>
        <p:nvSpPr>
          <p:cNvPr id="5" name="chain-tag-3094"/>
          <p:cNvSpPr txBox="1"/>
          <p:nvPr/>
        </p:nvSpPr>
        <p:spPr>
          <a:xfrm>
            <a:off x="822960" y="1920240"/>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1</a:t>
            </a:r>
            <a:endParaRPr lang="en-US" sz="1600" dirty="0"/>
          </a:p>
        </p:txBody>
      </p:sp>
      <p:sp>
        <p:nvSpPr>
          <p:cNvPr id="6" name="chain-p-3095"/>
          <p:cNvSpPr txBox="1"/>
          <p:nvPr/>
        </p:nvSpPr>
        <p:spPr>
          <a:xfrm>
            <a:off x="822960" y="2221992"/>
            <a:ext cx="2156384" cy="2204847"/>
          </a:xfrm>
          <a:prstGeom prst="rect">
            <a:avLst/>
          </a:prstGeom>
          <a:noFill/>
          <a:ln/>
        </p:spPr>
        <p:txBody>
          <a:bodyPr wrap="square" lIns="0" tIns="0" rIns="0" bIns="0" rtlCol="0" anchor="t"/>
          <a:lstStyle/>
          <a:p>
            <a:pPr algn="l" indent="0" marL="0">
              <a:buNone/>
            </a:pPr>
            <a:r>
              <a:rPr lang="en-US" sz="2600" b="1" dirty="0">
                <a:solidFill>
                  <a:srgbClr val="15171C"/>
                </a:solidFill>
              </a:rPr>
              <a:t>Lo que cumple: tabla con la clave original</a:t>
            </a:r>
            <a:endParaRPr lang="en-US" sz="2600" dirty="0"/>
          </a:p>
        </p:txBody>
      </p:sp>
      <p:sp>
        <p:nvSpPr>
          <p:cNvPr id="7" name="arrow-3096"/>
          <p:cNvSpPr txBox="1"/>
          <p:nvPr/>
        </p:nvSpPr>
        <p:spPr>
          <a:xfrm>
            <a:off x="3116504" y="2954084"/>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8" name="chain-step-3097"/>
          <p:cNvSpPr/>
          <p:nvPr/>
        </p:nvSpPr>
        <p:spPr>
          <a:xfrm>
            <a:off x="3482264" y="1783080"/>
            <a:ext cx="2430704" cy="2707767"/>
          </a:xfrm>
          <a:prstGeom prst="roundRect">
            <a:avLst>
              <a:gd name="adj" fmla="val 4514"/>
            </a:avLst>
          </a:prstGeom>
          <a:solidFill>
            <a:srgbClr val="E8EBFC"/>
          </a:solidFill>
          <a:ln w="19050">
            <a:solidFill>
              <a:schemeClr val="tx1"/>
            </a:solidFill>
            <a:prstDash val="solid"/>
          </a:ln>
        </p:spPr>
      </p:sp>
      <p:sp>
        <p:nvSpPr>
          <p:cNvPr id="9" name="chain-tag-3098"/>
          <p:cNvSpPr txBox="1"/>
          <p:nvPr/>
        </p:nvSpPr>
        <p:spPr>
          <a:xfrm>
            <a:off x="3619424" y="1920240"/>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2</a:t>
            </a:r>
            <a:endParaRPr lang="en-US" sz="1600" dirty="0"/>
          </a:p>
        </p:txBody>
      </p:sp>
      <p:sp>
        <p:nvSpPr>
          <p:cNvPr id="10" name="chain-p-3099"/>
          <p:cNvSpPr txBox="1"/>
          <p:nvPr/>
        </p:nvSpPr>
        <p:spPr>
          <a:xfrm>
            <a:off x="3619424" y="2221992"/>
            <a:ext cx="2156384" cy="2204847"/>
          </a:xfrm>
          <a:prstGeom prst="rect">
            <a:avLst/>
          </a:prstGeom>
          <a:noFill/>
          <a:ln/>
        </p:spPr>
        <p:txBody>
          <a:bodyPr wrap="square" lIns="0" tIns="0" rIns="0" bIns="0" rtlCol="0" anchor="t"/>
          <a:lstStyle/>
          <a:p>
            <a:pPr algn="l" indent="0" marL="0">
              <a:buNone/>
            </a:pPr>
            <a:r>
              <a:rPr lang="en-US" sz="2600" b="1" dirty="0">
                <a:solidFill>
                  <a:srgbClr val="15171C"/>
                </a:solidFill>
              </a:rPr>
              <a:t>Lo que se escapa: tabla nueva con su determinante como clave</a:t>
            </a:r>
            <a:endParaRPr lang="en-US" sz="2600" dirty="0"/>
          </a:p>
        </p:txBody>
      </p:sp>
      <p:sp>
        <p:nvSpPr>
          <p:cNvPr id="11" name="arrow-3100"/>
          <p:cNvSpPr txBox="1"/>
          <p:nvPr/>
        </p:nvSpPr>
        <p:spPr>
          <a:xfrm>
            <a:off x="5912968" y="2954084"/>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12" name="chain-step-3101"/>
          <p:cNvSpPr/>
          <p:nvPr/>
        </p:nvSpPr>
        <p:spPr>
          <a:xfrm>
            <a:off x="6278728" y="1783080"/>
            <a:ext cx="2430704" cy="2707767"/>
          </a:xfrm>
          <a:prstGeom prst="roundRect">
            <a:avLst>
              <a:gd name="adj" fmla="val 4514"/>
            </a:avLst>
          </a:prstGeom>
          <a:solidFill>
            <a:srgbClr val="FFFFFF"/>
          </a:solidFill>
          <a:ln w="19050">
            <a:solidFill>
              <a:schemeClr val="tx1"/>
            </a:solidFill>
            <a:prstDash val="solid"/>
          </a:ln>
        </p:spPr>
      </p:sp>
      <p:sp>
        <p:nvSpPr>
          <p:cNvPr id="13" name="chain-tag-3102"/>
          <p:cNvSpPr txBox="1"/>
          <p:nvPr/>
        </p:nvSpPr>
        <p:spPr>
          <a:xfrm>
            <a:off x="6415888" y="1920240"/>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3</a:t>
            </a:r>
            <a:endParaRPr lang="en-US" sz="1600" dirty="0"/>
          </a:p>
        </p:txBody>
      </p:sp>
      <p:sp>
        <p:nvSpPr>
          <p:cNvPr id="14" name="chain-p-3103"/>
          <p:cNvSpPr txBox="1"/>
          <p:nvPr/>
        </p:nvSpPr>
        <p:spPr>
          <a:xfrm>
            <a:off x="6415888" y="2221992"/>
            <a:ext cx="2156384" cy="2204847"/>
          </a:xfrm>
          <a:prstGeom prst="rect">
            <a:avLst/>
          </a:prstGeom>
          <a:noFill/>
          <a:ln/>
        </p:spPr>
        <p:txBody>
          <a:bodyPr wrap="square" lIns="0" tIns="0" rIns="0" bIns="0" rtlCol="0" anchor="t"/>
          <a:lstStyle/>
          <a:p>
            <a:pPr algn="l" indent="0" marL="0">
              <a:buNone/>
            </a:pPr>
            <a:r>
              <a:rPr lang="en-US" sz="2600" b="1" dirty="0">
                <a:solidFill>
                  <a:srgbClr val="15171C"/>
                </a:solidFill>
              </a:rPr>
              <a:t>Comprobar la nueva y repetir si hace falta</a:t>
            </a:r>
            <a:endParaRPr lang="en-US" sz="2600" dirty="0"/>
          </a:p>
        </p:txBody>
      </p:sp>
      <p:sp>
        <p:nvSpPr>
          <p:cNvPr id="15" name="arrow-3104"/>
          <p:cNvSpPr txBox="1"/>
          <p:nvPr/>
        </p:nvSpPr>
        <p:spPr>
          <a:xfrm>
            <a:off x="8709431" y="2954084"/>
            <a:ext cx="365760" cy="365760"/>
          </a:xfrm>
          <a:prstGeom prst="rect">
            <a:avLst/>
          </a:prstGeom>
          <a:noFill/>
          <a:ln/>
        </p:spPr>
        <p:txBody>
          <a:bodyPr wrap="square" lIns="0" tIns="0" rIns="0" bIns="0" rtlCol="0" anchor="ctr"/>
          <a:lstStyle/>
          <a:p>
            <a:pPr algn="ctr" indent="0" marL="0">
              <a:buNone/>
            </a:pPr>
            <a:r>
              <a:rPr lang="en-US" sz="2000" dirty="0">
                <a:solidFill>
                  <a:srgbClr val="767C8A"/>
                </a:solidFill>
              </a:rPr>
              <a:t>→</a:t>
            </a:r>
            <a:endParaRPr lang="en-US" sz="2000" dirty="0"/>
          </a:p>
        </p:txBody>
      </p:sp>
      <p:sp>
        <p:nvSpPr>
          <p:cNvPr id="16" name="chain-step-3105"/>
          <p:cNvSpPr/>
          <p:nvPr/>
        </p:nvSpPr>
        <p:spPr>
          <a:xfrm>
            <a:off x="9075191" y="1783080"/>
            <a:ext cx="2430704" cy="2707767"/>
          </a:xfrm>
          <a:prstGeom prst="roundRect">
            <a:avLst>
              <a:gd name="adj" fmla="val 4514"/>
            </a:avLst>
          </a:prstGeom>
          <a:solidFill>
            <a:srgbClr val="FFFFFF"/>
          </a:solidFill>
          <a:ln w="19050">
            <a:solidFill>
              <a:schemeClr val="tx1"/>
            </a:solidFill>
            <a:prstDash val="solid"/>
          </a:ln>
        </p:spPr>
      </p:sp>
      <p:sp>
        <p:nvSpPr>
          <p:cNvPr id="17" name="chain-tag-3106"/>
          <p:cNvSpPr txBox="1"/>
          <p:nvPr/>
        </p:nvSpPr>
        <p:spPr>
          <a:xfrm>
            <a:off x="9212351" y="1920240"/>
            <a:ext cx="2156384" cy="256032"/>
          </a:xfrm>
          <a:prstGeom prst="rect">
            <a:avLst/>
          </a:prstGeom>
          <a:noFill/>
          <a:ln/>
        </p:spPr>
        <p:txBody>
          <a:bodyPr wrap="square" lIns="0" tIns="0" rIns="0" bIns="0" rtlCol="0" anchor="t"/>
          <a:lstStyle/>
          <a:p>
            <a:pPr algn="l" indent="0" marL="0">
              <a:buNone/>
            </a:pPr>
            <a:r>
              <a:rPr lang="en-US" sz="1600" b="1" dirty="0">
                <a:solidFill>
                  <a:srgbClr val="0D1A7A"/>
                </a:solidFill>
              </a:rPr>
              <a:t>4</a:t>
            </a:r>
            <a:endParaRPr lang="en-US" sz="1600" dirty="0"/>
          </a:p>
        </p:txBody>
      </p:sp>
      <p:sp>
        <p:nvSpPr>
          <p:cNvPr id="18" name="chain-p-3107"/>
          <p:cNvSpPr txBox="1"/>
          <p:nvPr/>
        </p:nvSpPr>
        <p:spPr>
          <a:xfrm>
            <a:off x="9212351" y="2221992"/>
            <a:ext cx="2156384" cy="2204847"/>
          </a:xfrm>
          <a:prstGeom prst="rect">
            <a:avLst/>
          </a:prstGeom>
          <a:noFill/>
          <a:ln/>
        </p:spPr>
        <p:txBody>
          <a:bodyPr wrap="square" lIns="0" tIns="0" rIns="0" bIns="0" rtlCol="0" anchor="t"/>
          <a:lstStyle/>
          <a:p>
            <a:pPr algn="l" indent="0" marL="0">
              <a:buNone/>
            </a:pPr>
            <a:r>
              <a:rPr lang="en-US" sz="2600" b="1" dirty="0">
                <a:solidFill>
                  <a:srgbClr val="15171C"/>
                </a:solidFill>
              </a:rPr>
              <a:t>Renombrar con nombres con sentido</a:t>
            </a:r>
            <a:endParaRPr lang="en-US" sz="2600" dirty="0"/>
          </a:p>
        </p:txBody>
      </p:sp>
      <p:sp>
        <p:nvSpPr>
          <p:cNvPr id="19" name="note-3108"/>
          <p:cNvSpPr txBox="1"/>
          <p:nvPr/>
        </p:nvSpPr>
        <p:spPr>
          <a:xfrm>
            <a:off x="685800" y="4719447"/>
            <a:ext cx="10820095" cy="1393698"/>
          </a:xfrm>
          <a:prstGeom prst="rect">
            <a:avLst/>
          </a:prstGeom>
          <a:noFill/>
          <a:ln/>
        </p:spPr>
        <p:txBody>
          <a:bodyPr wrap="square" lIns="0" tIns="0" rIns="0" bIns="0" rtlCol="0" anchor="t"/>
          <a:lstStyle/>
          <a:p>
            <a:pPr algn="l" indent="0" marL="0">
              <a:buNone/>
            </a:pPr>
            <a:r>
              <a:rPr lang="en-US" sz="2900" dirty="0">
                <a:solidFill>
                  <a:srgbClr val="4B4F58"/>
                </a:solidFill>
              </a:rPr>
              <a:t>Sirve igual para 1FN, 2FN y 3FN: cada vez, lo que incumple sale a una tabla propia junto con su determinante.</a:t>
            </a:r>
            <a:endParaRPr lang="en-US" sz="29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EN EQUIPO</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Alumnos y asignaturas</a:t>
            </a:r>
            <a:endParaRPr lang="en-US" sz="4000" dirty="0"/>
          </a:p>
        </p:txBody>
      </p:sp>
      <p:sp>
        <p:nvSpPr>
          <p:cNvPr id="4" name="badge-3109"/>
          <p:cNvSpPr/>
          <p:nvPr/>
        </p:nvSpPr>
        <p:spPr>
          <a:xfrm>
            <a:off x="685800" y="292608"/>
            <a:ext cx="475488" cy="475488"/>
          </a:xfrm>
          <a:prstGeom prst="ellipse">
            <a:avLst/>
          </a:prstGeom>
          <a:solidFill>
            <a:srgbClr val="1B39E6"/>
          </a:solidFill>
          <a:ln/>
        </p:spPr>
      </p:sp>
      <p:sp>
        <p:nvSpPr>
          <p:cNvPr id="5" name="badge-glyph-3110"/>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6" name="scenario-card-3114"/>
          <p:cNvSpPr/>
          <p:nvPr/>
        </p:nvSpPr>
        <p:spPr>
          <a:xfrm>
            <a:off x="685800" y="2113498"/>
            <a:ext cx="10820095" cy="2926918"/>
          </a:xfrm>
          <a:prstGeom prst="roundRect">
            <a:avLst>
              <a:gd name="adj" fmla="val 3749"/>
            </a:avLst>
          </a:prstGeom>
          <a:solidFill>
            <a:schemeClr val="bg1"/>
          </a:solidFill>
          <a:ln w="19050">
            <a:solidFill>
              <a:schemeClr val="tx1"/>
            </a:solidFill>
            <a:prstDash val="solid"/>
          </a:ln>
        </p:spPr>
      </p:sp>
      <p:sp>
        <p:nvSpPr>
          <p:cNvPr id="7" name="scenario-3115"/>
          <p:cNvSpPr txBox="1"/>
          <p:nvPr/>
        </p:nvSpPr>
        <p:spPr>
          <a:xfrm>
            <a:off x="914400" y="2296378"/>
            <a:ext cx="10362895" cy="2561158"/>
          </a:xfrm>
          <a:prstGeom prst="rect">
            <a:avLst/>
          </a:prstGeom>
          <a:noFill/>
          <a:ln/>
        </p:spPr>
        <p:txBody>
          <a:bodyPr wrap="square" lIns="0" tIns="0" rIns="0" bIns="0" rtlCol="0" anchor="ctr"/>
          <a:lstStyle/>
          <a:p>
            <a:pPr algn="l" indent="0" marL="0">
              <a:buNone/>
            </a:pPr>
            <a:r>
              <a:rPr lang="en-US" sz="2750" b="1" dirty="0">
                <a:solidFill>
                  <a:srgbClr val="0D1A7A"/>
                </a:solidFill>
                <a:latin typeface="Courier New" pitchFamily="34" charset="0"/>
                <a:ea typeface="Courier New" pitchFamily="34" charset="-122"/>
                <a:cs typeface="Courier New" pitchFamily="34" charset="-120"/>
              </a:rPr>
              <a:t>ALUMNOS(dni, apellidos, nombre, direccion, ciudad, provincia, com_aut, codigo, asignatura, nota)</a:t>
            </a:r>
            <a:pPr algn="l" indent="0" marL="0">
              <a:buNone/>
            </a:pPr>
            <a:r>
              <a:rPr lang="en-US" sz="2750" b="1" dirty="0">
                <a:solidFill>
                  <a:srgbClr val="15171C"/>
                </a:solidFill>
              </a:rPr>
              <a:t>, clave </a:t>
            </a:r>
            <a:pPr algn="l" indent="0" marL="0">
              <a:buNone/>
            </a:pPr>
            <a:r>
              <a:rPr lang="en-US" sz="2750" b="1" dirty="0">
                <a:solidFill>
                  <a:srgbClr val="0D1A7A"/>
                </a:solidFill>
                <a:latin typeface="Courier New" pitchFamily="34" charset="0"/>
                <a:ea typeface="Courier New" pitchFamily="34" charset="-122"/>
                <a:cs typeface="Courier New" pitchFamily="34" charset="-120"/>
              </a:rPr>
              <a:t>(dni, codigo)</a:t>
            </a:r>
            <a:pPr algn="l" indent="0" marL="0">
              <a:buNone/>
            </a:pPr>
            <a:r>
              <a:rPr lang="en-US" sz="2750" b="1" dirty="0">
                <a:solidFill>
                  <a:srgbClr val="15171C"/>
                </a:solidFill>
              </a:rPr>
              <a:t>. Cada ciudad es de una provincia y cada provincia de una comunidad; cada código de asignatura tiene un nombre; la nota es de un alumno en una asignatura.</a:t>
            </a:r>
            <a:endParaRPr lang="en-US" sz="2750" dirty="0"/>
          </a:p>
        </p:txBody>
      </p:sp>
      <p:sp>
        <p:nvSpPr>
          <p:cNvPr id="8" name="lede-3116"/>
          <p:cNvSpPr txBox="1"/>
          <p:nvPr/>
        </p:nvSpPr>
        <p:spPr>
          <a:xfrm>
            <a:off x="685800" y="5223297"/>
            <a:ext cx="10820095" cy="539979"/>
          </a:xfrm>
          <a:prstGeom prst="rect">
            <a:avLst/>
          </a:prstGeom>
          <a:noFill/>
          <a:ln/>
        </p:spPr>
        <p:txBody>
          <a:bodyPr wrap="square" lIns="0" tIns="0" rIns="0" bIns="0" rtlCol="0" anchor="t"/>
          <a:lstStyle/>
          <a:p>
            <a:pPr algn="l" indent="0" marL="0">
              <a:buNone/>
            </a:pPr>
            <a:r>
              <a:rPr lang="en-US" sz="3200" dirty="0">
                <a:solidFill>
                  <a:srgbClr val="4B4F58"/>
                </a:solidFill>
              </a:rPr>
              <a:t>Normaliza hasta 3FN, explicando cada paso.</a:t>
            </a:r>
            <a:endParaRPr lang="en-US" sz="32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1FN → 2FN → 3FN</a:t>
            </a:r>
            <a:endParaRPr lang="en-US" sz="4000" dirty="0"/>
          </a:p>
        </p:txBody>
      </p:sp>
      <p:sp>
        <p:nvSpPr>
          <p:cNvPr id="4" name="badge-3117"/>
          <p:cNvSpPr/>
          <p:nvPr/>
        </p:nvSpPr>
        <p:spPr>
          <a:xfrm>
            <a:off x="685800" y="292608"/>
            <a:ext cx="475488" cy="475488"/>
          </a:xfrm>
          <a:prstGeom prst="ellipse">
            <a:avLst/>
          </a:prstGeom>
          <a:solidFill>
            <a:srgbClr val="3F9468"/>
          </a:solidFill>
          <a:ln/>
        </p:spPr>
      </p:sp>
      <p:sp>
        <p:nvSpPr>
          <p:cNvPr id="5" name="badge-glyph-3118"/>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card-3223"/>
          <p:cNvSpPr/>
          <p:nvPr/>
        </p:nvSpPr>
        <p:spPr>
          <a:xfrm>
            <a:off x="685800" y="1965960"/>
            <a:ext cx="3484778" cy="1691081"/>
          </a:xfrm>
          <a:prstGeom prst="roundRect">
            <a:avLst>
              <a:gd name="adj" fmla="val 6489"/>
            </a:avLst>
          </a:prstGeom>
          <a:solidFill>
            <a:schemeClr val="bg1"/>
          </a:solidFill>
          <a:ln w="19050">
            <a:solidFill>
              <a:srgbClr val="15171C"/>
            </a:solidFill>
            <a:prstDash val="solid"/>
          </a:ln>
        </p:spPr>
      </p:sp>
      <p:sp>
        <p:nvSpPr>
          <p:cNvPr id="7" name="tag-pill-3224"/>
          <p:cNvSpPr/>
          <p:nvPr/>
        </p:nvSpPr>
        <p:spPr>
          <a:xfrm>
            <a:off x="868680" y="2130552"/>
            <a:ext cx="508406" cy="256032"/>
          </a:xfrm>
          <a:prstGeom prst="roundRect">
            <a:avLst>
              <a:gd name="adj" fmla="val 50000"/>
            </a:avLst>
          </a:prstGeom>
          <a:solidFill>
            <a:srgbClr val="E8EBFC"/>
          </a:solidFill>
          <a:ln/>
        </p:spPr>
      </p:sp>
      <p:sp>
        <p:nvSpPr>
          <p:cNvPr id="8" name="tag-3225"/>
          <p:cNvSpPr txBox="1"/>
          <p:nvPr/>
        </p:nvSpPr>
        <p:spPr>
          <a:xfrm>
            <a:off x="868680" y="213055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1FN</a:t>
            </a:r>
            <a:endParaRPr lang="en-US" sz="1100" dirty="0"/>
          </a:p>
        </p:txBody>
      </p:sp>
      <p:sp>
        <p:nvSpPr>
          <p:cNvPr id="9" name="card-p-3226"/>
          <p:cNvSpPr txBox="1"/>
          <p:nvPr/>
        </p:nvSpPr>
        <p:spPr>
          <a:xfrm>
            <a:off x="868680" y="2514600"/>
            <a:ext cx="3119018" cy="941273"/>
          </a:xfrm>
          <a:prstGeom prst="rect">
            <a:avLst/>
          </a:prstGeom>
          <a:noFill/>
          <a:ln/>
        </p:spPr>
        <p:txBody>
          <a:bodyPr wrap="square" lIns="0" tIns="0" rIns="0" bIns="0" rtlCol="0" anchor="t"/>
          <a:lstStyle/>
          <a:p>
            <a:pPr algn="l" indent="0" marL="0">
              <a:buNone/>
            </a:pPr>
            <a:r>
              <a:rPr lang="en-US" sz="1450" dirty="0">
                <a:solidFill>
                  <a:srgbClr val="4B4F58"/>
                </a:solidFill>
              </a:rPr>
              <a:t>Los datos del alumno se repetirían por asignatura: se separa </a:t>
            </a:r>
            <a:pPr algn="l" indent="0" marL="0">
              <a:buNone/>
            </a:pPr>
            <a:r>
              <a:rPr lang="en-US" sz="1450" dirty="0">
                <a:solidFill>
                  <a:srgbClr val="0D1A7A"/>
                </a:solidFill>
                <a:latin typeface="Courier New" pitchFamily="34" charset="0"/>
                <a:ea typeface="Courier New" pitchFamily="34" charset="-122"/>
                <a:cs typeface="Courier New" pitchFamily="34" charset="-120"/>
              </a:rPr>
              <a:t>ALUMNOS_ASIGNATURAS(dni, codigo, asignatura, nota)</a:t>
            </a:r>
            <a:pPr algn="l" indent="0" marL="0">
              <a:buNone/>
            </a:pPr>
            <a:r>
              <a:rPr lang="en-US" sz="1450" dirty="0">
                <a:solidFill>
                  <a:srgbClr val="4B4F58"/>
                </a:solidFill>
              </a:rPr>
              <a:t>.</a:t>
            </a:r>
            <a:endParaRPr lang="en-US" sz="1450" dirty="0"/>
          </a:p>
        </p:txBody>
      </p:sp>
      <p:sp>
        <p:nvSpPr>
          <p:cNvPr id="10" name="card-3227"/>
          <p:cNvSpPr/>
          <p:nvPr/>
        </p:nvSpPr>
        <p:spPr>
          <a:xfrm>
            <a:off x="4353458" y="1965960"/>
            <a:ext cx="3484778" cy="1691081"/>
          </a:xfrm>
          <a:prstGeom prst="roundRect">
            <a:avLst>
              <a:gd name="adj" fmla="val 6489"/>
            </a:avLst>
          </a:prstGeom>
          <a:solidFill>
            <a:schemeClr val="bg1"/>
          </a:solidFill>
          <a:ln w="19050">
            <a:solidFill>
              <a:srgbClr val="15171C"/>
            </a:solidFill>
            <a:prstDash val="solid"/>
          </a:ln>
        </p:spPr>
      </p:sp>
      <p:sp>
        <p:nvSpPr>
          <p:cNvPr id="11" name="tag-pill-3228"/>
          <p:cNvSpPr/>
          <p:nvPr/>
        </p:nvSpPr>
        <p:spPr>
          <a:xfrm>
            <a:off x="4536338" y="2130552"/>
            <a:ext cx="508406" cy="256032"/>
          </a:xfrm>
          <a:prstGeom prst="roundRect">
            <a:avLst>
              <a:gd name="adj" fmla="val 50000"/>
            </a:avLst>
          </a:prstGeom>
          <a:solidFill>
            <a:srgbClr val="E8EBFC"/>
          </a:solidFill>
          <a:ln/>
        </p:spPr>
      </p:sp>
      <p:sp>
        <p:nvSpPr>
          <p:cNvPr id="12" name="tag-3229"/>
          <p:cNvSpPr txBox="1"/>
          <p:nvPr/>
        </p:nvSpPr>
        <p:spPr>
          <a:xfrm>
            <a:off x="4536338" y="213055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2FN</a:t>
            </a:r>
            <a:endParaRPr lang="en-US" sz="1100" dirty="0"/>
          </a:p>
        </p:txBody>
      </p:sp>
      <p:sp>
        <p:nvSpPr>
          <p:cNvPr id="13" name="card-p-3230"/>
          <p:cNvSpPr txBox="1"/>
          <p:nvPr/>
        </p:nvSpPr>
        <p:spPr>
          <a:xfrm>
            <a:off x="4536338" y="2514600"/>
            <a:ext cx="3119018" cy="717385"/>
          </a:xfrm>
          <a:prstGeom prst="rect">
            <a:avLst/>
          </a:prstGeom>
          <a:noFill/>
          <a:ln/>
        </p:spPr>
        <p:txBody>
          <a:bodyPr wrap="square" lIns="0" tIns="0" rIns="0" bIns="0" rtlCol="0" anchor="t"/>
          <a:lstStyle/>
          <a:p>
            <a:pPr algn="l" indent="0" marL="0">
              <a:buNone/>
            </a:pPr>
            <a:r>
              <a:rPr lang="en-US" sz="1450" dirty="0">
                <a:solidFill>
                  <a:srgbClr val="0D1A7A"/>
                </a:solidFill>
                <a:latin typeface="Courier New" pitchFamily="34" charset="0"/>
                <a:ea typeface="Courier New" pitchFamily="34" charset="-122"/>
                <a:cs typeface="Courier New" pitchFamily="34" charset="-120"/>
              </a:rPr>
              <a:t>asignatura</a:t>
            </a:r>
            <a:pPr algn="l" indent="0" marL="0">
              <a:buNone/>
            </a:pPr>
            <a:r>
              <a:rPr lang="en-US" sz="1450" dirty="0">
                <a:solidFill>
                  <a:srgbClr val="4B4F58"/>
                </a:solidFill>
              </a:rPr>
              <a:t> depende solo de </a:t>
            </a:r>
            <a:pPr algn="l" indent="0" marL="0">
              <a:buNone/>
            </a:pPr>
            <a:r>
              <a:rPr lang="en-US" sz="1450" dirty="0">
                <a:solidFill>
                  <a:srgbClr val="0D1A7A"/>
                </a:solidFill>
                <a:latin typeface="Courier New" pitchFamily="34" charset="0"/>
                <a:ea typeface="Courier New" pitchFamily="34" charset="-122"/>
                <a:cs typeface="Courier New" pitchFamily="34" charset="-120"/>
              </a:rPr>
              <a:t>codigo</a:t>
            </a:r>
            <a:pPr algn="l" indent="0" marL="0">
              <a:buNone/>
            </a:pPr>
            <a:r>
              <a:rPr lang="en-US" sz="1450" dirty="0">
                <a:solidFill>
                  <a:srgbClr val="4B4F58"/>
                </a:solidFill>
              </a:rPr>
              <a:t> (parcial): sale </a:t>
            </a:r>
            <a:pPr algn="l" indent="0" marL="0">
              <a:buNone/>
            </a:pPr>
            <a:r>
              <a:rPr lang="en-US" sz="1450" dirty="0">
                <a:solidFill>
                  <a:srgbClr val="0D1A7A"/>
                </a:solidFill>
                <a:latin typeface="Courier New" pitchFamily="34" charset="0"/>
                <a:ea typeface="Courier New" pitchFamily="34" charset="-122"/>
                <a:cs typeface="Courier New" pitchFamily="34" charset="-120"/>
              </a:rPr>
              <a:t>ASIGNATURAS(codigo, asignatura)</a:t>
            </a:r>
            <a:pPr algn="l" indent="0" marL="0">
              <a:buNone/>
            </a:pPr>
            <a:r>
              <a:rPr lang="en-US" sz="1450" dirty="0">
                <a:solidFill>
                  <a:srgbClr val="4B4F58"/>
                </a:solidFill>
              </a:rPr>
              <a:t>.</a:t>
            </a:r>
            <a:endParaRPr lang="en-US" sz="1450" dirty="0"/>
          </a:p>
        </p:txBody>
      </p:sp>
      <p:sp>
        <p:nvSpPr>
          <p:cNvPr id="14" name="card-3231"/>
          <p:cNvSpPr/>
          <p:nvPr/>
        </p:nvSpPr>
        <p:spPr>
          <a:xfrm>
            <a:off x="8021117" y="1965960"/>
            <a:ext cx="3484778" cy="1691081"/>
          </a:xfrm>
          <a:prstGeom prst="roundRect">
            <a:avLst>
              <a:gd name="adj" fmla="val 6489"/>
            </a:avLst>
          </a:prstGeom>
          <a:solidFill>
            <a:schemeClr val="bg1"/>
          </a:solidFill>
          <a:ln w="19050">
            <a:solidFill>
              <a:srgbClr val="15171C"/>
            </a:solidFill>
            <a:prstDash val="solid"/>
          </a:ln>
        </p:spPr>
      </p:sp>
      <p:sp>
        <p:nvSpPr>
          <p:cNvPr id="15" name="tag-pill-3232"/>
          <p:cNvSpPr/>
          <p:nvPr/>
        </p:nvSpPr>
        <p:spPr>
          <a:xfrm>
            <a:off x="8203997" y="2130552"/>
            <a:ext cx="508406" cy="256032"/>
          </a:xfrm>
          <a:prstGeom prst="roundRect">
            <a:avLst>
              <a:gd name="adj" fmla="val 50000"/>
            </a:avLst>
          </a:prstGeom>
          <a:solidFill>
            <a:srgbClr val="E8EBFC"/>
          </a:solidFill>
          <a:ln/>
        </p:spPr>
      </p:sp>
      <p:sp>
        <p:nvSpPr>
          <p:cNvPr id="16" name="tag-3233"/>
          <p:cNvSpPr txBox="1"/>
          <p:nvPr/>
        </p:nvSpPr>
        <p:spPr>
          <a:xfrm>
            <a:off x="8203997" y="2130552"/>
            <a:ext cx="508406" cy="256032"/>
          </a:xfrm>
          <a:prstGeom prst="rect">
            <a:avLst/>
          </a:prstGeom>
          <a:noFill/>
          <a:ln/>
        </p:spPr>
        <p:txBody>
          <a:bodyPr wrap="square" lIns="0" tIns="0" rIns="0" bIns="0" rtlCol="0" anchor="ctr"/>
          <a:lstStyle/>
          <a:p>
            <a:pPr algn="ctr" indent="0" marL="0">
              <a:buNone/>
            </a:pPr>
            <a:r>
              <a:rPr lang="en-US" sz="1100" b="1" dirty="0">
                <a:solidFill>
                  <a:srgbClr val="0D1A7A"/>
                </a:solidFill>
              </a:rPr>
              <a:t>3FN</a:t>
            </a:r>
            <a:endParaRPr lang="en-US" sz="1100" dirty="0"/>
          </a:p>
        </p:txBody>
      </p:sp>
      <p:sp>
        <p:nvSpPr>
          <p:cNvPr id="17" name="card-p-3234"/>
          <p:cNvSpPr txBox="1"/>
          <p:nvPr/>
        </p:nvSpPr>
        <p:spPr>
          <a:xfrm>
            <a:off x="8203997" y="2514600"/>
            <a:ext cx="3119018" cy="717385"/>
          </a:xfrm>
          <a:prstGeom prst="rect">
            <a:avLst/>
          </a:prstGeom>
          <a:noFill/>
          <a:ln/>
        </p:spPr>
        <p:txBody>
          <a:bodyPr wrap="square" lIns="0" tIns="0" rIns="0" bIns="0" rtlCol="0" anchor="t"/>
          <a:lstStyle/>
          <a:p>
            <a:pPr algn="l" indent="0" marL="0">
              <a:buNone/>
            </a:pPr>
            <a:r>
              <a:rPr lang="en-US" sz="1450" dirty="0">
                <a:solidFill>
                  <a:srgbClr val="0D1A7A"/>
                </a:solidFill>
                <a:latin typeface="Courier New" pitchFamily="34" charset="0"/>
                <a:ea typeface="Courier New" pitchFamily="34" charset="-122"/>
                <a:cs typeface="Courier New" pitchFamily="34" charset="-120"/>
              </a:rPr>
              <a:t>dni → ciudad → provincia → com_aut</a:t>
            </a:r>
            <a:pPr algn="l" indent="0" marL="0">
              <a:buNone/>
            </a:pPr>
            <a:r>
              <a:rPr lang="en-US" sz="1450" dirty="0">
                <a:solidFill>
                  <a:srgbClr val="4B4F58"/>
                </a:solidFill>
              </a:rPr>
              <a:t>: sale </a:t>
            </a:r>
            <a:pPr algn="l" indent="0" marL="0">
              <a:buNone/>
            </a:pPr>
            <a:r>
              <a:rPr lang="en-US" sz="1450" dirty="0">
                <a:solidFill>
                  <a:srgbClr val="0D1A7A"/>
                </a:solidFill>
                <a:latin typeface="Courier New" pitchFamily="34" charset="0"/>
                <a:ea typeface="Courier New" pitchFamily="34" charset="-122"/>
                <a:cs typeface="Courier New" pitchFamily="34" charset="-120"/>
              </a:rPr>
              <a:t>CIUDAD</a:t>
            </a:r>
            <a:pPr algn="l" indent="0" marL="0">
              <a:buNone/>
            </a:pPr>
            <a:r>
              <a:rPr lang="en-US" sz="1450" dirty="0">
                <a:solidFill>
                  <a:srgbClr val="4B4F58"/>
                </a:solidFill>
              </a:rPr>
              <a:t>, y de nuevo </a:t>
            </a:r>
            <a:pPr algn="l" indent="0" marL="0">
              <a:buNone/>
            </a:pPr>
            <a:r>
              <a:rPr lang="en-US" sz="1450" dirty="0">
                <a:solidFill>
                  <a:srgbClr val="0D1A7A"/>
                </a:solidFill>
                <a:latin typeface="Courier New" pitchFamily="34" charset="0"/>
                <a:ea typeface="Courier New" pitchFamily="34" charset="-122"/>
                <a:cs typeface="Courier New" pitchFamily="34" charset="-120"/>
              </a:rPr>
              <a:t>PROVINCIA</a:t>
            </a:r>
            <a:pPr algn="l" indent="0" marL="0">
              <a:buNone/>
            </a:pPr>
            <a:r>
              <a:rPr lang="en-US" sz="1450" dirty="0">
                <a:solidFill>
                  <a:srgbClr val="4B4F58"/>
                </a:solidFill>
              </a:rPr>
              <a:t>.</a:t>
            </a:r>
            <a:endParaRPr lang="en-US" sz="1450" dirty="0"/>
          </a:p>
        </p:txBody>
      </p:sp>
      <p:pic>
        <p:nvPicPr>
          <p:cNvPr id="18" name="imagen-3235" descr="Diagrama / tabla de la diapositiva">    </p:cNvPr>
          <p:cNvPicPr>
            <a:picLocks noChangeAspect="1"/>
          </p:cNvPicPr>
          <p:nvPr/>
        </p:nvPicPr>
        <p:blipFill>
          <a:blip r:embed="rId1"/>
          <a:stretch>
            <a:fillRect/>
          </a:stretch>
        </p:blipFill>
        <p:spPr>
          <a:xfrm>
            <a:off x="685800" y="3839921"/>
            <a:ext cx="6735580" cy="2358659"/>
          </a:xfrm>
          <a:prstGeom prst="rect">
            <a:avLst/>
          </a:prstGeom>
        </p:spPr>
      </p:pic>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ACTIVIDAD INDIVIDUAL</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Un caso que 3FN no detecta</a:t>
            </a:r>
            <a:endParaRPr lang="en-US" sz="4000" dirty="0"/>
          </a:p>
        </p:txBody>
      </p:sp>
      <p:sp>
        <p:nvSpPr>
          <p:cNvPr id="4" name="badge-3236"/>
          <p:cNvSpPr/>
          <p:nvPr/>
        </p:nvSpPr>
        <p:spPr>
          <a:xfrm>
            <a:off x="685800" y="292608"/>
            <a:ext cx="475488" cy="475488"/>
          </a:xfrm>
          <a:prstGeom prst="ellipse">
            <a:avLst/>
          </a:prstGeom>
          <a:solidFill>
            <a:srgbClr val="FF5A2E"/>
          </a:solidFill>
          <a:ln/>
        </p:spPr>
      </p:sp>
      <p:sp>
        <p:nvSpPr>
          <p:cNvPr id="5" name="badge-glyph-3237"/>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scenario-card-3337"/>
          <p:cNvSpPr/>
          <p:nvPr/>
        </p:nvSpPr>
        <p:spPr>
          <a:xfrm>
            <a:off x="685800" y="1965960"/>
            <a:ext cx="10820095" cy="866216"/>
          </a:xfrm>
          <a:prstGeom prst="roundRect">
            <a:avLst>
              <a:gd name="adj" fmla="val 12668"/>
            </a:avLst>
          </a:prstGeom>
          <a:solidFill>
            <a:schemeClr val="bg1"/>
          </a:solidFill>
          <a:ln w="19050">
            <a:solidFill>
              <a:schemeClr val="tx1"/>
            </a:solidFill>
            <a:prstDash val="solid"/>
          </a:ln>
        </p:spPr>
      </p:sp>
      <p:sp>
        <p:nvSpPr>
          <p:cNvPr id="7" name="scenario-3338"/>
          <p:cNvSpPr txBox="1"/>
          <p:nvPr/>
        </p:nvSpPr>
        <p:spPr>
          <a:xfrm>
            <a:off x="914400" y="2148840"/>
            <a:ext cx="10362895" cy="500456"/>
          </a:xfrm>
          <a:prstGeom prst="rect">
            <a:avLst/>
          </a:prstGeom>
          <a:noFill/>
          <a:ln/>
        </p:spPr>
        <p:txBody>
          <a:bodyPr wrap="square" lIns="0" tIns="0" rIns="0" bIns="0" rtlCol="0" anchor="ctr"/>
          <a:lstStyle/>
          <a:p>
            <a:pPr algn="l" indent="0" marL="0">
              <a:buNone/>
            </a:pPr>
            <a:r>
              <a:rPr lang="en-US" sz="1600" b="1" dirty="0">
                <a:solidFill>
                  <a:srgbClr val="0D1A7A"/>
                </a:solidFill>
                <a:latin typeface="Courier New" pitchFamily="34" charset="0"/>
                <a:ea typeface="Courier New" pitchFamily="34" charset="-122"/>
                <a:cs typeface="Courier New" pitchFamily="34" charset="-120"/>
              </a:rPr>
              <a:t>REPARACION(cliente, tipo, mecanico)</a:t>
            </a:r>
            <a:pPr algn="l" indent="0" marL="0">
              <a:buNone/>
            </a:pPr>
            <a:r>
              <a:rPr lang="en-US" sz="1600" b="1" dirty="0">
                <a:solidFill>
                  <a:srgbClr val="15171C"/>
                </a:solidFill>
              </a:rPr>
              <a:t>. Cada mecánico está especializado en </a:t>
            </a:r>
            <a:pPr algn="l" indent="0" marL="0">
              <a:buNone/>
            </a:pPr>
            <a:r>
              <a:rPr lang="en-US" sz="1600" b="1" dirty="0">
                <a:solidFill>
                  <a:srgbClr val="15171C"/>
                </a:solidFill>
              </a:rPr>
              <a:t>un solo tipo</a:t>
            </a:r>
            <a:pPr algn="l" indent="0" marL="0">
              <a:buNone/>
            </a:pPr>
            <a:r>
              <a:rPr lang="en-US" sz="1600" b="1" dirty="0">
                <a:solidFill>
                  <a:srgbClr val="15171C"/>
                </a:solidFill>
              </a:rPr>
              <a:t> de reparación y, para cada tipo, cada cliente es atendido siempre por el mismo mecánico.</a:t>
            </a:r>
            <a:endParaRPr lang="en-US" sz="1600" dirty="0"/>
          </a:p>
        </p:txBody>
      </p:sp>
      <p:pic>
        <p:nvPicPr>
          <p:cNvPr id="8" name="imagen-3339" descr="Diagrama / tabla de la diapositiva">    </p:cNvPr>
          <p:cNvPicPr>
            <a:picLocks noChangeAspect="1"/>
          </p:cNvPicPr>
          <p:nvPr/>
        </p:nvPicPr>
        <p:blipFill>
          <a:blip r:embed="rId1"/>
          <a:stretch>
            <a:fillRect/>
          </a:stretch>
        </p:blipFill>
        <p:spPr>
          <a:xfrm>
            <a:off x="685800" y="3015056"/>
            <a:ext cx="2904823" cy="1676571"/>
          </a:xfrm>
          <a:prstGeom prst="rect">
            <a:avLst/>
          </a:prstGeom>
        </p:spPr>
      </p:pic>
      <p:sp>
        <p:nvSpPr>
          <p:cNvPr id="9" name="marker-3340"/>
          <p:cNvSpPr txBox="1"/>
          <p:nvPr/>
        </p:nvSpPr>
        <p:spPr>
          <a:xfrm>
            <a:off x="685800" y="4874508"/>
            <a:ext cx="365760" cy="344602"/>
          </a:xfrm>
          <a:prstGeom prst="rect">
            <a:avLst/>
          </a:prstGeom>
          <a:noFill/>
          <a:ln/>
        </p:spPr>
        <p:txBody>
          <a:bodyPr wrap="square" lIns="0" tIns="0" rIns="0" bIns="0" rtlCol="0" anchor="t"/>
          <a:lstStyle/>
          <a:p>
            <a:pPr indent="0" marL="0">
              <a:buNone/>
            </a:pPr>
            <a:r>
              <a:rPr lang="en-US" sz="1870" b="1" dirty="0">
                <a:solidFill>
                  <a:srgbClr val="1B39E6"/>
                </a:solidFill>
              </a:rPr>
              <a:t>1.</a:t>
            </a:r>
            <a:endParaRPr lang="en-US" sz="1870" dirty="0"/>
          </a:p>
        </p:txBody>
      </p:sp>
      <p:sp>
        <p:nvSpPr>
          <p:cNvPr id="10" name="item-3341"/>
          <p:cNvSpPr txBox="1"/>
          <p:nvPr/>
        </p:nvSpPr>
        <p:spPr>
          <a:xfrm>
            <a:off x="1097280" y="4874508"/>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DF y claves candidatas.</a:t>
            </a:r>
            <a:endParaRPr lang="en-US" sz="1850" dirty="0"/>
          </a:p>
        </p:txBody>
      </p:sp>
      <p:sp>
        <p:nvSpPr>
          <p:cNvPr id="11" name="marker-3342"/>
          <p:cNvSpPr txBox="1"/>
          <p:nvPr/>
        </p:nvSpPr>
        <p:spPr>
          <a:xfrm>
            <a:off x="685800" y="5310549"/>
            <a:ext cx="365760" cy="344602"/>
          </a:xfrm>
          <a:prstGeom prst="rect">
            <a:avLst/>
          </a:prstGeom>
          <a:noFill/>
          <a:ln/>
        </p:spPr>
        <p:txBody>
          <a:bodyPr wrap="square" lIns="0" tIns="0" rIns="0" bIns="0" rtlCol="0" anchor="t"/>
          <a:lstStyle/>
          <a:p>
            <a:pPr indent="0" marL="0">
              <a:buNone/>
            </a:pPr>
            <a:r>
              <a:rPr lang="en-US" sz="1870" b="1" dirty="0">
                <a:solidFill>
                  <a:srgbClr val="1B39E6"/>
                </a:solidFill>
              </a:rPr>
              <a:t>2.</a:t>
            </a:r>
            <a:endParaRPr lang="en-US" sz="1870" dirty="0"/>
          </a:p>
        </p:txBody>
      </p:sp>
      <p:sp>
        <p:nvSpPr>
          <p:cNvPr id="12" name="item-3343"/>
          <p:cNvSpPr txBox="1"/>
          <p:nvPr/>
        </p:nvSpPr>
        <p:spPr>
          <a:xfrm>
            <a:off x="1097280" y="5310549"/>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¿3FN? ¿FNBC?</a:t>
            </a:r>
            <a:endParaRPr lang="en-US" sz="1850" dirty="0"/>
          </a:p>
        </p:txBody>
      </p:sp>
      <p:sp>
        <p:nvSpPr>
          <p:cNvPr id="13" name="marker-3344"/>
          <p:cNvSpPr txBox="1"/>
          <p:nvPr/>
        </p:nvSpPr>
        <p:spPr>
          <a:xfrm>
            <a:off x="685800" y="5746591"/>
            <a:ext cx="365760" cy="344602"/>
          </a:xfrm>
          <a:prstGeom prst="rect">
            <a:avLst/>
          </a:prstGeom>
          <a:noFill/>
          <a:ln/>
        </p:spPr>
        <p:txBody>
          <a:bodyPr wrap="square" lIns="0" tIns="0" rIns="0" bIns="0" rtlCol="0" anchor="t"/>
          <a:lstStyle/>
          <a:p>
            <a:pPr indent="0" marL="0">
              <a:buNone/>
            </a:pPr>
            <a:r>
              <a:rPr lang="en-US" sz="1870" b="1" dirty="0">
                <a:solidFill>
                  <a:srgbClr val="1B39E6"/>
                </a:solidFill>
              </a:rPr>
              <a:t>3.</a:t>
            </a:r>
            <a:endParaRPr lang="en-US" sz="1870" dirty="0"/>
          </a:p>
        </p:txBody>
      </p:sp>
      <p:sp>
        <p:nvSpPr>
          <p:cNvPr id="14" name="item-3345"/>
          <p:cNvSpPr txBox="1"/>
          <p:nvPr/>
        </p:nvSpPr>
        <p:spPr>
          <a:xfrm>
            <a:off x="1097280" y="5746591"/>
            <a:ext cx="10408615" cy="344602"/>
          </a:xfrm>
          <a:prstGeom prst="rect">
            <a:avLst/>
          </a:prstGeom>
          <a:noFill/>
          <a:ln/>
        </p:spPr>
        <p:txBody>
          <a:bodyPr wrap="square" lIns="0" tIns="0" rIns="0" bIns="0" rtlCol="0" anchor="t"/>
          <a:lstStyle/>
          <a:p>
            <a:pPr algn="l" indent="0" marL="0">
              <a:buNone/>
            </a:pPr>
            <a:r>
              <a:rPr lang="en-US" sz="1850" b="1" dirty="0">
                <a:solidFill>
                  <a:srgbClr val="15171C"/>
                </a:solidFill>
              </a:rPr>
              <a:t>Descomponla si hace falta.</a:t>
            </a:r>
            <a:endParaRPr lang="en-US" sz="185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body" hasCustomPrompt="1"/>
          </p:nvPr>
        </p:nvSpPr>
        <p:spPr>
          <a:xfrm>
            <a:off x="132588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SOLUCIÓN</a:t>
            </a:r>
            <a:endParaRPr lang="en-US" sz="1300" dirty="0"/>
          </a:p>
        </p:txBody>
      </p:sp>
      <p:sp>
        <p:nvSpPr>
          <p:cNvPr id="3" name="Text 0"/>
          <p:cNvSpPr/>
          <p:nvPr>
            <p:ph idx="102" type="title" hasCustomPrompt="1"/>
          </p:nvPr>
        </p:nvSpPr>
        <p:spPr>
          <a:xfrm>
            <a:off x="685800" y="105156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En 3FN sí, en FNBC no</a:t>
            </a:r>
            <a:endParaRPr lang="en-US" sz="4000" dirty="0"/>
          </a:p>
        </p:txBody>
      </p:sp>
      <p:sp>
        <p:nvSpPr>
          <p:cNvPr id="4" name="badge-3346"/>
          <p:cNvSpPr/>
          <p:nvPr/>
        </p:nvSpPr>
        <p:spPr>
          <a:xfrm>
            <a:off x="685800" y="292608"/>
            <a:ext cx="475488" cy="475488"/>
          </a:xfrm>
          <a:prstGeom prst="ellipse">
            <a:avLst/>
          </a:prstGeom>
          <a:solidFill>
            <a:srgbClr val="3F9468"/>
          </a:solidFill>
          <a:ln/>
        </p:spPr>
      </p:sp>
      <p:sp>
        <p:nvSpPr>
          <p:cNvPr id="5" name="badge-glyph-3347"/>
          <p:cNvSpPr txBox="1"/>
          <p:nvPr/>
        </p:nvSpPr>
        <p:spPr>
          <a:xfrm>
            <a:off x="685800" y="292608"/>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rPr>
              <a:t>✓</a:t>
            </a:r>
            <a:endParaRPr lang="en-US" sz="1800" dirty="0"/>
          </a:p>
        </p:txBody>
      </p:sp>
      <p:sp>
        <p:nvSpPr>
          <p:cNvPr id="6" name="marker-3372"/>
          <p:cNvSpPr txBox="1"/>
          <p:nvPr/>
        </p:nvSpPr>
        <p:spPr>
          <a:xfrm>
            <a:off x="685800" y="1965960"/>
            <a:ext cx="365760" cy="1480312"/>
          </a:xfrm>
          <a:prstGeom prst="rect">
            <a:avLst/>
          </a:prstGeom>
          <a:noFill/>
          <a:ln/>
        </p:spPr>
        <p:txBody>
          <a:bodyPr wrap="square" lIns="0" tIns="0" rIns="0" bIns="0" rtlCol="0" anchor="t"/>
          <a:lstStyle/>
          <a:p>
            <a:pPr indent="0" marL="0">
              <a:buNone/>
            </a:pPr>
            <a:r>
              <a:rPr lang="en-US" sz="2300" b="1" dirty="0">
                <a:solidFill>
                  <a:srgbClr val="1B39E6"/>
                </a:solidFill>
              </a:rPr>
              <a:t>•</a:t>
            </a:r>
            <a:endParaRPr lang="en-US" sz="2300" dirty="0"/>
          </a:p>
        </p:txBody>
      </p:sp>
      <p:sp>
        <p:nvSpPr>
          <p:cNvPr id="7" name="item-3373"/>
          <p:cNvSpPr txBox="1"/>
          <p:nvPr/>
        </p:nvSpPr>
        <p:spPr>
          <a:xfrm>
            <a:off x="1097280" y="1965960"/>
            <a:ext cx="5214970" cy="1480312"/>
          </a:xfrm>
          <a:prstGeom prst="rect">
            <a:avLst/>
          </a:prstGeom>
          <a:noFill/>
          <a:ln/>
        </p:spPr>
        <p:txBody>
          <a:bodyPr wrap="square" lIns="0" tIns="0" rIns="0" bIns="0" rtlCol="0" anchor="t"/>
          <a:lstStyle/>
          <a:p>
            <a:pPr algn="l" indent="0" marL="0">
              <a:buNone/>
            </a:pPr>
            <a:r>
              <a:rPr lang="en-US" sz="2300" dirty="0">
                <a:solidFill>
                  <a:srgbClr val="0D1A7A"/>
                </a:solidFill>
                <a:latin typeface="Courier New" pitchFamily="34" charset="0"/>
                <a:ea typeface="Courier New" pitchFamily="34" charset="-122"/>
                <a:cs typeface="Courier New" pitchFamily="34" charset="-120"/>
              </a:rPr>
              <a:t>(cliente, tipo) → mecanico</a:t>
            </a:r>
            <a:pPr algn="l" indent="0" marL="0">
              <a:buNone/>
            </a:pPr>
            <a:r>
              <a:rPr lang="en-US" sz="2300" dirty="0">
                <a:solidFill>
                  <a:srgbClr val="4B4F58"/>
                </a:solidFill>
              </a:rPr>
              <a:t> y </a:t>
            </a:r>
            <a:pPr algn="l" indent="0" marL="0">
              <a:buNone/>
            </a:pPr>
            <a:r>
              <a:rPr lang="en-US" sz="2300" dirty="0">
                <a:solidFill>
                  <a:srgbClr val="0D1A7A"/>
                </a:solidFill>
                <a:latin typeface="Courier New" pitchFamily="34" charset="0"/>
                <a:ea typeface="Courier New" pitchFamily="34" charset="-122"/>
                <a:cs typeface="Courier New" pitchFamily="34" charset="-120"/>
              </a:rPr>
              <a:t>mecanico → tipo</a:t>
            </a:r>
            <a:pPr algn="l" indent="0" marL="0">
              <a:buNone/>
            </a:pPr>
            <a:r>
              <a:rPr lang="en-US" sz="2300" dirty="0">
                <a:solidFill>
                  <a:srgbClr val="4B4F58"/>
                </a:solidFill>
              </a:rPr>
              <a:t>. Candidatas: </a:t>
            </a:r>
            <a:pPr algn="l" indent="0" marL="0">
              <a:buNone/>
            </a:pPr>
            <a:r>
              <a:rPr lang="en-US" sz="2300" dirty="0">
                <a:solidFill>
                  <a:srgbClr val="0D1A7A"/>
                </a:solidFill>
                <a:latin typeface="Courier New" pitchFamily="34" charset="0"/>
                <a:ea typeface="Courier New" pitchFamily="34" charset="-122"/>
                <a:cs typeface="Courier New" pitchFamily="34" charset="-120"/>
              </a:rPr>
              <a:t>(cliente, tipo)</a:t>
            </a:r>
            <a:pPr algn="l" indent="0" marL="0">
              <a:buNone/>
            </a:pPr>
            <a:r>
              <a:rPr lang="en-US" sz="2300" dirty="0">
                <a:solidFill>
                  <a:srgbClr val="4B4F58"/>
                </a:solidFill>
              </a:rPr>
              <a:t> y </a:t>
            </a:r>
            <a:pPr algn="l" indent="0" marL="0">
              <a:buNone/>
            </a:pPr>
            <a:r>
              <a:rPr lang="en-US" sz="2300" dirty="0">
                <a:solidFill>
                  <a:srgbClr val="0D1A7A"/>
                </a:solidFill>
                <a:latin typeface="Courier New" pitchFamily="34" charset="0"/>
                <a:ea typeface="Courier New" pitchFamily="34" charset="-122"/>
                <a:cs typeface="Courier New" pitchFamily="34" charset="-120"/>
              </a:rPr>
              <a:t>(cliente, mecanico)</a:t>
            </a:r>
            <a:pPr algn="l" indent="0" marL="0">
              <a:buNone/>
            </a:pPr>
            <a:r>
              <a:rPr lang="en-US" sz="2300" dirty="0">
                <a:solidFill>
                  <a:srgbClr val="4B4F58"/>
                </a:solidFill>
              </a:rPr>
              <a:t>.</a:t>
            </a:r>
            <a:endParaRPr lang="en-US" sz="2300" dirty="0"/>
          </a:p>
        </p:txBody>
      </p:sp>
      <p:sp>
        <p:nvSpPr>
          <p:cNvPr id="8" name="marker-3374"/>
          <p:cNvSpPr txBox="1"/>
          <p:nvPr/>
        </p:nvSpPr>
        <p:spPr>
          <a:xfrm>
            <a:off x="685800" y="3537712"/>
            <a:ext cx="365760" cy="1480312"/>
          </a:xfrm>
          <a:prstGeom prst="rect">
            <a:avLst/>
          </a:prstGeom>
          <a:noFill/>
          <a:ln/>
        </p:spPr>
        <p:txBody>
          <a:bodyPr wrap="square" lIns="0" tIns="0" rIns="0" bIns="0" rtlCol="0" anchor="t"/>
          <a:lstStyle/>
          <a:p>
            <a:pPr indent="0" marL="0">
              <a:buNone/>
            </a:pPr>
            <a:r>
              <a:rPr lang="en-US" sz="2300" b="1" dirty="0">
                <a:solidFill>
                  <a:srgbClr val="1B39E6"/>
                </a:solidFill>
              </a:rPr>
              <a:t>•</a:t>
            </a:r>
            <a:endParaRPr lang="en-US" sz="2300" dirty="0"/>
          </a:p>
        </p:txBody>
      </p:sp>
      <p:sp>
        <p:nvSpPr>
          <p:cNvPr id="9" name="item-3375"/>
          <p:cNvSpPr txBox="1"/>
          <p:nvPr/>
        </p:nvSpPr>
        <p:spPr>
          <a:xfrm>
            <a:off x="1097280" y="3537712"/>
            <a:ext cx="5214970" cy="1480312"/>
          </a:xfrm>
          <a:prstGeom prst="rect">
            <a:avLst/>
          </a:prstGeom>
          <a:noFill/>
          <a:ln/>
        </p:spPr>
        <p:txBody>
          <a:bodyPr wrap="square" lIns="0" tIns="0" rIns="0" bIns="0" rtlCol="0" anchor="t"/>
          <a:lstStyle/>
          <a:p>
            <a:pPr algn="l" indent="0" marL="0">
              <a:buNone/>
            </a:pPr>
            <a:r>
              <a:rPr lang="en-US" sz="2300" b="1" dirty="0">
                <a:solidFill>
                  <a:srgbClr val="4B4F58"/>
                </a:solidFill>
              </a:rPr>
              <a:t>3FN:</a:t>
            </a:r>
            <a:pPr algn="l" indent="0" marL="0">
              <a:buNone/>
            </a:pPr>
            <a:r>
              <a:rPr lang="en-US" sz="2300" dirty="0">
                <a:solidFill>
                  <a:srgbClr val="4B4F58"/>
                </a:solidFill>
              </a:rPr>
              <a:t> todos los atributos forman parte de alguna clave. </a:t>
            </a:r>
            <a:pPr algn="l" indent="0" marL="0">
              <a:buNone/>
            </a:pPr>
            <a:r>
              <a:rPr lang="en-US" sz="2300" b="1" dirty="0">
                <a:solidFill>
                  <a:srgbClr val="4B4F58"/>
                </a:solidFill>
              </a:rPr>
              <a:t>No FNBC:</a:t>
            </a:r>
            <a:pPr algn="l" indent="0" marL="0">
              <a:buNone/>
            </a:pPr>
            <a:r>
              <a:rPr lang="en-US" sz="2300" dirty="0">
                <a:solidFill>
                  <a:srgbClr val="4B4F58"/>
                </a:solidFill>
              </a:rPr>
              <a:t> </a:t>
            </a:r>
            <a:pPr algn="l" indent="0" marL="0">
              <a:buNone/>
            </a:pPr>
            <a:r>
              <a:rPr lang="en-US" sz="2300" dirty="0">
                <a:solidFill>
                  <a:srgbClr val="0D1A7A"/>
                </a:solidFill>
                <a:latin typeface="Courier New" pitchFamily="34" charset="0"/>
                <a:ea typeface="Courier New" pitchFamily="34" charset="-122"/>
                <a:cs typeface="Courier New" pitchFamily="34" charset="-120"/>
              </a:rPr>
              <a:t>mecanico</a:t>
            </a:r>
            <a:pPr algn="l" indent="0" marL="0">
              <a:buNone/>
            </a:pPr>
            <a:r>
              <a:rPr lang="en-US" sz="2300" dirty="0">
                <a:solidFill>
                  <a:srgbClr val="4B4F58"/>
                </a:solidFill>
              </a:rPr>
              <a:t> determina el tipo y no es clave.</a:t>
            </a:r>
            <a:endParaRPr lang="en-US" sz="2300" dirty="0"/>
          </a:p>
        </p:txBody>
      </p:sp>
      <p:pic>
        <p:nvPicPr>
          <p:cNvPr id="10" name="imagen-3376" descr="Diagrama / tabla de la diapositiva">    </p:cNvPr>
          <p:cNvPicPr>
            <a:picLocks noChangeAspect="1"/>
          </p:cNvPicPr>
          <p:nvPr/>
        </p:nvPicPr>
        <p:blipFill>
          <a:blip r:embed="rId1"/>
          <a:stretch>
            <a:fillRect/>
          </a:stretch>
        </p:blipFill>
        <p:spPr>
          <a:xfrm>
            <a:off x="6745053" y="1965960"/>
            <a:ext cx="4760842" cy="1326771"/>
          </a:xfrm>
          <a:prstGeom prst="rect">
            <a:avLst/>
          </a:prstGeom>
        </p:spPr>
      </p:pic>
      <p:sp>
        <p:nvSpPr>
          <p:cNvPr id="11" name="note-3377"/>
          <p:cNvSpPr txBox="1"/>
          <p:nvPr/>
        </p:nvSpPr>
        <p:spPr>
          <a:xfrm>
            <a:off x="685800" y="5200904"/>
            <a:ext cx="10820095" cy="758444"/>
          </a:xfrm>
          <a:prstGeom prst="rect">
            <a:avLst/>
          </a:prstGeom>
          <a:noFill/>
          <a:ln/>
        </p:spPr>
        <p:txBody>
          <a:bodyPr wrap="square" lIns="0" tIns="0" rIns="0" bIns="0" rtlCol="0" anchor="t"/>
          <a:lstStyle/>
          <a:p>
            <a:pPr algn="l" indent="0" marL="0">
              <a:buNone/>
            </a:pPr>
            <a:r>
              <a:rPr lang="en-US" sz="2300" dirty="0">
                <a:solidFill>
                  <a:srgbClr val="4B4F58"/>
                </a:solidFill>
              </a:rPr>
              <a:t>Unir las dos tablas por </a:t>
            </a:r>
            <a:pPr algn="l" indent="0" marL="0">
              <a:buNone/>
            </a:pPr>
            <a:r>
              <a:rPr lang="en-US" sz="2300" dirty="0">
                <a:solidFill>
                  <a:srgbClr val="0D1A7A"/>
                </a:solidFill>
                <a:latin typeface="Courier New" pitchFamily="34" charset="0"/>
                <a:ea typeface="Courier New" pitchFamily="34" charset="-122"/>
                <a:cs typeface="Courier New" pitchFamily="34" charset="-120"/>
              </a:rPr>
              <a:t>mecanico</a:t>
            </a:r>
            <a:pPr algn="l" indent="0" marL="0">
              <a:buNone/>
            </a:pPr>
            <a:r>
              <a:rPr lang="en-US" sz="2300" dirty="0">
                <a:solidFill>
                  <a:srgbClr val="4B4F58"/>
                </a:solidFill>
              </a:rPr>
              <a:t> recupera exactamente las filas originales: no se pierde información.</a:t>
            </a:r>
            <a:endParaRPr lang="en-US" sz="23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2" type="body" hasCustomPrompt="1"/>
          </p:nvPr>
        </p:nvSpPr>
        <p:spPr>
          <a:xfrm>
            <a:off x="685800" y="384048"/>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08 — EJEMPLO COMPLETO</a:t>
            </a:r>
            <a:endParaRPr lang="en-US" sz="1300" dirty="0"/>
          </a:p>
        </p:txBody>
      </p:sp>
      <p:sp>
        <p:nvSpPr>
          <p:cNvPr id="3" name="Text 0"/>
          <p:cNvSpPr/>
          <p:nvPr>
            <p:ph idx="103" type="title" hasCustomPrompt="1"/>
          </p:nvPr>
        </p:nvSpPr>
        <p:spPr>
          <a:xfrm>
            <a:off x="685800" y="7315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StarVoice en siete tablas</a:t>
            </a:r>
            <a:endParaRPr lang="en-US" sz="4000" dirty="0"/>
          </a:p>
        </p:txBody>
      </p:sp>
      <p:pic>
        <p:nvPicPr>
          <p:cNvPr id="4" name="imagen-3398" descr="Diagrama / tabla de la diapositiva">    </p:cNvPr>
          <p:cNvPicPr>
            <a:picLocks noChangeAspect="1"/>
          </p:cNvPicPr>
          <p:nvPr/>
        </p:nvPicPr>
        <p:blipFill>
          <a:blip r:embed="rId1"/>
          <a:stretch>
            <a:fillRect/>
          </a:stretch>
        </p:blipFill>
        <p:spPr>
          <a:xfrm>
            <a:off x="685800" y="1783080"/>
            <a:ext cx="9713071" cy="3658284"/>
          </a:xfrm>
          <a:prstGeom prst="rect">
            <a:avLst/>
          </a:prstGeom>
        </p:spPr>
      </p:pic>
      <p:sp>
        <p:nvSpPr>
          <p:cNvPr id="5" name="note-3399"/>
          <p:cNvSpPr txBox="1"/>
          <p:nvPr/>
        </p:nvSpPr>
        <p:spPr>
          <a:xfrm>
            <a:off x="685800" y="5624244"/>
            <a:ext cx="10820095" cy="572516"/>
          </a:xfrm>
          <a:prstGeom prst="rect">
            <a:avLst/>
          </a:prstGeom>
          <a:noFill/>
          <a:ln/>
        </p:spPr>
        <p:txBody>
          <a:bodyPr wrap="square" lIns="0" tIns="0" rIns="0" bIns="0" rtlCol="0" anchor="t"/>
          <a:lstStyle/>
          <a:p>
            <a:pPr algn="l" indent="0" marL="0">
              <a:buNone/>
            </a:pPr>
            <a:r>
              <a:rPr lang="en-US" sz="1700" dirty="0">
                <a:solidFill>
                  <a:srgbClr val="4B4F58"/>
                </a:solidFill>
              </a:rPr>
              <a:t>Tres 1:N (la clave viaja), una N:M (</a:t>
            </a:r>
            <a:pPr algn="l" indent="0" marL="0">
              <a:buNone/>
            </a:pPr>
            <a:r>
              <a:rPr lang="en-US" sz="1700" dirty="0">
                <a:solidFill>
                  <a:srgbClr val="0D1A7A"/>
                </a:solidFill>
                <a:latin typeface="Courier New" pitchFamily="34" charset="0"/>
                <a:ea typeface="Courier New" pitchFamily="34" charset="-122"/>
                <a:cs typeface="Courier New" pitchFamily="34" charset="-120"/>
              </a:rPr>
              <a:t>COMMENTS</a:t>
            </a:r>
            <a:pPr algn="l" indent="0" marL="0">
              <a:buNone/>
            </a:pPr>
            <a:r>
              <a:rPr lang="en-US" sz="1700" dirty="0">
                <a:solidFill>
                  <a:srgbClr val="4B4F58"/>
                </a:solidFill>
              </a:rPr>
              <a:t>) y la jerarquía en opción 2. Todo en 3FN, de hecho en FNBC. Lo que no se garantiza: que todo concursante esté en </a:t>
            </a:r>
            <a:pPr algn="l" indent="0" marL="0">
              <a:buNone/>
            </a:pPr>
            <a:r>
              <a:rPr lang="en-US" sz="1700" dirty="0">
                <a:solidFill>
                  <a:srgbClr val="0D1A7A"/>
                </a:solidFill>
                <a:latin typeface="Courier New" pitchFamily="34" charset="0"/>
                <a:ea typeface="Courier New" pitchFamily="34" charset="-122"/>
                <a:cs typeface="Courier New" pitchFamily="34" charset="-120"/>
              </a:rPr>
              <a:t>SOLOIST</a:t>
            </a:r>
            <a:pPr algn="l" indent="0" marL="0">
              <a:buNone/>
            </a:pPr>
            <a:r>
              <a:rPr lang="en-US" sz="1700" dirty="0">
                <a:solidFill>
                  <a:srgbClr val="4B4F58"/>
                </a:solidFill>
              </a:rPr>
              <a:t> o </a:t>
            </a:r>
            <a:pPr algn="l" indent="0" marL="0">
              <a:buNone/>
            </a:pPr>
            <a:r>
              <a:rPr lang="en-US" sz="1700" dirty="0">
                <a:solidFill>
                  <a:srgbClr val="0D1A7A"/>
                </a:solidFill>
                <a:latin typeface="Courier New" pitchFamily="34" charset="0"/>
                <a:ea typeface="Courier New" pitchFamily="34" charset="-122"/>
                <a:cs typeface="Courier New" pitchFamily="34" charset="-120"/>
              </a:rPr>
              <a:t>DUO</a:t>
            </a:r>
            <a:pPr algn="l" indent="0" marL="0">
              <a:buNone/>
            </a:pPr>
            <a:r>
              <a:rPr lang="en-US" sz="1700" dirty="0">
                <a:solidFill>
                  <a:srgbClr val="4B4F58"/>
                </a:solidFill>
              </a:rPr>
              <a:t>.</a:t>
            </a:r>
            <a:endParaRPr lang="en-US" sz="17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2" type="body" hasCustomPrompt="1"/>
          </p:nvPr>
        </p:nvSpPr>
        <p:spPr>
          <a:xfrm>
            <a:off x="685800" y="1097280"/>
            <a:ext cx="9601200" cy="292608"/>
          </a:xfrm>
          <a:prstGeom prst="rect">
            <a:avLst/>
          </a:prstGeom>
          <a:noFill/>
          <a:ln/>
        </p:spPr>
        <p:txBody>
          <a:bodyPr wrap="square" lIns="0" tIns="0" rIns="0" bIns="0" rtlCol="0" anchor="ctr"/>
          <a:lstStyle/>
          <a:p>
            <a:pPr indent="0" marL="0">
              <a:buNone/>
            </a:pPr>
            <a:r>
              <a:rPr lang="en-US" sz="1300" b="1" spc="100" kern="0" dirty="0">
                <a:solidFill>
                  <a:schemeClr val="accent2"/>
                </a:solidFill>
              </a:rPr>
              <a:t>EN RESUMEN</a:t>
            </a:r>
            <a:endParaRPr lang="en-US" sz="1300" dirty="0"/>
          </a:p>
        </p:txBody>
      </p:sp>
      <p:sp>
        <p:nvSpPr>
          <p:cNvPr id="3" name="Text 0"/>
          <p:cNvSpPr/>
          <p:nvPr>
            <p:ph idx="103" type="title" hasCustomPrompt="1"/>
          </p:nvPr>
        </p:nvSpPr>
        <p:spPr>
          <a:xfrm>
            <a:off x="685800" y="1417320"/>
            <a:ext cx="10820095" cy="777240"/>
          </a:xfrm>
          <a:prstGeom prst="rect">
            <a:avLst/>
          </a:prstGeom>
          <a:noFill/>
          <a:ln/>
        </p:spPr>
        <p:txBody>
          <a:bodyPr wrap="square" lIns="0" tIns="0" rIns="0" bIns="0" rtlCol="0" anchor="ctr"/>
          <a:lstStyle/>
          <a:p>
            <a:pPr algn="l" indent="0" marL="0">
              <a:buNone/>
            </a:pPr>
            <a:r>
              <a:rPr lang="en-US" sz="4000" b="1" dirty="0">
                <a:solidFill>
                  <a:schemeClr val="tx1"/>
                </a:solidFill>
              </a:rPr>
              <a:t>Cinco ideas para llevarse</a:t>
            </a:r>
            <a:endParaRPr lang="en-US" sz="4000" dirty="0"/>
          </a:p>
        </p:txBody>
      </p:sp>
      <p:sp>
        <p:nvSpPr>
          <p:cNvPr id="4" name="fin-dot-3496"/>
          <p:cNvSpPr/>
          <p:nvPr/>
        </p:nvSpPr>
        <p:spPr>
          <a:xfrm>
            <a:off x="685800" y="2176272"/>
            <a:ext cx="329184" cy="329184"/>
          </a:xfrm>
          <a:prstGeom prst="ellipse">
            <a:avLst/>
          </a:prstGeom>
          <a:solidFill>
            <a:schemeClr val="tx1"/>
          </a:solidFill>
          <a:ln/>
        </p:spPr>
      </p:sp>
      <p:sp>
        <p:nvSpPr>
          <p:cNvPr id="5" name="fin-n-3497"/>
          <p:cNvSpPr txBox="1"/>
          <p:nvPr/>
        </p:nvSpPr>
        <p:spPr>
          <a:xfrm>
            <a:off x="685800" y="21762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6" name="fin-txt-3498"/>
          <p:cNvSpPr txBox="1"/>
          <p:nvPr/>
        </p:nvSpPr>
        <p:spPr>
          <a:xfrm>
            <a:off x="1188720" y="2148840"/>
            <a:ext cx="10317175" cy="665480"/>
          </a:xfrm>
          <a:prstGeom prst="rect">
            <a:avLst/>
          </a:prstGeom>
          <a:noFill/>
          <a:ln/>
        </p:spPr>
        <p:txBody>
          <a:bodyPr wrap="square" lIns="0" tIns="0" rIns="0" bIns="0" rtlCol="0" anchor="t"/>
          <a:lstStyle/>
          <a:p>
            <a:pPr algn="l" indent="0" marL="0">
              <a:buNone/>
            </a:pPr>
            <a:r>
              <a:rPr lang="en-US" sz="2000" b="1" dirty="0">
                <a:solidFill>
                  <a:srgbClr val="4B4F58"/>
                </a:solidFill>
              </a:rPr>
              <a:t>El modelo relacional</a:t>
            </a:r>
            <a:pPr algn="l" indent="0" marL="0">
              <a:buNone/>
            </a:pPr>
            <a:r>
              <a:rPr lang="en-US" sz="2000" dirty="0">
                <a:solidFill>
                  <a:srgbClr val="4B4F58"/>
                </a:solidFill>
              </a:rPr>
              <a:t> </a:t>
            </a:r>
            <a:pPr algn="l" indent="0" marL="0">
              <a:buNone/>
            </a:pPr>
            <a:r>
              <a:rPr lang="en-US" sz="2000" dirty="0">
                <a:solidFill>
                  <a:srgbClr val="4B4F58"/>
                </a:solidFill>
              </a:rPr>
              <a:t>organiza los datos en tablas de filas (tuplas) y columnas (atributos), cada una con su dominio.</a:t>
            </a:r>
            <a:endParaRPr lang="en-US" sz="2000" dirty="0"/>
          </a:p>
        </p:txBody>
      </p:sp>
      <p:sp>
        <p:nvSpPr>
          <p:cNvPr id="7" name="fin-dot-3499"/>
          <p:cNvSpPr/>
          <p:nvPr/>
        </p:nvSpPr>
        <p:spPr>
          <a:xfrm>
            <a:off x="685800" y="2933192"/>
            <a:ext cx="329184" cy="329184"/>
          </a:xfrm>
          <a:prstGeom prst="ellipse">
            <a:avLst/>
          </a:prstGeom>
          <a:solidFill>
            <a:schemeClr val="tx1"/>
          </a:solidFill>
          <a:ln/>
        </p:spPr>
      </p:sp>
      <p:sp>
        <p:nvSpPr>
          <p:cNvPr id="8" name="fin-n-3500"/>
          <p:cNvSpPr txBox="1"/>
          <p:nvPr/>
        </p:nvSpPr>
        <p:spPr>
          <a:xfrm>
            <a:off x="685800" y="2933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9" name="fin-txt-3501"/>
          <p:cNvSpPr txBox="1"/>
          <p:nvPr/>
        </p:nvSpPr>
        <p:spPr>
          <a:xfrm>
            <a:off x="1188720" y="2905760"/>
            <a:ext cx="10317175" cy="665480"/>
          </a:xfrm>
          <a:prstGeom prst="rect">
            <a:avLst/>
          </a:prstGeom>
          <a:noFill/>
          <a:ln/>
        </p:spPr>
        <p:txBody>
          <a:bodyPr wrap="square" lIns="0" tIns="0" rIns="0" bIns="0" rtlCol="0" anchor="t"/>
          <a:lstStyle/>
          <a:p>
            <a:pPr algn="l" indent="0" marL="0">
              <a:buNone/>
            </a:pPr>
            <a:r>
              <a:rPr lang="en-US" sz="2000" b="1" dirty="0">
                <a:solidFill>
                  <a:srgbClr val="4B4F58"/>
                </a:solidFill>
              </a:rPr>
              <a:t>Las claves</a:t>
            </a:r>
            <a:pPr algn="l" indent="0" marL="0">
              <a:buNone/>
            </a:pPr>
            <a:r>
              <a:rPr lang="en-US" sz="2000" dirty="0">
                <a:solidFill>
                  <a:srgbClr val="4B4F58"/>
                </a:solidFill>
              </a:rPr>
              <a:t> </a:t>
            </a:r>
            <a:pPr algn="l" indent="0" marL="0">
              <a:buNone/>
            </a:pPr>
            <a:r>
              <a:rPr lang="en-US" sz="2000" dirty="0">
                <a:solidFill>
                  <a:srgbClr val="4B4F58"/>
                </a:solidFill>
              </a:rPr>
              <a:t>identifican filas (candidata, primaria, alternativa) y enlazan tablas (foránea, que puede ser nula).</a:t>
            </a:r>
            <a:endParaRPr lang="en-US" sz="2000" dirty="0"/>
          </a:p>
        </p:txBody>
      </p:sp>
      <p:sp>
        <p:nvSpPr>
          <p:cNvPr id="10" name="fin-dot-3502"/>
          <p:cNvSpPr/>
          <p:nvPr/>
        </p:nvSpPr>
        <p:spPr>
          <a:xfrm>
            <a:off x="685800" y="3690112"/>
            <a:ext cx="329184" cy="329184"/>
          </a:xfrm>
          <a:prstGeom prst="ellipse">
            <a:avLst/>
          </a:prstGeom>
          <a:solidFill>
            <a:schemeClr val="tx1"/>
          </a:solidFill>
          <a:ln/>
        </p:spPr>
      </p:sp>
      <p:sp>
        <p:nvSpPr>
          <p:cNvPr id="11" name="fin-n-3503"/>
          <p:cNvSpPr txBox="1"/>
          <p:nvPr/>
        </p:nvSpPr>
        <p:spPr>
          <a:xfrm>
            <a:off x="685800" y="369011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2" name="fin-txt-3504"/>
          <p:cNvSpPr txBox="1"/>
          <p:nvPr/>
        </p:nvSpPr>
        <p:spPr>
          <a:xfrm>
            <a:off x="1188720" y="3662680"/>
            <a:ext cx="10317175" cy="665480"/>
          </a:xfrm>
          <a:prstGeom prst="rect">
            <a:avLst/>
          </a:prstGeom>
          <a:noFill/>
          <a:ln/>
        </p:spPr>
        <p:txBody>
          <a:bodyPr wrap="square" lIns="0" tIns="0" rIns="0" bIns="0" rtlCol="0" anchor="t"/>
          <a:lstStyle/>
          <a:p>
            <a:pPr algn="l" indent="0" marL="0">
              <a:buNone/>
            </a:pPr>
            <a:r>
              <a:rPr lang="en-US" sz="2000" b="1" dirty="0">
                <a:solidFill>
                  <a:srgbClr val="4B4F58"/>
                </a:solidFill>
              </a:rPr>
              <a:t>Paso a tablas</a:t>
            </a:r>
            <a:pPr algn="l" indent="0" marL="0">
              <a:buNone/>
            </a:pPr>
            <a:r>
              <a:rPr lang="en-US" sz="2000" dirty="0">
                <a:solidFill>
                  <a:srgbClr val="4B4F58"/>
                </a:solidFill>
              </a:rPr>
              <a:t> </a:t>
            </a:r>
            <a:pPr algn="l" indent="0" marL="0">
              <a:buNone/>
            </a:pPr>
            <a:r>
              <a:rPr lang="en-US" sz="2000" dirty="0">
                <a:solidFill>
                  <a:srgbClr val="4B4F58"/>
                </a:solidFill>
              </a:rPr>
              <a:t>N:M → tabla nueva; 1:N → la clave va a la tabla con la N al lado; 1:1 → a la tabla con el (0,1) al lado.</a:t>
            </a:r>
            <a:endParaRPr lang="en-US" sz="2000" dirty="0"/>
          </a:p>
        </p:txBody>
      </p:sp>
      <p:sp>
        <p:nvSpPr>
          <p:cNvPr id="13" name="fin-dot-3505"/>
          <p:cNvSpPr/>
          <p:nvPr/>
        </p:nvSpPr>
        <p:spPr>
          <a:xfrm>
            <a:off x="685800" y="4447032"/>
            <a:ext cx="329184" cy="329184"/>
          </a:xfrm>
          <a:prstGeom prst="ellipse">
            <a:avLst/>
          </a:prstGeom>
          <a:solidFill>
            <a:schemeClr val="tx1"/>
          </a:solidFill>
          <a:ln/>
        </p:spPr>
      </p:sp>
      <p:sp>
        <p:nvSpPr>
          <p:cNvPr id="14" name="fin-n-3506"/>
          <p:cNvSpPr txBox="1"/>
          <p:nvPr/>
        </p:nvSpPr>
        <p:spPr>
          <a:xfrm>
            <a:off x="685800" y="44470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5" name="fin-txt-3507"/>
          <p:cNvSpPr txBox="1"/>
          <p:nvPr/>
        </p:nvSpPr>
        <p:spPr>
          <a:xfrm>
            <a:off x="1188720" y="4419600"/>
            <a:ext cx="10317175" cy="665480"/>
          </a:xfrm>
          <a:prstGeom prst="rect">
            <a:avLst/>
          </a:prstGeom>
          <a:noFill/>
          <a:ln/>
        </p:spPr>
        <p:txBody>
          <a:bodyPr wrap="square" lIns="0" tIns="0" rIns="0" bIns="0" rtlCol="0" anchor="t"/>
          <a:lstStyle/>
          <a:p>
            <a:pPr algn="l" indent="0" marL="0">
              <a:buNone/>
            </a:pPr>
            <a:r>
              <a:rPr lang="en-US" sz="2000" b="1" dirty="0">
                <a:solidFill>
                  <a:srgbClr val="4B4F58"/>
                </a:solidFill>
              </a:rPr>
              <a:t>Normalizar</a:t>
            </a:r>
            <a:pPr algn="l" indent="0" marL="0">
              <a:buNone/>
            </a:pPr>
            <a:r>
              <a:rPr lang="en-US" sz="2000" dirty="0">
                <a:solidFill>
                  <a:srgbClr val="4B4F58"/>
                </a:solidFill>
              </a:rPr>
              <a:t> </a:t>
            </a:r>
            <a:pPr algn="l" indent="0" marL="0">
              <a:buNone/>
            </a:pPr>
            <a:r>
              <a:rPr lang="en-US" sz="2000" dirty="0">
                <a:solidFill>
                  <a:srgbClr val="4B4F58"/>
                </a:solidFill>
              </a:rPr>
              <a:t>es repartir hechos distintos en tablas distintas: 1FN atómico, 2FN sin parciales, 3FN sin transitivas, FNBC todo determinante es clave.</a:t>
            </a:r>
            <a:endParaRPr lang="en-US" sz="2000" dirty="0"/>
          </a:p>
        </p:txBody>
      </p:sp>
      <p:sp>
        <p:nvSpPr>
          <p:cNvPr id="16" name="fin-dot-3508"/>
          <p:cNvSpPr/>
          <p:nvPr/>
        </p:nvSpPr>
        <p:spPr>
          <a:xfrm>
            <a:off x="685800" y="5203952"/>
            <a:ext cx="329184" cy="329184"/>
          </a:xfrm>
          <a:prstGeom prst="ellipse">
            <a:avLst/>
          </a:prstGeom>
          <a:solidFill>
            <a:schemeClr val="tx1"/>
          </a:solidFill>
          <a:ln/>
        </p:spPr>
      </p:sp>
      <p:sp>
        <p:nvSpPr>
          <p:cNvPr id="17" name="fin-n-3509"/>
          <p:cNvSpPr txBox="1"/>
          <p:nvPr/>
        </p:nvSpPr>
        <p:spPr>
          <a:xfrm>
            <a:off x="685800" y="52039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18" name="fin-txt-3510"/>
          <p:cNvSpPr txBox="1"/>
          <p:nvPr/>
        </p:nvSpPr>
        <p:spPr>
          <a:xfrm>
            <a:off x="1188720" y="5176520"/>
            <a:ext cx="10317175" cy="665480"/>
          </a:xfrm>
          <a:prstGeom prst="rect">
            <a:avLst/>
          </a:prstGeom>
          <a:noFill/>
          <a:ln/>
        </p:spPr>
        <p:txBody>
          <a:bodyPr wrap="square" lIns="0" tIns="0" rIns="0" bIns="0" rtlCol="0" anchor="t"/>
          <a:lstStyle/>
          <a:p>
            <a:pPr algn="l" indent="0" marL="0">
              <a:buNone/>
            </a:pPr>
            <a:r>
              <a:rPr lang="en-US" sz="2000" b="1" dirty="0">
                <a:solidFill>
                  <a:srgbClr val="4B4F58"/>
                </a:solidFill>
              </a:rPr>
              <a:t>El esquema no lo dice todo</a:t>
            </a:r>
            <a:pPr algn="l" indent="0" marL="0">
              <a:buNone/>
            </a:pPr>
            <a:r>
              <a:rPr lang="en-US" sz="2000" dirty="0">
                <a:solidFill>
                  <a:srgbClr val="4B4F58"/>
                </a:solidFill>
              </a:rPr>
              <a:t> </a:t>
            </a:r>
            <a:pPr algn="l" indent="0" marL="0">
              <a:buNone/>
            </a:pPr>
            <a:r>
              <a:rPr lang="en-US" sz="2000" dirty="0">
                <a:solidFill>
                  <a:srgbClr val="4B4F58"/>
                </a:solidFill>
              </a:rPr>
              <a:t>mínimos como (2,N) o «total» en una ISA se controlan con disparadores o desde la aplicación.</a:t>
            </a:r>
            <a:endParaRPr lang="en-US" sz="2000" dirty="0"/>
          </a:p>
        </p:txBody>
      </p:sp>
      <p:sp>
        <p:nvSpPr>
          <p:cNvPr id="19" name="credits-3511"/>
          <p:cNvSpPr txBox="1"/>
          <p:nvPr/>
        </p:nvSpPr>
        <p:spPr>
          <a:xfrm>
            <a:off x="685800" y="5933440"/>
            <a:ext cx="10820095" cy="154940"/>
          </a:xfrm>
          <a:prstGeom prst="rect">
            <a:avLst/>
          </a:prstGeom>
          <a:noFill/>
          <a:ln/>
        </p:spPr>
        <p:txBody>
          <a:bodyPr wrap="square" lIns="0" tIns="0" rIns="0" bIns="0" rtlCol="0" anchor="t"/>
          <a:lstStyle/>
          <a:p>
            <a:pPr algn="l" indent="0" marL="0">
              <a:buNone/>
            </a:pPr>
            <a:r>
              <a:rPr lang="en-US" sz="1000" dirty="0">
                <a:solidFill>
                  <a:srgbClr val="767C8A"/>
                </a:solidFill>
              </a:rPr>
              <a:t>Resumen elaborado a partir de UT3 · Diseño lógico — Base de datos, 1º DAM — Marina Preciados Agapito.</a:t>
            </a:r>
            <a:endParaRPr lang="en-US" sz="1000" dirty="0"/>
          </a:p>
        </p:txBody>
      </p:sp>
      <p:sp>
        <p:nvSpPr>
          <p:cNvPr id="25" name="Slide Number Placeholder 0"/>
          <p:cNvSpPr>
            <a:spLocks noGrp="1"/>
          </p:cNvSpPr>
          <p:nvPr>
            <p:ph type="sldNum" sz="quarter" idx="4294967295"/>
          </p:nvPr>
        </p:nvSpPr>
        <p:spPr>
          <a:xfrm>
            <a:off x="1115568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theme/theme1.xml><?xml version="1.0" encoding="utf-8"?>
<a:theme xmlns:a="http://schemas.openxmlformats.org/drawingml/2006/main" name="UT3 Diseño lógico">
  <a:themeElements>
    <a:clrScheme name="UT3 Diseño lógico">
      <a:dk1>
        <a:srgbClr val="15171C"/>
      </a:dk1>
      <a:lt1>
        <a:srgbClr val="FFFFFF"/>
      </a:lt1>
      <a:dk2>
        <a:srgbClr val="4B4F58"/>
      </a:dk2>
      <a:lt2>
        <a:srgbClr val="F0EDE6"/>
      </a:lt2>
      <a:accent1>
        <a:srgbClr val="1B39E6"/>
      </a:accent1>
      <a:accent2>
        <a:srgbClr val="0D1A7A"/>
      </a:accent2>
      <a:accent3>
        <a:srgbClr val="E9C3EF"/>
      </a:accent3>
      <a:accent4>
        <a:srgbClr val="8ED0AA"/>
      </a:accent4>
      <a:accent5>
        <a:srgbClr val="FF5A2E"/>
      </a:accent5>
      <a:accent6>
        <a:srgbClr val="FFD23F"/>
      </a:accent6>
      <a:hlink>
        <a:srgbClr val="1B39E6"/>
      </a:hlink>
      <a:folHlink>
        <a:srgbClr val="0D1A7A"/>
      </a:folHlink>
    </a:clrScheme>
    <a:fontScheme name="UT3 Diseño lógic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UT3 · Resumen — El diseño lógico</dc:title>
  <dc:subject>Bases de datos 1º DAM bilingüe</dc:subject>
  <dc:creator>Marina Preciados Agapito</dc:creator>
  <cp:lastModifiedBy>Marina Preciados Agapito</cp:lastModifiedBy>
  <cp:revision>1</cp:revision>
  <dcterms:created xsi:type="dcterms:W3CDTF">2026-10-20T09:16:31Z</dcterms:created>
  <dcterms:modified xsi:type="dcterms:W3CDTF">2026-10-20T09:16:31Z</dcterms:modified>
</cp:coreProperties>
</file>