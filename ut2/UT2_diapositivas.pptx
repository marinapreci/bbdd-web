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1463040"/>
            <a:ext cx="3566160" cy="3566160"/>
          </a:xfrm>
          <a:prstGeom prst="ellipse">
            <a:avLst/>
          </a:prstGeom>
          <a:solidFill>
            <a:srgbClr val="1B39E6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640080" y="5029200"/>
            <a:ext cx="2377440" cy="2377440"/>
          </a:xfrm>
          <a:prstGeom prst="triangle">
            <a:avLst/>
          </a:prstGeom>
          <a:solidFill>
            <a:srgbClr val="E9C3E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BASE DE DATOS · 1º DAM BILINGÜE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237744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lógico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bases de datos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Preciados Agapito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vamos a 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075688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75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2057400"/>
            <a:ext cx="10801807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Concepto de modelo entidad-relación  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42616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642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2624328"/>
            <a:ext cx="10801807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Entidad: representación gráfica  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209544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09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3191256"/>
            <a:ext cx="10801807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Relación: representación gráfica  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76472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776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3758184"/>
            <a:ext cx="10801807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Diagrama entidad-relación  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343400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4325112"/>
            <a:ext cx="10801807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Modelo entidad-relación extendido  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910328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910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4892040"/>
            <a:ext cx="10801807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Guía para la construcción de un modelo E/R  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1B39E6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8ED0A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mundo real al modelado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de datos representa la información contenida en algún dominio del mundo real. Diseñarla consiste en extraer todos los datos relevantes de un problema.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54329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Quedarse con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511296"/>
            <a:ext cx="5432908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esenciales para la base de datos.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55868" y="3200400"/>
            <a:ext cx="54329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55868" y="3511296"/>
            <a:ext cx="5432908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es de utilidad para el problema.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510235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521208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análisis en profundidad del problema, y una vez extraídos los datos: modelado de datos.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E9C3E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MODELADO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de representación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3594506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2203704"/>
            <a:ext cx="978408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203704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" y="2532888"/>
            <a:ext cx="3301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843784"/>
            <a:ext cx="3301898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y opera un sistema. Independiente de la BBDD. Ej.: modelo E/R.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8594" y="2057400"/>
            <a:ext cx="3594506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4898" y="2203704"/>
            <a:ext cx="667512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444898" y="2203704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44898" y="2532888"/>
            <a:ext cx="3301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lógico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44898" y="2843784"/>
            <a:ext cx="3301898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técnico; depende del tipo de BBDD. Estructura los datos y sus relaciones. Ej.: modelo relacional.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4269" y="2057400"/>
            <a:ext cx="3594506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0573" y="2203704"/>
            <a:ext cx="667512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8" name="Text 16"/>
          <p:cNvSpPr/>
          <p:nvPr/>
        </p:nvSpPr>
        <p:spPr>
          <a:xfrm>
            <a:off x="8240573" y="2203704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40573" y="2532888"/>
            <a:ext cx="3301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físico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40573" y="2843784"/>
            <a:ext cx="3301898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almacenan los datos: ficheros, registros, tablas...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514807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25780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Modelado: proceso de creación de una representación visual que define un sistema de información.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8ED0AA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INTERACCIÓN ENTRE MODELOS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trabaja con cada modelo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874520" y="2715768"/>
            <a:ext cx="0" cy="393192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3675888"/>
            <a:ext cx="0" cy="393192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98280" y="2715768"/>
            <a:ext cx="0" cy="393192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98280" y="3675888"/>
            <a:ext cx="0" cy="393192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2432304"/>
            <a:ext cx="420624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3392424"/>
            <a:ext cx="420624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4352544"/>
            <a:ext cx="420624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148840"/>
            <a:ext cx="27432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08960"/>
            <a:ext cx="27432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069080"/>
            <a:ext cx="27432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2148840"/>
            <a:ext cx="32918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3108960"/>
            <a:ext cx="32918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4069080"/>
            <a:ext cx="32918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1488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 EXPERTO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1089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DOMINIO DEL PROBLEMA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069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52360" y="21488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INFORMÁTICO / DISEÑADOR BBDD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52360" y="31089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PROGRAMADOR BBDD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52360" y="40690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ADMINISTRADOR BBDD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82696" y="2157984"/>
            <a:ext cx="4133088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82696" y="2157984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CONCEPTUAL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82696" y="3118104"/>
            <a:ext cx="4133088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282696" y="3118104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9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LÓGICO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82696" y="4078224"/>
            <a:ext cx="4133088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282696" y="4078224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FÍSICO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91947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02920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experto y el diseñador construyen juntos el modelo conceptual; el programador lo traduce al modelo lógico; el administrador lo lleva al modelo físico. Los tres parten del mismo dominio del problema.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E9C3EF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1B39E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FASES PARA CREAR UNA BBDD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fases, de la idea al servidor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710477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560320"/>
            <a:ext cx="14910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2834640"/>
            <a:ext cx="1491021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Recopilar información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31685" y="2468880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6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98613" y="2468880"/>
            <a:ext cx="1710477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8341" y="2560320"/>
            <a:ext cx="14910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conceptual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08341" y="2834640"/>
            <a:ext cx="1491021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E/R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7377" y="2468880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6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94305" y="2468880"/>
            <a:ext cx="1710477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4033" y="2560320"/>
            <a:ext cx="14910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lógico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04033" y="2834640"/>
            <a:ext cx="1491021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23070" y="2468880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6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89998" y="2468880"/>
            <a:ext cx="1710477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9726" y="2560320"/>
            <a:ext cx="14910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9726" y="2834640"/>
            <a:ext cx="1491021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18763" y="2468880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6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85691" y="2468880"/>
            <a:ext cx="1710477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95419" y="2560320"/>
            <a:ext cx="14910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físico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795419" y="2834640"/>
            <a:ext cx="1491021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(SQL)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27939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8912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codificación elegimos hardware, software y SGBD, y trasladamos el modelo lógico a una máquina física real.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1B39E6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8ED0A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EL MODELO ENTIDAD-RELACIÓN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datos abstracto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E/R nos permite representar de manera conceptual una base de datos. Se compone de un diagrama entidad-relación y sus restricciones asociadas.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886200" y="3703320"/>
            <a:ext cx="45720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3703320"/>
            <a:ext cx="45720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3383280"/>
            <a:ext cx="21945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3383280"/>
            <a:ext cx="21945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3200400"/>
            <a:ext cx="1828800" cy="10058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1B39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ASIGNATURA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43400" y="32004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E9C3E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02.1 — ENTIDAD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Aquello sobre lo que guardamos datos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549234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2203704"/>
            <a:ext cx="5199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" y="2514600"/>
            <a:ext cx="519973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física o abstracta. Nombre representativo y único.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6432" y="2057400"/>
            <a:ext cx="549234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2736" y="2203704"/>
            <a:ext cx="5199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42736" y="2514600"/>
            <a:ext cx="519973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repetir dentro del mismo diagrama.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409651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20624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representa con un rectángulo que contiene el nombre del elemento del que queremos guardar información.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8ED0AA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02.1 — ENTIDAD DÉBIL Y FUERTE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depende de la otra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063240" y="2606040"/>
            <a:ext cx="82296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0" y="2606040"/>
            <a:ext cx="1554480" cy="2286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286000"/>
            <a:ext cx="20116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2286000"/>
            <a:ext cx="310896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9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15784" y="2340864"/>
            <a:ext cx="2999232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0" y="2103120"/>
            <a:ext cx="1920240" cy="10058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1B39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22860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 DE FACTURA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86200" y="21031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CONTIENE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37083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48056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(p. ej. FACTURA): existe por sí misma. Débil (rectángulo doble, p. ej. LÍNEA DE FACTURA o CUENTA/TRANSACCIÓN): su existencia depende de una entidad fuerte asociada.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E9C3EF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1B39E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02.2 — ATRIBUTOS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Cualidades propias de una entidad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 tiene nombre y apellidos. No tienen existencia propia: sólo tienen sentido dentro de una entidad (o de una relación).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54329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602736"/>
            <a:ext cx="5432908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continua. Siempre tiene valor.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55868" y="3291840"/>
            <a:ext cx="54329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55868" y="3602736"/>
            <a:ext cx="5432908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puntos. Su valor puede ser desconocido (p. ej. un segundo teléfono).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1B39E6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8ED0A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02.2 — CLAVE PRIMARIA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cada ejemplar sin ambigüedad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549234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2203704"/>
            <a:ext cx="667512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203704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" y="2532888"/>
            <a:ext cx="5199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 — DNI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843784"/>
            <a:ext cx="519973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atributo basta para identificar cada alumno.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6432" y="2057400"/>
            <a:ext cx="549234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42736" y="2203704"/>
            <a:ext cx="900684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342736" y="2203704"/>
            <a:ext cx="9006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COMPUESTA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2736" y="2532888"/>
            <a:ext cx="5199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BANCARIA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42736" y="2843784"/>
            <a:ext cx="519973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varios atributos juntos: código de banco + código de oficina + código de cuenta.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18795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29768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 un solo atributo no basta para identificar todas las ocurrencias de una entidad, y hay que construir una clave con varios atributos en un orden determinado.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E9C3E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RELACIÓN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vínculo con nombre entre entidades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86200" y="2880360"/>
            <a:ext cx="45720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2880360"/>
            <a:ext cx="45720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2560320"/>
            <a:ext cx="21945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2560320"/>
            <a:ext cx="21945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377440"/>
            <a:ext cx="1828800" cy="10058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1B3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560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2560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ASIGNATURA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3400" y="23774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37083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48056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relación es la asociación o vínculo entre ocurrencias de varias entidades. Se representa con un rombo, e identificada con un nombre casi siempre verbal.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8ED0AA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GRADO DE UNA RELACIÓN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entidades intervienen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265930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2203704"/>
            <a:ext cx="1056132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203704"/>
            <a:ext cx="10561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ENTIDADES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" y="2532888"/>
            <a:ext cx="2366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843784"/>
            <a:ext cx="2366696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genera FACTURA.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45104" y="2057400"/>
            <a:ext cx="265930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1408" y="2203704"/>
            <a:ext cx="1056132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3" name="Text 11"/>
          <p:cNvSpPr/>
          <p:nvPr/>
        </p:nvSpPr>
        <p:spPr>
          <a:xfrm>
            <a:off x="3491408" y="2203704"/>
            <a:ext cx="10561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ENTIDADES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91408" y="2532888"/>
            <a:ext cx="2366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91408" y="2843784"/>
            <a:ext cx="2366696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imparte ASIGNATURA-GRUPO.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7288" y="2057400"/>
            <a:ext cx="265930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3592" y="2203704"/>
            <a:ext cx="1056132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8" name="Text 16"/>
          <p:cNvSpPr/>
          <p:nvPr/>
        </p:nvSpPr>
        <p:spPr>
          <a:xfrm>
            <a:off x="6333592" y="2203704"/>
            <a:ext cx="10561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ENTIDADES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33592" y="2532888"/>
            <a:ext cx="2366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N-aria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33592" y="2843784"/>
            <a:ext cx="2366696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AULA-PROFESOR-ASIGNATURA-GRUPO imparte.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29471" y="2057400"/>
            <a:ext cx="265930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75775" y="2203704"/>
            <a:ext cx="900684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23" name="Text 21"/>
          <p:cNvSpPr/>
          <p:nvPr/>
        </p:nvSpPr>
        <p:spPr>
          <a:xfrm>
            <a:off x="9175775" y="2203704"/>
            <a:ext cx="9006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ROLES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75775" y="2532888"/>
            <a:ext cx="2366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75775" y="2843784"/>
            <a:ext cx="2366696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es jefe de EMPLEADO.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23367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4340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N-aria basta añadir a la relación ternaria el aula donde se imparte cada asignatura a cada grupo.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FF5A2E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A PRUEBA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preguntas rápidas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492344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2249424"/>
            <a:ext cx="5199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¿Cuál es el orden correcto de los elementos de un diagrama E/R, de arriba abajo?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" y="2560320"/>
            <a:ext cx="5199736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Relación, entidad, entidad débil, atributo.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Entidad débil, atributo, relación, entidad.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Atributo, relación, entidad, entidad débil.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Atributo, relación, entidad débil, entidad.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6432" y="2103120"/>
            <a:ext cx="5492344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2736" y="2249424"/>
            <a:ext cx="5199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¿Cuál de las dos formas de representar un diagrama E/R es correcta?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42736" y="2560320"/>
            <a:ext cx="5199736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Opción 1.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Opción 2.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Ambas son correctas.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Ninguna.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8ED0AA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Atributo, relación, entidad, entidad débil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226771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7744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natural, de arriba abajo, es: atributo (elipse) → relación (rombo) → entidad (rectángulo) → entidad débil (rectángulo doble). Respuesta 1: c). Respuesta 2: comprueba que tu diagrama siga la notación de Chen tal y como la hemos visto en clase.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E9C3EF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1B39E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CARDINALIDAD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instancias participan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86200" y="2697480"/>
            <a:ext cx="45720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2697480"/>
            <a:ext cx="45720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2377440"/>
            <a:ext cx="21945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2377440"/>
            <a:ext cx="21945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194560"/>
            <a:ext cx="1828800" cy="10058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1B3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3400" y="21945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18795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29768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cardinalidad representa la participación entre entidades: el número de instancias de una respecto a otra, y viceversa. ¿Un cliente genera una factura o muchas? ¿Una factura puede tener uno o varios clientes?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1B39E6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8ED0A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TIPO DE CORRESPONDENCIA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1:1, 1:N o N:M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359450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2203704"/>
            <a:ext cx="434340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203704"/>
            <a:ext cx="4343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" y="2532888"/>
            <a:ext cx="3301898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ENTREVISTADOR — EQUIPO. Dirige a uno, y sólo a uno.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8594" y="2057400"/>
            <a:ext cx="359450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4898" y="2203704"/>
            <a:ext cx="434340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2" name="Text 10"/>
          <p:cNvSpPr/>
          <p:nvPr/>
        </p:nvSpPr>
        <p:spPr>
          <a:xfrm>
            <a:off x="4444898" y="2203704"/>
            <a:ext cx="4343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44898" y="2532888"/>
            <a:ext cx="3301898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— FACTURA. Un cliente genera muchas facturas.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4269" y="2057400"/>
            <a:ext cx="359450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0573" y="2203704"/>
            <a:ext cx="434340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40573" y="2203704"/>
            <a:ext cx="4343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40573" y="2532888"/>
            <a:ext cx="3301898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 — ASIGNATURA. Muchos alumnos por asignatura y viceversa.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95935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6908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ejemplos: DEPARTAMENTO-EMPLEADO (1:N), MÚSICO-INSTRUMENTO (N:M), CLIENTE-CARTERA DE INVERSIÓN (1:1). Aviso: si hace falta una segunda N, se transforma en M por convenio (N:M) — el significado no cambia.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E9C3E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PARTICIPACIONES (MODALIDAD)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mínimo y el máximo por entidad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0" y="2651760"/>
            <a:ext cx="64008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2651760"/>
            <a:ext cx="82296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2331720"/>
            <a:ext cx="20116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3720" y="2331720"/>
            <a:ext cx="20116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2148840"/>
            <a:ext cx="2011680" cy="10058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1B3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331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03720" y="2331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ASIGNATURA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9080" y="21488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65576" y="2377440"/>
            <a:ext cx="566928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465576" y="23774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17336" y="2377440"/>
            <a:ext cx="749808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17336" y="2377440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18795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9768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(0,1) alguna vez o ninguna · (1,1) obligatoriamente una · (1,N) al menos una, sin límite · (0,N) ninguna limitación. La cardinalidad general se obtiene tomando el máximo de cada lado.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8ED0AA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EJEMPLOS DE MODALIDAD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situaciones reales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3594506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2249424"/>
            <a:ext cx="1211580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249424"/>
            <a:ext cx="12115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CONCESIONARIO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" y="2578608"/>
            <a:ext cx="3301898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(0,N) — compra — (0,1) AUTOMÓVIL. Un cliente compra 0, 1 o varios coches; un coche se vende a lo sumo a un cliente.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8594" y="2103120"/>
            <a:ext cx="3594506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4898" y="2249424"/>
            <a:ext cx="978408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2" name="Text 10"/>
          <p:cNvSpPr/>
          <p:nvPr/>
        </p:nvSpPr>
        <p:spPr>
          <a:xfrm>
            <a:off x="4444898" y="2249424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44898" y="2578608"/>
            <a:ext cx="3301898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(1,1) — tiene — (1,N) ALUMNO. SOCIO (0,N) — presta — (1,N) LIBRO.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94269" y="2103120"/>
            <a:ext cx="3594506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0573" y="2249424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40573" y="2249424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40573" y="2578608"/>
            <a:ext cx="3301898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(1,1), ASIGNATURA (0,N), AULA (1,N), GRUPO (1,N) en la relación N-aria “imparte”.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E9C3EF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1B39E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CÓMO FUNCIONA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enunciado al diagrama E/R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029968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29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2011680"/>
            <a:ext cx="10801807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descripción textual del problema: reglas, forma de trabajar.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2523744"/>
            <a:ext cx="10801807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lista de sustantivos y verbos que aparecen.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054096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054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3035808"/>
            <a:ext cx="10801807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o atributos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los sustantivos son posibles entidades o atributos.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566160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3547872"/>
            <a:ext cx="10801807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los verbos son posibles relaciones.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078224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0782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6968" y="4059936"/>
            <a:ext cx="10801807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 determina analizando las frases del enunciado.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4590288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590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4572000"/>
            <a:ext cx="10801807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E/R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 elabora con todo lo anterior.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5102352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5102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6968" y="5084064"/>
            <a:ext cx="10801807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 añaden listas de atributos y restricciones que el diagrama no puede reflejar.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1B39E6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8ED0A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04.1 — ATRIBUTOS DE UNA RELACIÓN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que no es de ninguna entidad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recibe en préstamo LIBRO. Queremos guardar la fecha del préstamo — ¿en cuál de los dos la metemos?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54329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SOCIO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511296"/>
            <a:ext cx="5432908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Impediría que un socio tomara más de un libro en préstamo.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55868" y="3200400"/>
            <a:ext cx="54329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LIBRO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55868" y="3511296"/>
            <a:ext cx="5432908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Impediría que un libro fuera prestado más de una vez.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82803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93776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Afecta a ocurrencias de ambas entidades, así que debe figurar en la relación.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E9C3E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04.2 — EJEMPLO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enunciado al diagrama E/R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11185855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1072865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«Una empresa vende productos a varios clientes. Se necesita conocer los datos personales de los clientes (nombre, apellidos, DNI, dirección y fecha de nacimiento). Cada producto tiene un nombre, un código y un precio unitario. Un cliente puede comprar varios productos, y un mismo producto puede ser comprado por varios clientes. Los productos son suministrados por diferentes proveedores; un producto sólo puede ser suministrado por un proveedor, y un proveedor puede suministrar diferentes productos. De cada proveedor se desea conocer el NIF, nombre y dirección.»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8ED0AA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04.2 — EJEMPLO RESUELTO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productos y proveedores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063240" y="2779776"/>
            <a:ext cx="54864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92040" y="2779776"/>
            <a:ext cx="27432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12280" y="2779776"/>
            <a:ext cx="54864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2779776"/>
            <a:ext cx="274320" cy="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2468880"/>
            <a:ext cx="1645920" cy="621792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6360" y="2468880"/>
            <a:ext cx="1645920" cy="621792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15400" y="2468880"/>
            <a:ext cx="1828800" cy="621792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295144"/>
            <a:ext cx="1280160" cy="969264"/>
          </a:xfrm>
          <a:prstGeom prst="diamond">
            <a:avLst/>
          </a:prstGeom>
          <a:solidFill>
            <a:srgbClr val="FFFFFF"/>
          </a:solidFill>
          <a:ln w="25400">
            <a:solidFill>
              <a:srgbClr val="1B39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0920" y="2295144"/>
            <a:ext cx="1280160" cy="969264"/>
          </a:xfrm>
          <a:prstGeom prst="diamond">
            <a:avLst/>
          </a:prstGeom>
          <a:solidFill>
            <a:srgbClr val="FFFFFF"/>
          </a:solidFill>
          <a:ln w="25400">
            <a:solidFill>
              <a:srgbClr val="1B39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468880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2468880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15400" y="246888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PROVEEDOR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2295144"/>
            <a:ext cx="12801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60920" y="2295144"/>
            <a:ext cx="12801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SUMINISTRA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099816" y="2505456"/>
            <a:ext cx="475488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099816" y="250545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N:M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48856" y="2505456"/>
            <a:ext cx="475488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48856" y="250545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8056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— compra (N:M) — PRODUCTO — suministra (1:N) — PROVEEDOR. Claves: DNI, código y NIF respectivamente.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FF5A2E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EN EQUIPO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 vuestro propio diagrama E/R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194560"/>
            <a:ext cx="1118585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 un dominio conocido (un gimnasio, una academia, una tienda...) y aplicad la guía de 7 pasos: requisitos → analizar → entidad o atributos → verbos → cardinalidad → diagrama → complemento.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391363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02336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intercambiad el diagrama con otro grupo y comprobad si lo entienden sin explicaciones.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E9C3EF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1B39E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DIAGRAMA E/R EXTENDIDO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Generalización / especialización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entre un tipo genérico (supertipo) y tipos más concretos (subtipos): “es un” o “es un tipo de”.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549234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3163824"/>
            <a:ext cx="1289304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3163824"/>
            <a:ext cx="1289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GENERALIZACIÓN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24" y="3493008"/>
            <a:ext cx="519973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tipos comparten atributos: creamos un supertipo con esos atributos comunes.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6432" y="3017520"/>
            <a:ext cx="549234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42736" y="3163824"/>
            <a:ext cx="1367028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342736" y="3163824"/>
            <a:ext cx="13670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2736" y="3493008"/>
            <a:ext cx="519973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entidad tiene atributos que sólo tienen sentido para algunos ejemplares: definimos subtipos.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1B39E6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8ED0A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EJEMPLO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futbolista, cuatro posiciones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709160" y="2670048"/>
            <a:ext cx="0" cy="118872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3337560"/>
            <a:ext cx="-3566160" cy="36576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3337560"/>
            <a:ext cx="-1508760" cy="36576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3337560"/>
            <a:ext cx="594360" cy="36576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3337560"/>
            <a:ext cx="2697480" cy="365760"/>
          </a:xfrm>
          <a:prstGeom prst="line">
            <a:avLst/>
          </a:prstGeom>
          <a:noFill/>
          <a:ln w="15875">
            <a:solidFill>
              <a:srgbClr val="767C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103120"/>
            <a:ext cx="2377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3703320"/>
            <a:ext cx="182880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3703320"/>
            <a:ext cx="182880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3703320"/>
            <a:ext cx="19202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703320"/>
            <a:ext cx="182880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2788920"/>
            <a:ext cx="1280160" cy="548640"/>
          </a:xfrm>
          <a:prstGeom prst="triangle">
            <a:avLst/>
          </a:prstGeom>
          <a:solidFill>
            <a:srgbClr val="F5F0C8"/>
          </a:solidFill>
          <a:ln w="25400">
            <a:solidFill>
              <a:srgbClr val="1517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1031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FUTBOLISTA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" y="3703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3703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4340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CENTROCAMPISTA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92240" y="3703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DELANTERO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73659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84632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FUTBOLISTA es el supertipo; LATERAL, DEFENSA, CENTROCAMPISTA y DELANTERO son subtipos que especializan según la posición en el campo.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E9C3E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EJEMPLO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especializaciones, un mismo empleado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misma entidad puede especializarse de varias formas independientes, según el criterio que usemos.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02920" y="3017520"/>
            <a:ext cx="54329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puesto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328416"/>
            <a:ext cx="543290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→ oficial, cajero, secretaria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55868" y="3017520"/>
            <a:ext cx="54329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contrato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55868" y="3328416"/>
            <a:ext cx="543290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→ temporal, fijo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37083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48056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empleado puede aparecer, a la vez, en ambas jerarquías: es cajero y además fijo.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8ED0AA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HERENCIA DE ATRIBUTOS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del padre pasa al hijo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atributos de las entidades de nivel más alto son heredados por las de nivel más bajo, y puede encadenarse en varios niveles.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017520"/>
            <a:ext cx="54329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(nombre, calle, ciudad)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328416"/>
            <a:ext cx="5432908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EMPLEADO (+sueldo) y CLIENTE (+tasa-crédito)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55868" y="3017520"/>
            <a:ext cx="54329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55868" y="3328416"/>
            <a:ext cx="5432908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OFICIAL (+nº despacho), CAJERO (+nº caja, horas trabajadas), SECRETARIA (+horas trabajadas)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64515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75488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ejemplo habitual: EMPLEADOS (DNI) → ALBAÑILES / ARQUITECTOS, donde ARQUITECTOS añade además num_colegiado.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E9C3EF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1B39E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TOTAL Y PARCIAL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¿Todo ejemplar pertenece a un subtipo?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49234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2295144"/>
            <a:ext cx="589788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295144"/>
            <a:ext cx="5897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" y="2624328"/>
            <a:ext cx="5199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935224"/>
            <a:ext cx="5199736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pueden existir libros que no sean en papel o ebook: todo ejemplar del supertipo pertenece a algún subtipo.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6432" y="2148840"/>
            <a:ext cx="549234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42736" y="2295144"/>
            <a:ext cx="745236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342736" y="2295144"/>
            <a:ext cx="7452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2736" y="2624328"/>
            <a:ext cx="5199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42736" y="2935224"/>
            <a:ext cx="5199736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haber personal que no sea ni profesor, ni bedel, ni técnico.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1B39E6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8ED0A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EXCLUSIVA Y SOLAPADA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pertenecer a más de un subtipo?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49234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2295144"/>
            <a:ext cx="900684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295144"/>
            <a:ext cx="9006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" y="2624328"/>
            <a:ext cx="5199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935224"/>
            <a:ext cx="5199736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puede ser profesor, bedel o técnico — nunca dos cosas a la vez.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6432" y="2148840"/>
            <a:ext cx="549234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42736" y="2295144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342736" y="229514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SOLAPADA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2736" y="2624328"/>
            <a:ext cx="5199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42736" y="2935224"/>
            <a:ext cx="5199736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docente e investigador a la vez.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FF5A2E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E9C3E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LAS CUATRO COMBINACIONES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Total/parcial × exclusiva/solapada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265930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2478024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47802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SOLAPADA · PARCIAL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" y="2807208"/>
            <a:ext cx="2366696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→ DOCENTE / INVESTIGADOR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45104" y="2331720"/>
            <a:ext cx="265930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1408" y="2478024"/>
            <a:ext cx="1522476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2" name="Text 10"/>
          <p:cNvSpPr/>
          <p:nvPr/>
        </p:nvSpPr>
        <p:spPr>
          <a:xfrm>
            <a:off x="3491408" y="2478024"/>
            <a:ext cx="15224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 · TOTAL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91408" y="2807208"/>
            <a:ext cx="2366696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→ DOCENTE / PAS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7288" y="2331720"/>
            <a:ext cx="265930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3592" y="2478024"/>
            <a:ext cx="1677924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6" name="Text 14"/>
          <p:cNvSpPr/>
          <p:nvPr/>
        </p:nvSpPr>
        <p:spPr>
          <a:xfrm>
            <a:off x="6333592" y="2478024"/>
            <a:ext cx="16779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 · PARCIAL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33592" y="2807208"/>
            <a:ext cx="2366696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→ LIBRO / ARTÍCULO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29471" y="2331720"/>
            <a:ext cx="265930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75775" y="2478024"/>
            <a:ext cx="1444752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20" name="Text 18"/>
          <p:cNvSpPr/>
          <p:nvPr/>
        </p:nvSpPr>
        <p:spPr>
          <a:xfrm>
            <a:off x="9175775" y="247802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SOLAPADA · TOTAL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75775" y="2807208"/>
            <a:ext cx="2366696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→ EMPLEADO / ALUMNO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325112"/>
            <a:ext cx="502920" cy="0"/>
          </a:xfrm>
          <a:prstGeom prst="line">
            <a:avLst/>
          </a:prstGeom>
          <a:noFill/>
          <a:ln w="19050">
            <a:solidFill>
              <a:srgbClr val="767C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43484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 de esta notación: un pequeño óvalo en la línea = total (sin óvalo = parcial); un arco bajo el triángulo = exclusiva (sin arco = solapada).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8ED0AA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EJEMPLO TRABAJADO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→ astronauta / técnico / científico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2659304" cy="2743200"/>
          </a:xfrm>
          <a:prstGeom prst="roundRect">
            <a:avLst>
              <a:gd name="adj" fmla="val 275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2523744"/>
            <a:ext cx="1444752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52374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SOLAPADA·PARCIAL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" y="2852928"/>
            <a:ext cx="2366696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técnico y astronauta a la vez, o ninguno de los tres.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45104" y="2377440"/>
            <a:ext cx="2659304" cy="2743200"/>
          </a:xfrm>
          <a:prstGeom prst="roundRect">
            <a:avLst>
              <a:gd name="adj" fmla="val 275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1408" y="2523744"/>
            <a:ext cx="1289304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2" name="Text 10"/>
          <p:cNvSpPr/>
          <p:nvPr/>
        </p:nvSpPr>
        <p:spPr>
          <a:xfrm>
            <a:off x="3491408" y="2523744"/>
            <a:ext cx="1289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SOLAPADA·TOTAL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91408" y="2852928"/>
            <a:ext cx="2366696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combinar puestos, pero siempre es al menos uno de los tres.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2377440"/>
            <a:ext cx="2659304" cy="2743200"/>
          </a:xfrm>
          <a:prstGeom prst="roundRect">
            <a:avLst>
              <a:gd name="adj" fmla="val 275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3592" y="2523744"/>
            <a:ext cx="1522476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16" name="Text 14"/>
          <p:cNvSpPr/>
          <p:nvPr/>
        </p:nvSpPr>
        <p:spPr>
          <a:xfrm>
            <a:off x="6333592" y="2523744"/>
            <a:ext cx="15224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EXCLUSIVA·PARCIAL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33592" y="2852928"/>
            <a:ext cx="2366696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uno de los tres, o ninguno (p. ej. podría ser físico).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29471" y="2377440"/>
            <a:ext cx="2659304" cy="2743200"/>
          </a:xfrm>
          <a:prstGeom prst="roundRect">
            <a:avLst>
              <a:gd name="adj" fmla="val 2751"/>
            </a:avLst>
          </a:prstGeom>
          <a:solidFill>
            <a:srgbClr val="FFFFFF"/>
          </a:solidFill>
          <a:ln w="22225">
            <a:solidFill>
              <a:srgbClr val="1517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75775" y="2523744"/>
            <a:ext cx="1367028" cy="237744"/>
          </a:xfrm>
          <a:prstGeom prst="roundRect">
            <a:avLst>
              <a:gd name="adj" fmla="val 50000"/>
            </a:avLst>
          </a:prstGeom>
          <a:solidFill>
            <a:srgbClr val="E7EAFC"/>
          </a:solidFill>
          <a:ln/>
        </p:spPr>
      </p:sp>
      <p:sp>
        <p:nvSpPr>
          <p:cNvPr id="20" name="Text 18"/>
          <p:cNvSpPr/>
          <p:nvPr/>
        </p:nvSpPr>
        <p:spPr>
          <a:xfrm>
            <a:off x="9175775" y="2523744"/>
            <a:ext cx="13670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EXCLUSIVA·TOTAL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75775" y="2852928"/>
            <a:ext cx="2366696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exactamente uno de los tres puestos, nunca más de uno.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005840"/>
            <a:ext cx="2468880" cy="2468880"/>
          </a:xfrm>
          <a:prstGeom prst="ellipse">
            <a:avLst/>
          </a:prstGeom>
          <a:solidFill>
            <a:srgbClr val="E9C3EF"/>
          </a:solidFill>
          <a:ln/>
        </p:spPr>
      </p:sp>
      <p:sp>
        <p:nvSpPr>
          <p:cNvPr id="3" name="Shape 1"/>
          <p:cNvSpPr/>
          <p:nvPr/>
        </p:nvSpPr>
        <p:spPr>
          <a:xfrm rot="13500000">
            <a:off x="-457200" y="5577840"/>
            <a:ext cx="1645920" cy="1645920"/>
          </a:xfrm>
          <a:prstGeom prst="triangle">
            <a:avLst/>
          </a:prstGeom>
          <a:solidFill>
            <a:srgbClr val="1B39E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984248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84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1965960"/>
            <a:ext cx="10801807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E/R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conceptual e independiente del SGBD: entidades, relaciones y atributos.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2651760"/>
            <a:ext cx="10801807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relación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grado, cardinalidad y tipo de correspondencia (1:1, 1:N, N:M).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355848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355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3337560"/>
            <a:ext cx="10801807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extendido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herencia, y combina total/parcial con exclusiva/solapada.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041648"/>
            <a:ext cx="274320" cy="274320"/>
          </a:xfrm>
          <a:prstGeom prst="ellipse">
            <a:avLst/>
          </a:prstGeom>
          <a:solidFill>
            <a:srgbClr val="15171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041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4023360"/>
            <a:ext cx="1080180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bien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seguir la guía: requisitos, analizar, entidades/atributos, verbos, cardinalidad, diagrama, complemento.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737360" y="6355080"/>
            <a:ext cx="9951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6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Diseño lógico de bases de datos — Base de datos, 1º DAM — Marina Preciados Agapito.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2026-09-17T08:37:03Z</dcterms:created>
  <dcterms:modified xsi:type="dcterms:W3CDTF">2026-09-17T08:37:03Z</dcterms:modified>
</cp:coreProperties>
</file>