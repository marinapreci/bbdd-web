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 Databases · 1st year DAM bilingual programme
Information storage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1. Data, information &amp; information systems
2. The evolution of storage
3. Files: the solution before databases
4. What a database is
5. Types and data models
6. The database management system (DBMS)
7. SQL and its four sub-languages
8. Where a database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datum is a recorded fact. Information is that data once processed and given context. Used to decide something, it becomes knowledge.
DATUM: 22°C / INFORMATION: 22°C in Seville, July 15th / KNOWLEDGE: "It's hot — water the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organised set of elements — computerised or not — that processes and manages data to meet a specific need.
Restock a product? / Launch an offer? / Hire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 read each sentence on your own and decide which category it belongs to, before we discuss it out loud.
«48» / «48 beats per minute at rest, for the student in row 3» / «That's very low for his age — call his family and dial 112»
A. DATUM  B. INFORMATION  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datum says nothing on its own. Information gives it context. Knowledge appears the moment you decide to act.
DATUM «48» / INFORMATION «48 bpm at rest, student in row 3» / KNOWLEDGE «Alert them and call emergency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of storage (I)
≈3000 BCE — Clay tablets: cuneiform economic records from Mesopotamia, the earliest known way of keeping data long-term.
1950 — Magnetic tape: sequential access only, heavy redundancy.
1960 — Disks + hierarchical/network: direct access makes the disk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1970 — Relational model (Codd, IBM). 1980 — DB2 and SQL is born. 1990 — Distributed &amp; object-oriented (Facebook-scale). 2000→ — Multidimensional, NoSQL &amp; Big Data (key-value, document, graph, column-based).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classify a file.
PLAIN TEXT: readable in any editor. BINARY: only readable with the right app.
SEQUENTIAL ACCESS: pass through every earlier record (tape). DIRECT ACCESS: jump straight to the record you need (SSD/NVMe).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application, its own file. HR and accounting each kept a separate file with employee data — four recurring problems: data redundancy, wasted storage space, inconsistency between files, isolated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activity — read the situation as a group and discuss: which of the four file problems show up here?
Sales keeps its customers in a spreadsheet. Accounting keeps the same customers in a different one. A customer calls to say their number has changed. Sales updates its file… but nobody tells Accounting, which is still dialling the old number three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Interrelated data, integrity, minimal redundancy. A set of data organised in binary files, accessible to several users and applications at the same time.
ADVANTAGES: independence between data and programs, less redundancy, data integrity, greater security, simultaneous access.
DRAWBACKS: costly to set up, requires skilled staff, long/costly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Elements of a database (I). Data: 1996 as a year of birth. Field/column: e.g. the BirthDate field. Record/tuple/row: all the data belonging to one person. Primary key (PK): uniquely identifies each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every customer → the Customers table. Query: requests data that meets certain criteria. Index: orders fields to search faster. View: a virtual table generated by a query. Schema: the database's tables, fields and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elements. This is the "Students" table from a school's database. Find a field, a record and the primary key in it.
1. Field — which column?  2. Record — which row?  3. Primary key — which value never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to spot them.
Field: each column, e.g. Name. Record: each full row, one student's data. Primary key: the ID — uniquely identifies each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and data models (I). Hierarchical: tree-shaped, 1 parent → N children (Windows registry). Network: N:M relationships. Relational: two-dimensional tables linked by fields, most widely used. Object-oriented: composite types and inheritance.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Multidimensional &amp; NoSQL: data cubes for Data Warehousing/OLAP; key-value, document, graph, column-based.
Centralised: a single server (Access, MySQL, PostgreSQL, Oracle). Distributed: spread across several machines (Oracle Cloud, MongoDB,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 DBMS. The database is the organised information; the DBMS is the software that creates, manipulates and administers it.
FUNCTIONS: data independence, security, integrity/transactions, concurrent access, backups.
COMPONENTS: data dictionary, data space, administration tools (DBA).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ACID. Atomicity: every operation runs, or none of them do. Consistency: from one valid state to another. Isolation: no transaction sees another one's in-progress result. Durability: once confirmed, the data will not be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activity — the power goes out mid-transfer. A bank transfers €500 from account A to account B. The system subtracts the money from A… and right then the power goes out, before it's added to B.
What balance should account A have once the power's back? Which ACID property prevents this disaster? What would happen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and physical independence.
EXTERNAL — the user: forms, listings, reports.
CONCEPTUAL — the design: all the data and relationships, as tables.
INTERNAL — the storage: how the data is written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home use to enterprise. Office-oriented: home or small-business data. Enterprise: high volumes of data and transactions.
Profiles: end user, data analyst/engineer, developer and DBA.
Vendors: Oracle, MySQL, MariaDB, PostgreSQL, SQL Server, MS Access,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sub-languages. DML: manipulate data (SELECT, INSERT, UPDATE, DELETE). DDL: define the structure (CREATE, ALTER, DROP). DCL: control access (GRANT, REVOKE). TCL: control transactions (BEGIN, COMMIT, ROLLBACK).
Code: -- Ferrari or Toyota cars / SELECT Marca, Modelo, Consumo FROM Automoviles WHERE Marca = 'Ferrari' OR Marca = 'Toyota';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sub-language is it? On your own, classify each instruction as DDL, DML, DCL or TCL.
CREATE TABLE Alumnos (...); INSERT INTO Alumnos VALUES (...); GRANT SELECT ON Alumnos TO profesor;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command, its sub-language. DDL: CREATE TABLE Alumnos (...). DML: INSERT INTO Alumnos VALUES (...). DCL: GRANT SELECT ON Alumnos TO profesor;. TCL: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everywhere. Administrative: customers, orders, invoices. Accounting: payments, balances, tax filings. Search engines: Google indexes almost the entire internet. Scientific: climate, genomic data. Libraries: from a school library to Amazon. Census records: demographic data. Antivirus: catalogues of known malware. Configuration: the Windows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team activity. Listen to the recording (once or twice), then discuss as a team — try to answer in English. Audio file lives at assets/audio/listening-anna.mp3, insert as a native audio object when editing by hand in PowerPoint if you want it playable inside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 the question wheel. Spin the wheel (or pick one at random) and answer out loud.
1. What does DML stand for? 2. What is a DBMS for? 3. What does data redundancy mean? 4. What's the advantage of database integrity? 5. What is the level called that describes the whole DB structure? 6. Can you give a real-life example of a primary key? 7. What is the goal of a database? 8. What is a database for? 9. Name some types of databases. 10. What types of files are there by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ideas to take away.
1. A file is a structure created by the OS to hold information.
2. A database is organised into tables with related records and fields.
3. Data models have evolved from hierarchical to relational and NoSQL.
4. A DBMS guarantees integrity, security, concurrency and recovery.
5. SQL is split into DML, DDL, DCL and TCL.
Summary built from Unit 1 · Information storage systems — Databases, 1st year DAM — Marina Preciados Agapito, with materials by Aitor Medrano (CC BY-NC-SA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1600" y="4846320"/>
            <a:ext cx="2926080" cy="2926080"/>
          </a:xfrm>
          <a:prstGeom prst="ellipse">
            <a:avLst/>
          </a:prstGeom>
          <a:solidFill>
            <a:srgbClr val="E9C3EF"/>
          </a:solidFill>
          <a:ln/>
        </p:spPr>
      </p:sp>
      <p:sp>
        <p:nvSpPr>
          <p:cNvPr id="3" name="Shape 1"/>
          <p:cNvSpPr/>
          <p:nvPr/>
        </p:nvSpPr>
        <p:spPr>
          <a:xfrm>
            <a:off x="9814255" y="-1463040"/>
            <a:ext cx="3840480" cy="3840480"/>
          </a:xfrm>
          <a:prstGeom prst="ellipse">
            <a:avLst/>
          </a:prstGeom>
          <a:solidFill>
            <a:srgbClr val="1B39E6"/>
          </a:solidFill>
          <a:ln/>
        </p:spPr>
      </p:sp>
      <p:sp>
        <p:nvSpPr>
          <p:cNvPr id="4" name="Text 2"/>
          <p:cNvSpPr txBox="1"/>
          <p:nvPr/>
        </p:nvSpPr>
        <p:spPr>
          <a:xfrm>
            <a:off x="731520" y="1828800"/>
            <a:ext cx="10728655" cy="457200"/>
          </a:xfrm>
          <a:prstGeom prst="rect">
            <a:avLst/>
          </a:prstGeom>
          <a:noFill/>
          <a:ln/>
        </p:spPr>
        <p:txBody>
          <a:bodyPr wrap="square" lIns="0" tIns="0" rIns="0" bIns="0" rtlCol="0" anchor="ctr"/>
          <a:lstStyle/>
          <a:p>
            <a:pPr indent="0" marL="0">
              <a:buNone/>
            </a:pPr>
            <a:r>
              <a:rPr lang="en-US" sz="1400" b="1" spc="200" kern="0" dirty="0">
                <a:solidFill>
                  <a:srgbClr val="0D1A7A"/>
                </a:solidFill>
                <a:latin typeface="Calibri" pitchFamily="34" charset="0"/>
                <a:ea typeface="Calibri" pitchFamily="34" charset="-122"/>
                <a:cs typeface="Calibri" pitchFamily="34" charset="-120"/>
              </a:rPr>
              <a:t>UT1 · BASE DE DATOS · 1º DAM BILINGÜE</a:t>
            </a:r>
            <a:endParaRPr lang="en-US" sz="1400" dirty="0"/>
          </a:p>
        </p:txBody>
      </p:sp>
      <p:sp>
        <p:nvSpPr>
          <p:cNvPr id="5" name="Text 3"/>
          <p:cNvSpPr txBox="1"/>
          <p:nvPr/>
        </p:nvSpPr>
        <p:spPr>
          <a:xfrm>
            <a:off x="731520" y="2286000"/>
            <a:ext cx="10728655" cy="2926080"/>
          </a:xfrm>
          <a:prstGeom prst="rect">
            <a:avLst/>
          </a:prstGeom>
          <a:noFill/>
          <a:ln/>
        </p:spPr>
        <p:txBody>
          <a:bodyPr wrap="square" lIns="0" tIns="0" rIns="0" bIns="0" rtlCol="0" anchor="ctr"/>
          <a:lstStyle/>
          <a:p>
            <a:pPr indent="0" marL="0">
              <a:lnSpc>
                <a:spcPts val="5000"/>
              </a:lnSpc>
              <a:buNone/>
            </a:pPr>
            <a:r>
              <a:rPr lang="en-US" sz="4600" b="1" dirty="0">
                <a:solidFill>
                  <a:srgbClr val="15171C"/>
                </a:solidFill>
                <a:latin typeface="Arial" pitchFamily="34" charset="0"/>
                <a:ea typeface="Arial" pitchFamily="34" charset="-122"/>
                <a:cs typeface="Arial" pitchFamily="34" charset="-120"/>
              </a:rPr>
              <a:t>Sistemas de</a:t>
            </a:r>
            <a:endParaRPr lang="en-US" sz="4600" dirty="0"/>
          </a:p>
          <a:p>
            <a:pPr indent="0" marL="0">
              <a:lnSpc>
                <a:spcPts val="5000"/>
              </a:lnSpc>
              <a:buNone/>
            </a:pPr>
            <a:r>
              <a:rPr lang="en-US" sz="4600" b="1" dirty="0">
                <a:solidFill>
                  <a:srgbClr val="15171C"/>
                </a:solidFill>
                <a:latin typeface="Arial" pitchFamily="34" charset="0"/>
                <a:ea typeface="Arial" pitchFamily="34" charset="-122"/>
                <a:cs typeface="Arial" pitchFamily="34" charset="-120"/>
              </a:rPr>
              <a:t>almacenamiento</a:t>
            </a:r>
            <a:endParaRPr lang="en-US" sz="4600" dirty="0"/>
          </a:p>
          <a:p>
            <a:pPr indent="0" marL="0">
              <a:lnSpc>
                <a:spcPts val="5000"/>
              </a:lnSpc>
              <a:buNone/>
            </a:pPr>
            <a:r>
              <a:rPr lang="en-US" sz="4600" b="1" dirty="0">
                <a:solidFill>
                  <a:srgbClr val="15171C"/>
                </a:solidFill>
                <a:latin typeface="Arial" pitchFamily="34" charset="0"/>
                <a:ea typeface="Arial" pitchFamily="34" charset="-122"/>
                <a:cs typeface="Arial" pitchFamily="34" charset="-120"/>
              </a:rPr>
              <a:t>de la información</a:t>
            </a:r>
            <a:endParaRPr lang="en-US" sz="4600" dirty="0"/>
          </a:p>
        </p:txBody>
      </p:sp>
      <p:sp>
        <p:nvSpPr>
          <p:cNvPr id="6" name="Text 4"/>
          <p:cNvSpPr txBox="1"/>
          <p:nvPr/>
        </p:nvSpPr>
        <p:spPr>
          <a:xfrm>
            <a:off x="731520" y="5760720"/>
            <a:ext cx="10728655" cy="457200"/>
          </a:xfrm>
          <a:prstGeom prst="rect">
            <a:avLst/>
          </a:prstGeom>
          <a:noFill/>
          <a:ln/>
        </p:spPr>
        <p:txBody>
          <a:bodyPr wrap="square" lIns="0" tIns="0" rIns="0" bIns="0" rtlCol="0" anchor="ctr"/>
          <a:lstStyle/>
          <a:p>
            <a:pPr indent="0" marL="0">
              <a:buNone/>
            </a:pPr>
            <a:r>
              <a:rPr lang="en-US" sz="1400" dirty="0">
                <a:solidFill>
                  <a:srgbClr val="767C8A"/>
                </a:solidFill>
                <a:latin typeface="Courier New" pitchFamily="34" charset="0"/>
                <a:ea typeface="Courier New" pitchFamily="34" charset="-122"/>
                <a:cs typeface="Courier New" pitchFamily="34" charset="-120"/>
              </a:rPr>
              <a:t>Marina Preciados Agapito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ÍNDICE</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Lo que vamos a ver</a:t>
            </a:r>
            <a:endParaRPr lang="en-US" sz="3000" dirty="0"/>
          </a:p>
        </p:txBody>
      </p:sp>
      <p:sp>
        <p:nvSpPr>
          <p:cNvPr id="4" name="Text 2"/>
          <p:cNvSpPr txBox="1"/>
          <p:nvPr/>
        </p:nvSpPr>
        <p:spPr>
          <a:xfrm>
            <a:off x="548640" y="2011680"/>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01</a:t>
            </a:r>
            <a:endParaRPr lang="en-US" sz="1600" dirty="0"/>
          </a:p>
        </p:txBody>
      </p:sp>
      <p:sp>
        <p:nvSpPr>
          <p:cNvPr id="5" name="Text 3"/>
          <p:cNvSpPr txBox="1"/>
          <p:nvPr/>
        </p:nvSpPr>
        <p:spPr>
          <a:xfrm>
            <a:off x="1143000" y="2011680"/>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Dato, información y sistema de información</a:t>
            </a:r>
            <a:endParaRPr lang="en-US" sz="1400" dirty="0"/>
          </a:p>
        </p:txBody>
      </p:sp>
      <p:sp>
        <p:nvSpPr>
          <p:cNvPr id="6" name="Text 4"/>
          <p:cNvSpPr txBox="1"/>
          <p:nvPr/>
        </p:nvSpPr>
        <p:spPr>
          <a:xfrm>
            <a:off x="548640" y="2578608"/>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02</a:t>
            </a:r>
            <a:endParaRPr lang="en-US" sz="1600" dirty="0"/>
          </a:p>
        </p:txBody>
      </p:sp>
      <p:sp>
        <p:nvSpPr>
          <p:cNvPr id="7" name="Text 5"/>
          <p:cNvSpPr txBox="1"/>
          <p:nvPr/>
        </p:nvSpPr>
        <p:spPr>
          <a:xfrm>
            <a:off x="1143000" y="2578608"/>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La evolución del almacenamiento</a:t>
            </a:r>
            <a:endParaRPr lang="en-US" sz="1400" dirty="0"/>
          </a:p>
        </p:txBody>
      </p:sp>
      <p:sp>
        <p:nvSpPr>
          <p:cNvPr id="8" name="Text 6"/>
          <p:cNvSpPr txBox="1"/>
          <p:nvPr/>
        </p:nvSpPr>
        <p:spPr>
          <a:xfrm>
            <a:off x="548640" y="3145536"/>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03</a:t>
            </a:r>
            <a:endParaRPr lang="en-US" sz="1600" dirty="0"/>
          </a:p>
        </p:txBody>
      </p:sp>
      <p:sp>
        <p:nvSpPr>
          <p:cNvPr id="9" name="Text 7"/>
          <p:cNvSpPr txBox="1"/>
          <p:nvPr/>
        </p:nvSpPr>
        <p:spPr>
          <a:xfrm>
            <a:off x="1143000" y="3145536"/>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Ficheros: la solución anterior a la BD</a:t>
            </a:r>
            <a:endParaRPr lang="en-US" sz="1400" dirty="0"/>
          </a:p>
        </p:txBody>
      </p:sp>
      <p:sp>
        <p:nvSpPr>
          <p:cNvPr id="10" name="Text 8"/>
          <p:cNvSpPr txBox="1"/>
          <p:nvPr/>
        </p:nvSpPr>
        <p:spPr>
          <a:xfrm>
            <a:off x="548640" y="3712464"/>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04</a:t>
            </a:r>
            <a:endParaRPr lang="en-US" sz="1600" dirty="0"/>
          </a:p>
        </p:txBody>
      </p:sp>
      <p:sp>
        <p:nvSpPr>
          <p:cNvPr id="11" name="Text 9"/>
          <p:cNvSpPr txBox="1"/>
          <p:nvPr/>
        </p:nvSpPr>
        <p:spPr>
          <a:xfrm>
            <a:off x="1143000" y="3712464"/>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Qué es una base de datos</a:t>
            </a:r>
            <a:endParaRPr lang="en-US" sz="1400" dirty="0"/>
          </a:p>
        </p:txBody>
      </p:sp>
      <p:sp>
        <p:nvSpPr>
          <p:cNvPr id="12" name="Text 10"/>
          <p:cNvSpPr txBox="1"/>
          <p:nvPr/>
        </p:nvSpPr>
        <p:spPr>
          <a:xfrm>
            <a:off x="6095848" y="2011680"/>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05</a:t>
            </a:r>
            <a:endParaRPr lang="en-US" sz="1600" dirty="0"/>
          </a:p>
        </p:txBody>
      </p:sp>
      <p:sp>
        <p:nvSpPr>
          <p:cNvPr id="13" name="Text 11"/>
          <p:cNvSpPr txBox="1"/>
          <p:nvPr/>
        </p:nvSpPr>
        <p:spPr>
          <a:xfrm>
            <a:off x="6690208" y="2011680"/>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Tipos y modelos de datos</a:t>
            </a:r>
            <a:endParaRPr lang="en-US" sz="1400" dirty="0"/>
          </a:p>
        </p:txBody>
      </p:sp>
      <p:sp>
        <p:nvSpPr>
          <p:cNvPr id="14" name="Text 12"/>
          <p:cNvSpPr txBox="1"/>
          <p:nvPr/>
        </p:nvSpPr>
        <p:spPr>
          <a:xfrm>
            <a:off x="6095848" y="2578608"/>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06</a:t>
            </a:r>
            <a:endParaRPr lang="en-US" sz="1600" dirty="0"/>
          </a:p>
        </p:txBody>
      </p:sp>
      <p:sp>
        <p:nvSpPr>
          <p:cNvPr id="15" name="Text 13"/>
          <p:cNvSpPr txBox="1"/>
          <p:nvPr/>
        </p:nvSpPr>
        <p:spPr>
          <a:xfrm>
            <a:off x="6690208" y="2578608"/>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El sistema gestor de bases de datos (SGBD)</a:t>
            </a:r>
            <a:endParaRPr lang="en-US" sz="1400" dirty="0"/>
          </a:p>
        </p:txBody>
      </p:sp>
      <p:sp>
        <p:nvSpPr>
          <p:cNvPr id="16" name="Text 14"/>
          <p:cNvSpPr txBox="1"/>
          <p:nvPr/>
        </p:nvSpPr>
        <p:spPr>
          <a:xfrm>
            <a:off x="6095848" y="3145536"/>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07</a:t>
            </a:r>
            <a:endParaRPr lang="en-US" sz="1600" dirty="0"/>
          </a:p>
        </p:txBody>
      </p:sp>
      <p:sp>
        <p:nvSpPr>
          <p:cNvPr id="17" name="Text 15"/>
          <p:cNvSpPr txBox="1"/>
          <p:nvPr/>
        </p:nvSpPr>
        <p:spPr>
          <a:xfrm>
            <a:off x="6690208" y="3145536"/>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SQL y sus cuatro sublenguajes</a:t>
            </a:r>
            <a:endParaRPr lang="en-US" sz="1400" dirty="0"/>
          </a:p>
        </p:txBody>
      </p:sp>
      <p:sp>
        <p:nvSpPr>
          <p:cNvPr id="18" name="Text 16"/>
          <p:cNvSpPr txBox="1"/>
          <p:nvPr/>
        </p:nvSpPr>
        <p:spPr>
          <a:xfrm>
            <a:off x="6095848" y="3712464"/>
            <a:ext cx="548640" cy="566928"/>
          </a:xfrm>
          <a:prstGeom prst="rect">
            <a:avLst/>
          </a:prstGeom>
          <a:noFill/>
          <a:ln/>
        </p:spPr>
        <p:txBody>
          <a:bodyPr wrap="square" lIns="0" tIns="0" rIns="0" bIns="0" rtlCol="0" anchor="ctr"/>
          <a:lstStyle/>
          <a:p>
            <a:pPr indent="0" marL="0">
              <a:buNone/>
            </a:pPr>
            <a:r>
              <a:rPr lang="en-US" sz="1600" b="1" dirty="0">
                <a:solidFill>
                  <a:srgbClr val="1B39E6"/>
                </a:solidFill>
                <a:latin typeface="Courier New" pitchFamily="34" charset="0"/>
                <a:ea typeface="Courier New" pitchFamily="34" charset="-122"/>
                <a:cs typeface="Courier New" pitchFamily="34" charset="-120"/>
              </a:rPr>
              <a:t>08</a:t>
            </a:r>
            <a:endParaRPr lang="en-US" sz="1600" dirty="0"/>
          </a:p>
        </p:txBody>
      </p:sp>
      <p:sp>
        <p:nvSpPr>
          <p:cNvPr id="19" name="Text 17"/>
          <p:cNvSpPr txBox="1"/>
          <p:nvPr/>
        </p:nvSpPr>
        <p:spPr>
          <a:xfrm>
            <a:off x="6690208" y="3712464"/>
            <a:ext cx="4815688" cy="566928"/>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Dónde vive una base de datos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01 — DATO, INFORMACIÓN Y SISTEMA DE INFORMACIÓN</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De un dato suelto a una decisión</a:t>
            </a:r>
            <a:endParaRPr lang="en-US" sz="3000" dirty="0"/>
          </a:p>
        </p:txBody>
      </p:sp>
      <p:sp>
        <p:nvSpPr>
          <p:cNvPr id="4" name="Shape 2"/>
          <p:cNvSpPr/>
          <p:nvPr/>
        </p:nvSpPr>
        <p:spPr>
          <a:xfrm>
            <a:off x="1203808" y="2194560"/>
            <a:ext cx="2834640" cy="1828800"/>
          </a:xfrm>
          <a:prstGeom prst="roundRect">
            <a:avLst>
              <a:gd name="adj" fmla="val 5000"/>
            </a:avLst>
          </a:prstGeom>
          <a:solidFill>
            <a:srgbClr val="FFFFFF"/>
          </a:solidFill>
          <a:ln w="19050">
            <a:solidFill>
              <a:srgbClr val="15171C"/>
            </a:solidFill>
            <a:prstDash val="solid"/>
          </a:ln>
        </p:spPr>
      </p:sp>
      <p:sp>
        <p:nvSpPr>
          <p:cNvPr id="5" name="Text 3"/>
          <p:cNvSpPr txBox="1"/>
          <p:nvPr/>
        </p:nvSpPr>
        <p:spPr>
          <a:xfrm>
            <a:off x="1386688" y="2377440"/>
            <a:ext cx="2468880" cy="365760"/>
          </a:xfrm>
          <a:prstGeom prst="rect">
            <a:avLst/>
          </a:prstGeom>
          <a:noFill/>
          <a:ln/>
        </p:spPr>
        <p:txBody>
          <a:bodyPr wrap="square" lIns="0" tIns="0" rIns="0" bIns="0" rtlCol="0" anchor="ctr"/>
          <a:lstStyle/>
          <a:p>
            <a:pPr indent="0" marL="0">
              <a:buNone/>
            </a:pPr>
            <a:r>
              <a:rPr lang="en-US" sz="1200" b="1" dirty="0">
                <a:solidFill>
                  <a:srgbClr val="0D1A7A"/>
                </a:solidFill>
                <a:latin typeface="Calibri" pitchFamily="34" charset="0"/>
                <a:ea typeface="Calibri" pitchFamily="34" charset="-122"/>
                <a:cs typeface="Calibri" pitchFamily="34" charset="-120"/>
              </a:rPr>
              <a:t>DATO</a:t>
            </a:r>
            <a:endParaRPr lang="en-US" sz="1200" dirty="0"/>
          </a:p>
        </p:txBody>
      </p:sp>
      <p:sp>
        <p:nvSpPr>
          <p:cNvPr id="6" name="Text 4"/>
          <p:cNvSpPr txBox="1"/>
          <p:nvPr/>
        </p:nvSpPr>
        <p:spPr>
          <a:xfrm>
            <a:off x="1386688" y="2834640"/>
            <a:ext cx="2468880" cy="1005840"/>
          </a:xfrm>
          <a:prstGeom prst="rect">
            <a:avLst/>
          </a:prstGeom>
          <a:noFill/>
          <a:ln/>
        </p:spPr>
        <p:txBody>
          <a:bodyPr wrap="square" lIns="0" tIns="0" rIns="0" bIns="0" rtlCol="0" anchor="t"/>
          <a:lstStyle/>
          <a:p>
            <a:pPr indent="0" marL="0">
              <a:buNone/>
            </a:pPr>
            <a:r>
              <a:rPr lang="en-US" sz="1500" dirty="0">
                <a:solidFill>
                  <a:srgbClr val="15171C"/>
                </a:solidFill>
                <a:latin typeface="Arial" pitchFamily="34" charset="0"/>
                <a:ea typeface="Arial" pitchFamily="34" charset="-122"/>
                <a:cs typeface="Arial" pitchFamily="34" charset="-120"/>
              </a:rPr>
              <a:t>22 ºC</a:t>
            </a:r>
            <a:endParaRPr lang="en-US" sz="1500" dirty="0"/>
          </a:p>
        </p:txBody>
      </p:sp>
      <p:sp>
        <p:nvSpPr>
          <p:cNvPr id="7" name="Text 5"/>
          <p:cNvSpPr txBox="1"/>
          <p:nvPr/>
        </p:nvSpPr>
        <p:spPr>
          <a:xfrm>
            <a:off x="4038448" y="2743200"/>
            <a:ext cx="640080" cy="731520"/>
          </a:xfrm>
          <a:prstGeom prst="rect">
            <a:avLst/>
          </a:prstGeom>
          <a:noFill/>
          <a:ln/>
        </p:spPr>
        <p:txBody>
          <a:bodyPr wrap="square" lIns="0" tIns="0" rIns="0" bIns="0" rtlCol="0" anchor="ctr"/>
          <a:lstStyle/>
          <a:p>
            <a:pPr algn="ctr" indent="0" marL="0">
              <a:buNone/>
            </a:pPr>
            <a:r>
              <a:rPr lang="en-US" sz="2800" b="1" dirty="0">
                <a:solidFill>
                  <a:srgbClr val="767C8A"/>
                </a:solidFill>
                <a:latin typeface="Calibri" pitchFamily="34" charset="0"/>
                <a:ea typeface="Calibri" pitchFamily="34" charset="-122"/>
                <a:cs typeface="Calibri" pitchFamily="34" charset="-120"/>
              </a:rPr>
              <a:t>→</a:t>
            </a:r>
            <a:endParaRPr lang="en-US" sz="2800" dirty="0"/>
          </a:p>
        </p:txBody>
      </p:sp>
      <p:sp>
        <p:nvSpPr>
          <p:cNvPr id="8" name="Shape 6"/>
          <p:cNvSpPr/>
          <p:nvPr/>
        </p:nvSpPr>
        <p:spPr>
          <a:xfrm>
            <a:off x="4678528" y="2194560"/>
            <a:ext cx="2834640" cy="1828800"/>
          </a:xfrm>
          <a:prstGeom prst="roundRect">
            <a:avLst>
              <a:gd name="adj" fmla="val 5000"/>
            </a:avLst>
          </a:prstGeom>
          <a:solidFill>
            <a:srgbClr val="FFFFFF"/>
          </a:solidFill>
          <a:ln w="19050">
            <a:solidFill>
              <a:srgbClr val="15171C"/>
            </a:solidFill>
            <a:prstDash val="solid"/>
          </a:ln>
        </p:spPr>
      </p:sp>
      <p:sp>
        <p:nvSpPr>
          <p:cNvPr id="9" name="Text 7"/>
          <p:cNvSpPr txBox="1"/>
          <p:nvPr/>
        </p:nvSpPr>
        <p:spPr>
          <a:xfrm>
            <a:off x="4861408" y="2377440"/>
            <a:ext cx="2468880" cy="365760"/>
          </a:xfrm>
          <a:prstGeom prst="rect">
            <a:avLst/>
          </a:prstGeom>
          <a:noFill/>
          <a:ln/>
        </p:spPr>
        <p:txBody>
          <a:bodyPr wrap="square" lIns="0" tIns="0" rIns="0" bIns="0" rtlCol="0" anchor="ctr"/>
          <a:lstStyle/>
          <a:p>
            <a:pPr indent="0" marL="0">
              <a:buNone/>
            </a:pPr>
            <a:r>
              <a:rPr lang="en-US" sz="1200" b="1" dirty="0">
                <a:solidFill>
                  <a:srgbClr val="0D1A7A"/>
                </a:solidFill>
                <a:latin typeface="Calibri" pitchFamily="34" charset="0"/>
                <a:ea typeface="Calibri" pitchFamily="34" charset="-122"/>
                <a:cs typeface="Calibri" pitchFamily="34" charset="-120"/>
              </a:rPr>
              <a:t>INFORMACIÓN</a:t>
            </a:r>
            <a:endParaRPr lang="en-US" sz="1200" dirty="0"/>
          </a:p>
        </p:txBody>
      </p:sp>
      <p:sp>
        <p:nvSpPr>
          <p:cNvPr id="10" name="Text 8"/>
          <p:cNvSpPr txBox="1"/>
          <p:nvPr/>
        </p:nvSpPr>
        <p:spPr>
          <a:xfrm>
            <a:off x="4861408" y="2834640"/>
            <a:ext cx="2468880" cy="1005840"/>
          </a:xfrm>
          <a:prstGeom prst="rect">
            <a:avLst/>
          </a:prstGeom>
          <a:noFill/>
          <a:ln/>
        </p:spPr>
        <p:txBody>
          <a:bodyPr wrap="square" lIns="0" tIns="0" rIns="0" bIns="0" rtlCol="0" anchor="t"/>
          <a:lstStyle/>
          <a:p>
            <a:pPr indent="0" marL="0">
              <a:buNone/>
            </a:pPr>
            <a:r>
              <a:rPr lang="en-US" sz="1500" dirty="0">
                <a:solidFill>
                  <a:srgbClr val="15171C"/>
                </a:solidFill>
                <a:latin typeface="Arial" pitchFamily="34" charset="0"/>
                <a:ea typeface="Arial" pitchFamily="34" charset="-122"/>
                <a:cs typeface="Arial" pitchFamily="34" charset="-120"/>
              </a:rPr>
              <a:t>22 ºC en Sevilla el 15 de julio</a:t>
            </a:r>
            <a:endParaRPr lang="en-US" sz="1500" dirty="0"/>
          </a:p>
        </p:txBody>
      </p:sp>
      <p:sp>
        <p:nvSpPr>
          <p:cNvPr id="11" name="Text 9"/>
          <p:cNvSpPr txBox="1"/>
          <p:nvPr/>
        </p:nvSpPr>
        <p:spPr>
          <a:xfrm>
            <a:off x="7513168" y="2743200"/>
            <a:ext cx="640080" cy="731520"/>
          </a:xfrm>
          <a:prstGeom prst="rect">
            <a:avLst/>
          </a:prstGeom>
          <a:noFill/>
          <a:ln/>
        </p:spPr>
        <p:txBody>
          <a:bodyPr wrap="square" lIns="0" tIns="0" rIns="0" bIns="0" rtlCol="0" anchor="ctr"/>
          <a:lstStyle/>
          <a:p>
            <a:pPr algn="ctr" indent="0" marL="0">
              <a:buNone/>
            </a:pPr>
            <a:r>
              <a:rPr lang="en-US" sz="2800" b="1" dirty="0">
                <a:solidFill>
                  <a:srgbClr val="767C8A"/>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8153248" y="2194560"/>
            <a:ext cx="2834640" cy="1828800"/>
          </a:xfrm>
          <a:prstGeom prst="roundRect">
            <a:avLst>
              <a:gd name="adj" fmla="val 5000"/>
            </a:avLst>
          </a:prstGeom>
          <a:solidFill>
            <a:srgbClr val="FFFFFF"/>
          </a:solidFill>
          <a:ln w="19050">
            <a:solidFill>
              <a:srgbClr val="15171C"/>
            </a:solidFill>
            <a:prstDash val="solid"/>
          </a:ln>
        </p:spPr>
      </p:sp>
      <p:sp>
        <p:nvSpPr>
          <p:cNvPr id="13" name="Text 11"/>
          <p:cNvSpPr txBox="1"/>
          <p:nvPr/>
        </p:nvSpPr>
        <p:spPr>
          <a:xfrm>
            <a:off x="8336128" y="2377440"/>
            <a:ext cx="2468880" cy="365760"/>
          </a:xfrm>
          <a:prstGeom prst="rect">
            <a:avLst/>
          </a:prstGeom>
          <a:noFill/>
          <a:ln/>
        </p:spPr>
        <p:txBody>
          <a:bodyPr wrap="square" lIns="0" tIns="0" rIns="0" bIns="0" rtlCol="0" anchor="ctr"/>
          <a:lstStyle/>
          <a:p>
            <a:pPr indent="0" marL="0">
              <a:buNone/>
            </a:pPr>
            <a:r>
              <a:rPr lang="en-US" sz="1200" b="1" dirty="0">
                <a:solidFill>
                  <a:srgbClr val="0D1A7A"/>
                </a:solidFill>
                <a:latin typeface="Calibri" pitchFamily="34" charset="0"/>
                <a:ea typeface="Calibri" pitchFamily="34" charset="-122"/>
                <a:cs typeface="Calibri" pitchFamily="34" charset="-120"/>
              </a:rPr>
              <a:t>CONOCIMIENTO</a:t>
            </a:r>
            <a:endParaRPr lang="en-US" sz="1200" dirty="0"/>
          </a:p>
        </p:txBody>
      </p:sp>
      <p:sp>
        <p:nvSpPr>
          <p:cNvPr id="14" name="Text 12"/>
          <p:cNvSpPr txBox="1"/>
          <p:nvPr/>
        </p:nvSpPr>
        <p:spPr>
          <a:xfrm>
            <a:off x="8336128" y="2834640"/>
            <a:ext cx="2468880" cy="1005840"/>
          </a:xfrm>
          <a:prstGeom prst="rect">
            <a:avLst/>
          </a:prstGeom>
          <a:noFill/>
          <a:ln/>
        </p:spPr>
        <p:txBody>
          <a:bodyPr wrap="square" lIns="0" tIns="0" rIns="0" bIns="0" rtlCol="0" anchor="t"/>
          <a:lstStyle/>
          <a:p>
            <a:pPr indent="0" marL="0">
              <a:buNone/>
            </a:pPr>
            <a:r>
              <a:rPr lang="en-US" sz="1500" dirty="0">
                <a:solidFill>
                  <a:srgbClr val="15171C"/>
                </a:solidFill>
                <a:latin typeface="Arial" pitchFamily="34" charset="0"/>
                <a:ea typeface="Arial" pitchFamily="34" charset="-122"/>
                <a:cs typeface="Arial" pitchFamily="34" charset="-120"/>
              </a:rPr>
              <a:t>“Hace calor, riego las plantas”</a:t>
            </a:r>
            <a:endParaRPr lang="en-US" sz="1500" dirty="0"/>
          </a:p>
        </p:txBody>
      </p:sp>
      <p:sp>
        <p:nvSpPr>
          <p:cNvPr id="15" name="Text 13"/>
          <p:cNvSpPr txBox="1"/>
          <p:nvPr/>
        </p:nvSpPr>
        <p:spPr>
          <a:xfrm>
            <a:off x="731520" y="4480560"/>
            <a:ext cx="10728655" cy="1097280"/>
          </a:xfrm>
          <a:prstGeom prst="rect">
            <a:avLst/>
          </a:prstGeom>
          <a:noFill/>
          <a:ln/>
        </p:spPr>
        <p:txBody>
          <a:bodyPr wrap="square" lIns="0" tIns="0" rIns="0" bIns="0" rtlCol="0" anchor="t"/>
          <a:lstStyle/>
          <a:p>
            <a:pPr indent="0" marL="0">
              <a:buNone/>
            </a:pPr>
            <a:r>
              <a:rPr lang="en-US" sz="1400" dirty="0">
                <a:solidFill>
                  <a:srgbClr val="4B4F58"/>
                </a:solidFill>
                <a:latin typeface="Calibri" pitchFamily="34" charset="0"/>
                <a:ea typeface="Calibri" pitchFamily="34" charset="-122"/>
                <a:cs typeface="Calibri" pitchFamily="34" charset="-120"/>
              </a:rPr>
              <a:t>Un </a:t>
            </a:r>
            <a:pPr indent="0" marL="0">
              <a:buNone/>
            </a:pPr>
            <a:r>
              <a:rPr lang="en-US" sz="1400" b="1" dirty="0">
                <a:solidFill>
                  <a:srgbClr val="4B4F58"/>
                </a:solidFill>
                <a:latin typeface="Calibri" pitchFamily="34" charset="0"/>
                <a:ea typeface="Calibri" pitchFamily="34" charset="-122"/>
                <a:cs typeface="Calibri" pitchFamily="34" charset="-120"/>
              </a:rPr>
              <a:t>dato</a:t>
            </a:r>
            <a:pPr indent="0" marL="0">
              <a:buNone/>
            </a:pPr>
            <a:r>
              <a:rPr lang="en-US" sz="1400" dirty="0">
                <a:solidFill>
                  <a:srgbClr val="4B4F58"/>
                </a:solidFill>
                <a:latin typeface="Calibri" pitchFamily="34" charset="0"/>
                <a:ea typeface="Calibri" pitchFamily="34" charset="-122"/>
                <a:cs typeface="Calibri" pitchFamily="34" charset="-120"/>
              </a:rPr>
              <a:t> es un hecho registrado. La </a:t>
            </a:r>
            <a:pPr indent="0" marL="0">
              <a:buNone/>
            </a:pPr>
            <a:r>
              <a:rPr lang="en-US" sz="1400" b="1" dirty="0">
                <a:solidFill>
                  <a:srgbClr val="4B4F58"/>
                </a:solidFill>
                <a:latin typeface="Calibri" pitchFamily="34" charset="0"/>
                <a:ea typeface="Calibri" pitchFamily="34" charset="-122"/>
                <a:cs typeface="Calibri" pitchFamily="34" charset="-120"/>
              </a:rPr>
              <a:t>información</a:t>
            </a:r>
            <a:pPr indent="0" marL="0">
              <a:buNone/>
            </a:pPr>
            <a:r>
              <a:rPr lang="en-US" sz="1400" dirty="0">
                <a:solidFill>
                  <a:srgbClr val="4B4F58"/>
                </a:solidFill>
                <a:latin typeface="Calibri" pitchFamily="34" charset="0"/>
                <a:ea typeface="Calibri" pitchFamily="34" charset="-122"/>
                <a:cs typeface="Calibri" pitchFamily="34" charset="-120"/>
              </a:rPr>
              <a:t> es ese dato ya procesado y con contexto. Cuando se usa para decidir, se convierte en </a:t>
            </a:r>
            <a:pPr indent="0" marL="0">
              <a:buNone/>
            </a:pPr>
            <a:r>
              <a:rPr lang="en-US" sz="1400" b="1" dirty="0">
                <a:solidFill>
                  <a:srgbClr val="4B4F58"/>
                </a:solidFill>
                <a:latin typeface="Calibri" pitchFamily="34" charset="0"/>
                <a:ea typeface="Calibri" pitchFamily="34" charset="-122"/>
                <a:cs typeface="Calibri" pitchFamily="34" charset="-120"/>
              </a:rPr>
              <a:t>conocimiento</a:t>
            </a:r>
            <a:pPr indent="0" marL="0">
              <a:buNone/>
            </a:pPr>
            <a:r>
              <a:rPr lang="en-US" sz="1400" dirty="0">
                <a:solidFill>
                  <a:srgbClr val="4B4F58"/>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01 — SISTEMA DE INFORMACIÓN</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Toda empresa opera sobre uno</a:t>
            </a:r>
            <a:endParaRPr lang="en-US" sz="3000" dirty="0"/>
          </a:p>
        </p:txBody>
      </p:sp>
      <p:sp>
        <p:nvSpPr>
          <p:cNvPr id="4" name="Text 2"/>
          <p:cNvSpPr txBox="1"/>
          <p:nvPr/>
        </p:nvSpPr>
        <p:spPr>
          <a:xfrm>
            <a:off x="548640" y="1965960"/>
            <a:ext cx="11094415" cy="822960"/>
          </a:xfrm>
          <a:prstGeom prst="rect">
            <a:avLst/>
          </a:prstGeom>
          <a:noFill/>
          <a:ln/>
        </p:spPr>
        <p:txBody>
          <a:bodyPr wrap="square" lIns="0" tIns="0" rIns="0" bIns="0" rtlCol="0" anchor="t"/>
          <a:lstStyle/>
          <a:p>
            <a:pPr indent="0" marL="0">
              <a:buNone/>
            </a:pPr>
            <a:r>
              <a:rPr lang="en-US" sz="1600" dirty="0">
                <a:solidFill>
                  <a:srgbClr val="4B4F58"/>
                </a:solidFill>
                <a:latin typeface="Calibri" pitchFamily="34" charset="0"/>
                <a:ea typeface="Calibri" pitchFamily="34" charset="-122"/>
                <a:cs typeface="Calibri" pitchFamily="34" charset="-120"/>
              </a:rPr>
              <a:t>Un conjunto organizado de elementos —informatizados o no— para tratar y administrar datos y cubrir una necesidad concreta.</a:t>
            </a:r>
            <a:endParaRPr lang="en-US" sz="1600" dirty="0"/>
          </a:p>
        </p:txBody>
      </p:sp>
      <p:sp>
        <p:nvSpPr>
          <p:cNvPr id="5" name="Shape 3"/>
          <p:cNvSpPr/>
          <p:nvPr/>
        </p:nvSpPr>
        <p:spPr>
          <a:xfrm>
            <a:off x="548640" y="3017520"/>
            <a:ext cx="11094415" cy="502920"/>
          </a:xfrm>
          <a:prstGeom prst="roundRect">
            <a:avLst>
              <a:gd name="adj" fmla="val 50909"/>
            </a:avLst>
          </a:prstGeom>
          <a:solidFill>
            <a:srgbClr val="FFFFFF"/>
          </a:solidFill>
          <a:ln w="19050">
            <a:solidFill>
              <a:srgbClr val="15171C"/>
            </a:solidFill>
            <a:prstDash val="solid"/>
          </a:ln>
        </p:spPr>
      </p:sp>
      <p:sp>
        <p:nvSpPr>
          <p:cNvPr id="6" name="Text 4"/>
          <p:cNvSpPr txBox="1"/>
          <p:nvPr/>
        </p:nvSpPr>
        <p:spPr>
          <a:xfrm>
            <a:off x="822960" y="3017520"/>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¿Repongo un producto?</a:t>
            </a:r>
            <a:endParaRPr lang="en-US" sz="1400" dirty="0"/>
          </a:p>
        </p:txBody>
      </p:sp>
      <p:sp>
        <p:nvSpPr>
          <p:cNvPr id="7" name="Shape 5"/>
          <p:cNvSpPr/>
          <p:nvPr/>
        </p:nvSpPr>
        <p:spPr>
          <a:xfrm>
            <a:off x="548640" y="3666744"/>
            <a:ext cx="11094415" cy="502920"/>
          </a:xfrm>
          <a:prstGeom prst="roundRect">
            <a:avLst>
              <a:gd name="adj" fmla="val 50909"/>
            </a:avLst>
          </a:prstGeom>
          <a:solidFill>
            <a:srgbClr val="FFFFFF"/>
          </a:solidFill>
          <a:ln w="19050">
            <a:solidFill>
              <a:srgbClr val="15171C"/>
            </a:solidFill>
            <a:prstDash val="solid"/>
          </a:ln>
        </p:spPr>
      </p:sp>
      <p:sp>
        <p:nvSpPr>
          <p:cNvPr id="8" name="Text 6"/>
          <p:cNvSpPr txBox="1"/>
          <p:nvPr/>
        </p:nvSpPr>
        <p:spPr>
          <a:xfrm>
            <a:off x="822960" y="3666744"/>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¿Lanzo una oferta?</a:t>
            </a:r>
            <a:endParaRPr lang="en-US" sz="1400" dirty="0"/>
          </a:p>
        </p:txBody>
      </p:sp>
      <p:sp>
        <p:nvSpPr>
          <p:cNvPr id="9" name="Shape 7"/>
          <p:cNvSpPr/>
          <p:nvPr/>
        </p:nvSpPr>
        <p:spPr>
          <a:xfrm>
            <a:off x="548640" y="4315968"/>
            <a:ext cx="11094415" cy="502920"/>
          </a:xfrm>
          <a:prstGeom prst="roundRect">
            <a:avLst>
              <a:gd name="adj" fmla="val 50909"/>
            </a:avLst>
          </a:prstGeom>
          <a:solidFill>
            <a:srgbClr val="FFFFFF"/>
          </a:solidFill>
          <a:ln w="19050">
            <a:solidFill>
              <a:srgbClr val="15171C"/>
            </a:solidFill>
            <a:prstDash val="solid"/>
          </a:ln>
        </p:spPr>
      </p:sp>
      <p:sp>
        <p:nvSpPr>
          <p:cNvPr id="10" name="Text 8"/>
          <p:cNvSpPr txBox="1"/>
          <p:nvPr/>
        </p:nvSpPr>
        <p:spPr>
          <a:xfrm>
            <a:off x="822960" y="4315968"/>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¿Contrato a alguien?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914400"/>
            <a:ext cx="3108960" cy="3108960"/>
          </a:xfrm>
          <a:prstGeom prst="ellipse">
            <a:avLst/>
          </a:prstGeom>
          <a:solidFill>
            <a:srgbClr val="FF5A2E">
              <a:alpha val="16000"/>
            </a:srgbClr>
          </a:solidFill>
          <a:ln/>
        </p:spPr>
      </p:sp>
      <p:sp>
        <p:nvSpPr>
          <p:cNvPr id="3" name="Shape 1"/>
          <p:cNvSpPr/>
          <p:nvPr/>
        </p:nvSpPr>
        <p:spPr>
          <a:xfrm>
            <a:off x="548640" y="457200"/>
            <a:ext cx="502920" cy="502920"/>
          </a:xfrm>
          <a:prstGeom prst="ellipse">
            <a:avLst/>
          </a:prstGeom>
          <a:solidFill>
            <a:srgbClr val="FF5A2E"/>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FF5A2E"/>
                </a:solidFill>
                <a:latin typeface="Calibri" pitchFamily="34" charset="0"/>
                <a:ea typeface="Calibri" pitchFamily="34" charset="-122"/>
                <a:cs typeface="Calibri" pitchFamily="34" charset="-120"/>
              </a:rPr>
              <a:t>ACTIVIDAD INDIVIDUAL</a:t>
            </a:r>
            <a:endParaRPr lang="en-US" sz="1300" dirty="0"/>
          </a:p>
        </p:txBody>
      </p:sp>
      <p:sp>
        <p:nvSpPr>
          <p:cNvPr id="6" name="Text 4"/>
          <p:cNvSpPr txBox="1"/>
          <p:nvPr/>
        </p:nvSpPr>
        <p:spPr>
          <a:xfrm>
            <a:off x="548640" y="1005840"/>
            <a:ext cx="11094415" cy="822960"/>
          </a:xfrm>
          <a:prstGeom prst="rect">
            <a:avLst/>
          </a:prstGeom>
          <a:noFill/>
          <a:ln/>
        </p:spPr>
        <p:txBody>
          <a:bodyPr wrap="square" lIns="0" tIns="0" rIns="0" bIns="0" rtlCol="0" anchor="ctr"/>
          <a:lstStyle/>
          <a:p>
            <a:pPr indent="0" marL="0">
              <a:buNone/>
            </a:pPr>
            <a:r>
              <a:rPr lang="en-US" sz="2800" b="1" dirty="0">
                <a:solidFill>
                  <a:srgbClr val="15171C"/>
                </a:solidFill>
                <a:latin typeface="Arial" pitchFamily="34" charset="0"/>
                <a:ea typeface="Arial" pitchFamily="34" charset="-122"/>
                <a:cs typeface="Arial" pitchFamily="34" charset="-120"/>
              </a:rPr>
              <a:t>¿Dato, información o conocimiento?</a:t>
            </a:r>
            <a:endParaRPr lang="en-US" sz="2800" dirty="0"/>
          </a:p>
        </p:txBody>
      </p:sp>
      <p:sp>
        <p:nvSpPr>
          <p:cNvPr id="7" name="Text 5"/>
          <p:cNvSpPr txBox="1"/>
          <p:nvPr/>
        </p:nvSpPr>
        <p:spPr>
          <a:xfrm>
            <a:off x="548640" y="1783080"/>
            <a:ext cx="11094415" cy="54864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Lee cada frase tú solo/a y decide en qué categoría encaja, antes de comentarlo en voz alta.</a:t>
            </a:r>
            <a:endParaRPr lang="en-US" sz="1400" dirty="0"/>
          </a:p>
        </p:txBody>
      </p:sp>
      <p:sp>
        <p:nvSpPr>
          <p:cNvPr id="8" name="Shape 6"/>
          <p:cNvSpPr/>
          <p:nvPr/>
        </p:nvSpPr>
        <p:spPr>
          <a:xfrm>
            <a:off x="548640" y="2468880"/>
            <a:ext cx="3545738" cy="1554480"/>
          </a:xfrm>
          <a:prstGeom prst="roundRect">
            <a:avLst>
              <a:gd name="adj" fmla="val 4706"/>
            </a:avLst>
          </a:prstGeom>
          <a:solidFill>
            <a:srgbClr val="FFFFFF"/>
          </a:solidFill>
          <a:ln w="19050">
            <a:solidFill>
              <a:srgbClr val="15171C"/>
            </a:solidFill>
            <a:prstDash val="solid"/>
          </a:ln>
        </p:spPr>
      </p:sp>
      <p:sp>
        <p:nvSpPr>
          <p:cNvPr id="9" name="Text 7"/>
          <p:cNvSpPr txBox="1"/>
          <p:nvPr/>
        </p:nvSpPr>
        <p:spPr>
          <a:xfrm>
            <a:off x="713232" y="2633472"/>
            <a:ext cx="3216554" cy="128016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«48»</a:t>
            </a:r>
            <a:endParaRPr lang="en-US" sz="1150" dirty="0"/>
          </a:p>
        </p:txBody>
      </p:sp>
      <p:sp>
        <p:nvSpPr>
          <p:cNvPr id="10" name="Shape 8"/>
          <p:cNvSpPr/>
          <p:nvPr/>
        </p:nvSpPr>
        <p:spPr>
          <a:xfrm>
            <a:off x="4322978" y="2468880"/>
            <a:ext cx="3545738" cy="1554480"/>
          </a:xfrm>
          <a:prstGeom prst="roundRect">
            <a:avLst>
              <a:gd name="adj" fmla="val 4706"/>
            </a:avLst>
          </a:prstGeom>
          <a:solidFill>
            <a:srgbClr val="FFFFFF"/>
          </a:solidFill>
          <a:ln w="19050">
            <a:solidFill>
              <a:srgbClr val="15171C"/>
            </a:solidFill>
            <a:prstDash val="solid"/>
          </a:ln>
        </p:spPr>
      </p:sp>
      <p:sp>
        <p:nvSpPr>
          <p:cNvPr id="11" name="Text 9"/>
          <p:cNvSpPr txBox="1"/>
          <p:nvPr/>
        </p:nvSpPr>
        <p:spPr>
          <a:xfrm>
            <a:off x="4487570" y="2633472"/>
            <a:ext cx="3216554" cy="128016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«48 pulsaciones por minuto en reposo, en el alumno de la fila 3»</a:t>
            </a:r>
            <a:endParaRPr lang="en-US" sz="1150" dirty="0"/>
          </a:p>
        </p:txBody>
      </p:sp>
      <p:sp>
        <p:nvSpPr>
          <p:cNvPr id="12" name="Shape 10"/>
          <p:cNvSpPr/>
          <p:nvPr/>
        </p:nvSpPr>
        <p:spPr>
          <a:xfrm>
            <a:off x="8097317" y="2468880"/>
            <a:ext cx="3545738" cy="1554480"/>
          </a:xfrm>
          <a:prstGeom prst="roundRect">
            <a:avLst>
              <a:gd name="adj" fmla="val 4706"/>
            </a:avLst>
          </a:prstGeom>
          <a:solidFill>
            <a:srgbClr val="FFFFFF"/>
          </a:solidFill>
          <a:ln w="19050">
            <a:solidFill>
              <a:srgbClr val="15171C"/>
            </a:solidFill>
            <a:prstDash val="solid"/>
          </a:ln>
        </p:spPr>
      </p:sp>
      <p:sp>
        <p:nvSpPr>
          <p:cNvPr id="13" name="Text 11"/>
          <p:cNvSpPr txBox="1"/>
          <p:nvPr/>
        </p:nvSpPr>
        <p:spPr>
          <a:xfrm>
            <a:off x="8261909" y="2633472"/>
            <a:ext cx="3216554" cy="128016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«Está muy bajo para su edad — hay que avisar a su familia y llamar al 112»</a:t>
            </a:r>
            <a:endParaRPr lang="en-US" sz="1150" dirty="0"/>
          </a:p>
        </p:txBody>
      </p:sp>
      <p:sp>
        <p:nvSpPr>
          <p:cNvPr id="14" name="Shape 12"/>
          <p:cNvSpPr/>
          <p:nvPr/>
        </p:nvSpPr>
        <p:spPr>
          <a:xfrm>
            <a:off x="548640" y="4343400"/>
            <a:ext cx="11094415" cy="502920"/>
          </a:xfrm>
          <a:prstGeom prst="roundRect">
            <a:avLst>
              <a:gd name="adj" fmla="val 50909"/>
            </a:avLst>
          </a:prstGeom>
          <a:solidFill>
            <a:srgbClr val="FFFFFF"/>
          </a:solidFill>
          <a:ln w="19050">
            <a:solidFill>
              <a:srgbClr val="15171C"/>
            </a:solidFill>
            <a:prstDash val="solid"/>
          </a:ln>
        </p:spPr>
      </p:sp>
      <p:sp>
        <p:nvSpPr>
          <p:cNvPr id="15" name="Text 13"/>
          <p:cNvSpPr txBox="1"/>
          <p:nvPr/>
        </p:nvSpPr>
        <p:spPr>
          <a:xfrm>
            <a:off x="822960" y="4343400"/>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A · DATO</a:t>
            </a:r>
            <a:endParaRPr lang="en-US" sz="1400" dirty="0"/>
          </a:p>
        </p:txBody>
      </p:sp>
      <p:sp>
        <p:nvSpPr>
          <p:cNvPr id="16" name="Shape 14"/>
          <p:cNvSpPr/>
          <p:nvPr/>
        </p:nvSpPr>
        <p:spPr>
          <a:xfrm>
            <a:off x="548640" y="4992624"/>
            <a:ext cx="11094415" cy="502920"/>
          </a:xfrm>
          <a:prstGeom prst="roundRect">
            <a:avLst>
              <a:gd name="adj" fmla="val 50909"/>
            </a:avLst>
          </a:prstGeom>
          <a:solidFill>
            <a:srgbClr val="FFFFFF"/>
          </a:solidFill>
          <a:ln w="19050">
            <a:solidFill>
              <a:srgbClr val="15171C"/>
            </a:solidFill>
            <a:prstDash val="solid"/>
          </a:ln>
        </p:spPr>
      </p:sp>
      <p:sp>
        <p:nvSpPr>
          <p:cNvPr id="17" name="Text 15"/>
          <p:cNvSpPr txBox="1"/>
          <p:nvPr/>
        </p:nvSpPr>
        <p:spPr>
          <a:xfrm>
            <a:off x="822960" y="4992624"/>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B · INFORMACIÓN</a:t>
            </a:r>
            <a:endParaRPr lang="en-US" sz="1400" dirty="0"/>
          </a:p>
        </p:txBody>
      </p:sp>
      <p:sp>
        <p:nvSpPr>
          <p:cNvPr id="18" name="Shape 16"/>
          <p:cNvSpPr/>
          <p:nvPr/>
        </p:nvSpPr>
        <p:spPr>
          <a:xfrm>
            <a:off x="548640" y="5641848"/>
            <a:ext cx="11094415" cy="502920"/>
          </a:xfrm>
          <a:prstGeom prst="roundRect">
            <a:avLst>
              <a:gd name="adj" fmla="val 50909"/>
            </a:avLst>
          </a:prstGeom>
          <a:solidFill>
            <a:srgbClr val="FFFFFF"/>
          </a:solidFill>
          <a:ln w="19050">
            <a:solidFill>
              <a:srgbClr val="15171C"/>
            </a:solidFill>
            <a:prstDash val="solid"/>
          </a:ln>
        </p:spPr>
      </p:sp>
      <p:sp>
        <p:nvSpPr>
          <p:cNvPr id="19" name="Text 17"/>
          <p:cNvSpPr txBox="1"/>
          <p:nvPr/>
        </p:nvSpPr>
        <p:spPr>
          <a:xfrm>
            <a:off x="822960" y="5641848"/>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C · CONOCIMIENTO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1005840"/>
            <a:ext cx="3291840" cy="3291840"/>
          </a:xfrm>
          <a:prstGeom prst="ellipse">
            <a:avLst/>
          </a:prstGeom>
          <a:solidFill>
            <a:srgbClr val="8ED0AA">
              <a:alpha val="22000"/>
            </a:srgbClr>
          </a:solidFill>
          <a:ln/>
        </p:spPr>
      </p:sp>
      <p:sp>
        <p:nvSpPr>
          <p:cNvPr id="3" name="Shape 1"/>
          <p:cNvSpPr/>
          <p:nvPr/>
        </p:nvSpPr>
        <p:spPr>
          <a:xfrm>
            <a:off x="548640" y="457200"/>
            <a:ext cx="502920" cy="502920"/>
          </a:xfrm>
          <a:prstGeom prst="ellipse">
            <a:avLst/>
          </a:prstGeom>
          <a:solidFill>
            <a:srgbClr val="3F9468"/>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3F9468"/>
                </a:solidFill>
                <a:latin typeface="Calibri" pitchFamily="34" charset="0"/>
                <a:ea typeface="Calibri" pitchFamily="34" charset="-122"/>
                <a:cs typeface="Calibri" pitchFamily="34" charset="-120"/>
              </a:rPr>
              <a:t>SOLUCIÓN</a:t>
            </a:r>
            <a:endParaRPr lang="en-US" sz="1300" dirty="0"/>
          </a:p>
        </p:txBody>
      </p:sp>
      <p:sp>
        <p:nvSpPr>
          <p:cNvPr id="6" name="Text 4"/>
          <p:cNvSpPr txBox="1"/>
          <p:nvPr/>
        </p:nvSpPr>
        <p:spPr>
          <a:xfrm>
            <a:off x="548640" y="1005840"/>
            <a:ext cx="11094415" cy="640080"/>
          </a:xfrm>
          <a:prstGeom prst="rect">
            <a:avLst/>
          </a:prstGeom>
          <a:noFill/>
          <a:ln/>
        </p:spPr>
        <p:txBody>
          <a:bodyPr wrap="square" lIns="0" tIns="0" rIns="0" bIns="0" rtlCol="0" anchor="ctr"/>
          <a:lstStyle/>
          <a:p>
            <a:pPr indent="0" marL="0">
              <a:buNone/>
            </a:pPr>
            <a:r>
              <a:rPr lang="en-US" sz="2800" b="1" dirty="0">
                <a:solidFill>
                  <a:srgbClr val="15171C"/>
                </a:solidFill>
                <a:latin typeface="Arial" pitchFamily="34" charset="0"/>
                <a:ea typeface="Arial" pitchFamily="34" charset="-122"/>
                <a:cs typeface="Arial" pitchFamily="34" charset="-120"/>
              </a:rPr>
              <a:t>Del hecho aislado a la decisión</a:t>
            </a:r>
            <a:endParaRPr lang="en-US" sz="2800" dirty="0"/>
          </a:p>
        </p:txBody>
      </p:sp>
      <p:sp>
        <p:nvSpPr>
          <p:cNvPr id="7" name="Shape 5"/>
          <p:cNvSpPr/>
          <p:nvPr/>
        </p:nvSpPr>
        <p:spPr>
          <a:xfrm>
            <a:off x="548640" y="1920240"/>
            <a:ext cx="3545738" cy="1828800"/>
          </a:xfrm>
          <a:prstGeom prst="roundRect">
            <a:avLst>
              <a:gd name="adj" fmla="val 4000"/>
            </a:avLst>
          </a:prstGeom>
          <a:solidFill>
            <a:srgbClr val="FFFFFF"/>
          </a:solidFill>
          <a:ln w="19050">
            <a:solidFill>
              <a:srgbClr val="15171C"/>
            </a:solidFill>
            <a:prstDash val="solid"/>
          </a:ln>
        </p:spPr>
      </p:sp>
      <p:sp>
        <p:nvSpPr>
          <p:cNvPr id="8" name="Shape 6"/>
          <p:cNvSpPr/>
          <p:nvPr/>
        </p:nvSpPr>
        <p:spPr>
          <a:xfrm>
            <a:off x="713232" y="2066544"/>
            <a:ext cx="3216554" cy="292608"/>
          </a:xfrm>
          <a:prstGeom prst="roundRect">
            <a:avLst>
              <a:gd name="adj" fmla="val 50000"/>
            </a:avLst>
          </a:prstGeom>
          <a:solidFill>
            <a:srgbClr val="E7EAFC"/>
          </a:solidFill>
          <a:ln/>
        </p:spPr>
      </p:sp>
      <p:sp>
        <p:nvSpPr>
          <p:cNvPr id="9" name="Text 7"/>
          <p:cNvSpPr txBox="1"/>
          <p:nvPr/>
        </p:nvSpPr>
        <p:spPr>
          <a:xfrm>
            <a:off x="713232" y="2066544"/>
            <a:ext cx="321655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DATO</a:t>
            </a:r>
            <a:endParaRPr lang="en-US" sz="1100" dirty="0"/>
          </a:p>
        </p:txBody>
      </p:sp>
      <p:sp>
        <p:nvSpPr>
          <p:cNvPr id="10" name="Text 8"/>
          <p:cNvSpPr txBox="1"/>
          <p:nvPr/>
        </p:nvSpPr>
        <p:spPr>
          <a:xfrm>
            <a:off x="713232" y="2432304"/>
            <a:ext cx="3216554" cy="118872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«48»</a:t>
            </a:r>
            <a:endParaRPr lang="en-US" sz="1150" dirty="0"/>
          </a:p>
        </p:txBody>
      </p:sp>
      <p:sp>
        <p:nvSpPr>
          <p:cNvPr id="11" name="Shape 9"/>
          <p:cNvSpPr/>
          <p:nvPr/>
        </p:nvSpPr>
        <p:spPr>
          <a:xfrm>
            <a:off x="4322978" y="1920240"/>
            <a:ext cx="3545738" cy="1828800"/>
          </a:xfrm>
          <a:prstGeom prst="roundRect">
            <a:avLst>
              <a:gd name="adj" fmla="val 4000"/>
            </a:avLst>
          </a:prstGeom>
          <a:solidFill>
            <a:srgbClr val="FFFFFF"/>
          </a:solidFill>
          <a:ln w="19050">
            <a:solidFill>
              <a:srgbClr val="15171C"/>
            </a:solidFill>
            <a:prstDash val="solid"/>
          </a:ln>
        </p:spPr>
      </p:sp>
      <p:sp>
        <p:nvSpPr>
          <p:cNvPr id="12" name="Shape 10"/>
          <p:cNvSpPr/>
          <p:nvPr/>
        </p:nvSpPr>
        <p:spPr>
          <a:xfrm>
            <a:off x="4487570" y="2066544"/>
            <a:ext cx="3216554" cy="292608"/>
          </a:xfrm>
          <a:prstGeom prst="roundRect">
            <a:avLst>
              <a:gd name="adj" fmla="val 50000"/>
            </a:avLst>
          </a:prstGeom>
          <a:solidFill>
            <a:srgbClr val="E7EAFC"/>
          </a:solidFill>
          <a:ln/>
        </p:spPr>
      </p:sp>
      <p:sp>
        <p:nvSpPr>
          <p:cNvPr id="13" name="Text 11"/>
          <p:cNvSpPr txBox="1"/>
          <p:nvPr/>
        </p:nvSpPr>
        <p:spPr>
          <a:xfrm>
            <a:off x="4487570" y="2066544"/>
            <a:ext cx="321655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INFORMACIÓN</a:t>
            </a:r>
            <a:endParaRPr lang="en-US" sz="1100" dirty="0"/>
          </a:p>
        </p:txBody>
      </p:sp>
      <p:sp>
        <p:nvSpPr>
          <p:cNvPr id="14" name="Text 12"/>
          <p:cNvSpPr txBox="1"/>
          <p:nvPr/>
        </p:nvSpPr>
        <p:spPr>
          <a:xfrm>
            <a:off x="4487570" y="2432304"/>
            <a:ext cx="3216554" cy="118872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«48 ppm en reposo, alumno fila 3»</a:t>
            </a:r>
            <a:endParaRPr lang="en-US" sz="1150" dirty="0"/>
          </a:p>
        </p:txBody>
      </p:sp>
      <p:sp>
        <p:nvSpPr>
          <p:cNvPr id="15" name="Shape 13"/>
          <p:cNvSpPr/>
          <p:nvPr/>
        </p:nvSpPr>
        <p:spPr>
          <a:xfrm>
            <a:off x="8097317" y="1920240"/>
            <a:ext cx="3545738" cy="1828800"/>
          </a:xfrm>
          <a:prstGeom prst="roundRect">
            <a:avLst>
              <a:gd name="adj" fmla="val 4000"/>
            </a:avLst>
          </a:prstGeom>
          <a:solidFill>
            <a:srgbClr val="FFFFFF"/>
          </a:solidFill>
          <a:ln w="19050">
            <a:solidFill>
              <a:srgbClr val="15171C"/>
            </a:solidFill>
            <a:prstDash val="solid"/>
          </a:ln>
        </p:spPr>
      </p:sp>
      <p:sp>
        <p:nvSpPr>
          <p:cNvPr id="16" name="Shape 14"/>
          <p:cNvSpPr/>
          <p:nvPr/>
        </p:nvSpPr>
        <p:spPr>
          <a:xfrm>
            <a:off x="8261909" y="2066544"/>
            <a:ext cx="3216554" cy="292608"/>
          </a:xfrm>
          <a:prstGeom prst="roundRect">
            <a:avLst>
              <a:gd name="adj" fmla="val 50000"/>
            </a:avLst>
          </a:prstGeom>
          <a:solidFill>
            <a:srgbClr val="E7EAFC"/>
          </a:solidFill>
          <a:ln/>
        </p:spPr>
      </p:sp>
      <p:sp>
        <p:nvSpPr>
          <p:cNvPr id="17" name="Text 15"/>
          <p:cNvSpPr txBox="1"/>
          <p:nvPr/>
        </p:nvSpPr>
        <p:spPr>
          <a:xfrm>
            <a:off x="8261909" y="2066544"/>
            <a:ext cx="321655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CONOCIMIENTO</a:t>
            </a:r>
            <a:endParaRPr lang="en-US" sz="1100" dirty="0"/>
          </a:p>
        </p:txBody>
      </p:sp>
      <p:sp>
        <p:nvSpPr>
          <p:cNvPr id="18" name="Text 16"/>
          <p:cNvSpPr txBox="1"/>
          <p:nvPr/>
        </p:nvSpPr>
        <p:spPr>
          <a:xfrm>
            <a:off x="8261909" y="2432304"/>
            <a:ext cx="3216554" cy="118872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«Aviso y llamo al 112»</a:t>
            </a:r>
            <a:endParaRPr lang="en-US" sz="1150" dirty="0"/>
          </a:p>
        </p:txBody>
      </p:sp>
      <p:sp>
        <p:nvSpPr>
          <p:cNvPr id="19" name="Text 17"/>
          <p:cNvSpPr txBox="1"/>
          <p:nvPr/>
        </p:nvSpPr>
        <p:spPr>
          <a:xfrm>
            <a:off x="548640" y="4023360"/>
            <a:ext cx="11094415" cy="914400"/>
          </a:xfrm>
          <a:prstGeom prst="rect">
            <a:avLst/>
          </a:prstGeom>
          <a:noFill/>
          <a:ln/>
        </p:spPr>
        <p:txBody>
          <a:bodyPr wrap="square" lIns="0" tIns="0" rIns="0" bIns="0" rtlCol="0" anchor="t"/>
          <a:lstStyle/>
          <a:p>
            <a:pPr indent="0" marL="0">
              <a:buNone/>
            </a:pPr>
            <a:r>
              <a:rPr lang="en-US" sz="1400" dirty="0">
                <a:solidFill>
                  <a:srgbClr val="4B4F58"/>
                </a:solidFill>
                <a:latin typeface="Calibri" pitchFamily="34" charset="0"/>
                <a:ea typeface="Calibri" pitchFamily="34" charset="-122"/>
                <a:cs typeface="Calibri" pitchFamily="34" charset="-120"/>
              </a:rPr>
              <a:t>El </a:t>
            </a:r>
            <a:pPr indent="0" marL="0">
              <a:buNone/>
            </a:pPr>
            <a:r>
              <a:rPr lang="en-US" sz="1400" b="1" dirty="0">
                <a:solidFill>
                  <a:srgbClr val="4B4F58"/>
                </a:solidFill>
                <a:latin typeface="Calibri" pitchFamily="34" charset="0"/>
                <a:ea typeface="Calibri" pitchFamily="34" charset="-122"/>
                <a:cs typeface="Calibri" pitchFamily="34" charset="-120"/>
              </a:rPr>
              <a:t>dato</a:t>
            </a:r>
            <a:pPr indent="0" marL="0">
              <a:buNone/>
            </a:pPr>
            <a:r>
              <a:rPr lang="en-US" sz="1400" dirty="0">
                <a:solidFill>
                  <a:srgbClr val="4B4F58"/>
                </a:solidFill>
                <a:latin typeface="Calibri" pitchFamily="34" charset="0"/>
                <a:ea typeface="Calibri" pitchFamily="34" charset="-122"/>
                <a:cs typeface="Calibri" pitchFamily="34" charset="-120"/>
              </a:rPr>
              <a:t> no dice nada por sí solo. La </a:t>
            </a:r>
            <a:pPr indent="0" marL="0">
              <a:buNone/>
            </a:pPr>
            <a:r>
              <a:rPr lang="en-US" sz="1400" b="1" dirty="0">
                <a:solidFill>
                  <a:srgbClr val="4B4F58"/>
                </a:solidFill>
                <a:latin typeface="Calibri" pitchFamily="34" charset="0"/>
                <a:ea typeface="Calibri" pitchFamily="34" charset="-122"/>
                <a:cs typeface="Calibri" pitchFamily="34" charset="-120"/>
              </a:rPr>
              <a:t>información</a:t>
            </a:r>
            <a:pPr indent="0" marL="0">
              <a:buNone/>
            </a:pPr>
            <a:r>
              <a:rPr lang="en-US" sz="1400" dirty="0">
                <a:solidFill>
                  <a:srgbClr val="4B4F58"/>
                </a:solidFill>
                <a:latin typeface="Calibri" pitchFamily="34" charset="0"/>
                <a:ea typeface="Calibri" pitchFamily="34" charset="-122"/>
                <a:cs typeface="Calibri" pitchFamily="34" charset="-120"/>
              </a:rPr>
              <a:t> lo sitúa en contexto. El </a:t>
            </a:r>
            <a:pPr indent="0" marL="0">
              <a:buNone/>
            </a:pPr>
            <a:r>
              <a:rPr lang="en-US" sz="1400" b="1" dirty="0">
                <a:solidFill>
                  <a:srgbClr val="4B4F58"/>
                </a:solidFill>
                <a:latin typeface="Calibri" pitchFamily="34" charset="0"/>
                <a:ea typeface="Calibri" pitchFamily="34" charset="-122"/>
                <a:cs typeface="Calibri" pitchFamily="34" charset="-120"/>
              </a:rPr>
              <a:t>conocimiento</a:t>
            </a:r>
            <a:pPr indent="0" marL="0">
              <a:buNone/>
            </a:pPr>
            <a:r>
              <a:rPr lang="en-US" sz="1400" dirty="0">
                <a:solidFill>
                  <a:srgbClr val="4B4F58"/>
                </a:solidFill>
                <a:latin typeface="Calibri" pitchFamily="34" charset="0"/>
                <a:ea typeface="Calibri" pitchFamily="34" charset="-122"/>
                <a:cs typeface="Calibri" pitchFamily="34" charset="-120"/>
              </a:rPr>
              <a:t> aparece en cuanto decides actuar.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02 — LA EVOLUCIÓN DEL ALMACENAMIENTO (I)</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De la arcilla al disco magnético</a:t>
            </a:r>
            <a:endParaRPr lang="en-US" sz="3000" dirty="0"/>
          </a:p>
        </p:txBody>
      </p:sp>
      <p:sp>
        <p:nvSpPr>
          <p:cNvPr id="4" name="Shape 2"/>
          <p:cNvSpPr/>
          <p:nvPr/>
        </p:nvSpPr>
        <p:spPr>
          <a:xfrm>
            <a:off x="548640" y="2103120"/>
            <a:ext cx="3564026" cy="3291840"/>
          </a:xfrm>
          <a:prstGeom prst="roundRect">
            <a:avLst>
              <a:gd name="adj" fmla="val 2222"/>
            </a:avLst>
          </a:prstGeom>
          <a:solidFill>
            <a:srgbClr val="FFFFFF"/>
          </a:solidFill>
          <a:ln w="19050">
            <a:solidFill>
              <a:srgbClr val="15171C"/>
            </a:solidFill>
            <a:prstDash val="solid"/>
          </a:ln>
        </p:spPr>
      </p:sp>
      <p:sp>
        <p:nvSpPr>
          <p:cNvPr id="5" name="Shape 3"/>
          <p:cNvSpPr/>
          <p:nvPr/>
        </p:nvSpPr>
        <p:spPr>
          <a:xfrm>
            <a:off x="694944" y="2249424"/>
            <a:ext cx="3271418" cy="310896"/>
          </a:xfrm>
          <a:prstGeom prst="roundRect">
            <a:avLst>
              <a:gd name="adj" fmla="val 50000"/>
            </a:avLst>
          </a:prstGeom>
          <a:solidFill>
            <a:srgbClr val="E7EAFC"/>
          </a:solidFill>
          <a:ln/>
        </p:spPr>
      </p:sp>
      <p:sp>
        <p:nvSpPr>
          <p:cNvPr id="6" name="Text 4"/>
          <p:cNvSpPr txBox="1"/>
          <p:nvPr/>
        </p:nvSpPr>
        <p:spPr>
          <a:xfrm>
            <a:off x="694944" y="2249424"/>
            <a:ext cx="3271418"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≈3000 a.C.</a:t>
            </a:r>
            <a:endParaRPr lang="en-US" sz="1100" dirty="0"/>
          </a:p>
        </p:txBody>
      </p:sp>
      <p:sp>
        <p:nvSpPr>
          <p:cNvPr id="7" name="Text 5"/>
          <p:cNvSpPr txBox="1"/>
          <p:nvPr/>
        </p:nvSpPr>
        <p:spPr>
          <a:xfrm>
            <a:off x="694944" y="2670048"/>
            <a:ext cx="3271418"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Tablillas de arcilla</a:t>
            </a:r>
            <a:endParaRPr lang="en-US" sz="1350" dirty="0"/>
          </a:p>
        </p:txBody>
      </p:sp>
      <p:sp>
        <p:nvSpPr>
          <p:cNvPr id="8" name="Text 6"/>
          <p:cNvSpPr txBox="1"/>
          <p:nvPr/>
        </p:nvSpPr>
        <p:spPr>
          <a:xfrm>
            <a:off x="694944" y="3273552"/>
            <a:ext cx="3271418"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Documentación económica cuneiforme en Mesopotamia: el primer registro de la necesidad humana de guardar datos.</a:t>
            </a:r>
            <a:endParaRPr lang="en-US" sz="1050" dirty="0"/>
          </a:p>
        </p:txBody>
      </p:sp>
      <p:sp>
        <p:nvSpPr>
          <p:cNvPr id="9" name="Shape 7"/>
          <p:cNvSpPr/>
          <p:nvPr/>
        </p:nvSpPr>
        <p:spPr>
          <a:xfrm>
            <a:off x="4313834" y="2103120"/>
            <a:ext cx="3564026" cy="3291840"/>
          </a:xfrm>
          <a:prstGeom prst="roundRect">
            <a:avLst>
              <a:gd name="adj" fmla="val 2222"/>
            </a:avLst>
          </a:prstGeom>
          <a:solidFill>
            <a:srgbClr val="FFFFFF"/>
          </a:solidFill>
          <a:ln w="19050">
            <a:solidFill>
              <a:srgbClr val="15171C"/>
            </a:solidFill>
            <a:prstDash val="solid"/>
          </a:ln>
        </p:spPr>
      </p:sp>
      <p:sp>
        <p:nvSpPr>
          <p:cNvPr id="10" name="Shape 8"/>
          <p:cNvSpPr/>
          <p:nvPr/>
        </p:nvSpPr>
        <p:spPr>
          <a:xfrm>
            <a:off x="4460138" y="2249424"/>
            <a:ext cx="3271418" cy="310896"/>
          </a:xfrm>
          <a:prstGeom prst="roundRect">
            <a:avLst>
              <a:gd name="adj" fmla="val 50000"/>
            </a:avLst>
          </a:prstGeom>
          <a:solidFill>
            <a:srgbClr val="E7EAFC"/>
          </a:solidFill>
          <a:ln/>
        </p:spPr>
      </p:sp>
      <p:sp>
        <p:nvSpPr>
          <p:cNvPr id="11" name="Text 9"/>
          <p:cNvSpPr txBox="1"/>
          <p:nvPr/>
        </p:nvSpPr>
        <p:spPr>
          <a:xfrm>
            <a:off x="4460138" y="2249424"/>
            <a:ext cx="3271418"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1950</a:t>
            </a:r>
            <a:endParaRPr lang="en-US" sz="1100" dirty="0"/>
          </a:p>
        </p:txBody>
      </p:sp>
      <p:sp>
        <p:nvSpPr>
          <p:cNvPr id="12" name="Text 10"/>
          <p:cNvSpPr txBox="1"/>
          <p:nvPr/>
        </p:nvSpPr>
        <p:spPr>
          <a:xfrm>
            <a:off x="4460138" y="2670048"/>
            <a:ext cx="3271418"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Cintas magnéticas</a:t>
            </a:r>
            <a:endParaRPr lang="en-US" sz="1350" dirty="0"/>
          </a:p>
        </p:txBody>
      </p:sp>
      <p:sp>
        <p:nvSpPr>
          <p:cNvPr id="13" name="Text 11"/>
          <p:cNvSpPr txBox="1"/>
          <p:nvPr/>
        </p:nvSpPr>
        <p:spPr>
          <a:xfrm>
            <a:off x="4460138" y="3273552"/>
            <a:ext cx="3271418"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Sólo lectura secuencial: para llegar a un registro hay que recorrer todos los anteriores. Mucha redundancia.</a:t>
            </a:r>
            <a:endParaRPr lang="en-US" sz="1050" dirty="0"/>
          </a:p>
        </p:txBody>
      </p:sp>
      <p:sp>
        <p:nvSpPr>
          <p:cNvPr id="14" name="Shape 12"/>
          <p:cNvSpPr/>
          <p:nvPr/>
        </p:nvSpPr>
        <p:spPr>
          <a:xfrm>
            <a:off x="8079029" y="2103120"/>
            <a:ext cx="3564026" cy="3291840"/>
          </a:xfrm>
          <a:prstGeom prst="roundRect">
            <a:avLst>
              <a:gd name="adj" fmla="val 2222"/>
            </a:avLst>
          </a:prstGeom>
          <a:solidFill>
            <a:srgbClr val="FFFFFF"/>
          </a:solidFill>
          <a:ln w="19050">
            <a:solidFill>
              <a:srgbClr val="15171C"/>
            </a:solidFill>
            <a:prstDash val="solid"/>
          </a:ln>
        </p:spPr>
      </p:sp>
      <p:sp>
        <p:nvSpPr>
          <p:cNvPr id="15" name="Shape 13"/>
          <p:cNvSpPr/>
          <p:nvPr/>
        </p:nvSpPr>
        <p:spPr>
          <a:xfrm>
            <a:off x="8225333" y="2249424"/>
            <a:ext cx="3271418" cy="310896"/>
          </a:xfrm>
          <a:prstGeom prst="roundRect">
            <a:avLst>
              <a:gd name="adj" fmla="val 50000"/>
            </a:avLst>
          </a:prstGeom>
          <a:solidFill>
            <a:srgbClr val="E7EAFC"/>
          </a:solidFill>
          <a:ln/>
        </p:spPr>
      </p:sp>
      <p:sp>
        <p:nvSpPr>
          <p:cNvPr id="16" name="Text 14"/>
          <p:cNvSpPr txBox="1"/>
          <p:nvPr/>
        </p:nvSpPr>
        <p:spPr>
          <a:xfrm>
            <a:off x="8225333" y="2249424"/>
            <a:ext cx="3271418"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1960</a:t>
            </a:r>
            <a:endParaRPr lang="en-US" sz="1100" dirty="0"/>
          </a:p>
        </p:txBody>
      </p:sp>
      <p:sp>
        <p:nvSpPr>
          <p:cNvPr id="17" name="Text 15"/>
          <p:cNvSpPr txBox="1"/>
          <p:nvPr/>
        </p:nvSpPr>
        <p:spPr>
          <a:xfrm>
            <a:off x="8225333" y="2670048"/>
            <a:ext cx="3271418"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Discos + jerárquico / en red</a:t>
            </a:r>
            <a:endParaRPr lang="en-US" sz="1350" dirty="0"/>
          </a:p>
        </p:txBody>
      </p:sp>
      <p:sp>
        <p:nvSpPr>
          <p:cNvPr id="18" name="Text 16"/>
          <p:cNvSpPr txBox="1"/>
          <p:nvPr/>
        </p:nvSpPr>
        <p:spPr>
          <a:xfrm>
            <a:off x="8225333" y="3273552"/>
            <a:ext cx="3271418"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El acceso directo generaliza el disco. Nacen las BD jerárquicas (árbol) y en red (muchos-a-muchos).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02 — LA EVOLUCIÓN DEL ALMACENAMIENTO (II)</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Del modelo relacional al Big Data</a:t>
            </a:r>
            <a:endParaRPr lang="en-US" sz="3000" dirty="0"/>
          </a:p>
        </p:txBody>
      </p:sp>
      <p:sp>
        <p:nvSpPr>
          <p:cNvPr id="4" name="Shape 2"/>
          <p:cNvSpPr/>
          <p:nvPr/>
        </p:nvSpPr>
        <p:spPr>
          <a:xfrm>
            <a:off x="548640" y="2103120"/>
            <a:ext cx="2622728" cy="3291840"/>
          </a:xfrm>
          <a:prstGeom prst="roundRect">
            <a:avLst>
              <a:gd name="adj" fmla="val 2789"/>
            </a:avLst>
          </a:prstGeom>
          <a:solidFill>
            <a:srgbClr val="FFFFFF"/>
          </a:solidFill>
          <a:ln w="19050">
            <a:solidFill>
              <a:srgbClr val="15171C"/>
            </a:solidFill>
            <a:prstDash val="solid"/>
          </a:ln>
        </p:spPr>
      </p:sp>
      <p:sp>
        <p:nvSpPr>
          <p:cNvPr id="5" name="Shape 3"/>
          <p:cNvSpPr/>
          <p:nvPr/>
        </p:nvSpPr>
        <p:spPr>
          <a:xfrm>
            <a:off x="694944" y="2249424"/>
            <a:ext cx="2330120" cy="310896"/>
          </a:xfrm>
          <a:prstGeom prst="roundRect">
            <a:avLst>
              <a:gd name="adj" fmla="val 50000"/>
            </a:avLst>
          </a:prstGeom>
          <a:solidFill>
            <a:srgbClr val="E7EAFC"/>
          </a:solidFill>
          <a:ln/>
        </p:spPr>
      </p:sp>
      <p:sp>
        <p:nvSpPr>
          <p:cNvPr id="6" name="Text 4"/>
          <p:cNvSpPr txBox="1"/>
          <p:nvPr/>
        </p:nvSpPr>
        <p:spPr>
          <a:xfrm>
            <a:off x="694944" y="2249424"/>
            <a:ext cx="2330120"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1970</a:t>
            </a:r>
            <a:endParaRPr lang="en-US" sz="1100" dirty="0"/>
          </a:p>
        </p:txBody>
      </p:sp>
      <p:sp>
        <p:nvSpPr>
          <p:cNvPr id="7" name="Text 5"/>
          <p:cNvSpPr txBox="1"/>
          <p:nvPr/>
        </p:nvSpPr>
        <p:spPr>
          <a:xfrm>
            <a:off x="694944" y="2670048"/>
            <a:ext cx="2330120"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Modelo relacional</a:t>
            </a:r>
            <a:endParaRPr lang="en-US" sz="1350" dirty="0"/>
          </a:p>
        </p:txBody>
      </p:sp>
      <p:sp>
        <p:nvSpPr>
          <p:cNvPr id="8" name="Text 6"/>
          <p:cNvSpPr txBox="1"/>
          <p:nvPr/>
        </p:nvSpPr>
        <p:spPr>
          <a:xfrm>
            <a:off x="694944" y="3273552"/>
            <a:ext cx="2330120"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Edgar F. Codd (IBM): tablas bidimensionales relacionadas. El modelo más extendido hoy.</a:t>
            </a:r>
            <a:endParaRPr lang="en-US" sz="1050" dirty="0"/>
          </a:p>
        </p:txBody>
      </p:sp>
      <p:sp>
        <p:nvSpPr>
          <p:cNvPr id="9" name="Shape 7"/>
          <p:cNvSpPr/>
          <p:nvPr/>
        </p:nvSpPr>
        <p:spPr>
          <a:xfrm>
            <a:off x="3372536" y="2103120"/>
            <a:ext cx="2622728" cy="3291840"/>
          </a:xfrm>
          <a:prstGeom prst="roundRect">
            <a:avLst>
              <a:gd name="adj" fmla="val 2789"/>
            </a:avLst>
          </a:prstGeom>
          <a:solidFill>
            <a:srgbClr val="FFFFFF"/>
          </a:solidFill>
          <a:ln w="19050">
            <a:solidFill>
              <a:srgbClr val="15171C"/>
            </a:solidFill>
            <a:prstDash val="solid"/>
          </a:ln>
        </p:spPr>
      </p:sp>
      <p:sp>
        <p:nvSpPr>
          <p:cNvPr id="10" name="Shape 8"/>
          <p:cNvSpPr/>
          <p:nvPr/>
        </p:nvSpPr>
        <p:spPr>
          <a:xfrm>
            <a:off x="3518840" y="2249424"/>
            <a:ext cx="2330120" cy="310896"/>
          </a:xfrm>
          <a:prstGeom prst="roundRect">
            <a:avLst>
              <a:gd name="adj" fmla="val 50000"/>
            </a:avLst>
          </a:prstGeom>
          <a:solidFill>
            <a:srgbClr val="E7EAFC"/>
          </a:solidFill>
          <a:ln/>
        </p:spPr>
      </p:sp>
      <p:sp>
        <p:nvSpPr>
          <p:cNvPr id="11" name="Text 9"/>
          <p:cNvSpPr txBox="1"/>
          <p:nvPr/>
        </p:nvSpPr>
        <p:spPr>
          <a:xfrm>
            <a:off x="3518840" y="2249424"/>
            <a:ext cx="2330120"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1980</a:t>
            </a:r>
            <a:endParaRPr lang="en-US" sz="1100" dirty="0"/>
          </a:p>
        </p:txBody>
      </p:sp>
      <p:sp>
        <p:nvSpPr>
          <p:cNvPr id="12" name="Text 10"/>
          <p:cNvSpPr txBox="1"/>
          <p:nvPr/>
        </p:nvSpPr>
        <p:spPr>
          <a:xfrm>
            <a:off x="3518840" y="2670048"/>
            <a:ext cx="2330120"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DB2 y nace SQL</a:t>
            </a:r>
            <a:endParaRPr lang="en-US" sz="1350" dirty="0"/>
          </a:p>
        </p:txBody>
      </p:sp>
      <p:sp>
        <p:nvSpPr>
          <p:cNvPr id="13" name="Text 11"/>
          <p:cNvSpPr txBox="1"/>
          <p:nvPr/>
        </p:nvSpPr>
        <p:spPr>
          <a:xfrm>
            <a:off x="3518840" y="3273552"/>
            <a:ext cx="2330120"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IBM lanza DB2 y crea SQL, el lenguaje que sigue dominando las BD relacionales.</a:t>
            </a:r>
            <a:endParaRPr lang="en-US" sz="1050" dirty="0"/>
          </a:p>
        </p:txBody>
      </p:sp>
      <p:sp>
        <p:nvSpPr>
          <p:cNvPr id="14" name="Shape 12"/>
          <p:cNvSpPr/>
          <p:nvPr/>
        </p:nvSpPr>
        <p:spPr>
          <a:xfrm>
            <a:off x="6196432" y="2103120"/>
            <a:ext cx="2622728" cy="3291840"/>
          </a:xfrm>
          <a:prstGeom prst="roundRect">
            <a:avLst>
              <a:gd name="adj" fmla="val 2789"/>
            </a:avLst>
          </a:prstGeom>
          <a:solidFill>
            <a:srgbClr val="FFFFFF"/>
          </a:solidFill>
          <a:ln w="19050">
            <a:solidFill>
              <a:srgbClr val="15171C"/>
            </a:solidFill>
            <a:prstDash val="solid"/>
          </a:ln>
        </p:spPr>
      </p:sp>
      <p:sp>
        <p:nvSpPr>
          <p:cNvPr id="15" name="Shape 13"/>
          <p:cNvSpPr/>
          <p:nvPr/>
        </p:nvSpPr>
        <p:spPr>
          <a:xfrm>
            <a:off x="6342736" y="2249424"/>
            <a:ext cx="2330120" cy="310896"/>
          </a:xfrm>
          <a:prstGeom prst="roundRect">
            <a:avLst>
              <a:gd name="adj" fmla="val 50000"/>
            </a:avLst>
          </a:prstGeom>
          <a:solidFill>
            <a:srgbClr val="E7EAFC"/>
          </a:solidFill>
          <a:ln/>
        </p:spPr>
      </p:sp>
      <p:sp>
        <p:nvSpPr>
          <p:cNvPr id="16" name="Text 14"/>
          <p:cNvSpPr txBox="1"/>
          <p:nvPr/>
        </p:nvSpPr>
        <p:spPr>
          <a:xfrm>
            <a:off x="6342736" y="2249424"/>
            <a:ext cx="2330120"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1990</a:t>
            </a:r>
            <a:endParaRPr lang="en-US" sz="1100" dirty="0"/>
          </a:p>
        </p:txBody>
      </p:sp>
      <p:sp>
        <p:nvSpPr>
          <p:cNvPr id="17" name="Text 15"/>
          <p:cNvSpPr txBox="1"/>
          <p:nvPr/>
        </p:nvSpPr>
        <p:spPr>
          <a:xfrm>
            <a:off x="6342736" y="2670048"/>
            <a:ext cx="2330120"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Distribuidas y OO</a:t>
            </a:r>
            <a:endParaRPr lang="en-US" sz="1350" dirty="0"/>
          </a:p>
        </p:txBody>
      </p:sp>
      <p:sp>
        <p:nvSpPr>
          <p:cNvPr id="18" name="Text 16"/>
          <p:cNvSpPr txBox="1"/>
          <p:nvPr/>
        </p:nvSpPr>
        <p:spPr>
          <a:xfrm>
            <a:off x="6342736" y="3273552"/>
            <a:ext cx="2330120"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Grandes BD repartidas entre servidores (Facebook). Se añaden objetos, imágenes, voz.</a:t>
            </a:r>
            <a:endParaRPr lang="en-US" sz="1050" dirty="0"/>
          </a:p>
        </p:txBody>
      </p:sp>
      <p:sp>
        <p:nvSpPr>
          <p:cNvPr id="19" name="Shape 17"/>
          <p:cNvSpPr/>
          <p:nvPr/>
        </p:nvSpPr>
        <p:spPr>
          <a:xfrm>
            <a:off x="9020327" y="2103120"/>
            <a:ext cx="2622728" cy="3291840"/>
          </a:xfrm>
          <a:prstGeom prst="roundRect">
            <a:avLst>
              <a:gd name="adj" fmla="val 2789"/>
            </a:avLst>
          </a:prstGeom>
          <a:solidFill>
            <a:srgbClr val="FFFFFF"/>
          </a:solidFill>
          <a:ln w="19050">
            <a:solidFill>
              <a:srgbClr val="15171C"/>
            </a:solidFill>
            <a:prstDash val="solid"/>
          </a:ln>
        </p:spPr>
      </p:sp>
      <p:sp>
        <p:nvSpPr>
          <p:cNvPr id="20" name="Shape 18"/>
          <p:cNvSpPr/>
          <p:nvPr/>
        </p:nvSpPr>
        <p:spPr>
          <a:xfrm>
            <a:off x="9166631" y="2249424"/>
            <a:ext cx="2330120" cy="310896"/>
          </a:xfrm>
          <a:prstGeom prst="roundRect">
            <a:avLst>
              <a:gd name="adj" fmla="val 50000"/>
            </a:avLst>
          </a:prstGeom>
          <a:solidFill>
            <a:srgbClr val="E7EAFC"/>
          </a:solidFill>
          <a:ln/>
        </p:spPr>
      </p:sp>
      <p:sp>
        <p:nvSpPr>
          <p:cNvPr id="21" name="Text 19"/>
          <p:cNvSpPr txBox="1"/>
          <p:nvPr/>
        </p:nvSpPr>
        <p:spPr>
          <a:xfrm>
            <a:off x="9166631" y="2249424"/>
            <a:ext cx="2330120" cy="310896"/>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2000 →</a:t>
            </a:r>
            <a:endParaRPr lang="en-US" sz="1100" dirty="0"/>
          </a:p>
        </p:txBody>
      </p:sp>
      <p:sp>
        <p:nvSpPr>
          <p:cNvPr id="22" name="Text 20"/>
          <p:cNvSpPr txBox="1"/>
          <p:nvPr/>
        </p:nvSpPr>
        <p:spPr>
          <a:xfrm>
            <a:off x="9166631" y="2670048"/>
            <a:ext cx="2330120" cy="548640"/>
          </a:xfrm>
          <a:prstGeom prst="rect">
            <a:avLst/>
          </a:prstGeom>
          <a:noFill/>
          <a:ln/>
        </p:spPr>
        <p:txBody>
          <a:bodyPr wrap="square" lIns="0" tIns="0" rIns="0" bIns="0" rtlCol="0" anchor="t"/>
          <a:lstStyle/>
          <a:p>
            <a:pPr indent="0" marL="0">
              <a:buNone/>
            </a:pPr>
            <a:r>
              <a:rPr lang="en-US" sz="1350" b="1" dirty="0">
                <a:solidFill>
                  <a:srgbClr val="15171C"/>
                </a:solidFill>
                <a:latin typeface="Arial" pitchFamily="34" charset="0"/>
                <a:ea typeface="Arial" pitchFamily="34" charset="-122"/>
                <a:cs typeface="Arial" pitchFamily="34" charset="-120"/>
              </a:rPr>
              <a:t>Multidimensional / NoSQL</a:t>
            </a:r>
            <a:endParaRPr lang="en-US" sz="1350" dirty="0"/>
          </a:p>
        </p:txBody>
      </p:sp>
      <p:sp>
        <p:nvSpPr>
          <p:cNvPr id="23" name="Text 21"/>
          <p:cNvSpPr txBox="1"/>
          <p:nvPr/>
        </p:nvSpPr>
        <p:spPr>
          <a:xfrm>
            <a:off x="9166631" y="3273552"/>
            <a:ext cx="2330120" cy="1975104"/>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Data Warehouse y OLAP; el Big Data trae NoSQL — clave-valor, documental, grafos, columnar.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03 — FICHEROS: LA SOLUCIÓN ANTERIOR A LA BD</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Dos maneras de clasificar un fichero</a:t>
            </a:r>
            <a:endParaRPr lang="en-US" sz="3000" dirty="0"/>
          </a:p>
        </p:txBody>
      </p:sp>
      <p:sp>
        <p:nvSpPr>
          <p:cNvPr id="4" name="Shape 2"/>
          <p:cNvSpPr/>
          <p:nvPr/>
        </p:nvSpPr>
        <p:spPr>
          <a:xfrm>
            <a:off x="548640" y="2103120"/>
            <a:ext cx="5432908" cy="1737360"/>
          </a:xfrm>
          <a:prstGeom prst="roundRect">
            <a:avLst>
              <a:gd name="adj" fmla="val 4211"/>
            </a:avLst>
          </a:prstGeom>
          <a:solidFill>
            <a:srgbClr val="FFFFFF"/>
          </a:solidFill>
          <a:ln w="19050">
            <a:solidFill>
              <a:srgbClr val="15171C"/>
            </a:solidFill>
            <a:prstDash val="solid"/>
          </a:ln>
        </p:spPr>
      </p:sp>
      <p:sp>
        <p:nvSpPr>
          <p:cNvPr id="5" name="Shape 3"/>
          <p:cNvSpPr/>
          <p:nvPr/>
        </p:nvSpPr>
        <p:spPr>
          <a:xfrm>
            <a:off x="713232" y="2249424"/>
            <a:ext cx="5103724" cy="292608"/>
          </a:xfrm>
          <a:prstGeom prst="roundRect">
            <a:avLst>
              <a:gd name="adj" fmla="val 50000"/>
            </a:avLst>
          </a:prstGeom>
          <a:solidFill>
            <a:srgbClr val="E7EAFC"/>
          </a:solidFill>
          <a:ln/>
        </p:spPr>
      </p:sp>
      <p:sp>
        <p:nvSpPr>
          <p:cNvPr id="6" name="Text 4"/>
          <p:cNvSpPr txBox="1"/>
          <p:nvPr/>
        </p:nvSpPr>
        <p:spPr>
          <a:xfrm>
            <a:off x="713232" y="224942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TEXTO PLANO</a:t>
            </a:r>
            <a:endParaRPr lang="en-US" sz="1100" dirty="0"/>
          </a:p>
        </p:txBody>
      </p:sp>
      <p:sp>
        <p:nvSpPr>
          <p:cNvPr id="7" name="Text 5"/>
          <p:cNvSpPr txBox="1"/>
          <p:nvPr/>
        </p:nvSpPr>
        <p:spPr>
          <a:xfrm>
            <a:off x="713232" y="2615184"/>
            <a:ext cx="5103724"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Legible en cualquier editor: .txt, .csv, .html, .sql.</a:t>
            </a:r>
            <a:endParaRPr lang="en-US" sz="1150" dirty="0"/>
          </a:p>
        </p:txBody>
      </p:sp>
      <p:sp>
        <p:nvSpPr>
          <p:cNvPr id="8" name="Shape 6"/>
          <p:cNvSpPr/>
          <p:nvPr/>
        </p:nvSpPr>
        <p:spPr>
          <a:xfrm>
            <a:off x="6210148" y="2103120"/>
            <a:ext cx="5432908" cy="1737360"/>
          </a:xfrm>
          <a:prstGeom prst="roundRect">
            <a:avLst>
              <a:gd name="adj" fmla="val 4211"/>
            </a:avLst>
          </a:prstGeom>
          <a:solidFill>
            <a:srgbClr val="FFFFFF"/>
          </a:solidFill>
          <a:ln w="19050">
            <a:solidFill>
              <a:srgbClr val="15171C"/>
            </a:solidFill>
            <a:prstDash val="solid"/>
          </a:ln>
        </p:spPr>
      </p:sp>
      <p:sp>
        <p:nvSpPr>
          <p:cNvPr id="9" name="Shape 7"/>
          <p:cNvSpPr/>
          <p:nvPr/>
        </p:nvSpPr>
        <p:spPr>
          <a:xfrm>
            <a:off x="6374740" y="2249424"/>
            <a:ext cx="5103724" cy="292608"/>
          </a:xfrm>
          <a:prstGeom prst="roundRect">
            <a:avLst>
              <a:gd name="adj" fmla="val 50000"/>
            </a:avLst>
          </a:prstGeom>
          <a:solidFill>
            <a:srgbClr val="E7EAFC"/>
          </a:solidFill>
          <a:ln/>
        </p:spPr>
      </p:sp>
      <p:sp>
        <p:nvSpPr>
          <p:cNvPr id="10" name="Text 8"/>
          <p:cNvSpPr txBox="1"/>
          <p:nvPr/>
        </p:nvSpPr>
        <p:spPr>
          <a:xfrm>
            <a:off x="6374740" y="224942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BINARIO</a:t>
            </a:r>
            <a:endParaRPr lang="en-US" sz="1100" dirty="0"/>
          </a:p>
        </p:txBody>
      </p:sp>
      <p:sp>
        <p:nvSpPr>
          <p:cNvPr id="11" name="Text 9"/>
          <p:cNvSpPr txBox="1"/>
          <p:nvPr/>
        </p:nvSpPr>
        <p:spPr>
          <a:xfrm>
            <a:off x="6374740" y="2615184"/>
            <a:ext cx="5103724"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Sólo legible con la aplicación adecuada: .exe, .pdf, .docx, .jpg.</a:t>
            </a:r>
            <a:endParaRPr lang="en-US" sz="1150" dirty="0"/>
          </a:p>
        </p:txBody>
      </p:sp>
      <p:sp>
        <p:nvSpPr>
          <p:cNvPr id="12" name="Shape 10"/>
          <p:cNvSpPr/>
          <p:nvPr/>
        </p:nvSpPr>
        <p:spPr>
          <a:xfrm>
            <a:off x="548640" y="4069080"/>
            <a:ext cx="5432908" cy="1737360"/>
          </a:xfrm>
          <a:prstGeom prst="roundRect">
            <a:avLst>
              <a:gd name="adj" fmla="val 4211"/>
            </a:avLst>
          </a:prstGeom>
          <a:solidFill>
            <a:srgbClr val="FFFFFF"/>
          </a:solidFill>
          <a:ln w="19050">
            <a:solidFill>
              <a:srgbClr val="15171C"/>
            </a:solidFill>
            <a:prstDash val="solid"/>
          </a:ln>
        </p:spPr>
      </p:sp>
      <p:sp>
        <p:nvSpPr>
          <p:cNvPr id="13" name="Shape 11"/>
          <p:cNvSpPr/>
          <p:nvPr/>
        </p:nvSpPr>
        <p:spPr>
          <a:xfrm>
            <a:off x="713232" y="4215384"/>
            <a:ext cx="5103724" cy="292608"/>
          </a:xfrm>
          <a:prstGeom prst="roundRect">
            <a:avLst>
              <a:gd name="adj" fmla="val 50000"/>
            </a:avLst>
          </a:prstGeom>
          <a:solidFill>
            <a:srgbClr val="E7EAFC"/>
          </a:solidFill>
          <a:ln/>
        </p:spPr>
      </p:sp>
      <p:sp>
        <p:nvSpPr>
          <p:cNvPr id="14" name="Text 12"/>
          <p:cNvSpPr txBox="1"/>
          <p:nvPr/>
        </p:nvSpPr>
        <p:spPr>
          <a:xfrm>
            <a:off x="713232" y="421538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ACCESO SECUENCIAL</a:t>
            </a:r>
            <a:endParaRPr lang="en-US" sz="1100" dirty="0"/>
          </a:p>
        </p:txBody>
      </p:sp>
      <p:sp>
        <p:nvSpPr>
          <p:cNvPr id="15" name="Text 13"/>
          <p:cNvSpPr txBox="1"/>
          <p:nvPr/>
        </p:nvSpPr>
        <p:spPr>
          <a:xfrm>
            <a:off x="713232" y="4581144"/>
            <a:ext cx="5103724"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Hay que recorrer todos los registros anteriores (cinta).</a:t>
            </a:r>
            <a:endParaRPr lang="en-US" sz="1150" dirty="0"/>
          </a:p>
        </p:txBody>
      </p:sp>
      <p:sp>
        <p:nvSpPr>
          <p:cNvPr id="16" name="Shape 14"/>
          <p:cNvSpPr/>
          <p:nvPr/>
        </p:nvSpPr>
        <p:spPr>
          <a:xfrm>
            <a:off x="6210148" y="4069080"/>
            <a:ext cx="5432908" cy="1737360"/>
          </a:xfrm>
          <a:prstGeom prst="roundRect">
            <a:avLst>
              <a:gd name="adj" fmla="val 4211"/>
            </a:avLst>
          </a:prstGeom>
          <a:solidFill>
            <a:srgbClr val="FFFFFF"/>
          </a:solidFill>
          <a:ln w="19050">
            <a:solidFill>
              <a:srgbClr val="15171C"/>
            </a:solidFill>
            <a:prstDash val="solid"/>
          </a:ln>
        </p:spPr>
      </p:sp>
      <p:sp>
        <p:nvSpPr>
          <p:cNvPr id="17" name="Shape 15"/>
          <p:cNvSpPr/>
          <p:nvPr/>
        </p:nvSpPr>
        <p:spPr>
          <a:xfrm>
            <a:off x="6374740" y="4215384"/>
            <a:ext cx="5103724" cy="292608"/>
          </a:xfrm>
          <a:prstGeom prst="roundRect">
            <a:avLst>
              <a:gd name="adj" fmla="val 50000"/>
            </a:avLst>
          </a:prstGeom>
          <a:solidFill>
            <a:srgbClr val="E7EAFC"/>
          </a:solidFill>
          <a:ln/>
        </p:spPr>
      </p:sp>
      <p:sp>
        <p:nvSpPr>
          <p:cNvPr id="18" name="Text 16"/>
          <p:cNvSpPr txBox="1"/>
          <p:nvPr/>
        </p:nvSpPr>
        <p:spPr>
          <a:xfrm>
            <a:off x="6374740" y="421538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ACCESO DIRECTO</a:t>
            </a:r>
            <a:endParaRPr lang="en-US" sz="1100" dirty="0"/>
          </a:p>
        </p:txBody>
      </p:sp>
      <p:sp>
        <p:nvSpPr>
          <p:cNvPr id="19" name="Text 17"/>
          <p:cNvSpPr txBox="1"/>
          <p:nvPr/>
        </p:nvSpPr>
        <p:spPr>
          <a:xfrm>
            <a:off x="6374740" y="4581144"/>
            <a:ext cx="5103724"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Se salta directo al registro que interesa (SSD/NVMe).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03 — LOS PROBLEMAS DE LOS FICHEROS</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Cada aplicación, su propio fichero</a:t>
            </a:r>
            <a:endParaRPr lang="en-US" sz="3000" dirty="0"/>
          </a:p>
        </p:txBody>
      </p:sp>
      <p:sp>
        <p:nvSpPr>
          <p:cNvPr id="4" name="Text 2"/>
          <p:cNvSpPr txBox="1"/>
          <p:nvPr/>
        </p:nvSpPr>
        <p:spPr>
          <a:xfrm>
            <a:off x="548640" y="1965960"/>
            <a:ext cx="11094415" cy="731520"/>
          </a:xfrm>
          <a:prstGeom prst="rect">
            <a:avLst/>
          </a:prstGeom>
          <a:noFill/>
          <a:ln/>
        </p:spPr>
        <p:txBody>
          <a:bodyPr wrap="square" lIns="0" tIns="0" rIns="0" bIns="0" rtlCol="0" anchor="t"/>
          <a:lstStyle/>
          <a:p>
            <a:pPr indent="0" marL="0">
              <a:buNone/>
            </a:pPr>
            <a:r>
              <a:rPr lang="en-US" sz="1500" dirty="0">
                <a:solidFill>
                  <a:srgbClr val="4B4F58"/>
                </a:solidFill>
                <a:latin typeface="Calibri" pitchFamily="34" charset="0"/>
                <a:ea typeface="Calibri" pitchFamily="34" charset="-122"/>
                <a:cs typeface="Calibri" pitchFamily="34" charset="-120"/>
              </a:rPr>
              <a:t>RRHH y contabilidad guardaban cada uno un fichero distinto con los datos de los empleados. Esto generaba cuatro problemas recurrentes:</a:t>
            </a:r>
            <a:endParaRPr lang="en-US" sz="1500" dirty="0"/>
          </a:p>
        </p:txBody>
      </p:sp>
      <p:sp>
        <p:nvSpPr>
          <p:cNvPr id="5" name="Text 3"/>
          <p:cNvSpPr txBox="1"/>
          <p:nvPr/>
        </p:nvSpPr>
        <p:spPr>
          <a:xfrm>
            <a:off x="548640" y="2834640"/>
            <a:ext cx="11094415"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Redundancia de datos</a:t>
            </a:r>
            <a:endParaRPr lang="en-US" sz="1300" dirty="0"/>
          </a:p>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Mal aprovechamiento del espacio</a:t>
            </a:r>
            <a:endParaRPr lang="en-US" sz="1300" dirty="0"/>
          </a:p>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Inconsistencia entre ficheros</a:t>
            </a:r>
            <a:endParaRPr lang="en-US" sz="1300" dirty="0"/>
          </a:p>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Aislamiento de la información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914400"/>
            <a:ext cx="3108960" cy="3108960"/>
          </a:xfrm>
          <a:prstGeom prst="ellipse">
            <a:avLst/>
          </a:prstGeom>
          <a:solidFill>
            <a:srgbClr val="FF5A2E">
              <a:alpha val="16000"/>
            </a:srgbClr>
          </a:solidFill>
          <a:ln/>
        </p:spPr>
      </p:sp>
      <p:sp>
        <p:nvSpPr>
          <p:cNvPr id="3" name="Shape 1"/>
          <p:cNvSpPr/>
          <p:nvPr/>
        </p:nvSpPr>
        <p:spPr>
          <a:xfrm>
            <a:off x="548640" y="457200"/>
            <a:ext cx="502920" cy="502920"/>
          </a:xfrm>
          <a:prstGeom prst="ellipse">
            <a:avLst/>
          </a:prstGeom>
          <a:solidFill>
            <a:srgbClr val="FF5A2E"/>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FF5A2E"/>
                </a:solidFill>
                <a:latin typeface="Calibri" pitchFamily="34" charset="0"/>
                <a:ea typeface="Calibri" pitchFamily="34" charset="-122"/>
                <a:cs typeface="Calibri" pitchFamily="34" charset="-120"/>
              </a:rPr>
              <a:t>ACTIVIDAD EN EQUIPO</a:t>
            </a:r>
            <a:endParaRPr lang="en-US" sz="1300" dirty="0"/>
          </a:p>
        </p:txBody>
      </p:sp>
      <p:sp>
        <p:nvSpPr>
          <p:cNvPr id="6" name="Text 4"/>
          <p:cNvSpPr txBox="1"/>
          <p:nvPr/>
        </p:nvSpPr>
        <p:spPr>
          <a:xfrm>
            <a:off x="548640" y="1005840"/>
            <a:ext cx="11094415" cy="640080"/>
          </a:xfrm>
          <a:prstGeom prst="rect">
            <a:avLst/>
          </a:prstGeom>
          <a:noFill/>
          <a:ln/>
        </p:spPr>
        <p:txBody>
          <a:bodyPr wrap="square" lIns="0" tIns="0" rIns="0" bIns="0" rtlCol="0" anchor="ctr"/>
          <a:lstStyle/>
          <a:p>
            <a:pPr indent="0" marL="0">
              <a:buNone/>
            </a:pPr>
            <a:r>
              <a:rPr lang="en-US" sz="2600" b="1" dirty="0">
                <a:solidFill>
                  <a:srgbClr val="15171C"/>
                </a:solidFill>
                <a:latin typeface="Arial" pitchFamily="34" charset="0"/>
                <a:ea typeface="Arial" pitchFamily="34" charset="-122"/>
                <a:cs typeface="Arial" pitchFamily="34" charset="-120"/>
              </a:rPr>
              <a:t>Un cliente cambia de teléfono</a:t>
            </a:r>
            <a:endParaRPr lang="en-US" sz="2600" dirty="0"/>
          </a:p>
        </p:txBody>
      </p:sp>
      <p:sp>
        <p:nvSpPr>
          <p:cNvPr id="7" name="Text 5"/>
          <p:cNvSpPr txBox="1"/>
          <p:nvPr/>
        </p:nvSpPr>
        <p:spPr>
          <a:xfrm>
            <a:off x="548640" y="1691640"/>
            <a:ext cx="11094415" cy="54864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Leed la situación en grupo y debatid: ¿cuáles de los cuatro problemas de los ficheros aparecen aquí?</a:t>
            </a:r>
            <a:endParaRPr lang="en-US" sz="1400" dirty="0"/>
          </a:p>
        </p:txBody>
      </p:sp>
      <p:sp>
        <p:nvSpPr>
          <p:cNvPr id="8" name="Shape 6"/>
          <p:cNvSpPr/>
          <p:nvPr/>
        </p:nvSpPr>
        <p:spPr>
          <a:xfrm>
            <a:off x="548640" y="2331720"/>
            <a:ext cx="11094415" cy="1371600"/>
          </a:xfrm>
          <a:prstGeom prst="roundRect">
            <a:avLst>
              <a:gd name="adj" fmla="val 6667"/>
            </a:avLst>
          </a:prstGeom>
          <a:solidFill>
            <a:srgbClr val="FFFFFF"/>
          </a:solidFill>
          <a:ln w="19050">
            <a:solidFill>
              <a:srgbClr val="15171C"/>
            </a:solidFill>
            <a:prstDash val="solid"/>
          </a:ln>
        </p:spPr>
      </p:sp>
      <p:sp>
        <p:nvSpPr>
          <p:cNvPr id="9" name="Text 7"/>
          <p:cNvSpPr txBox="1"/>
          <p:nvPr/>
        </p:nvSpPr>
        <p:spPr>
          <a:xfrm>
            <a:off x="777240" y="2468880"/>
            <a:ext cx="10637215" cy="1097280"/>
          </a:xfrm>
          <a:prstGeom prst="rect">
            <a:avLst/>
          </a:prstGeom>
          <a:noFill/>
          <a:ln/>
        </p:spPr>
        <p:txBody>
          <a:bodyPr wrap="square" lIns="0" tIns="0" rIns="0" bIns="0" rtlCol="0" anchor="t"/>
          <a:lstStyle/>
          <a:p>
            <a:pPr indent="0" marL="0">
              <a:buNone/>
            </a:pPr>
            <a:r>
              <a:rPr lang="en-US" sz="1350" b="1" dirty="0">
                <a:solidFill>
                  <a:srgbClr val="15171C"/>
                </a:solidFill>
                <a:latin typeface="Calibri" pitchFamily="34" charset="0"/>
                <a:ea typeface="Calibri" pitchFamily="34" charset="-122"/>
                <a:cs typeface="Calibri" pitchFamily="34" charset="-120"/>
              </a:rPr>
              <a:t>Ventas guarda sus clientes en un Excel. Contabilidad guarda los mismos clientes en otro Excel distinto. Un cliente llama para avisar de que ha cambiado de número. Ventas actualiza su archivo… pero nadie avisa a Contabilidad, que tres meses después le sigue llamando al teléfono antiguo.</a:t>
            </a:r>
            <a:endParaRPr lang="en-US" sz="1350" dirty="0"/>
          </a:p>
        </p:txBody>
      </p:sp>
      <p:sp>
        <p:nvSpPr>
          <p:cNvPr id="10" name="Text 8"/>
          <p:cNvSpPr txBox="1"/>
          <p:nvPr/>
        </p:nvSpPr>
        <p:spPr>
          <a:xfrm>
            <a:off x="548640" y="3977640"/>
            <a:ext cx="11094415" cy="18288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Redundancia de datos</a:t>
            </a:r>
            <a:endParaRPr lang="en-US" sz="1300" dirty="0"/>
          </a:p>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Mal aprovechamiento del espacio</a:t>
            </a:r>
            <a:endParaRPr lang="en-US" sz="1300" dirty="0"/>
          </a:p>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Inconsistencia entre ficheros</a:t>
            </a:r>
            <a:endParaRPr lang="en-US" sz="1300" dirty="0"/>
          </a:p>
          <a:p>
            <a:pPr marL="342900" indent="-342900">
              <a:spcAft>
                <a:spcPts val="1000"/>
              </a:spcAft>
              <a:buSzPct val="100000"/>
              <a:buChar char="✓"/>
            </a:pPr>
            <a:r>
              <a:rPr lang="en-US" sz="1300" dirty="0">
                <a:solidFill>
                  <a:srgbClr val="4B4F58"/>
                </a:solidFill>
                <a:latin typeface="Calibri" pitchFamily="34" charset="0"/>
                <a:ea typeface="Calibri" pitchFamily="34" charset="-122"/>
                <a:cs typeface="Calibri" pitchFamily="34" charset="-120"/>
              </a:rPr>
              <a:t>Aislamiento de la información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04 — QUÉ ES UNA BASE DE DATOS</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Datos interrelacionados, integridad, redundancia mínima</a:t>
            </a:r>
            <a:endParaRPr lang="en-US" sz="3000" dirty="0"/>
          </a:p>
        </p:txBody>
      </p:sp>
      <p:sp>
        <p:nvSpPr>
          <p:cNvPr id="4" name="Text 2"/>
          <p:cNvSpPr txBox="1"/>
          <p:nvPr/>
        </p:nvSpPr>
        <p:spPr>
          <a:xfrm>
            <a:off x="548640" y="1920240"/>
            <a:ext cx="11094415" cy="54864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Conjunto de datos organizados en ficheros binarios, accesibles por varios usuarios y aplicaciones a la vez.</a:t>
            </a:r>
            <a:endParaRPr lang="en-US" sz="1400" dirty="0"/>
          </a:p>
        </p:txBody>
      </p:sp>
      <p:sp>
        <p:nvSpPr>
          <p:cNvPr id="5" name="Text 3"/>
          <p:cNvSpPr txBox="1"/>
          <p:nvPr/>
        </p:nvSpPr>
        <p:spPr>
          <a:xfrm>
            <a:off x="548640" y="2560320"/>
            <a:ext cx="5364328" cy="365760"/>
          </a:xfrm>
          <a:prstGeom prst="rect">
            <a:avLst/>
          </a:prstGeom>
          <a:noFill/>
          <a:ln/>
        </p:spPr>
        <p:txBody>
          <a:bodyPr wrap="square" lIns="0" tIns="0" rIns="0" bIns="0" rtlCol="0" anchor="ctr"/>
          <a:lstStyle/>
          <a:p>
            <a:pPr indent="0" marL="0">
              <a:buNone/>
            </a:pPr>
            <a:r>
              <a:rPr lang="en-US" sz="1300" b="1" spc="50" kern="0" dirty="0">
                <a:solidFill>
                  <a:srgbClr val="3F9468"/>
                </a:solidFill>
                <a:latin typeface="Calibri" pitchFamily="34" charset="0"/>
                <a:ea typeface="Calibri" pitchFamily="34" charset="-122"/>
                <a:cs typeface="Calibri" pitchFamily="34" charset="-120"/>
              </a:rPr>
              <a:t>VENTAJAS</a:t>
            </a:r>
            <a:endParaRPr lang="en-US" sz="1300" dirty="0"/>
          </a:p>
        </p:txBody>
      </p:sp>
      <p:sp>
        <p:nvSpPr>
          <p:cNvPr id="6" name="Text 4"/>
          <p:cNvSpPr txBox="1"/>
          <p:nvPr/>
        </p:nvSpPr>
        <p:spPr>
          <a:xfrm>
            <a:off x="548640" y="2971800"/>
            <a:ext cx="5364328" cy="2880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Independencia entre datos y programas</a:t>
            </a:r>
            <a:endParaRPr lang="en-US" sz="1250" dirty="0"/>
          </a:p>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Menor redundancia</a:t>
            </a:r>
            <a:endParaRPr lang="en-US" sz="1250" dirty="0"/>
          </a:p>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Integridad de los datos</a:t>
            </a:r>
            <a:endParaRPr lang="en-US" sz="1250" dirty="0"/>
          </a:p>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Mayor seguridad</a:t>
            </a:r>
            <a:endParaRPr lang="en-US" sz="1250" dirty="0"/>
          </a:p>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Acceso simultáneo de varios usuarios</a:t>
            </a:r>
            <a:endParaRPr lang="en-US" sz="1250" dirty="0"/>
          </a:p>
        </p:txBody>
      </p:sp>
      <p:sp>
        <p:nvSpPr>
          <p:cNvPr id="7" name="Text 5"/>
          <p:cNvSpPr txBox="1"/>
          <p:nvPr/>
        </p:nvSpPr>
        <p:spPr>
          <a:xfrm>
            <a:off x="6278728" y="2560320"/>
            <a:ext cx="5364328" cy="365760"/>
          </a:xfrm>
          <a:prstGeom prst="rect">
            <a:avLst/>
          </a:prstGeom>
          <a:noFill/>
          <a:ln/>
        </p:spPr>
        <p:txBody>
          <a:bodyPr wrap="square" lIns="0" tIns="0" rIns="0" bIns="0" rtlCol="0" anchor="ctr"/>
          <a:lstStyle/>
          <a:p>
            <a:pPr indent="0" marL="0">
              <a:buNone/>
            </a:pPr>
            <a:r>
              <a:rPr lang="en-US" sz="1300" b="1" spc="50" kern="0" dirty="0">
                <a:solidFill>
                  <a:srgbClr val="FF5A2E"/>
                </a:solidFill>
                <a:latin typeface="Calibri" pitchFamily="34" charset="0"/>
                <a:ea typeface="Calibri" pitchFamily="34" charset="-122"/>
                <a:cs typeface="Calibri" pitchFamily="34" charset="-120"/>
              </a:rPr>
              <a:t>INCONVENIENTES</a:t>
            </a:r>
            <a:endParaRPr lang="en-US" sz="1300" dirty="0"/>
          </a:p>
        </p:txBody>
      </p:sp>
      <p:sp>
        <p:nvSpPr>
          <p:cNvPr id="8" name="Text 6"/>
          <p:cNvSpPr txBox="1"/>
          <p:nvPr/>
        </p:nvSpPr>
        <p:spPr>
          <a:xfrm>
            <a:off x="6278728" y="2971800"/>
            <a:ext cx="5364328" cy="2880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Instalación costosa</a:t>
            </a:r>
            <a:endParaRPr lang="en-US" sz="1250" dirty="0"/>
          </a:p>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Requiere personal cualificado</a:t>
            </a:r>
            <a:endParaRPr lang="en-US" sz="1250" dirty="0"/>
          </a:p>
          <a:p>
            <a:pPr marL="342900" indent="-342900">
              <a:spcAft>
                <a:spcPts val="800"/>
              </a:spcAft>
              <a:buSzPct val="100000"/>
              <a:buChar char="✕"/>
            </a:pPr>
            <a:r>
              <a:rPr lang="en-US" sz="1250" dirty="0">
                <a:solidFill>
                  <a:srgbClr val="4B4F58"/>
                </a:solidFill>
                <a:latin typeface="Calibri" pitchFamily="34" charset="0"/>
                <a:ea typeface="Calibri" pitchFamily="34" charset="-122"/>
                <a:cs typeface="Calibri" pitchFamily="34" charset="-120"/>
              </a:rPr>
              <a:t>Implantación larga y costosa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04 — ELEMENTOS DE UNA BASE DE DATOS (I)</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El vocabulario básico</a:t>
            </a:r>
            <a:endParaRPr lang="en-US" sz="3000" dirty="0"/>
          </a:p>
        </p:txBody>
      </p:sp>
      <p:sp>
        <p:nvSpPr>
          <p:cNvPr id="4" name="Shape 2"/>
          <p:cNvSpPr/>
          <p:nvPr/>
        </p:nvSpPr>
        <p:spPr>
          <a:xfrm>
            <a:off x="548640" y="2103120"/>
            <a:ext cx="2622728" cy="1371600"/>
          </a:xfrm>
          <a:prstGeom prst="roundRect">
            <a:avLst>
              <a:gd name="adj" fmla="val 5333"/>
            </a:avLst>
          </a:prstGeom>
          <a:solidFill>
            <a:srgbClr val="FFFFFF"/>
          </a:solidFill>
          <a:ln w="19050">
            <a:solidFill>
              <a:srgbClr val="15171C"/>
            </a:solidFill>
            <a:prstDash val="solid"/>
          </a:ln>
        </p:spPr>
      </p:sp>
      <p:sp>
        <p:nvSpPr>
          <p:cNvPr id="5" name="Text 3"/>
          <p:cNvSpPr txBox="1"/>
          <p:nvPr/>
        </p:nvSpPr>
        <p:spPr>
          <a:xfrm>
            <a:off x="685800" y="223113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Dato</a:t>
            </a:r>
            <a:endParaRPr lang="en-US" sz="1300" dirty="0"/>
          </a:p>
        </p:txBody>
      </p:sp>
      <p:sp>
        <p:nvSpPr>
          <p:cNvPr id="6" name="Text 4"/>
          <p:cNvSpPr txBox="1"/>
          <p:nvPr/>
        </p:nvSpPr>
        <p:spPr>
          <a:xfrm>
            <a:off x="685800" y="260604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1996 como año de nacimiento.</a:t>
            </a:r>
            <a:endParaRPr lang="en-US" sz="1050" dirty="0"/>
          </a:p>
        </p:txBody>
      </p:sp>
      <p:sp>
        <p:nvSpPr>
          <p:cNvPr id="7" name="Shape 5"/>
          <p:cNvSpPr/>
          <p:nvPr/>
        </p:nvSpPr>
        <p:spPr>
          <a:xfrm>
            <a:off x="3372536" y="2103120"/>
            <a:ext cx="2622728" cy="1371600"/>
          </a:xfrm>
          <a:prstGeom prst="roundRect">
            <a:avLst>
              <a:gd name="adj" fmla="val 5333"/>
            </a:avLst>
          </a:prstGeom>
          <a:solidFill>
            <a:srgbClr val="FFFFFF"/>
          </a:solidFill>
          <a:ln w="19050">
            <a:solidFill>
              <a:srgbClr val="15171C"/>
            </a:solidFill>
            <a:prstDash val="solid"/>
          </a:ln>
        </p:spPr>
      </p:sp>
      <p:sp>
        <p:nvSpPr>
          <p:cNvPr id="8" name="Text 6"/>
          <p:cNvSpPr txBox="1"/>
          <p:nvPr/>
        </p:nvSpPr>
        <p:spPr>
          <a:xfrm>
            <a:off x="3509696" y="223113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Campo / columna</a:t>
            </a:r>
            <a:endParaRPr lang="en-US" sz="1300" dirty="0"/>
          </a:p>
        </p:txBody>
      </p:sp>
      <p:sp>
        <p:nvSpPr>
          <p:cNvPr id="9" name="Text 7"/>
          <p:cNvSpPr txBox="1"/>
          <p:nvPr/>
        </p:nvSpPr>
        <p:spPr>
          <a:xfrm>
            <a:off x="3509696" y="260604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Ej.: el campo FechaNacimiento.</a:t>
            </a:r>
            <a:endParaRPr lang="en-US" sz="1050" dirty="0"/>
          </a:p>
        </p:txBody>
      </p:sp>
      <p:sp>
        <p:nvSpPr>
          <p:cNvPr id="10" name="Shape 8"/>
          <p:cNvSpPr/>
          <p:nvPr/>
        </p:nvSpPr>
        <p:spPr>
          <a:xfrm>
            <a:off x="6196432" y="2103120"/>
            <a:ext cx="2622728" cy="1371600"/>
          </a:xfrm>
          <a:prstGeom prst="roundRect">
            <a:avLst>
              <a:gd name="adj" fmla="val 5333"/>
            </a:avLst>
          </a:prstGeom>
          <a:solidFill>
            <a:srgbClr val="FFFFFF"/>
          </a:solidFill>
          <a:ln w="19050">
            <a:solidFill>
              <a:srgbClr val="15171C"/>
            </a:solidFill>
            <a:prstDash val="solid"/>
          </a:ln>
        </p:spPr>
      </p:sp>
      <p:sp>
        <p:nvSpPr>
          <p:cNvPr id="11" name="Text 9"/>
          <p:cNvSpPr txBox="1"/>
          <p:nvPr/>
        </p:nvSpPr>
        <p:spPr>
          <a:xfrm>
            <a:off x="6333592" y="223113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Registro / tupla / fila</a:t>
            </a:r>
            <a:endParaRPr lang="en-US" sz="1300" dirty="0"/>
          </a:p>
        </p:txBody>
      </p:sp>
      <p:sp>
        <p:nvSpPr>
          <p:cNvPr id="12" name="Text 10"/>
          <p:cNvSpPr txBox="1"/>
          <p:nvPr/>
        </p:nvSpPr>
        <p:spPr>
          <a:xfrm>
            <a:off x="6333592" y="260604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Todos los datos de una persona.</a:t>
            </a:r>
            <a:endParaRPr lang="en-US" sz="1050" dirty="0"/>
          </a:p>
        </p:txBody>
      </p:sp>
      <p:sp>
        <p:nvSpPr>
          <p:cNvPr id="13" name="Shape 11"/>
          <p:cNvSpPr/>
          <p:nvPr/>
        </p:nvSpPr>
        <p:spPr>
          <a:xfrm>
            <a:off x="9020327" y="2103120"/>
            <a:ext cx="2622728" cy="1371600"/>
          </a:xfrm>
          <a:prstGeom prst="roundRect">
            <a:avLst>
              <a:gd name="adj" fmla="val 5333"/>
            </a:avLst>
          </a:prstGeom>
          <a:solidFill>
            <a:srgbClr val="FFFFFF"/>
          </a:solidFill>
          <a:ln w="19050">
            <a:solidFill>
              <a:srgbClr val="15171C"/>
            </a:solidFill>
            <a:prstDash val="solid"/>
          </a:ln>
        </p:spPr>
      </p:sp>
      <p:sp>
        <p:nvSpPr>
          <p:cNvPr id="14" name="Text 12"/>
          <p:cNvSpPr txBox="1"/>
          <p:nvPr/>
        </p:nvSpPr>
        <p:spPr>
          <a:xfrm>
            <a:off x="9157487" y="223113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Clave primaria (PK)</a:t>
            </a:r>
            <a:endParaRPr lang="en-US" sz="1300" dirty="0"/>
          </a:p>
        </p:txBody>
      </p:sp>
      <p:sp>
        <p:nvSpPr>
          <p:cNvPr id="15" name="Text 13"/>
          <p:cNvSpPr txBox="1"/>
          <p:nvPr/>
        </p:nvSpPr>
        <p:spPr>
          <a:xfrm>
            <a:off x="9157487" y="260604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Identifica de forma única cada registro.</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04 — ELEMENTOS DE UNA BASE DE DATOS (II)</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Tabla, consulta, índice, vista, esquema</a:t>
            </a:r>
            <a:endParaRPr lang="en-US" sz="3000" dirty="0"/>
          </a:p>
        </p:txBody>
      </p:sp>
      <p:sp>
        <p:nvSpPr>
          <p:cNvPr id="4" name="Shape 2"/>
          <p:cNvSpPr/>
          <p:nvPr/>
        </p:nvSpPr>
        <p:spPr>
          <a:xfrm>
            <a:off x="548640" y="2103120"/>
            <a:ext cx="3564026" cy="1371600"/>
          </a:xfrm>
          <a:prstGeom prst="roundRect">
            <a:avLst>
              <a:gd name="adj" fmla="val 5333"/>
            </a:avLst>
          </a:prstGeom>
          <a:solidFill>
            <a:srgbClr val="FFFFFF"/>
          </a:solidFill>
          <a:ln w="19050">
            <a:solidFill>
              <a:srgbClr val="15171C"/>
            </a:solidFill>
            <a:prstDash val="solid"/>
          </a:ln>
        </p:spPr>
      </p:sp>
      <p:sp>
        <p:nvSpPr>
          <p:cNvPr id="5" name="Text 3"/>
          <p:cNvSpPr txBox="1"/>
          <p:nvPr/>
        </p:nvSpPr>
        <p:spPr>
          <a:xfrm>
            <a:off x="685800" y="2231136"/>
            <a:ext cx="3289706"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Tabla</a:t>
            </a:r>
            <a:endParaRPr lang="en-US" sz="1300" dirty="0"/>
          </a:p>
        </p:txBody>
      </p:sp>
      <p:sp>
        <p:nvSpPr>
          <p:cNvPr id="6" name="Text 4"/>
          <p:cNvSpPr txBox="1"/>
          <p:nvPr/>
        </p:nvSpPr>
        <p:spPr>
          <a:xfrm>
            <a:off x="685800" y="2606040"/>
            <a:ext cx="3289706"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Todos los clientes → tabla Clientes.</a:t>
            </a:r>
            <a:endParaRPr lang="en-US" sz="1050" dirty="0"/>
          </a:p>
        </p:txBody>
      </p:sp>
      <p:sp>
        <p:nvSpPr>
          <p:cNvPr id="7" name="Shape 5"/>
          <p:cNvSpPr/>
          <p:nvPr/>
        </p:nvSpPr>
        <p:spPr>
          <a:xfrm>
            <a:off x="4313834" y="2103120"/>
            <a:ext cx="3564026" cy="1371600"/>
          </a:xfrm>
          <a:prstGeom prst="roundRect">
            <a:avLst>
              <a:gd name="adj" fmla="val 5333"/>
            </a:avLst>
          </a:prstGeom>
          <a:solidFill>
            <a:srgbClr val="FFFFFF"/>
          </a:solidFill>
          <a:ln w="19050">
            <a:solidFill>
              <a:srgbClr val="15171C"/>
            </a:solidFill>
            <a:prstDash val="solid"/>
          </a:ln>
        </p:spPr>
      </p:sp>
      <p:sp>
        <p:nvSpPr>
          <p:cNvPr id="8" name="Text 6"/>
          <p:cNvSpPr txBox="1"/>
          <p:nvPr/>
        </p:nvSpPr>
        <p:spPr>
          <a:xfrm>
            <a:off x="4450994" y="2231136"/>
            <a:ext cx="3289706"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Consulta / query</a:t>
            </a:r>
            <a:endParaRPr lang="en-US" sz="1300" dirty="0"/>
          </a:p>
        </p:txBody>
      </p:sp>
      <p:sp>
        <p:nvSpPr>
          <p:cNvPr id="9" name="Text 7"/>
          <p:cNvSpPr txBox="1"/>
          <p:nvPr/>
        </p:nvSpPr>
        <p:spPr>
          <a:xfrm>
            <a:off x="4450994" y="2606040"/>
            <a:ext cx="3289706"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Pide datos que cumplan ciertos criterios.</a:t>
            </a:r>
            <a:endParaRPr lang="en-US" sz="1050" dirty="0"/>
          </a:p>
        </p:txBody>
      </p:sp>
      <p:sp>
        <p:nvSpPr>
          <p:cNvPr id="10" name="Shape 8"/>
          <p:cNvSpPr/>
          <p:nvPr/>
        </p:nvSpPr>
        <p:spPr>
          <a:xfrm>
            <a:off x="8079029" y="2103120"/>
            <a:ext cx="3564026" cy="1371600"/>
          </a:xfrm>
          <a:prstGeom prst="roundRect">
            <a:avLst>
              <a:gd name="adj" fmla="val 5333"/>
            </a:avLst>
          </a:prstGeom>
          <a:solidFill>
            <a:srgbClr val="FFFFFF"/>
          </a:solidFill>
          <a:ln w="19050">
            <a:solidFill>
              <a:srgbClr val="15171C"/>
            </a:solidFill>
            <a:prstDash val="solid"/>
          </a:ln>
        </p:spPr>
      </p:sp>
      <p:sp>
        <p:nvSpPr>
          <p:cNvPr id="11" name="Text 9"/>
          <p:cNvSpPr txBox="1"/>
          <p:nvPr/>
        </p:nvSpPr>
        <p:spPr>
          <a:xfrm>
            <a:off x="8216189" y="2231136"/>
            <a:ext cx="3289706"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Índice</a:t>
            </a:r>
            <a:endParaRPr lang="en-US" sz="1300" dirty="0"/>
          </a:p>
        </p:txBody>
      </p:sp>
      <p:sp>
        <p:nvSpPr>
          <p:cNvPr id="12" name="Text 10"/>
          <p:cNvSpPr txBox="1"/>
          <p:nvPr/>
        </p:nvSpPr>
        <p:spPr>
          <a:xfrm>
            <a:off x="8216189" y="2606040"/>
            <a:ext cx="3289706"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Ordena campos para buscar más rápido.</a:t>
            </a:r>
            <a:endParaRPr lang="en-US" sz="1050" dirty="0"/>
          </a:p>
        </p:txBody>
      </p:sp>
      <p:sp>
        <p:nvSpPr>
          <p:cNvPr id="13" name="Shape 11"/>
          <p:cNvSpPr/>
          <p:nvPr/>
        </p:nvSpPr>
        <p:spPr>
          <a:xfrm>
            <a:off x="548640" y="3675888"/>
            <a:ext cx="3564026" cy="1371600"/>
          </a:xfrm>
          <a:prstGeom prst="roundRect">
            <a:avLst>
              <a:gd name="adj" fmla="val 5333"/>
            </a:avLst>
          </a:prstGeom>
          <a:solidFill>
            <a:srgbClr val="FFFFFF"/>
          </a:solidFill>
          <a:ln w="19050">
            <a:solidFill>
              <a:srgbClr val="15171C"/>
            </a:solidFill>
            <a:prstDash val="solid"/>
          </a:ln>
        </p:spPr>
      </p:sp>
      <p:sp>
        <p:nvSpPr>
          <p:cNvPr id="14" name="Text 12"/>
          <p:cNvSpPr txBox="1"/>
          <p:nvPr/>
        </p:nvSpPr>
        <p:spPr>
          <a:xfrm>
            <a:off x="685800" y="3803904"/>
            <a:ext cx="3289706"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Vista</a:t>
            </a:r>
            <a:endParaRPr lang="en-US" sz="1300" dirty="0"/>
          </a:p>
        </p:txBody>
      </p:sp>
      <p:sp>
        <p:nvSpPr>
          <p:cNvPr id="15" name="Text 13"/>
          <p:cNvSpPr txBox="1"/>
          <p:nvPr/>
        </p:nvSpPr>
        <p:spPr>
          <a:xfrm>
            <a:off x="685800" y="4178808"/>
            <a:ext cx="3289706"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Tabla virtual generada por una consulta.</a:t>
            </a:r>
            <a:endParaRPr lang="en-US" sz="1050" dirty="0"/>
          </a:p>
        </p:txBody>
      </p:sp>
      <p:sp>
        <p:nvSpPr>
          <p:cNvPr id="16" name="Shape 14"/>
          <p:cNvSpPr/>
          <p:nvPr/>
        </p:nvSpPr>
        <p:spPr>
          <a:xfrm>
            <a:off x="4313834" y="3675888"/>
            <a:ext cx="3564026" cy="1371600"/>
          </a:xfrm>
          <a:prstGeom prst="roundRect">
            <a:avLst>
              <a:gd name="adj" fmla="val 5333"/>
            </a:avLst>
          </a:prstGeom>
          <a:solidFill>
            <a:srgbClr val="FFFFFF"/>
          </a:solidFill>
          <a:ln w="19050">
            <a:solidFill>
              <a:srgbClr val="15171C"/>
            </a:solidFill>
            <a:prstDash val="solid"/>
          </a:ln>
        </p:spPr>
      </p:sp>
      <p:sp>
        <p:nvSpPr>
          <p:cNvPr id="17" name="Text 15"/>
          <p:cNvSpPr txBox="1"/>
          <p:nvPr/>
        </p:nvSpPr>
        <p:spPr>
          <a:xfrm>
            <a:off x="4450994" y="3803904"/>
            <a:ext cx="3289706"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Esquema</a:t>
            </a:r>
            <a:endParaRPr lang="en-US" sz="1300" dirty="0"/>
          </a:p>
        </p:txBody>
      </p:sp>
      <p:sp>
        <p:nvSpPr>
          <p:cNvPr id="18" name="Text 16"/>
          <p:cNvSpPr txBox="1"/>
          <p:nvPr/>
        </p:nvSpPr>
        <p:spPr>
          <a:xfrm>
            <a:off x="4450994" y="4178808"/>
            <a:ext cx="3289706"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Tablas, campos y relaciones de la BD.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914400"/>
            <a:ext cx="3108960" cy="3108960"/>
          </a:xfrm>
          <a:prstGeom prst="ellipse">
            <a:avLst/>
          </a:prstGeom>
          <a:solidFill>
            <a:srgbClr val="FF5A2E">
              <a:alpha val="16000"/>
            </a:srgbClr>
          </a:solidFill>
          <a:ln/>
        </p:spPr>
      </p:sp>
      <p:sp>
        <p:nvSpPr>
          <p:cNvPr id="3" name="Shape 1"/>
          <p:cNvSpPr/>
          <p:nvPr/>
        </p:nvSpPr>
        <p:spPr>
          <a:xfrm>
            <a:off x="548640" y="457200"/>
            <a:ext cx="502920" cy="502920"/>
          </a:xfrm>
          <a:prstGeom prst="ellipse">
            <a:avLst/>
          </a:prstGeom>
          <a:solidFill>
            <a:srgbClr val="FF5A2E"/>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FF5A2E"/>
                </a:solidFill>
                <a:latin typeface="Calibri" pitchFamily="34" charset="0"/>
                <a:ea typeface="Calibri" pitchFamily="34" charset="-122"/>
                <a:cs typeface="Calibri" pitchFamily="34" charset="-120"/>
              </a:rPr>
              <a:t>ACTIVIDAD</a:t>
            </a:r>
            <a:endParaRPr lang="en-US" sz="1300" dirty="0"/>
          </a:p>
        </p:txBody>
      </p:sp>
      <p:sp>
        <p:nvSpPr>
          <p:cNvPr id="6" name="Text 4"/>
          <p:cNvSpPr txBox="1"/>
          <p:nvPr/>
        </p:nvSpPr>
        <p:spPr>
          <a:xfrm>
            <a:off x="548640" y="1005840"/>
            <a:ext cx="11094415" cy="548640"/>
          </a:xfrm>
          <a:prstGeom prst="rect">
            <a:avLst/>
          </a:prstGeom>
          <a:noFill/>
          <a:ln/>
        </p:spPr>
        <p:txBody>
          <a:bodyPr wrap="square" lIns="0" tIns="0" rIns="0" bIns="0" rtlCol="0" anchor="ctr"/>
          <a:lstStyle/>
          <a:p>
            <a:pPr indent="0" marL="0">
              <a:buNone/>
            </a:pPr>
            <a:r>
              <a:rPr lang="en-US" sz="2600" b="1" dirty="0">
                <a:solidFill>
                  <a:srgbClr val="15171C"/>
                </a:solidFill>
                <a:latin typeface="Arial" pitchFamily="34" charset="0"/>
                <a:ea typeface="Arial" pitchFamily="34" charset="-122"/>
                <a:cs typeface="Arial" pitchFamily="34" charset="-120"/>
              </a:rPr>
              <a:t>Encuentra los elementos</a:t>
            </a:r>
            <a:endParaRPr lang="en-US" sz="2600" dirty="0"/>
          </a:p>
        </p:txBody>
      </p:sp>
      <p:sp>
        <p:nvSpPr>
          <p:cNvPr id="7" name="Text 5"/>
          <p:cNvSpPr txBox="1"/>
          <p:nvPr/>
        </p:nvSpPr>
        <p:spPr>
          <a:xfrm>
            <a:off x="548640" y="1645920"/>
            <a:ext cx="11094415" cy="54864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Esta es la tabla “Alumnos” de la base de datos de un instituto. Localiza en ella un campo, un registro y la clave primaria.</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773604"/>
                <a:gridCol w="2773604"/>
                <a:gridCol w="2773604"/>
                <a:gridCol w="2773604"/>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DNI</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71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Nombre</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71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FechaNacimiento</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71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Curso</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71C"/>
                    </a:solidFill>
                  </a:tcPr>
                </a:tc>
              </a:tr>
              <a:tr h="457200">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04512378Z</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Lucía Fernández</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14/03/2009</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1º DAM</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08765432X</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Marcos Ibáñez</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22/11/2008</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1º DAM</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r>
            </a:tbl>
          </a:graphicData>
        </a:graphic>
      </p:graphicFrame>
      <p:sp>
        <p:nvSpPr>
          <p:cNvPr id="9" name="Shape 6"/>
          <p:cNvSpPr/>
          <p:nvPr/>
        </p:nvSpPr>
        <p:spPr>
          <a:xfrm>
            <a:off x="548640" y="3977640"/>
            <a:ext cx="11094415" cy="502920"/>
          </a:xfrm>
          <a:prstGeom prst="roundRect">
            <a:avLst>
              <a:gd name="adj" fmla="val 50909"/>
            </a:avLst>
          </a:prstGeom>
          <a:solidFill>
            <a:srgbClr val="FFFFFF"/>
          </a:solidFill>
          <a:ln w="19050">
            <a:solidFill>
              <a:srgbClr val="15171C"/>
            </a:solidFill>
            <a:prstDash val="solid"/>
          </a:ln>
        </p:spPr>
      </p:sp>
      <p:sp>
        <p:nvSpPr>
          <p:cNvPr id="10" name="Text 7"/>
          <p:cNvSpPr txBox="1"/>
          <p:nvPr/>
        </p:nvSpPr>
        <p:spPr>
          <a:xfrm>
            <a:off x="822960" y="3977640"/>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1 · Campo — ¿qué columna?</a:t>
            </a:r>
            <a:endParaRPr lang="en-US" sz="1400" dirty="0"/>
          </a:p>
        </p:txBody>
      </p:sp>
      <p:sp>
        <p:nvSpPr>
          <p:cNvPr id="11" name="Shape 8"/>
          <p:cNvSpPr/>
          <p:nvPr/>
        </p:nvSpPr>
        <p:spPr>
          <a:xfrm>
            <a:off x="548640" y="4626864"/>
            <a:ext cx="11094415" cy="502920"/>
          </a:xfrm>
          <a:prstGeom prst="roundRect">
            <a:avLst>
              <a:gd name="adj" fmla="val 50909"/>
            </a:avLst>
          </a:prstGeom>
          <a:solidFill>
            <a:srgbClr val="FFFFFF"/>
          </a:solidFill>
          <a:ln w="19050">
            <a:solidFill>
              <a:srgbClr val="15171C"/>
            </a:solidFill>
            <a:prstDash val="solid"/>
          </a:ln>
        </p:spPr>
      </p:sp>
      <p:sp>
        <p:nvSpPr>
          <p:cNvPr id="12" name="Text 9"/>
          <p:cNvSpPr txBox="1"/>
          <p:nvPr/>
        </p:nvSpPr>
        <p:spPr>
          <a:xfrm>
            <a:off x="822960" y="4626864"/>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2 · Registro — ¿qué fila?</a:t>
            </a:r>
            <a:endParaRPr lang="en-US" sz="1400" dirty="0"/>
          </a:p>
        </p:txBody>
      </p:sp>
      <p:sp>
        <p:nvSpPr>
          <p:cNvPr id="13" name="Shape 10"/>
          <p:cNvSpPr/>
          <p:nvPr/>
        </p:nvSpPr>
        <p:spPr>
          <a:xfrm>
            <a:off x="548640" y="5276088"/>
            <a:ext cx="11094415" cy="502920"/>
          </a:xfrm>
          <a:prstGeom prst="roundRect">
            <a:avLst>
              <a:gd name="adj" fmla="val 50909"/>
            </a:avLst>
          </a:prstGeom>
          <a:solidFill>
            <a:srgbClr val="FFFFFF"/>
          </a:solidFill>
          <a:ln w="19050">
            <a:solidFill>
              <a:srgbClr val="15171C"/>
            </a:solidFill>
            <a:prstDash val="solid"/>
          </a:ln>
        </p:spPr>
      </p:sp>
      <p:sp>
        <p:nvSpPr>
          <p:cNvPr id="14" name="Text 11"/>
          <p:cNvSpPr txBox="1"/>
          <p:nvPr/>
        </p:nvSpPr>
        <p:spPr>
          <a:xfrm>
            <a:off x="822960" y="5276088"/>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3 · Clave primaria — ¿qué dato no se repite?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1005840"/>
            <a:ext cx="3291840" cy="3291840"/>
          </a:xfrm>
          <a:prstGeom prst="ellipse">
            <a:avLst/>
          </a:prstGeom>
          <a:solidFill>
            <a:srgbClr val="8ED0AA">
              <a:alpha val="22000"/>
            </a:srgbClr>
          </a:solidFill>
          <a:ln/>
        </p:spPr>
      </p:sp>
      <p:sp>
        <p:nvSpPr>
          <p:cNvPr id="3" name="Shape 1"/>
          <p:cNvSpPr/>
          <p:nvPr/>
        </p:nvSpPr>
        <p:spPr>
          <a:xfrm>
            <a:off x="548640" y="457200"/>
            <a:ext cx="502920" cy="502920"/>
          </a:xfrm>
          <a:prstGeom prst="ellipse">
            <a:avLst/>
          </a:prstGeom>
          <a:solidFill>
            <a:srgbClr val="3F9468"/>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3F9468"/>
                </a:solidFill>
                <a:latin typeface="Calibri" pitchFamily="34" charset="0"/>
                <a:ea typeface="Calibri" pitchFamily="34" charset="-122"/>
                <a:cs typeface="Calibri" pitchFamily="34" charset="-120"/>
              </a:rPr>
              <a:t>SOLUCIÓN</a:t>
            </a:r>
            <a:endParaRPr lang="en-US" sz="1300" dirty="0"/>
          </a:p>
        </p:txBody>
      </p:sp>
      <p:sp>
        <p:nvSpPr>
          <p:cNvPr id="6" name="Text 4"/>
          <p:cNvSpPr txBox="1"/>
          <p:nvPr/>
        </p:nvSpPr>
        <p:spPr>
          <a:xfrm>
            <a:off x="548640" y="1005840"/>
            <a:ext cx="11094415" cy="548640"/>
          </a:xfrm>
          <a:prstGeom prst="rect">
            <a:avLst/>
          </a:prstGeom>
          <a:noFill/>
          <a:ln/>
        </p:spPr>
        <p:txBody>
          <a:bodyPr wrap="square" lIns="0" tIns="0" rIns="0" bIns="0" rtlCol="0" anchor="ctr"/>
          <a:lstStyle/>
          <a:p>
            <a:pPr indent="0" marL="0">
              <a:buNone/>
            </a:pPr>
            <a:r>
              <a:rPr lang="en-US" sz="2600" b="1" dirty="0">
                <a:solidFill>
                  <a:srgbClr val="15171C"/>
                </a:solidFill>
                <a:latin typeface="Arial" pitchFamily="34" charset="0"/>
                <a:ea typeface="Arial" pitchFamily="34" charset="-122"/>
                <a:cs typeface="Arial" pitchFamily="34" charset="-120"/>
              </a:rPr>
              <a:t>Así se identifican</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773604"/>
                <a:gridCol w="2773604"/>
                <a:gridCol w="2773604"/>
                <a:gridCol w="2773604"/>
              </a:tblGrid>
              <a:tr h="457200">
                <a:tc>
                  <a:txBody>
                    <a:bodyPr/>
                    <a:lstStyle/>
                    <a:p>
                      <a:pPr algn="l" indent="0" marL="0">
                        <a:buNone/>
                      </a:pPr>
                      <a:r>
                        <a:rPr lang="en-US" sz="1200" b="1" dirty="0">
                          <a:solidFill>
                            <a:srgbClr val="15171C"/>
                          </a:solidFill>
                          <a:latin typeface="Calibri" pitchFamily="34" charset="0"/>
                          <a:ea typeface="Calibri" pitchFamily="34" charset="-122"/>
                          <a:cs typeface="Calibri" pitchFamily="34" charset="-120"/>
                        </a:rPr>
                        <a:t>DNI</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E5DE"/>
                    </a:solidFill>
                  </a:tcPr>
                </a:tc>
                <a:tc>
                  <a:txBody>
                    <a:bodyPr/>
                    <a:lstStyle/>
                    <a:p>
                      <a:pPr algn="l" indent="0" marL="0">
                        <a:buNone/>
                      </a:pPr>
                      <a:r>
                        <a:rPr lang="en-US" sz="1200" b="1" dirty="0">
                          <a:solidFill>
                            <a:srgbClr val="15171C"/>
                          </a:solidFill>
                          <a:latin typeface="Calibri" pitchFamily="34" charset="0"/>
                          <a:ea typeface="Calibri" pitchFamily="34" charset="-122"/>
                          <a:cs typeface="Calibri" pitchFamily="34" charset="-120"/>
                        </a:rPr>
                        <a:t>Nombre</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E7EAF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FechaNacimiento</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71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Curso</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15171C"/>
                    </a:solidFill>
                  </a:tcPr>
                </a:tc>
              </a:tr>
              <a:tr h="457200">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04512378Z</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E5DE"/>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Lucía Fernández</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E7EAFC"/>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14/03/2009</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1º DAM</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08765432X</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E5DE"/>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Marcos Ibáñez</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E7EAFC"/>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22/11/2008</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71C"/>
                          </a:solidFill>
                          <a:latin typeface="Calibri" pitchFamily="34" charset="0"/>
                          <a:ea typeface="Calibri" pitchFamily="34" charset="-122"/>
                          <a:cs typeface="Calibri" pitchFamily="34" charset="-120"/>
                        </a:rPr>
                        <a:t>1º DAM</a:t>
                      </a:r>
                      <a:endParaRPr lang="en-US" sz="1200" dirty="0">
                        <a:latin typeface="Calibri" charset="0"/>
                        <a:ea typeface="Calibri" charset="0"/>
                        <a:cs typeface="Calibri" charset="0"/>
                      </a:endParaRPr>
                    </a:p>
                  </a:txBody>
                  <a:tcPr marL="91440" marR="91440" marT="45720" marB="45720">
                    <a:lnL w="12700" cap="flat" cmpd="sng" algn="ctr">
                      <a:solidFill>
                        <a:srgbClr val="15171C"/>
                      </a:solidFill>
                      <a:prstDash val="solid"/>
                      <a:round/>
                      <a:headEnd type="none" w="med" len="med"/>
                      <a:tailEnd type="none" w="med" len="med"/>
                    </a:lnL>
                    <a:lnR w="12700" cap="flat" cmpd="sng" algn="ctr">
                      <a:solidFill>
                        <a:srgbClr val="15171C"/>
                      </a:solidFill>
                      <a:prstDash val="solid"/>
                      <a:round/>
                      <a:headEnd type="none" w="med" len="med"/>
                      <a:tailEnd type="none" w="med" len="med"/>
                    </a:lnR>
                    <a:lnT w="12700" cap="flat" cmpd="sng" algn="ctr">
                      <a:solidFill>
                        <a:srgbClr val="15171C"/>
                      </a:solidFill>
                      <a:prstDash val="solid"/>
                      <a:round/>
                      <a:headEnd type="none" w="med" len="med"/>
                      <a:tailEnd type="none" w="med" len="med"/>
                    </a:lnT>
                    <a:lnB w="12700" cap="flat" cmpd="sng" algn="ctr">
                      <a:solidFill>
                        <a:srgbClr val="15171C"/>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3383280"/>
            <a:ext cx="11094415" cy="1280160"/>
          </a:xfrm>
          <a:prstGeom prst="rect">
            <a:avLst/>
          </a:prstGeom>
          <a:noFill/>
          <a:ln/>
        </p:spPr>
        <p:txBody>
          <a:bodyPr wrap="square" lIns="0" tIns="0" rIns="0" bIns="0" rtlCol="0" anchor="t"/>
          <a:lstStyle/>
          <a:p>
            <a:pPr indent="0" marL="0">
              <a:lnSpc>
                <a:spcPts val="2600"/>
              </a:lnSpc>
              <a:buNone/>
            </a:pPr>
            <a:r>
              <a:rPr lang="en-US" sz="1400" b="1" dirty="0">
                <a:solidFill>
                  <a:srgbClr val="0D1A7A"/>
                </a:solidFill>
                <a:latin typeface="Calibri" pitchFamily="34" charset="0"/>
                <a:ea typeface="Calibri" pitchFamily="34" charset="-122"/>
                <a:cs typeface="Calibri" pitchFamily="34" charset="-120"/>
              </a:rPr>
              <a:t>Campo: </a:t>
            </a:r>
            <a:pPr indent="0" marL="0">
              <a:lnSpc>
                <a:spcPts val="2600"/>
              </a:lnSpc>
              <a:buNone/>
            </a:pPr>
            <a:r>
              <a:rPr lang="en-US" sz="1400" dirty="0">
                <a:solidFill>
                  <a:srgbClr val="4B4F58"/>
                </a:solidFill>
                <a:latin typeface="Calibri" pitchFamily="34" charset="0"/>
                <a:ea typeface="Calibri" pitchFamily="34" charset="-122"/>
                <a:cs typeface="Calibri" pitchFamily="34" charset="-120"/>
              </a:rPr>
              <a:t>cada columna, p. ej. Nombre.   </a:t>
            </a:r>
            <a:pPr indent="0" marL="0">
              <a:lnSpc>
                <a:spcPts val="2600"/>
              </a:lnSpc>
              <a:buNone/>
            </a:pPr>
            <a:r>
              <a:rPr lang="en-US" sz="1400" b="1" dirty="0">
                <a:solidFill>
                  <a:srgbClr val="15171C"/>
                </a:solidFill>
                <a:latin typeface="Calibri" pitchFamily="34" charset="0"/>
                <a:ea typeface="Calibri" pitchFamily="34" charset="-122"/>
                <a:cs typeface="Calibri" pitchFamily="34" charset="-120"/>
              </a:rPr>
              <a:t>Registro: </a:t>
            </a:r>
            <a:pPr indent="0" marL="0">
              <a:lnSpc>
                <a:spcPts val="2600"/>
              </a:lnSpc>
              <a:buNone/>
            </a:pPr>
            <a:r>
              <a:rPr lang="en-US" sz="1400" dirty="0">
                <a:solidFill>
                  <a:srgbClr val="4B4F58"/>
                </a:solidFill>
                <a:latin typeface="Calibri" pitchFamily="34" charset="0"/>
                <a:ea typeface="Calibri" pitchFamily="34" charset="-122"/>
                <a:cs typeface="Calibri" pitchFamily="34" charset="-120"/>
              </a:rPr>
              <a:t>cada fila completa, los datos de un alumno.
</a:t>
            </a:r>
            <a:pPr indent="0" marL="0">
              <a:lnSpc>
                <a:spcPts val="2600"/>
              </a:lnSpc>
              <a:buNone/>
            </a:pPr>
            <a:r>
              <a:rPr lang="en-US" sz="1400" b="1" dirty="0">
                <a:solidFill>
                  <a:srgbClr val="FF5A2E"/>
                </a:solidFill>
                <a:latin typeface="Calibri" pitchFamily="34" charset="0"/>
                <a:ea typeface="Calibri" pitchFamily="34" charset="-122"/>
                <a:cs typeface="Calibri" pitchFamily="34" charset="-120"/>
              </a:rPr>
              <a:t>Clave primaria: </a:t>
            </a:r>
            <a:pPr indent="0" marL="0">
              <a:lnSpc>
                <a:spcPts val="2600"/>
              </a:lnSpc>
              <a:buNone/>
            </a:pPr>
            <a:r>
              <a:rPr lang="en-US" sz="1400" dirty="0">
                <a:solidFill>
                  <a:srgbClr val="4B4F58"/>
                </a:solidFill>
                <a:latin typeface="Calibri" pitchFamily="34" charset="0"/>
                <a:ea typeface="Calibri" pitchFamily="34" charset="-122"/>
                <a:cs typeface="Calibri" pitchFamily="34" charset="-120"/>
              </a:rPr>
              <a:t>el DNI — identifica a cada alumno sin repetirse.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05 — TIPOS Y MODELOS DE DATOS (I)</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De la jerarquía a las tablas</a:t>
            </a:r>
            <a:endParaRPr lang="en-US" sz="3000" dirty="0"/>
          </a:p>
        </p:txBody>
      </p:sp>
      <p:sp>
        <p:nvSpPr>
          <p:cNvPr id="4" name="Shape 2"/>
          <p:cNvSpPr/>
          <p:nvPr/>
        </p:nvSpPr>
        <p:spPr>
          <a:xfrm>
            <a:off x="548640" y="2103120"/>
            <a:ext cx="2602154" cy="2011680"/>
          </a:xfrm>
          <a:prstGeom prst="roundRect">
            <a:avLst>
              <a:gd name="adj" fmla="val 3636"/>
            </a:avLst>
          </a:prstGeom>
          <a:solidFill>
            <a:srgbClr val="FFFFFF"/>
          </a:solidFill>
          <a:ln w="19050">
            <a:solidFill>
              <a:srgbClr val="15171C"/>
            </a:solidFill>
            <a:prstDash val="solid"/>
          </a:ln>
        </p:spPr>
      </p:sp>
      <p:sp>
        <p:nvSpPr>
          <p:cNvPr id="5" name="Shape 3"/>
          <p:cNvSpPr/>
          <p:nvPr/>
        </p:nvSpPr>
        <p:spPr>
          <a:xfrm>
            <a:off x="713232" y="2249424"/>
            <a:ext cx="2272970" cy="292608"/>
          </a:xfrm>
          <a:prstGeom prst="roundRect">
            <a:avLst>
              <a:gd name="adj" fmla="val 50000"/>
            </a:avLst>
          </a:prstGeom>
          <a:solidFill>
            <a:srgbClr val="E7EAFC"/>
          </a:solidFill>
          <a:ln/>
        </p:spPr>
      </p:sp>
      <p:sp>
        <p:nvSpPr>
          <p:cNvPr id="6" name="Text 4"/>
          <p:cNvSpPr txBox="1"/>
          <p:nvPr/>
        </p:nvSpPr>
        <p:spPr>
          <a:xfrm>
            <a:off x="713232" y="224942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JERÁRQUICO</a:t>
            </a:r>
            <a:endParaRPr lang="en-US" sz="1100" dirty="0"/>
          </a:p>
        </p:txBody>
      </p:sp>
      <p:sp>
        <p:nvSpPr>
          <p:cNvPr id="7" name="Text 5"/>
          <p:cNvSpPr txBox="1"/>
          <p:nvPr/>
        </p:nvSpPr>
        <p:spPr>
          <a:xfrm>
            <a:off x="713232" y="2615184"/>
            <a:ext cx="2272970" cy="137160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Árbol, unidireccional. 1 padre → N hijos. El registro de Windows.</a:t>
            </a:r>
            <a:endParaRPr lang="en-US" sz="1150" dirty="0"/>
          </a:p>
        </p:txBody>
      </p:sp>
      <p:sp>
        <p:nvSpPr>
          <p:cNvPr id="8" name="Shape 6"/>
          <p:cNvSpPr/>
          <p:nvPr/>
        </p:nvSpPr>
        <p:spPr>
          <a:xfrm>
            <a:off x="3379394" y="2103120"/>
            <a:ext cx="2602154" cy="2011680"/>
          </a:xfrm>
          <a:prstGeom prst="roundRect">
            <a:avLst>
              <a:gd name="adj" fmla="val 3636"/>
            </a:avLst>
          </a:prstGeom>
          <a:solidFill>
            <a:srgbClr val="FFFFFF"/>
          </a:solidFill>
          <a:ln w="19050">
            <a:solidFill>
              <a:srgbClr val="15171C"/>
            </a:solidFill>
            <a:prstDash val="solid"/>
          </a:ln>
        </p:spPr>
      </p:sp>
      <p:sp>
        <p:nvSpPr>
          <p:cNvPr id="9" name="Shape 7"/>
          <p:cNvSpPr/>
          <p:nvPr/>
        </p:nvSpPr>
        <p:spPr>
          <a:xfrm>
            <a:off x="3543986" y="2249424"/>
            <a:ext cx="2272970" cy="292608"/>
          </a:xfrm>
          <a:prstGeom prst="roundRect">
            <a:avLst>
              <a:gd name="adj" fmla="val 50000"/>
            </a:avLst>
          </a:prstGeom>
          <a:solidFill>
            <a:srgbClr val="E7EAFC"/>
          </a:solidFill>
          <a:ln/>
        </p:spPr>
      </p:sp>
      <p:sp>
        <p:nvSpPr>
          <p:cNvPr id="10" name="Text 8"/>
          <p:cNvSpPr txBox="1"/>
          <p:nvPr/>
        </p:nvSpPr>
        <p:spPr>
          <a:xfrm>
            <a:off x="3543986" y="224942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EN RED</a:t>
            </a:r>
            <a:endParaRPr lang="en-US" sz="1100" dirty="0"/>
          </a:p>
        </p:txBody>
      </p:sp>
      <p:sp>
        <p:nvSpPr>
          <p:cNvPr id="11" name="Text 9"/>
          <p:cNvSpPr txBox="1"/>
          <p:nvPr/>
        </p:nvSpPr>
        <p:spPr>
          <a:xfrm>
            <a:off x="3543986" y="2615184"/>
            <a:ext cx="2272970" cy="137160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Grafo: relaciones N:M entre nodos padre e hijo.</a:t>
            </a:r>
            <a:endParaRPr lang="en-US" sz="1150" dirty="0"/>
          </a:p>
        </p:txBody>
      </p:sp>
      <p:sp>
        <p:nvSpPr>
          <p:cNvPr id="12" name="Shape 10"/>
          <p:cNvSpPr/>
          <p:nvPr/>
        </p:nvSpPr>
        <p:spPr>
          <a:xfrm>
            <a:off x="6210148" y="2103120"/>
            <a:ext cx="2602154" cy="2011680"/>
          </a:xfrm>
          <a:prstGeom prst="roundRect">
            <a:avLst>
              <a:gd name="adj" fmla="val 3636"/>
            </a:avLst>
          </a:prstGeom>
          <a:solidFill>
            <a:srgbClr val="FFFFFF"/>
          </a:solidFill>
          <a:ln w="19050">
            <a:solidFill>
              <a:srgbClr val="15171C"/>
            </a:solidFill>
            <a:prstDash val="solid"/>
          </a:ln>
        </p:spPr>
      </p:sp>
      <p:sp>
        <p:nvSpPr>
          <p:cNvPr id="13" name="Shape 11"/>
          <p:cNvSpPr/>
          <p:nvPr/>
        </p:nvSpPr>
        <p:spPr>
          <a:xfrm>
            <a:off x="6374740" y="2249424"/>
            <a:ext cx="2272970" cy="292608"/>
          </a:xfrm>
          <a:prstGeom prst="roundRect">
            <a:avLst>
              <a:gd name="adj" fmla="val 50000"/>
            </a:avLst>
          </a:prstGeom>
          <a:solidFill>
            <a:srgbClr val="E7EAFC"/>
          </a:solidFill>
          <a:ln/>
        </p:spPr>
      </p:sp>
      <p:sp>
        <p:nvSpPr>
          <p:cNvPr id="14" name="Text 12"/>
          <p:cNvSpPr txBox="1"/>
          <p:nvPr/>
        </p:nvSpPr>
        <p:spPr>
          <a:xfrm>
            <a:off x="6374740" y="224942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RELACIONAL</a:t>
            </a:r>
            <a:endParaRPr lang="en-US" sz="1100" dirty="0"/>
          </a:p>
        </p:txBody>
      </p:sp>
      <p:sp>
        <p:nvSpPr>
          <p:cNvPr id="15" name="Text 13"/>
          <p:cNvSpPr txBox="1"/>
          <p:nvPr/>
        </p:nvSpPr>
        <p:spPr>
          <a:xfrm>
            <a:off x="6374740" y="2615184"/>
            <a:ext cx="2272970" cy="137160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Tablas bidimensionales relacionadas por campos. El más usado.</a:t>
            </a:r>
            <a:endParaRPr lang="en-US" sz="1150" dirty="0"/>
          </a:p>
        </p:txBody>
      </p:sp>
      <p:sp>
        <p:nvSpPr>
          <p:cNvPr id="16" name="Shape 14"/>
          <p:cNvSpPr/>
          <p:nvPr/>
        </p:nvSpPr>
        <p:spPr>
          <a:xfrm>
            <a:off x="9040901" y="2103120"/>
            <a:ext cx="2602154" cy="2011680"/>
          </a:xfrm>
          <a:prstGeom prst="roundRect">
            <a:avLst>
              <a:gd name="adj" fmla="val 3636"/>
            </a:avLst>
          </a:prstGeom>
          <a:solidFill>
            <a:srgbClr val="FFFFFF"/>
          </a:solidFill>
          <a:ln w="19050">
            <a:solidFill>
              <a:srgbClr val="15171C"/>
            </a:solidFill>
            <a:prstDash val="solid"/>
          </a:ln>
        </p:spPr>
      </p:sp>
      <p:sp>
        <p:nvSpPr>
          <p:cNvPr id="17" name="Shape 15"/>
          <p:cNvSpPr/>
          <p:nvPr/>
        </p:nvSpPr>
        <p:spPr>
          <a:xfrm>
            <a:off x="9205493" y="2249424"/>
            <a:ext cx="2272970" cy="292608"/>
          </a:xfrm>
          <a:prstGeom prst="roundRect">
            <a:avLst>
              <a:gd name="adj" fmla="val 50000"/>
            </a:avLst>
          </a:prstGeom>
          <a:solidFill>
            <a:srgbClr val="E7EAFC"/>
          </a:solidFill>
          <a:ln/>
        </p:spPr>
      </p:sp>
      <p:sp>
        <p:nvSpPr>
          <p:cNvPr id="18" name="Text 16"/>
          <p:cNvSpPr txBox="1"/>
          <p:nvPr/>
        </p:nvSpPr>
        <p:spPr>
          <a:xfrm>
            <a:off x="9205493" y="224942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ORIENTADO A OBJETOS</a:t>
            </a:r>
            <a:endParaRPr lang="en-US" sz="1100" dirty="0"/>
          </a:p>
        </p:txBody>
      </p:sp>
      <p:sp>
        <p:nvSpPr>
          <p:cNvPr id="19" name="Text 17"/>
          <p:cNvSpPr txBox="1"/>
          <p:nvPr/>
        </p:nvSpPr>
        <p:spPr>
          <a:xfrm>
            <a:off x="9205493" y="2615184"/>
            <a:ext cx="2272970" cy="137160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Tipos compuestos y herencia. Ingeniería, datos espaciales.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05 — TIPOS Y MODELOS DE DATOS (II)</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Multidimensional, NoSQL y ubicación</a:t>
            </a:r>
            <a:endParaRPr lang="en-US" sz="3000" dirty="0"/>
          </a:p>
        </p:txBody>
      </p:sp>
      <p:sp>
        <p:nvSpPr>
          <p:cNvPr id="4" name="Shape 2"/>
          <p:cNvSpPr/>
          <p:nvPr/>
        </p:nvSpPr>
        <p:spPr>
          <a:xfrm>
            <a:off x="548640" y="2011680"/>
            <a:ext cx="5432908" cy="1188720"/>
          </a:xfrm>
          <a:prstGeom prst="roundRect">
            <a:avLst>
              <a:gd name="adj" fmla="val 6154"/>
            </a:avLst>
          </a:prstGeom>
          <a:solidFill>
            <a:srgbClr val="FFFFFF"/>
          </a:solidFill>
          <a:ln w="19050">
            <a:solidFill>
              <a:srgbClr val="15171C"/>
            </a:solidFill>
            <a:prstDash val="solid"/>
          </a:ln>
        </p:spPr>
      </p:sp>
      <p:sp>
        <p:nvSpPr>
          <p:cNvPr id="5" name="Shape 3"/>
          <p:cNvSpPr/>
          <p:nvPr/>
        </p:nvSpPr>
        <p:spPr>
          <a:xfrm>
            <a:off x="713232" y="2157984"/>
            <a:ext cx="5103724" cy="292608"/>
          </a:xfrm>
          <a:prstGeom prst="roundRect">
            <a:avLst>
              <a:gd name="adj" fmla="val 50000"/>
            </a:avLst>
          </a:prstGeom>
          <a:solidFill>
            <a:srgbClr val="E7EAFC"/>
          </a:solidFill>
          <a:ln/>
        </p:spPr>
      </p:sp>
      <p:sp>
        <p:nvSpPr>
          <p:cNvPr id="6" name="Text 4"/>
          <p:cNvSpPr txBox="1"/>
          <p:nvPr/>
        </p:nvSpPr>
        <p:spPr>
          <a:xfrm>
            <a:off x="713232" y="215798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MULTIDIMENSIONAL</a:t>
            </a:r>
            <a:endParaRPr lang="en-US" sz="1100" dirty="0"/>
          </a:p>
        </p:txBody>
      </p:sp>
      <p:sp>
        <p:nvSpPr>
          <p:cNvPr id="7" name="Text 5"/>
          <p:cNvSpPr txBox="1"/>
          <p:nvPr/>
        </p:nvSpPr>
        <p:spPr>
          <a:xfrm>
            <a:off x="713232" y="2523744"/>
            <a:ext cx="5103724" cy="54864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Cubos de datos para Data Warehouse y OLAP.</a:t>
            </a:r>
            <a:endParaRPr lang="en-US" sz="1150" dirty="0"/>
          </a:p>
        </p:txBody>
      </p:sp>
      <p:sp>
        <p:nvSpPr>
          <p:cNvPr id="8" name="Shape 6"/>
          <p:cNvSpPr/>
          <p:nvPr/>
        </p:nvSpPr>
        <p:spPr>
          <a:xfrm>
            <a:off x="6210148" y="2011680"/>
            <a:ext cx="5432908" cy="1188720"/>
          </a:xfrm>
          <a:prstGeom prst="roundRect">
            <a:avLst>
              <a:gd name="adj" fmla="val 6154"/>
            </a:avLst>
          </a:prstGeom>
          <a:solidFill>
            <a:srgbClr val="FFFFFF"/>
          </a:solidFill>
          <a:ln w="19050">
            <a:solidFill>
              <a:srgbClr val="15171C"/>
            </a:solidFill>
            <a:prstDash val="solid"/>
          </a:ln>
        </p:spPr>
      </p:sp>
      <p:sp>
        <p:nvSpPr>
          <p:cNvPr id="9" name="Shape 7"/>
          <p:cNvSpPr/>
          <p:nvPr/>
        </p:nvSpPr>
        <p:spPr>
          <a:xfrm>
            <a:off x="6374740" y="2157984"/>
            <a:ext cx="5103724" cy="292608"/>
          </a:xfrm>
          <a:prstGeom prst="roundRect">
            <a:avLst>
              <a:gd name="adj" fmla="val 50000"/>
            </a:avLst>
          </a:prstGeom>
          <a:solidFill>
            <a:srgbClr val="E7EAFC"/>
          </a:solidFill>
          <a:ln/>
        </p:spPr>
      </p:sp>
      <p:sp>
        <p:nvSpPr>
          <p:cNvPr id="10" name="Text 8"/>
          <p:cNvSpPr txBox="1"/>
          <p:nvPr/>
        </p:nvSpPr>
        <p:spPr>
          <a:xfrm>
            <a:off x="6374740" y="215798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NoSQL</a:t>
            </a:r>
            <a:endParaRPr lang="en-US" sz="1100" dirty="0"/>
          </a:p>
        </p:txBody>
      </p:sp>
      <p:sp>
        <p:nvSpPr>
          <p:cNvPr id="11" name="Text 9"/>
          <p:cNvSpPr txBox="1"/>
          <p:nvPr/>
        </p:nvSpPr>
        <p:spPr>
          <a:xfrm>
            <a:off x="6374740" y="2523744"/>
            <a:ext cx="5103724" cy="54864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Clave-valor, documental, grafos, columnar.</a:t>
            </a:r>
            <a:endParaRPr lang="en-US" sz="1150" dirty="0"/>
          </a:p>
        </p:txBody>
      </p:sp>
      <p:sp>
        <p:nvSpPr>
          <p:cNvPr id="12" name="Text 10"/>
          <p:cNvSpPr txBox="1"/>
          <p:nvPr/>
        </p:nvSpPr>
        <p:spPr>
          <a:xfrm>
            <a:off x="548640" y="3566160"/>
            <a:ext cx="5364328" cy="365760"/>
          </a:xfrm>
          <a:prstGeom prst="rect">
            <a:avLst/>
          </a:prstGeom>
          <a:noFill/>
          <a:ln/>
        </p:spPr>
        <p:txBody>
          <a:bodyPr wrap="square" lIns="0" tIns="0" rIns="0" bIns="0" rtlCol="0" anchor="ctr"/>
          <a:lstStyle/>
          <a:p>
            <a:pPr indent="0" marL="0">
              <a:buNone/>
            </a:pPr>
            <a:r>
              <a:rPr lang="en-US" sz="1300" b="1" spc="50" kern="0" dirty="0">
                <a:solidFill>
                  <a:srgbClr val="15171C"/>
                </a:solidFill>
                <a:latin typeface="Calibri" pitchFamily="34" charset="0"/>
                <a:ea typeface="Calibri" pitchFamily="34" charset="-122"/>
                <a:cs typeface="Calibri" pitchFamily="34" charset="-120"/>
              </a:rPr>
              <a:t>CENTRALIZADA</a:t>
            </a:r>
            <a:endParaRPr lang="en-US" sz="1300" dirty="0"/>
          </a:p>
        </p:txBody>
      </p:sp>
      <p:sp>
        <p:nvSpPr>
          <p:cNvPr id="13" name="Text 11"/>
          <p:cNvSpPr txBox="1"/>
          <p:nvPr/>
        </p:nvSpPr>
        <p:spPr>
          <a:xfrm>
            <a:off x="548640" y="3977640"/>
            <a:ext cx="5364328" cy="1234440"/>
          </a:xfrm>
          <a:prstGeom prst="rect">
            <a:avLst/>
          </a:prstGeom>
          <a:noFill/>
          <a:ln/>
        </p:spPr>
        <p:txBody>
          <a:bodyPr wrap="square" lIns="0" tIns="0" rIns="0" bIns="0" rtlCol="0" anchor="t"/>
          <a:lstStyle/>
          <a:p>
            <a:pPr indent="0" marL="0">
              <a:buNone/>
            </a:pPr>
            <a:r>
              <a:rPr lang="en-US" sz="1250" dirty="0">
                <a:solidFill>
                  <a:srgbClr val="4B4F58"/>
                </a:solidFill>
                <a:latin typeface="Calibri" pitchFamily="34" charset="0"/>
                <a:ea typeface="Calibri" pitchFamily="34" charset="-122"/>
                <a:cs typeface="Calibri" pitchFamily="34" charset="-120"/>
              </a:rPr>
              <a:t>Un único servidor: Access, MySQL, PostgreSQL, Oracle.</a:t>
            </a:r>
            <a:endParaRPr lang="en-US" sz="1250" dirty="0"/>
          </a:p>
        </p:txBody>
      </p:sp>
      <p:sp>
        <p:nvSpPr>
          <p:cNvPr id="14" name="Text 12"/>
          <p:cNvSpPr txBox="1"/>
          <p:nvPr/>
        </p:nvSpPr>
        <p:spPr>
          <a:xfrm>
            <a:off x="6278728" y="3566160"/>
            <a:ext cx="5364328" cy="365760"/>
          </a:xfrm>
          <a:prstGeom prst="rect">
            <a:avLst/>
          </a:prstGeom>
          <a:noFill/>
          <a:ln/>
        </p:spPr>
        <p:txBody>
          <a:bodyPr wrap="square" lIns="0" tIns="0" rIns="0" bIns="0" rtlCol="0" anchor="ctr"/>
          <a:lstStyle/>
          <a:p>
            <a:pPr indent="0" marL="0">
              <a:buNone/>
            </a:pPr>
            <a:r>
              <a:rPr lang="en-US" sz="1300" b="1" spc="50" kern="0" dirty="0">
                <a:solidFill>
                  <a:srgbClr val="15171C"/>
                </a:solidFill>
                <a:latin typeface="Calibri" pitchFamily="34" charset="0"/>
                <a:ea typeface="Calibri" pitchFamily="34" charset="-122"/>
                <a:cs typeface="Calibri" pitchFamily="34" charset="-120"/>
              </a:rPr>
              <a:t>DISTRIBUIDA</a:t>
            </a:r>
            <a:endParaRPr lang="en-US" sz="1300" dirty="0"/>
          </a:p>
        </p:txBody>
      </p:sp>
      <p:sp>
        <p:nvSpPr>
          <p:cNvPr id="15" name="Text 13"/>
          <p:cNvSpPr txBox="1"/>
          <p:nvPr/>
        </p:nvSpPr>
        <p:spPr>
          <a:xfrm>
            <a:off x="6278728" y="3977640"/>
            <a:ext cx="5364328" cy="1234440"/>
          </a:xfrm>
          <a:prstGeom prst="rect">
            <a:avLst/>
          </a:prstGeom>
          <a:noFill/>
          <a:ln/>
        </p:spPr>
        <p:txBody>
          <a:bodyPr wrap="square" lIns="0" tIns="0" rIns="0" bIns="0" rtlCol="0" anchor="t"/>
          <a:lstStyle/>
          <a:p>
            <a:pPr indent="0" marL="0">
              <a:buNone/>
            </a:pPr>
            <a:r>
              <a:rPr lang="en-US" sz="1250" dirty="0">
                <a:solidFill>
                  <a:srgbClr val="4B4F58"/>
                </a:solidFill>
                <a:latin typeface="Calibri" pitchFamily="34" charset="0"/>
                <a:ea typeface="Calibri" pitchFamily="34" charset="-122"/>
                <a:cs typeface="Calibri" pitchFamily="34" charset="-120"/>
              </a:rPr>
              <a:t>Repartida en varias máquinas: Oracle Cloud, MongoDB, Redis.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06 — EL SISTEMA GESTOR DE BASES DE DATOS</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BD ≠ SGBD</a:t>
            </a:r>
            <a:endParaRPr lang="en-US" sz="3000" dirty="0"/>
          </a:p>
        </p:txBody>
      </p:sp>
      <p:sp>
        <p:nvSpPr>
          <p:cNvPr id="4" name="Text 2"/>
          <p:cNvSpPr txBox="1"/>
          <p:nvPr/>
        </p:nvSpPr>
        <p:spPr>
          <a:xfrm>
            <a:off x="548640" y="1920240"/>
            <a:ext cx="11094415" cy="914400"/>
          </a:xfrm>
          <a:prstGeom prst="rect">
            <a:avLst/>
          </a:prstGeom>
          <a:noFill/>
          <a:ln/>
        </p:spPr>
        <p:txBody>
          <a:bodyPr wrap="square" lIns="0" tIns="0" rIns="0" bIns="0" rtlCol="0" anchor="t"/>
          <a:lstStyle/>
          <a:p>
            <a:pPr indent="0" marL="0">
              <a:buNone/>
            </a:pPr>
            <a:r>
              <a:rPr lang="en-US" sz="1500" dirty="0">
                <a:solidFill>
                  <a:srgbClr val="4B4F58"/>
                </a:solidFill>
                <a:latin typeface="Calibri" pitchFamily="34" charset="0"/>
                <a:ea typeface="Calibri" pitchFamily="34" charset="-122"/>
                <a:cs typeface="Calibri" pitchFamily="34" charset="-120"/>
              </a:rPr>
              <a:t>La </a:t>
            </a:r>
            <a:pPr indent="0" marL="0">
              <a:buNone/>
            </a:pPr>
            <a:r>
              <a:rPr lang="en-US" sz="1500" b="1" dirty="0">
                <a:solidFill>
                  <a:srgbClr val="4B4F58"/>
                </a:solidFill>
                <a:latin typeface="Calibri" pitchFamily="34" charset="0"/>
                <a:ea typeface="Calibri" pitchFamily="34" charset="-122"/>
                <a:cs typeface="Calibri" pitchFamily="34" charset="-120"/>
              </a:rPr>
              <a:t>base de datos</a:t>
            </a:r>
            <a:pPr indent="0" marL="0">
              <a:buNone/>
            </a:pPr>
            <a:r>
              <a:rPr lang="en-US" sz="1500" dirty="0">
                <a:solidFill>
                  <a:srgbClr val="4B4F58"/>
                </a:solidFill>
                <a:latin typeface="Calibri" pitchFamily="34" charset="0"/>
                <a:ea typeface="Calibri" pitchFamily="34" charset="-122"/>
                <a:cs typeface="Calibri" pitchFamily="34" charset="-120"/>
              </a:rPr>
              <a:t> es la información organizada; el </a:t>
            </a:r>
            <a:pPr indent="0" marL="0">
              <a:buNone/>
            </a:pPr>
            <a:r>
              <a:rPr lang="en-US" sz="1500" b="1" dirty="0">
                <a:solidFill>
                  <a:srgbClr val="4B4F58"/>
                </a:solidFill>
                <a:latin typeface="Calibri" pitchFamily="34" charset="0"/>
                <a:ea typeface="Calibri" pitchFamily="34" charset="-122"/>
                <a:cs typeface="Calibri" pitchFamily="34" charset="-120"/>
              </a:rPr>
              <a:t>SGBD</a:t>
            </a:r>
            <a:pPr indent="0" marL="0">
              <a:buNone/>
            </a:pPr>
            <a:r>
              <a:rPr lang="en-US" sz="1500" dirty="0">
                <a:solidFill>
                  <a:srgbClr val="4B4F58"/>
                </a:solidFill>
                <a:latin typeface="Calibri" pitchFamily="34" charset="0"/>
                <a:ea typeface="Calibri" pitchFamily="34" charset="-122"/>
                <a:cs typeface="Calibri" pitchFamily="34" charset="-120"/>
              </a:rPr>
              <a:t> es el software que la crea, manipula y administra. Oracle, MySQL, MariaDB, Access, MongoDB y PostgreSQL son SGBD.</a:t>
            </a:r>
            <a:endParaRPr lang="en-US" sz="1500" dirty="0"/>
          </a:p>
        </p:txBody>
      </p:sp>
      <p:sp>
        <p:nvSpPr>
          <p:cNvPr id="5" name="Shape 3"/>
          <p:cNvSpPr/>
          <p:nvPr/>
        </p:nvSpPr>
        <p:spPr>
          <a:xfrm>
            <a:off x="548640" y="3017520"/>
            <a:ext cx="5432908" cy="2011680"/>
          </a:xfrm>
          <a:prstGeom prst="roundRect">
            <a:avLst>
              <a:gd name="adj" fmla="val 3636"/>
            </a:avLst>
          </a:prstGeom>
          <a:solidFill>
            <a:srgbClr val="FFFFFF"/>
          </a:solidFill>
          <a:ln w="19050">
            <a:solidFill>
              <a:srgbClr val="15171C"/>
            </a:solidFill>
            <a:prstDash val="solid"/>
          </a:ln>
        </p:spPr>
      </p:sp>
      <p:sp>
        <p:nvSpPr>
          <p:cNvPr id="6" name="Shape 4"/>
          <p:cNvSpPr/>
          <p:nvPr/>
        </p:nvSpPr>
        <p:spPr>
          <a:xfrm>
            <a:off x="713232" y="3163824"/>
            <a:ext cx="5103724" cy="292608"/>
          </a:xfrm>
          <a:prstGeom prst="roundRect">
            <a:avLst>
              <a:gd name="adj" fmla="val 50000"/>
            </a:avLst>
          </a:prstGeom>
          <a:solidFill>
            <a:srgbClr val="E7EAFC"/>
          </a:solidFill>
          <a:ln/>
        </p:spPr>
      </p:sp>
      <p:sp>
        <p:nvSpPr>
          <p:cNvPr id="7" name="Text 5"/>
          <p:cNvSpPr txBox="1"/>
          <p:nvPr/>
        </p:nvSpPr>
        <p:spPr>
          <a:xfrm>
            <a:off x="713232" y="316382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FUNCIONES</a:t>
            </a:r>
            <a:endParaRPr lang="en-US" sz="1100" dirty="0"/>
          </a:p>
        </p:txBody>
      </p:sp>
      <p:sp>
        <p:nvSpPr>
          <p:cNvPr id="8" name="Text 6"/>
          <p:cNvSpPr txBox="1"/>
          <p:nvPr/>
        </p:nvSpPr>
        <p:spPr>
          <a:xfrm>
            <a:off x="713232" y="3529584"/>
            <a:ext cx="5103724" cy="137160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Independencia de datos · seguridad · integridad y transacciones · acceso concurrente · copias de seguridad.</a:t>
            </a:r>
            <a:endParaRPr lang="en-US" sz="1150" dirty="0"/>
          </a:p>
        </p:txBody>
      </p:sp>
      <p:sp>
        <p:nvSpPr>
          <p:cNvPr id="9" name="Shape 7"/>
          <p:cNvSpPr/>
          <p:nvPr/>
        </p:nvSpPr>
        <p:spPr>
          <a:xfrm>
            <a:off x="6210148" y="3017520"/>
            <a:ext cx="5432908" cy="2011680"/>
          </a:xfrm>
          <a:prstGeom prst="roundRect">
            <a:avLst>
              <a:gd name="adj" fmla="val 3636"/>
            </a:avLst>
          </a:prstGeom>
          <a:solidFill>
            <a:srgbClr val="FFFFFF"/>
          </a:solidFill>
          <a:ln w="19050">
            <a:solidFill>
              <a:srgbClr val="15171C"/>
            </a:solidFill>
            <a:prstDash val="solid"/>
          </a:ln>
        </p:spPr>
      </p:sp>
      <p:sp>
        <p:nvSpPr>
          <p:cNvPr id="10" name="Shape 8"/>
          <p:cNvSpPr/>
          <p:nvPr/>
        </p:nvSpPr>
        <p:spPr>
          <a:xfrm>
            <a:off x="6374740" y="3163824"/>
            <a:ext cx="5103724" cy="292608"/>
          </a:xfrm>
          <a:prstGeom prst="roundRect">
            <a:avLst>
              <a:gd name="adj" fmla="val 50000"/>
            </a:avLst>
          </a:prstGeom>
          <a:solidFill>
            <a:srgbClr val="E7EAFC"/>
          </a:solidFill>
          <a:ln/>
        </p:spPr>
      </p:sp>
      <p:sp>
        <p:nvSpPr>
          <p:cNvPr id="11" name="Text 9"/>
          <p:cNvSpPr txBox="1"/>
          <p:nvPr/>
        </p:nvSpPr>
        <p:spPr>
          <a:xfrm>
            <a:off x="6374740" y="316382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COMPONENTES</a:t>
            </a:r>
            <a:endParaRPr lang="en-US" sz="1100" dirty="0"/>
          </a:p>
        </p:txBody>
      </p:sp>
      <p:sp>
        <p:nvSpPr>
          <p:cNvPr id="12" name="Text 10"/>
          <p:cNvSpPr txBox="1"/>
          <p:nvPr/>
        </p:nvSpPr>
        <p:spPr>
          <a:xfrm>
            <a:off x="6374740" y="3529584"/>
            <a:ext cx="5103724" cy="137160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Diccionario de datos · espacio de datos · herramientas de administración (DBA).</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06 — LAS CUATRO PROPIEDADES DEL SGBD</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ACID</a:t>
            </a:r>
            <a:endParaRPr lang="en-US" sz="3000" dirty="0"/>
          </a:p>
        </p:txBody>
      </p:sp>
      <p:sp>
        <p:nvSpPr>
          <p:cNvPr id="4" name="Shape 2"/>
          <p:cNvSpPr/>
          <p:nvPr/>
        </p:nvSpPr>
        <p:spPr>
          <a:xfrm>
            <a:off x="548640" y="2194560"/>
            <a:ext cx="2602154" cy="2194560"/>
          </a:xfrm>
          <a:prstGeom prst="roundRect">
            <a:avLst>
              <a:gd name="adj" fmla="val 3333"/>
            </a:avLst>
          </a:prstGeom>
          <a:solidFill>
            <a:srgbClr val="FFFFFF"/>
          </a:solidFill>
          <a:ln w="19050">
            <a:solidFill>
              <a:srgbClr val="15171C"/>
            </a:solidFill>
            <a:prstDash val="solid"/>
          </a:ln>
        </p:spPr>
      </p:sp>
      <p:sp>
        <p:nvSpPr>
          <p:cNvPr id="5" name="Shape 3"/>
          <p:cNvSpPr/>
          <p:nvPr/>
        </p:nvSpPr>
        <p:spPr>
          <a:xfrm>
            <a:off x="1598257" y="2395728"/>
            <a:ext cx="502920" cy="502920"/>
          </a:xfrm>
          <a:prstGeom prst="ellipse">
            <a:avLst/>
          </a:prstGeom>
          <a:solidFill>
            <a:srgbClr val="1B39E6"/>
          </a:solidFill>
          <a:ln/>
        </p:spPr>
      </p:sp>
      <p:sp>
        <p:nvSpPr>
          <p:cNvPr id="6" name="Text 4"/>
          <p:cNvSpPr txBox="1"/>
          <p:nvPr/>
        </p:nvSpPr>
        <p:spPr>
          <a:xfrm>
            <a:off x="1598257" y="23957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a:t>
            </a:r>
            <a:endParaRPr lang="en-US" sz="1650" dirty="0"/>
          </a:p>
        </p:txBody>
      </p:sp>
      <p:sp>
        <p:nvSpPr>
          <p:cNvPr id="7" name="Text 5"/>
          <p:cNvSpPr txBox="1"/>
          <p:nvPr/>
        </p:nvSpPr>
        <p:spPr>
          <a:xfrm>
            <a:off x="685800" y="3063240"/>
            <a:ext cx="2327834" cy="365760"/>
          </a:xfrm>
          <a:prstGeom prst="rect">
            <a:avLst/>
          </a:prstGeom>
          <a:noFill/>
          <a:ln/>
        </p:spPr>
        <p:txBody>
          <a:bodyPr wrap="square" lIns="0" tIns="0" rIns="0" bIns="0" rtlCol="0" anchor="ctr"/>
          <a:lstStyle/>
          <a:p>
            <a:pPr algn="ctr" indent="0" marL="0">
              <a:buNone/>
            </a:pPr>
            <a:r>
              <a:rPr lang="en-US" sz="1400" b="1" dirty="0">
                <a:solidFill>
                  <a:srgbClr val="15171C"/>
                </a:solidFill>
                <a:latin typeface="Arial" pitchFamily="34" charset="0"/>
                <a:ea typeface="Arial" pitchFamily="34" charset="-122"/>
                <a:cs typeface="Arial" pitchFamily="34" charset="-120"/>
              </a:rPr>
              <a:t>Atomicidad</a:t>
            </a:r>
            <a:endParaRPr lang="en-US" sz="1400" dirty="0"/>
          </a:p>
        </p:txBody>
      </p:sp>
      <p:sp>
        <p:nvSpPr>
          <p:cNvPr id="8" name="Text 6"/>
          <p:cNvSpPr txBox="1"/>
          <p:nvPr/>
        </p:nvSpPr>
        <p:spPr>
          <a:xfrm>
            <a:off x="713232" y="3474720"/>
            <a:ext cx="2272970" cy="777240"/>
          </a:xfrm>
          <a:prstGeom prst="rect">
            <a:avLst/>
          </a:prstGeom>
          <a:noFill/>
          <a:ln/>
        </p:spPr>
        <p:txBody>
          <a:bodyPr wrap="square" lIns="0" tIns="0" rIns="0" bIns="0" rtlCol="0" anchor="t"/>
          <a:lstStyle/>
          <a:p>
            <a:pPr algn="ctr" indent="0" marL="0">
              <a:buNone/>
            </a:pPr>
            <a:r>
              <a:rPr lang="en-US" sz="1100" dirty="0">
                <a:solidFill>
                  <a:srgbClr val="4B4F58"/>
                </a:solidFill>
                <a:latin typeface="Calibri" pitchFamily="34" charset="0"/>
                <a:ea typeface="Calibri" pitchFamily="34" charset="-122"/>
                <a:cs typeface="Calibri" pitchFamily="34" charset="-120"/>
              </a:rPr>
              <a:t>Todas las operaciones se ejecutan, o ninguna.</a:t>
            </a:r>
            <a:endParaRPr lang="en-US" sz="1100" dirty="0"/>
          </a:p>
        </p:txBody>
      </p:sp>
      <p:sp>
        <p:nvSpPr>
          <p:cNvPr id="9" name="Shape 7"/>
          <p:cNvSpPr/>
          <p:nvPr/>
        </p:nvSpPr>
        <p:spPr>
          <a:xfrm>
            <a:off x="3379394" y="2194560"/>
            <a:ext cx="2602154" cy="2194560"/>
          </a:xfrm>
          <a:prstGeom prst="roundRect">
            <a:avLst>
              <a:gd name="adj" fmla="val 3333"/>
            </a:avLst>
          </a:prstGeom>
          <a:solidFill>
            <a:srgbClr val="FFFFFF"/>
          </a:solidFill>
          <a:ln w="19050">
            <a:solidFill>
              <a:srgbClr val="15171C"/>
            </a:solidFill>
            <a:prstDash val="solid"/>
          </a:ln>
        </p:spPr>
      </p:sp>
      <p:sp>
        <p:nvSpPr>
          <p:cNvPr id="10" name="Shape 8"/>
          <p:cNvSpPr/>
          <p:nvPr/>
        </p:nvSpPr>
        <p:spPr>
          <a:xfrm>
            <a:off x="4429011" y="2395728"/>
            <a:ext cx="502920" cy="502920"/>
          </a:xfrm>
          <a:prstGeom prst="ellipse">
            <a:avLst/>
          </a:prstGeom>
          <a:solidFill>
            <a:srgbClr val="1B39E6"/>
          </a:solidFill>
          <a:ln/>
        </p:spPr>
      </p:sp>
      <p:sp>
        <p:nvSpPr>
          <p:cNvPr id="11" name="Text 9"/>
          <p:cNvSpPr txBox="1"/>
          <p:nvPr/>
        </p:nvSpPr>
        <p:spPr>
          <a:xfrm>
            <a:off x="4429011" y="23957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C</a:t>
            </a:r>
            <a:endParaRPr lang="en-US" sz="1650" dirty="0"/>
          </a:p>
        </p:txBody>
      </p:sp>
      <p:sp>
        <p:nvSpPr>
          <p:cNvPr id="12" name="Text 10"/>
          <p:cNvSpPr txBox="1"/>
          <p:nvPr/>
        </p:nvSpPr>
        <p:spPr>
          <a:xfrm>
            <a:off x="3516554" y="3063240"/>
            <a:ext cx="2327834" cy="365760"/>
          </a:xfrm>
          <a:prstGeom prst="rect">
            <a:avLst/>
          </a:prstGeom>
          <a:noFill/>
          <a:ln/>
        </p:spPr>
        <p:txBody>
          <a:bodyPr wrap="square" lIns="0" tIns="0" rIns="0" bIns="0" rtlCol="0" anchor="ctr"/>
          <a:lstStyle/>
          <a:p>
            <a:pPr algn="ctr" indent="0" marL="0">
              <a:buNone/>
            </a:pPr>
            <a:r>
              <a:rPr lang="en-US" sz="1400" b="1" dirty="0">
                <a:solidFill>
                  <a:srgbClr val="15171C"/>
                </a:solidFill>
                <a:latin typeface="Arial" pitchFamily="34" charset="0"/>
                <a:ea typeface="Arial" pitchFamily="34" charset="-122"/>
                <a:cs typeface="Arial" pitchFamily="34" charset="-120"/>
              </a:rPr>
              <a:t>Consistencia</a:t>
            </a:r>
            <a:endParaRPr lang="en-US" sz="1400" dirty="0"/>
          </a:p>
        </p:txBody>
      </p:sp>
      <p:sp>
        <p:nvSpPr>
          <p:cNvPr id="13" name="Text 11"/>
          <p:cNvSpPr txBox="1"/>
          <p:nvPr/>
        </p:nvSpPr>
        <p:spPr>
          <a:xfrm>
            <a:off x="3543986" y="3474720"/>
            <a:ext cx="2272970" cy="777240"/>
          </a:xfrm>
          <a:prstGeom prst="rect">
            <a:avLst/>
          </a:prstGeom>
          <a:noFill/>
          <a:ln/>
        </p:spPr>
        <p:txBody>
          <a:bodyPr wrap="square" lIns="0" tIns="0" rIns="0" bIns="0" rtlCol="0" anchor="t"/>
          <a:lstStyle/>
          <a:p>
            <a:pPr algn="ctr" indent="0" marL="0">
              <a:buNone/>
            </a:pPr>
            <a:r>
              <a:rPr lang="en-US" sz="1100" dirty="0">
                <a:solidFill>
                  <a:srgbClr val="4B4F58"/>
                </a:solidFill>
                <a:latin typeface="Calibri" pitchFamily="34" charset="0"/>
                <a:ea typeface="Calibri" pitchFamily="34" charset="-122"/>
                <a:cs typeface="Calibri" pitchFamily="34" charset="-120"/>
              </a:rPr>
              <a:t>De un estado válido a otro estado válido.</a:t>
            </a:r>
            <a:endParaRPr lang="en-US" sz="1100" dirty="0"/>
          </a:p>
        </p:txBody>
      </p:sp>
      <p:sp>
        <p:nvSpPr>
          <p:cNvPr id="14" name="Shape 12"/>
          <p:cNvSpPr/>
          <p:nvPr/>
        </p:nvSpPr>
        <p:spPr>
          <a:xfrm>
            <a:off x="6210148" y="2194560"/>
            <a:ext cx="2602154" cy="2194560"/>
          </a:xfrm>
          <a:prstGeom prst="roundRect">
            <a:avLst>
              <a:gd name="adj" fmla="val 3333"/>
            </a:avLst>
          </a:prstGeom>
          <a:solidFill>
            <a:srgbClr val="FFFFFF"/>
          </a:solidFill>
          <a:ln w="19050">
            <a:solidFill>
              <a:srgbClr val="15171C"/>
            </a:solidFill>
            <a:prstDash val="solid"/>
          </a:ln>
        </p:spPr>
      </p:sp>
      <p:sp>
        <p:nvSpPr>
          <p:cNvPr id="15" name="Shape 13"/>
          <p:cNvSpPr/>
          <p:nvPr/>
        </p:nvSpPr>
        <p:spPr>
          <a:xfrm>
            <a:off x="7259765" y="2395728"/>
            <a:ext cx="502920" cy="502920"/>
          </a:xfrm>
          <a:prstGeom prst="ellipse">
            <a:avLst/>
          </a:prstGeom>
          <a:solidFill>
            <a:srgbClr val="1B39E6"/>
          </a:solidFill>
          <a:ln/>
        </p:spPr>
      </p:sp>
      <p:sp>
        <p:nvSpPr>
          <p:cNvPr id="16" name="Text 14"/>
          <p:cNvSpPr txBox="1"/>
          <p:nvPr/>
        </p:nvSpPr>
        <p:spPr>
          <a:xfrm>
            <a:off x="7259765" y="23957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I</a:t>
            </a:r>
            <a:endParaRPr lang="en-US" sz="1650" dirty="0"/>
          </a:p>
        </p:txBody>
      </p:sp>
      <p:sp>
        <p:nvSpPr>
          <p:cNvPr id="17" name="Text 15"/>
          <p:cNvSpPr txBox="1"/>
          <p:nvPr/>
        </p:nvSpPr>
        <p:spPr>
          <a:xfrm>
            <a:off x="6347308" y="3063240"/>
            <a:ext cx="2327834" cy="365760"/>
          </a:xfrm>
          <a:prstGeom prst="rect">
            <a:avLst/>
          </a:prstGeom>
          <a:noFill/>
          <a:ln/>
        </p:spPr>
        <p:txBody>
          <a:bodyPr wrap="square" lIns="0" tIns="0" rIns="0" bIns="0" rtlCol="0" anchor="ctr"/>
          <a:lstStyle/>
          <a:p>
            <a:pPr algn="ctr" indent="0" marL="0">
              <a:buNone/>
            </a:pPr>
            <a:r>
              <a:rPr lang="en-US" sz="1400" b="1" dirty="0">
                <a:solidFill>
                  <a:srgbClr val="15171C"/>
                </a:solidFill>
                <a:latin typeface="Arial" pitchFamily="34" charset="0"/>
                <a:ea typeface="Arial" pitchFamily="34" charset="-122"/>
                <a:cs typeface="Arial" pitchFamily="34" charset="-120"/>
              </a:rPr>
              <a:t>Aislamiento</a:t>
            </a:r>
            <a:endParaRPr lang="en-US" sz="1400" dirty="0"/>
          </a:p>
        </p:txBody>
      </p:sp>
      <p:sp>
        <p:nvSpPr>
          <p:cNvPr id="18" name="Text 16"/>
          <p:cNvSpPr txBox="1"/>
          <p:nvPr/>
        </p:nvSpPr>
        <p:spPr>
          <a:xfrm>
            <a:off x="6374740" y="3474720"/>
            <a:ext cx="2272970" cy="777240"/>
          </a:xfrm>
          <a:prstGeom prst="rect">
            <a:avLst/>
          </a:prstGeom>
          <a:noFill/>
          <a:ln/>
        </p:spPr>
        <p:txBody>
          <a:bodyPr wrap="square" lIns="0" tIns="0" rIns="0" bIns="0" rtlCol="0" anchor="t"/>
          <a:lstStyle/>
          <a:p>
            <a:pPr algn="ctr" indent="0" marL="0">
              <a:buNone/>
            </a:pPr>
            <a:r>
              <a:rPr lang="en-US" sz="1100" dirty="0">
                <a:solidFill>
                  <a:srgbClr val="4B4F58"/>
                </a:solidFill>
                <a:latin typeface="Calibri" pitchFamily="34" charset="0"/>
                <a:ea typeface="Calibri" pitchFamily="34" charset="-122"/>
                <a:cs typeface="Calibri" pitchFamily="34" charset="-120"/>
              </a:rPr>
              <a:t>Ninguna transacción ve el resultado de otra en curso.</a:t>
            </a:r>
            <a:endParaRPr lang="en-US" sz="1100" dirty="0"/>
          </a:p>
        </p:txBody>
      </p:sp>
      <p:sp>
        <p:nvSpPr>
          <p:cNvPr id="19" name="Shape 17"/>
          <p:cNvSpPr/>
          <p:nvPr/>
        </p:nvSpPr>
        <p:spPr>
          <a:xfrm>
            <a:off x="9040901" y="2194560"/>
            <a:ext cx="2602154" cy="2194560"/>
          </a:xfrm>
          <a:prstGeom prst="roundRect">
            <a:avLst>
              <a:gd name="adj" fmla="val 3333"/>
            </a:avLst>
          </a:prstGeom>
          <a:solidFill>
            <a:srgbClr val="FFFFFF"/>
          </a:solidFill>
          <a:ln w="19050">
            <a:solidFill>
              <a:srgbClr val="15171C"/>
            </a:solidFill>
            <a:prstDash val="solid"/>
          </a:ln>
        </p:spPr>
      </p:sp>
      <p:sp>
        <p:nvSpPr>
          <p:cNvPr id="20" name="Shape 18"/>
          <p:cNvSpPr/>
          <p:nvPr/>
        </p:nvSpPr>
        <p:spPr>
          <a:xfrm>
            <a:off x="10090518" y="2395728"/>
            <a:ext cx="502920" cy="502920"/>
          </a:xfrm>
          <a:prstGeom prst="ellipse">
            <a:avLst/>
          </a:prstGeom>
          <a:solidFill>
            <a:srgbClr val="1B39E6"/>
          </a:solidFill>
          <a:ln/>
        </p:spPr>
      </p:sp>
      <p:sp>
        <p:nvSpPr>
          <p:cNvPr id="21" name="Text 19"/>
          <p:cNvSpPr txBox="1"/>
          <p:nvPr/>
        </p:nvSpPr>
        <p:spPr>
          <a:xfrm>
            <a:off x="10090518" y="2395728"/>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D</a:t>
            </a:r>
            <a:endParaRPr lang="en-US" sz="1650" dirty="0"/>
          </a:p>
        </p:txBody>
      </p:sp>
      <p:sp>
        <p:nvSpPr>
          <p:cNvPr id="22" name="Text 20"/>
          <p:cNvSpPr txBox="1"/>
          <p:nvPr/>
        </p:nvSpPr>
        <p:spPr>
          <a:xfrm>
            <a:off x="9178061" y="3063240"/>
            <a:ext cx="2327834" cy="365760"/>
          </a:xfrm>
          <a:prstGeom prst="rect">
            <a:avLst/>
          </a:prstGeom>
          <a:noFill/>
          <a:ln/>
        </p:spPr>
        <p:txBody>
          <a:bodyPr wrap="square" lIns="0" tIns="0" rIns="0" bIns="0" rtlCol="0" anchor="ctr"/>
          <a:lstStyle/>
          <a:p>
            <a:pPr algn="ctr" indent="0" marL="0">
              <a:buNone/>
            </a:pPr>
            <a:r>
              <a:rPr lang="en-US" sz="1400" b="1" dirty="0">
                <a:solidFill>
                  <a:srgbClr val="15171C"/>
                </a:solidFill>
                <a:latin typeface="Arial" pitchFamily="34" charset="0"/>
                <a:ea typeface="Arial" pitchFamily="34" charset="-122"/>
                <a:cs typeface="Arial" pitchFamily="34" charset="-120"/>
              </a:rPr>
              <a:t>Durabilidad</a:t>
            </a:r>
            <a:endParaRPr lang="en-US" sz="1400" dirty="0"/>
          </a:p>
        </p:txBody>
      </p:sp>
      <p:sp>
        <p:nvSpPr>
          <p:cNvPr id="23" name="Text 21"/>
          <p:cNvSpPr txBox="1"/>
          <p:nvPr/>
        </p:nvSpPr>
        <p:spPr>
          <a:xfrm>
            <a:off x="9205493" y="3474720"/>
            <a:ext cx="2272970" cy="777240"/>
          </a:xfrm>
          <a:prstGeom prst="rect">
            <a:avLst/>
          </a:prstGeom>
          <a:noFill/>
          <a:ln/>
        </p:spPr>
        <p:txBody>
          <a:bodyPr wrap="square" lIns="0" tIns="0" rIns="0" bIns="0" rtlCol="0" anchor="t"/>
          <a:lstStyle/>
          <a:p>
            <a:pPr algn="ctr" indent="0" marL="0">
              <a:buNone/>
            </a:pPr>
            <a:r>
              <a:rPr lang="en-US" sz="1100" dirty="0">
                <a:solidFill>
                  <a:srgbClr val="4B4F58"/>
                </a:solidFill>
                <a:latin typeface="Calibri" pitchFamily="34" charset="0"/>
                <a:ea typeface="Calibri" pitchFamily="34" charset="-122"/>
                <a:cs typeface="Calibri" pitchFamily="34" charset="-120"/>
              </a:rPr>
              <a:t>Confirmada la operación, no se pierde.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914400"/>
            <a:ext cx="3108960" cy="3108960"/>
          </a:xfrm>
          <a:prstGeom prst="ellipse">
            <a:avLst/>
          </a:prstGeom>
          <a:solidFill>
            <a:srgbClr val="FF5A2E">
              <a:alpha val="16000"/>
            </a:srgbClr>
          </a:solidFill>
          <a:ln/>
        </p:spPr>
      </p:sp>
      <p:sp>
        <p:nvSpPr>
          <p:cNvPr id="3" name="Shape 1"/>
          <p:cNvSpPr/>
          <p:nvPr/>
        </p:nvSpPr>
        <p:spPr>
          <a:xfrm>
            <a:off x="548640" y="457200"/>
            <a:ext cx="502920" cy="502920"/>
          </a:xfrm>
          <a:prstGeom prst="ellipse">
            <a:avLst/>
          </a:prstGeom>
          <a:solidFill>
            <a:srgbClr val="FF5A2E"/>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FF5A2E"/>
                </a:solidFill>
                <a:latin typeface="Calibri" pitchFamily="34" charset="0"/>
                <a:ea typeface="Calibri" pitchFamily="34" charset="-122"/>
                <a:cs typeface="Calibri" pitchFamily="34" charset="-120"/>
              </a:rPr>
              <a:t>ACTIVIDAD EN EQUIPO</a:t>
            </a:r>
            <a:endParaRPr lang="en-US" sz="1300" dirty="0"/>
          </a:p>
        </p:txBody>
      </p:sp>
      <p:sp>
        <p:nvSpPr>
          <p:cNvPr id="6" name="Text 4"/>
          <p:cNvSpPr txBox="1"/>
          <p:nvPr/>
        </p:nvSpPr>
        <p:spPr>
          <a:xfrm>
            <a:off x="548640" y="1005840"/>
            <a:ext cx="11094415" cy="731520"/>
          </a:xfrm>
          <a:prstGeom prst="rect">
            <a:avLst/>
          </a:prstGeom>
          <a:noFill/>
          <a:ln/>
        </p:spPr>
        <p:txBody>
          <a:bodyPr wrap="square" lIns="0" tIns="0" rIns="0" bIns="0" rtlCol="0" anchor="ctr"/>
          <a:lstStyle/>
          <a:p>
            <a:pPr indent="0" marL="0">
              <a:buNone/>
            </a:pPr>
            <a:r>
              <a:rPr lang="en-US" sz="2500" b="1" dirty="0">
                <a:solidFill>
                  <a:srgbClr val="15171C"/>
                </a:solidFill>
                <a:latin typeface="Arial" pitchFamily="34" charset="0"/>
                <a:ea typeface="Arial" pitchFamily="34" charset="-122"/>
                <a:cs typeface="Arial" pitchFamily="34" charset="-120"/>
              </a:rPr>
              <a:t>Se va la luz a mitad de la transferencia</a:t>
            </a:r>
            <a:endParaRPr lang="en-US" sz="2500" dirty="0"/>
          </a:p>
        </p:txBody>
      </p:sp>
      <p:sp>
        <p:nvSpPr>
          <p:cNvPr id="7" name="Shape 5"/>
          <p:cNvSpPr/>
          <p:nvPr/>
        </p:nvSpPr>
        <p:spPr>
          <a:xfrm>
            <a:off x="548640" y="1920240"/>
            <a:ext cx="11094415" cy="1188720"/>
          </a:xfrm>
          <a:prstGeom prst="roundRect">
            <a:avLst>
              <a:gd name="adj" fmla="val 7692"/>
            </a:avLst>
          </a:prstGeom>
          <a:solidFill>
            <a:srgbClr val="FFFFFF"/>
          </a:solidFill>
          <a:ln w="19050">
            <a:solidFill>
              <a:srgbClr val="15171C"/>
            </a:solidFill>
            <a:prstDash val="solid"/>
          </a:ln>
        </p:spPr>
      </p:sp>
      <p:sp>
        <p:nvSpPr>
          <p:cNvPr id="8" name="Text 6"/>
          <p:cNvSpPr txBox="1"/>
          <p:nvPr/>
        </p:nvSpPr>
        <p:spPr>
          <a:xfrm>
            <a:off x="777240" y="2057400"/>
            <a:ext cx="10637215" cy="914400"/>
          </a:xfrm>
          <a:prstGeom prst="rect">
            <a:avLst/>
          </a:prstGeom>
          <a:noFill/>
          <a:ln/>
        </p:spPr>
        <p:txBody>
          <a:bodyPr wrap="square" lIns="0" tIns="0" rIns="0" bIns="0" rtlCol="0" anchor="t"/>
          <a:lstStyle/>
          <a:p>
            <a:pPr indent="0" marL="0">
              <a:buNone/>
            </a:pPr>
            <a:r>
              <a:rPr lang="en-US" sz="1450" b="1" dirty="0">
                <a:solidFill>
                  <a:srgbClr val="15171C"/>
                </a:solidFill>
                <a:latin typeface="Calibri" pitchFamily="34" charset="0"/>
                <a:ea typeface="Calibri" pitchFamily="34" charset="-122"/>
                <a:cs typeface="Calibri" pitchFamily="34" charset="-120"/>
              </a:rPr>
              <a:t>Un banco transfiere 500 € de la cuenta A a la cuenta B. El sistema resta el dinero de A… y justo entonces se corta la luz, antes de sumarlo a B.</a:t>
            </a:r>
            <a:endParaRPr lang="en-US" sz="1450" dirty="0"/>
          </a:p>
        </p:txBody>
      </p:sp>
      <p:sp>
        <p:nvSpPr>
          <p:cNvPr id="9" name="Shape 7"/>
          <p:cNvSpPr/>
          <p:nvPr/>
        </p:nvSpPr>
        <p:spPr>
          <a:xfrm>
            <a:off x="548640" y="3383280"/>
            <a:ext cx="11094415" cy="502920"/>
          </a:xfrm>
          <a:prstGeom prst="roundRect">
            <a:avLst>
              <a:gd name="adj" fmla="val 50909"/>
            </a:avLst>
          </a:prstGeom>
          <a:solidFill>
            <a:srgbClr val="FFFFFF"/>
          </a:solidFill>
          <a:ln w="19050">
            <a:solidFill>
              <a:srgbClr val="15171C"/>
            </a:solidFill>
            <a:prstDash val="solid"/>
          </a:ln>
        </p:spPr>
      </p:sp>
      <p:sp>
        <p:nvSpPr>
          <p:cNvPr id="10" name="Text 8"/>
          <p:cNvSpPr txBox="1"/>
          <p:nvPr/>
        </p:nvSpPr>
        <p:spPr>
          <a:xfrm>
            <a:off x="822960" y="3383280"/>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¿Qué saldo debería tener la cuenta A cuando vuelva la luz?</a:t>
            </a:r>
            <a:endParaRPr lang="en-US" sz="1400" dirty="0"/>
          </a:p>
        </p:txBody>
      </p:sp>
      <p:sp>
        <p:nvSpPr>
          <p:cNvPr id="11" name="Shape 9"/>
          <p:cNvSpPr/>
          <p:nvPr/>
        </p:nvSpPr>
        <p:spPr>
          <a:xfrm>
            <a:off x="548640" y="4032504"/>
            <a:ext cx="11094415" cy="502920"/>
          </a:xfrm>
          <a:prstGeom prst="roundRect">
            <a:avLst>
              <a:gd name="adj" fmla="val 50909"/>
            </a:avLst>
          </a:prstGeom>
          <a:solidFill>
            <a:srgbClr val="FFFFFF"/>
          </a:solidFill>
          <a:ln w="19050">
            <a:solidFill>
              <a:srgbClr val="15171C"/>
            </a:solidFill>
            <a:prstDash val="solid"/>
          </a:ln>
        </p:spPr>
      </p:sp>
      <p:sp>
        <p:nvSpPr>
          <p:cNvPr id="12" name="Text 10"/>
          <p:cNvSpPr txBox="1"/>
          <p:nvPr/>
        </p:nvSpPr>
        <p:spPr>
          <a:xfrm>
            <a:off x="822960" y="4032504"/>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¿Qué propiedad ACID evita este desastre?</a:t>
            </a:r>
            <a:endParaRPr lang="en-US" sz="1400" dirty="0"/>
          </a:p>
        </p:txBody>
      </p:sp>
      <p:sp>
        <p:nvSpPr>
          <p:cNvPr id="13" name="Shape 11"/>
          <p:cNvSpPr/>
          <p:nvPr/>
        </p:nvSpPr>
        <p:spPr>
          <a:xfrm>
            <a:off x="548640" y="4681728"/>
            <a:ext cx="11094415" cy="502920"/>
          </a:xfrm>
          <a:prstGeom prst="roundRect">
            <a:avLst>
              <a:gd name="adj" fmla="val 50909"/>
            </a:avLst>
          </a:prstGeom>
          <a:solidFill>
            <a:srgbClr val="FFFFFF"/>
          </a:solidFill>
          <a:ln w="19050">
            <a:solidFill>
              <a:srgbClr val="15171C"/>
            </a:solidFill>
            <a:prstDash val="solid"/>
          </a:ln>
        </p:spPr>
      </p:sp>
      <p:sp>
        <p:nvSpPr>
          <p:cNvPr id="14" name="Text 12"/>
          <p:cNvSpPr txBox="1"/>
          <p:nvPr/>
        </p:nvSpPr>
        <p:spPr>
          <a:xfrm>
            <a:off x="822960" y="4681728"/>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¿Qué pasaría sin ella?</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06 — ARQUITECTURA EN 3 NIVELES (ANSI/SPARC)</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Independencia lógica y física</a:t>
            </a:r>
            <a:endParaRPr lang="en-US" sz="3000" dirty="0"/>
          </a:p>
        </p:txBody>
      </p:sp>
      <p:sp>
        <p:nvSpPr>
          <p:cNvPr id="4" name="Shape 2"/>
          <p:cNvSpPr/>
          <p:nvPr/>
        </p:nvSpPr>
        <p:spPr>
          <a:xfrm>
            <a:off x="548640" y="2194560"/>
            <a:ext cx="11094415" cy="1051560"/>
          </a:xfrm>
          <a:prstGeom prst="roundRect">
            <a:avLst>
              <a:gd name="adj" fmla="val 6957"/>
            </a:avLst>
          </a:prstGeom>
          <a:solidFill>
            <a:srgbClr val="1B39E6"/>
          </a:solidFill>
          <a:ln/>
        </p:spPr>
      </p:sp>
      <p:sp>
        <p:nvSpPr>
          <p:cNvPr id="5" name="Text 3"/>
          <p:cNvSpPr txBox="1"/>
          <p:nvPr/>
        </p:nvSpPr>
        <p:spPr>
          <a:xfrm>
            <a:off x="822960" y="2331720"/>
            <a:ext cx="10545775"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EXTERNO — el usuario</a:t>
            </a:r>
            <a:endParaRPr lang="en-US" sz="1400" dirty="0"/>
          </a:p>
        </p:txBody>
      </p:sp>
      <p:sp>
        <p:nvSpPr>
          <p:cNvPr id="6" name="Text 4"/>
          <p:cNvSpPr txBox="1"/>
          <p:nvPr/>
        </p:nvSpPr>
        <p:spPr>
          <a:xfrm>
            <a:off x="822960" y="2724912"/>
            <a:ext cx="10545775"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Formularios, listados, informes.</a:t>
            </a:r>
            <a:endParaRPr lang="en-US" sz="1300" dirty="0"/>
          </a:p>
        </p:txBody>
      </p:sp>
      <p:sp>
        <p:nvSpPr>
          <p:cNvPr id="7" name="Shape 5"/>
          <p:cNvSpPr/>
          <p:nvPr/>
        </p:nvSpPr>
        <p:spPr>
          <a:xfrm>
            <a:off x="548640" y="3474720"/>
            <a:ext cx="11094415" cy="1051560"/>
          </a:xfrm>
          <a:prstGeom prst="roundRect">
            <a:avLst>
              <a:gd name="adj" fmla="val 6957"/>
            </a:avLst>
          </a:prstGeom>
          <a:solidFill>
            <a:srgbClr val="0D1A7A"/>
          </a:solidFill>
          <a:ln/>
        </p:spPr>
      </p:sp>
      <p:sp>
        <p:nvSpPr>
          <p:cNvPr id="8" name="Text 6"/>
          <p:cNvSpPr txBox="1"/>
          <p:nvPr/>
        </p:nvSpPr>
        <p:spPr>
          <a:xfrm>
            <a:off x="822960" y="3611880"/>
            <a:ext cx="10545775"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CONCEPTUAL — el diseño</a:t>
            </a:r>
            <a:endParaRPr lang="en-US" sz="1400" dirty="0"/>
          </a:p>
        </p:txBody>
      </p:sp>
      <p:sp>
        <p:nvSpPr>
          <p:cNvPr id="9" name="Text 7"/>
          <p:cNvSpPr txBox="1"/>
          <p:nvPr/>
        </p:nvSpPr>
        <p:spPr>
          <a:xfrm>
            <a:off x="822960" y="4005072"/>
            <a:ext cx="10545775"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Todos los datos y relaciones, en tablas.</a:t>
            </a:r>
            <a:endParaRPr lang="en-US" sz="1300" dirty="0"/>
          </a:p>
        </p:txBody>
      </p:sp>
      <p:sp>
        <p:nvSpPr>
          <p:cNvPr id="10" name="Shape 8"/>
          <p:cNvSpPr/>
          <p:nvPr/>
        </p:nvSpPr>
        <p:spPr>
          <a:xfrm>
            <a:off x="548640" y="4754880"/>
            <a:ext cx="11094415" cy="1051560"/>
          </a:xfrm>
          <a:prstGeom prst="roundRect">
            <a:avLst>
              <a:gd name="adj" fmla="val 6957"/>
            </a:avLst>
          </a:prstGeom>
          <a:solidFill>
            <a:srgbClr val="15171C"/>
          </a:solidFill>
          <a:ln/>
        </p:spPr>
      </p:sp>
      <p:sp>
        <p:nvSpPr>
          <p:cNvPr id="11" name="Text 9"/>
          <p:cNvSpPr txBox="1"/>
          <p:nvPr/>
        </p:nvSpPr>
        <p:spPr>
          <a:xfrm>
            <a:off x="822960" y="4892040"/>
            <a:ext cx="10545775"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INTERNO — el almacenamiento</a:t>
            </a:r>
            <a:endParaRPr lang="en-US" sz="1400" dirty="0"/>
          </a:p>
        </p:txBody>
      </p:sp>
      <p:sp>
        <p:nvSpPr>
          <p:cNvPr id="12" name="Text 10"/>
          <p:cNvSpPr txBox="1"/>
          <p:nvPr/>
        </p:nvSpPr>
        <p:spPr>
          <a:xfrm>
            <a:off x="822960" y="5285232"/>
            <a:ext cx="10545775"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Cómo se escriben los datos en el disco.</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06 — TIPOS DE SGBD Y PERFILES DE USUARIO</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Del uso doméstico al corporativo</a:t>
            </a:r>
            <a:endParaRPr lang="en-US" sz="3000" dirty="0"/>
          </a:p>
        </p:txBody>
      </p:sp>
      <p:sp>
        <p:nvSpPr>
          <p:cNvPr id="4" name="Text 2"/>
          <p:cNvSpPr txBox="1"/>
          <p:nvPr/>
        </p:nvSpPr>
        <p:spPr>
          <a:xfrm>
            <a:off x="548640" y="2011680"/>
            <a:ext cx="5364328" cy="365760"/>
          </a:xfrm>
          <a:prstGeom prst="rect">
            <a:avLst/>
          </a:prstGeom>
          <a:noFill/>
          <a:ln/>
        </p:spPr>
        <p:txBody>
          <a:bodyPr wrap="square" lIns="0" tIns="0" rIns="0" bIns="0" rtlCol="0" anchor="ctr"/>
          <a:lstStyle/>
          <a:p>
            <a:pPr indent="0" marL="0">
              <a:buNone/>
            </a:pPr>
            <a:r>
              <a:rPr lang="en-US" sz="1300" b="1" spc="50" kern="0" dirty="0">
                <a:solidFill>
                  <a:srgbClr val="15171C"/>
                </a:solidFill>
                <a:latin typeface="Calibri" pitchFamily="34" charset="0"/>
                <a:ea typeface="Calibri" pitchFamily="34" charset="-122"/>
                <a:cs typeface="Calibri" pitchFamily="34" charset="-120"/>
              </a:rPr>
              <a:t>OFIMÁTICOS</a:t>
            </a:r>
            <a:endParaRPr lang="en-US" sz="1300" dirty="0"/>
          </a:p>
        </p:txBody>
      </p:sp>
      <p:sp>
        <p:nvSpPr>
          <p:cNvPr id="5" name="Text 3"/>
          <p:cNvSpPr txBox="1"/>
          <p:nvPr/>
        </p:nvSpPr>
        <p:spPr>
          <a:xfrm>
            <a:off x="548640" y="2423160"/>
            <a:ext cx="5364328" cy="594360"/>
          </a:xfrm>
          <a:prstGeom prst="rect">
            <a:avLst/>
          </a:prstGeom>
          <a:noFill/>
          <a:ln/>
        </p:spPr>
        <p:txBody>
          <a:bodyPr wrap="square" lIns="0" tIns="0" rIns="0" bIns="0" rtlCol="0" anchor="t"/>
          <a:lstStyle/>
          <a:p>
            <a:pPr indent="0" marL="0">
              <a:buNone/>
            </a:pPr>
            <a:r>
              <a:rPr lang="en-US" sz="1250" dirty="0">
                <a:solidFill>
                  <a:srgbClr val="4B4F58"/>
                </a:solidFill>
                <a:latin typeface="Calibri" pitchFamily="34" charset="0"/>
                <a:ea typeface="Calibri" pitchFamily="34" charset="-122"/>
                <a:cs typeface="Calibri" pitchFamily="34" charset="-120"/>
              </a:rPr>
              <a:t>Datos domésticos o de pequeñas empresas.</a:t>
            </a:r>
            <a:endParaRPr lang="en-US" sz="1250" dirty="0"/>
          </a:p>
        </p:txBody>
      </p:sp>
      <p:sp>
        <p:nvSpPr>
          <p:cNvPr id="6" name="Text 4"/>
          <p:cNvSpPr txBox="1"/>
          <p:nvPr/>
        </p:nvSpPr>
        <p:spPr>
          <a:xfrm>
            <a:off x="6278728" y="2011680"/>
            <a:ext cx="5364328" cy="365760"/>
          </a:xfrm>
          <a:prstGeom prst="rect">
            <a:avLst/>
          </a:prstGeom>
          <a:noFill/>
          <a:ln/>
        </p:spPr>
        <p:txBody>
          <a:bodyPr wrap="square" lIns="0" tIns="0" rIns="0" bIns="0" rtlCol="0" anchor="ctr"/>
          <a:lstStyle/>
          <a:p>
            <a:pPr indent="0" marL="0">
              <a:buNone/>
            </a:pPr>
            <a:r>
              <a:rPr lang="en-US" sz="1300" b="1" spc="50" kern="0" dirty="0">
                <a:solidFill>
                  <a:srgbClr val="15171C"/>
                </a:solidFill>
                <a:latin typeface="Calibri" pitchFamily="34" charset="0"/>
                <a:ea typeface="Calibri" pitchFamily="34" charset="-122"/>
                <a:cs typeface="Calibri" pitchFamily="34" charset="-120"/>
              </a:rPr>
              <a:t>CORPORATIVOS</a:t>
            </a:r>
            <a:endParaRPr lang="en-US" sz="1300" dirty="0"/>
          </a:p>
        </p:txBody>
      </p:sp>
      <p:sp>
        <p:nvSpPr>
          <p:cNvPr id="7" name="Text 5"/>
          <p:cNvSpPr txBox="1"/>
          <p:nvPr/>
        </p:nvSpPr>
        <p:spPr>
          <a:xfrm>
            <a:off x="6278728" y="2423160"/>
            <a:ext cx="5364328" cy="594360"/>
          </a:xfrm>
          <a:prstGeom prst="rect">
            <a:avLst/>
          </a:prstGeom>
          <a:noFill/>
          <a:ln/>
        </p:spPr>
        <p:txBody>
          <a:bodyPr wrap="square" lIns="0" tIns="0" rIns="0" bIns="0" rtlCol="0" anchor="t"/>
          <a:lstStyle/>
          <a:p>
            <a:pPr indent="0" marL="0">
              <a:buNone/>
            </a:pPr>
            <a:r>
              <a:rPr lang="en-US" sz="1250" dirty="0">
                <a:solidFill>
                  <a:srgbClr val="4B4F58"/>
                </a:solidFill>
                <a:latin typeface="Calibri" pitchFamily="34" charset="0"/>
                <a:ea typeface="Calibri" pitchFamily="34" charset="-122"/>
                <a:cs typeface="Calibri" pitchFamily="34" charset="-120"/>
              </a:rPr>
              <a:t>Grandes volúmenes de datos y transacciones.</a:t>
            </a:r>
            <a:endParaRPr lang="en-US" sz="1250" dirty="0"/>
          </a:p>
        </p:txBody>
      </p:sp>
      <p:sp>
        <p:nvSpPr>
          <p:cNvPr id="8" name="Text 6"/>
          <p:cNvSpPr txBox="1"/>
          <p:nvPr/>
        </p:nvSpPr>
        <p:spPr>
          <a:xfrm>
            <a:off x="548640" y="3200400"/>
            <a:ext cx="11094415" cy="45720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Perfiles: </a:t>
            </a:r>
            <a:pPr indent="0" marL="0">
              <a:buNone/>
            </a:pPr>
            <a:r>
              <a:rPr lang="en-US" sz="1400" b="1" dirty="0">
                <a:solidFill>
                  <a:srgbClr val="4B4F58"/>
                </a:solidFill>
                <a:latin typeface="Calibri" pitchFamily="34" charset="0"/>
                <a:ea typeface="Calibri" pitchFamily="34" charset="-122"/>
                <a:cs typeface="Calibri" pitchFamily="34" charset="-120"/>
              </a:rPr>
              <a:t>usuario final</a:t>
            </a:r>
            <a:pPr indent="0" marL="0">
              <a:buNone/>
            </a:pPr>
            <a:r>
              <a:rPr lang="en-US" sz="1400" dirty="0">
                <a:solidFill>
                  <a:srgbClr val="4B4F58"/>
                </a:solidFill>
                <a:latin typeface="Calibri" pitchFamily="34" charset="0"/>
                <a:ea typeface="Calibri" pitchFamily="34" charset="-122"/>
                <a:cs typeface="Calibri" pitchFamily="34" charset="-120"/>
              </a:rPr>
              <a:t>, </a:t>
            </a:r>
            <a:pPr indent="0" marL="0">
              <a:buNone/>
            </a:pPr>
            <a:r>
              <a:rPr lang="en-US" sz="1400" b="1" dirty="0">
                <a:solidFill>
                  <a:srgbClr val="4B4F58"/>
                </a:solidFill>
                <a:latin typeface="Calibri" pitchFamily="34" charset="0"/>
                <a:ea typeface="Calibri" pitchFamily="34" charset="-122"/>
                <a:cs typeface="Calibri" pitchFamily="34" charset="-120"/>
              </a:rPr>
              <a:t>analista/ingeniero de datos</a:t>
            </a:r>
            <a:pPr indent="0" marL="0">
              <a:buNone/>
            </a:pPr>
            <a:r>
              <a:rPr lang="en-US" sz="1400" dirty="0">
                <a:solidFill>
                  <a:srgbClr val="4B4F58"/>
                </a:solidFill>
                <a:latin typeface="Calibri" pitchFamily="34" charset="0"/>
                <a:ea typeface="Calibri" pitchFamily="34" charset="-122"/>
                <a:cs typeface="Calibri" pitchFamily="34" charset="-120"/>
              </a:rPr>
              <a:t>, </a:t>
            </a:r>
            <a:pPr indent="0" marL="0">
              <a:buNone/>
            </a:pPr>
            <a:r>
              <a:rPr lang="en-US" sz="1400" b="1" dirty="0">
                <a:solidFill>
                  <a:srgbClr val="4B4F58"/>
                </a:solidFill>
                <a:latin typeface="Calibri" pitchFamily="34" charset="0"/>
                <a:ea typeface="Calibri" pitchFamily="34" charset="-122"/>
                <a:cs typeface="Calibri" pitchFamily="34" charset="-120"/>
              </a:rPr>
              <a:t>desarrollador</a:t>
            </a:r>
            <a:pPr indent="0" marL="0">
              <a:buNone/>
            </a:pPr>
            <a:r>
              <a:rPr lang="en-US" sz="1400" dirty="0">
                <a:solidFill>
                  <a:srgbClr val="4B4F58"/>
                </a:solidFill>
                <a:latin typeface="Calibri" pitchFamily="34" charset="0"/>
                <a:ea typeface="Calibri" pitchFamily="34" charset="-122"/>
                <a:cs typeface="Calibri" pitchFamily="34" charset="-120"/>
              </a:rPr>
              <a:t> y </a:t>
            </a:r>
            <a:pPr indent="0" marL="0">
              <a:buNone/>
            </a:pPr>
            <a:r>
              <a:rPr lang="en-US" sz="1400" b="1" dirty="0">
                <a:solidFill>
                  <a:srgbClr val="4B4F58"/>
                </a:solidFill>
                <a:latin typeface="Calibri" pitchFamily="34" charset="0"/>
                <a:ea typeface="Calibri" pitchFamily="34" charset="-122"/>
                <a:cs typeface="Calibri" pitchFamily="34" charset="-120"/>
              </a:rPr>
              <a:t>DBA</a:t>
            </a:r>
            <a:pPr indent="0" marL="0">
              <a:buNone/>
            </a:pPr>
            <a:r>
              <a:rPr lang="en-US" sz="1400" dirty="0">
                <a:solidFill>
                  <a:srgbClr val="4B4F58"/>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548640" y="3931920"/>
            <a:ext cx="923544" cy="457200"/>
          </a:xfrm>
          <a:prstGeom prst="roundRect">
            <a:avLst>
              <a:gd name="adj" fmla="val 24000"/>
            </a:avLst>
          </a:prstGeom>
          <a:solidFill>
            <a:srgbClr val="FFFFFF"/>
          </a:solidFill>
          <a:ln w="19050">
            <a:solidFill>
              <a:srgbClr val="15171C"/>
            </a:solidFill>
            <a:prstDash val="solid"/>
          </a:ln>
        </p:spPr>
      </p:sp>
      <p:sp>
        <p:nvSpPr>
          <p:cNvPr id="10" name="Text 8"/>
          <p:cNvSpPr txBox="1"/>
          <p:nvPr/>
        </p:nvSpPr>
        <p:spPr>
          <a:xfrm>
            <a:off x="548640" y="3931920"/>
            <a:ext cx="923544"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Oracle</a:t>
            </a:r>
            <a:endParaRPr lang="en-US" sz="1200" dirty="0"/>
          </a:p>
        </p:txBody>
      </p:sp>
      <p:sp>
        <p:nvSpPr>
          <p:cNvPr id="11" name="Shape 9"/>
          <p:cNvSpPr/>
          <p:nvPr/>
        </p:nvSpPr>
        <p:spPr>
          <a:xfrm>
            <a:off x="1636776" y="3931920"/>
            <a:ext cx="822960" cy="457200"/>
          </a:xfrm>
          <a:prstGeom prst="roundRect">
            <a:avLst>
              <a:gd name="adj" fmla="val 24000"/>
            </a:avLst>
          </a:prstGeom>
          <a:solidFill>
            <a:srgbClr val="FFFFFF"/>
          </a:solidFill>
          <a:ln w="19050">
            <a:solidFill>
              <a:srgbClr val="15171C"/>
            </a:solidFill>
            <a:prstDash val="solid"/>
          </a:ln>
        </p:spPr>
      </p:sp>
      <p:sp>
        <p:nvSpPr>
          <p:cNvPr id="12" name="Text 10"/>
          <p:cNvSpPr txBox="1"/>
          <p:nvPr/>
        </p:nvSpPr>
        <p:spPr>
          <a:xfrm>
            <a:off x="1636776" y="3931920"/>
            <a:ext cx="822960"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MySQL</a:t>
            </a:r>
            <a:endParaRPr lang="en-US" sz="1200" dirty="0"/>
          </a:p>
        </p:txBody>
      </p:sp>
      <p:sp>
        <p:nvSpPr>
          <p:cNvPr id="13" name="Shape 11"/>
          <p:cNvSpPr/>
          <p:nvPr/>
        </p:nvSpPr>
        <p:spPr>
          <a:xfrm>
            <a:off x="2624328" y="3931920"/>
            <a:ext cx="1024128" cy="457200"/>
          </a:xfrm>
          <a:prstGeom prst="roundRect">
            <a:avLst>
              <a:gd name="adj" fmla="val 24000"/>
            </a:avLst>
          </a:prstGeom>
          <a:solidFill>
            <a:srgbClr val="FFFFFF"/>
          </a:solidFill>
          <a:ln w="19050">
            <a:solidFill>
              <a:srgbClr val="15171C"/>
            </a:solidFill>
            <a:prstDash val="solid"/>
          </a:ln>
        </p:spPr>
      </p:sp>
      <p:sp>
        <p:nvSpPr>
          <p:cNvPr id="14" name="Text 12"/>
          <p:cNvSpPr txBox="1"/>
          <p:nvPr/>
        </p:nvSpPr>
        <p:spPr>
          <a:xfrm>
            <a:off x="2624328" y="3931920"/>
            <a:ext cx="1024128"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MariaDB</a:t>
            </a:r>
            <a:endParaRPr lang="en-US" sz="1200" dirty="0"/>
          </a:p>
        </p:txBody>
      </p:sp>
      <p:sp>
        <p:nvSpPr>
          <p:cNvPr id="15" name="Shape 13"/>
          <p:cNvSpPr/>
          <p:nvPr/>
        </p:nvSpPr>
        <p:spPr>
          <a:xfrm>
            <a:off x="3813048" y="3931920"/>
            <a:ext cx="1325880" cy="457200"/>
          </a:xfrm>
          <a:prstGeom prst="roundRect">
            <a:avLst>
              <a:gd name="adj" fmla="val 24000"/>
            </a:avLst>
          </a:prstGeom>
          <a:solidFill>
            <a:srgbClr val="FFFFFF"/>
          </a:solidFill>
          <a:ln w="19050">
            <a:solidFill>
              <a:srgbClr val="15171C"/>
            </a:solidFill>
            <a:prstDash val="solid"/>
          </a:ln>
        </p:spPr>
      </p:sp>
      <p:sp>
        <p:nvSpPr>
          <p:cNvPr id="16" name="Text 14"/>
          <p:cNvSpPr txBox="1"/>
          <p:nvPr/>
        </p:nvSpPr>
        <p:spPr>
          <a:xfrm>
            <a:off x="3813048" y="3931920"/>
            <a:ext cx="1325880"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PostgreSQL</a:t>
            </a:r>
            <a:endParaRPr lang="en-US" sz="1200" dirty="0"/>
          </a:p>
        </p:txBody>
      </p:sp>
      <p:sp>
        <p:nvSpPr>
          <p:cNvPr id="17" name="Shape 15"/>
          <p:cNvSpPr/>
          <p:nvPr/>
        </p:nvSpPr>
        <p:spPr>
          <a:xfrm>
            <a:off x="5303520" y="3931920"/>
            <a:ext cx="1325880" cy="457200"/>
          </a:xfrm>
          <a:prstGeom prst="roundRect">
            <a:avLst>
              <a:gd name="adj" fmla="val 24000"/>
            </a:avLst>
          </a:prstGeom>
          <a:solidFill>
            <a:srgbClr val="FFFFFF"/>
          </a:solidFill>
          <a:ln w="19050">
            <a:solidFill>
              <a:srgbClr val="15171C"/>
            </a:solidFill>
            <a:prstDash val="solid"/>
          </a:ln>
        </p:spPr>
      </p:sp>
      <p:sp>
        <p:nvSpPr>
          <p:cNvPr id="18" name="Text 16"/>
          <p:cNvSpPr txBox="1"/>
          <p:nvPr/>
        </p:nvSpPr>
        <p:spPr>
          <a:xfrm>
            <a:off x="5303520" y="3931920"/>
            <a:ext cx="1325880"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SQL Server</a:t>
            </a:r>
            <a:endParaRPr lang="en-US" sz="1200" dirty="0"/>
          </a:p>
        </p:txBody>
      </p:sp>
      <p:sp>
        <p:nvSpPr>
          <p:cNvPr id="19" name="Shape 17"/>
          <p:cNvSpPr/>
          <p:nvPr/>
        </p:nvSpPr>
        <p:spPr>
          <a:xfrm>
            <a:off x="6793992" y="3931920"/>
            <a:ext cx="1225296" cy="457200"/>
          </a:xfrm>
          <a:prstGeom prst="roundRect">
            <a:avLst>
              <a:gd name="adj" fmla="val 24000"/>
            </a:avLst>
          </a:prstGeom>
          <a:solidFill>
            <a:srgbClr val="FFFFFF"/>
          </a:solidFill>
          <a:ln w="19050">
            <a:solidFill>
              <a:srgbClr val="15171C"/>
            </a:solidFill>
            <a:prstDash val="solid"/>
          </a:ln>
        </p:spPr>
      </p:sp>
      <p:sp>
        <p:nvSpPr>
          <p:cNvPr id="20" name="Text 18"/>
          <p:cNvSpPr txBox="1"/>
          <p:nvPr/>
        </p:nvSpPr>
        <p:spPr>
          <a:xfrm>
            <a:off x="6793992" y="3931920"/>
            <a:ext cx="1225296"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MS Access</a:t>
            </a:r>
            <a:endParaRPr lang="en-US" sz="1200" dirty="0"/>
          </a:p>
        </p:txBody>
      </p:sp>
      <p:sp>
        <p:nvSpPr>
          <p:cNvPr id="21" name="Shape 19"/>
          <p:cNvSpPr/>
          <p:nvPr/>
        </p:nvSpPr>
        <p:spPr>
          <a:xfrm>
            <a:off x="8183880" y="3931920"/>
            <a:ext cx="1024128" cy="457200"/>
          </a:xfrm>
          <a:prstGeom prst="roundRect">
            <a:avLst>
              <a:gd name="adj" fmla="val 24000"/>
            </a:avLst>
          </a:prstGeom>
          <a:solidFill>
            <a:srgbClr val="FFFFFF"/>
          </a:solidFill>
          <a:ln w="19050">
            <a:solidFill>
              <a:srgbClr val="15171C"/>
            </a:solidFill>
            <a:prstDash val="solid"/>
          </a:ln>
        </p:spPr>
      </p:sp>
      <p:sp>
        <p:nvSpPr>
          <p:cNvPr id="22" name="Text 20"/>
          <p:cNvSpPr txBox="1"/>
          <p:nvPr/>
        </p:nvSpPr>
        <p:spPr>
          <a:xfrm>
            <a:off x="8183880" y="3931920"/>
            <a:ext cx="1024128" cy="457200"/>
          </a:xfrm>
          <a:prstGeom prst="rect">
            <a:avLst/>
          </a:prstGeom>
          <a:noFill/>
          <a:ln/>
        </p:spPr>
        <p:txBody>
          <a:bodyPr wrap="square" lIns="0" tIns="0" rIns="0" bIns="0" rtlCol="0" anchor="ctr"/>
          <a:lstStyle/>
          <a:p>
            <a:pPr algn="ctr" indent="0" marL="0">
              <a:buNone/>
            </a:pPr>
            <a:r>
              <a:rPr lang="en-US" sz="1200" b="1" dirty="0">
                <a:solidFill>
                  <a:srgbClr val="15171C"/>
                </a:solidFill>
                <a:latin typeface="Courier New" pitchFamily="34" charset="0"/>
                <a:ea typeface="Courier New" pitchFamily="34" charset="-122"/>
                <a:cs typeface="Courier New" pitchFamily="34" charset="-120"/>
              </a:rPr>
              <a:t>MongoDB</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07 — EL LENGUAJE SQL</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Cuatro sublenguajes</a:t>
            </a:r>
            <a:endParaRPr lang="en-US" sz="3000" dirty="0"/>
          </a:p>
        </p:txBody>
      </p:sp>
      <p:sp>
        <p:nvSpPr>
          <p:cNvPr id="4" name="Shape 2"/>
          <p:cNvSpPr/>
          <p:nvPr/>
        </p:nvSpPr>
        <p:spPr>
          <a:xfrm>
            <a:off x="548640" y="2011680"/>
            <a:ext cx="2602154" cy="1737360"/>
          </a:xfrm>
          <a:prstGeom prst="roundRect">
            <a:avLst>
              <a:gd name="adj" fmla="val 4211"/>
            </a:avLst>
          </a:prstGeom>
          <a:solidFill>
            <a:srgbClr val="FFFFFF"/>
          </a:solidFill>
          <a:ln w="19050">
            <a:solidFill>
              <a:srgbClr val="15171C"/>
            </a:solidFill>
            <a:prstDash val="solid"/>
          </a:ln>
        </p:spPr>
      </p:sp>
      <p:sp>
        <p:nvSpPr>
          <p:cNvPr id="5" name="Shape 3"/>
          <p:cNvSpPr/>
          <p:nvPr/>
        </p:nvSpPr>
        <p:spPr>
          <a:xfrm>
            <a:off x="713232" y="2157984"/>
            <a:ext cx="2272970" cy="292608"/>
          </a:xfrm>
          <a:prstGeom prst="roundRect">
            <a:avLst>
              <a:gd name="adj" fmla="val 50000"/>
            </a:avLst>
          </a:prstGeom>
          <a:solidFill>
            <a:srgbClr val="E7EAFC"/>
          </a:solidFill>
          <a:ln/>
        </p:spPr>
      </p:sp>
      <p:sp>
        <p:nvSpPr>
          <p:cNvPr id="6" name="Text 4"/>
          <p:cNvSpPr txBox="1"/>
          <p:nvPr/>
        </p:nvSpPr>
        <p:spPr>
          <a:xfrm>
            <a:off x="713232" y="215798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DML</a:t>
            </a:r>
            <a:endParaRPr lang="en-US" sz="1100" dirty="0"/>
          </a:p>
        </p:txBody>
      </p:sp>
      <p:sp>
        <p:nvSpPr>
          <p:cNvPr id="7" name="Text 5"/>
          <p:cNvSpPr txBox="1"/>
          <p:nvPr/>
        </p:nvSpPr>
        <p:spPr>
          <a:xfrm>
            <a:off x="713232" y="2523744"/>
            <a:ext cx="2272970"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Manipular datos</a:t>
            </a:r>
            <a:endParaRPr lang="en-US" sz="1150" dirty="0"/>
          </a:p>
        </p:txBody>
      </p:sp>
      <p:sp>
        <p:nvSpPr>
          <p:cNvPr id="8" name="Text 6"/>
          <p:cNvSpPr txBox="1"/>
          <p:nvPr/>
        </p:nvSpPr>
        <p:spPr>
          <a:xfrm>
            <a:off x="713232" y="3291840"/>
            <a:ext cx="2272970"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SELECT · INSERT · UPDATE · DELETE</a:t>
            </a:r>
            <a:endParaRPr lang="en-US" sz="950" dirty="0"/>
          </a:p>
        </p:txBody>
      </p:sp>
      <p:sp>
        <p:nvSpPr>
          <p:cNvPr id="9" name="Shape 7"/>
          <p:cNvSpPr/>
          <p:nvPr/>
        </p:nvSpPr>
        <p:spPr>
          <a:xfrm>
            <a:off x="3379394" y="2011680"/>
            <a:ext cx="2602154" cy="1737360"/>
          </a:xfrm>
          <a:prstGeom prst="roundRect">
            <a:avLst>
              <a:gd name="adj" fmla="val 4211"/>
            </a:avLst>
          </a:prstGeom>
          <a:solidFill>
            <a:srgbClr val="FFFFFF"/>
          </a:solidFill>
          <a:ln w="19050">
            <a:solidFill>
              <a:srgbClr val="15171C"/>
            </a:solidFill>
            <a:prstDash val="solid"/>
          </a:ln>
        </p:spPr>
      </p:sp>
      <p:sp>
        <p:nvSpPr>
          <p:cNvPr id="10" name="Shape 8"/>
          <p:cNvSpPr/>
          <p:nvPr/>
        </p:nvSpPr>
        <p:spPr>
          <a:xfrm>
            <a:off x="3543986" y="2157984"/>
            <a:ext cx="2272970" cy="292608"/>
          </a:xfrm>
          <a:prstGeom prst="roundRect">
            <a:avLst>
              <a:gd name="adj" fmla="val 50000"/>
            </a:avLst>
          </a:prstGeom>
          <a:solidFill>
            <a:srgbClr val="E7EAFC"/>
          </a:solidFill>
          <a:ln/>
        </p:spPr>
      </p:sp>
      <p:sp>
        <p:nvSpPr>
          <p:cNvPr id="11" name="Text 9"/>
          <p:cNvSpPr txBox="1"/>
          <p:nvPr/>
        </p:nvSpPr>
        <p:spPr>
          <a:xfrm>
            <a:off x="3543986" y="215798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DDL</a:t>
            </a:r>
            <a:endParaRPr lang="en-US" sz="1100" dirty="0"/>
          </a:p>
        </p:txBody>
      </p:sp>
      <p:sp>
        <p:nvSpPr>
          <p:cNvPr id="12" name="Text 10"/>
          <p:cNvSpPr txBox="1"/>
          <p:nvPr/>
        </p:nvSpPr>
        <p:spPr>
          <a:xfrm>
            <a:off x="3543986" y="2523744"/>
            <a:ext cx="2272970"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Definir la estructura</a:t>
            </a:r>
            <a:endParaRPr lang="en-US" sz="1150" dirty="0"/>
          </a:p>
        </p:txBody>
      </p:sp>
      <p:sp>
        <p:nvSpPr>
          <p:cNvPr id="13" name="Text 11"/>
          <p:cNvSpPr txBox="1"/>
          <p:nvPr/>
        </p:nvSpPr>
        <p:spPr>
          <a:xfrm>
            <a:off x="3543986" y="3291840"/>
            <a:ext cx="2272970"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CREATE · ALTER · DROP</a:t>
            </a:r>
            <a:endParaRPr lang="en-US" sz="950" dirty="0"/>
          </a:p>
        </p:txBody>
      </p:sp>
      <p:sp>
        <p:nvSpPr>
          <p:cNvPr id="14" name="Shape 12"/>
          <p:cNvSpPr/>
          <p:nvPr/>
        </p:nvSpPr>
        <p:spPr>
          <a:xfrm>
            <a:off x="6210148" y="2011680"/>
            <a:ext cx="2602154" cy="1737360"/>
          </a:xfrm>
          <a:prstGeom prst="roundRect">
            <a:avLst>
              <a:gd name="adj" fmla="val 4211"/>
            </a:avLst>
          </a:prstGeom>
          <a:solidFill>
            <a:srgbClr val="FFFFFF"/>
          </a:solidFill>
          <a:ln w="19050">
            <a:solidFill>
              <a:srgbClr val="15171C"/>
            </a:solidFill>
            <a:prstDash val="solid"/>
          </a:ln>
        </p:spPr>
      </p:sp>
      <p:sp>
        <p:nvSpPr>
          <p:cNvPr id="15" name="Shape 13"/>
          <p:cNvSpPr/>
          <p:nvPr/>
        </p:nvSpPr>
        <p:spPr>
          <a:xfrm>
            <a:off x="6374740" y="2157984"/>
            <a:ext cx="2272970" cy="292608"/>
          </a:xfrm>
          <a:prstGeom prst="roundRect">
            <a:avLst>
              <a:gd name="adj" fmla="val 50000"/>
            </a:avLst>
          </a:prstGeom>
          <a:solidFill>
            <a:srgbClr val="E7EAFC"/>
          </a:solidFill>
          <a:ln/>
        </p:spPr>
      </p:sp>
      <p:sp>
        <p:nvSpPr>
          <p:cNvPr id="16" name="Text 14"/>
          <p:cNvSpPr txBox="1"/>
          <p:nvPr/>
        </p:nvSpPr>
        <p:spPr>
          <a:xfrm>
            <a:off x="6374740" y="215798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DCL</a:t>
            </a:r>
            <a:endParaRPr lang="en-US" sz="1100" dirty="0"/>
          </a:p>
        </p:txBody>
      </p:sp>
      <p:sp>
        <p:nvSpPr>
          <p:cNvPr id="17" name="Text 15"/>
          <p:cNvSpPr txBox="1"/>
          <p:nvPr/>
        </p:nvSpPr>
        <p:spPr>
          <a:xfrm>
            <a:off x="6374740" y="2523744"/>
            <a:ext cx="2272970"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Controlar el acceso</a:t>
            </a:r>
            <a:endParaRPr lang="en-US" sz="1150" dirty="0"/>
          </a:p>
        </p:txBody>
      </p:sp>
      <p:sp>
        <p:nvSpPr>
          <p:cNvPr id="18" name="Text 16"/>
          <p:cNvSpPr txBox="1"/>
          <p:nvPr/>
        </p:nvSpPr>
        <p:spPr>
          <a:xfrm>
            <a:off x="6374740" y="3291840"/>
            <a:ext cx="2272970"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GRANT · REVOKE</a:t>
            </a:r>
            <a:endParaRPr lang="en-US" sz="950" dirty="0"/>
          </a:p>
        </p:txBody>
      </p:sp>
      <p:sp>
        <p:nvSpPr>
          <p:cNvPr id="19" name="Shape 17"/>
          <p:cNvSpPr/>
          <p:nvPr/>
        </p:nvSpPr>
        <p:spPr>
          <a:xfrm>
            <a:off x="9040901" y="2011680"/>
            <a:ext cx="2602154" cy="1737360"/>
          </a:xfrm>
          <a:prstGeom prst="roundRect">
            <a:avLst>
              <a:gd name="adj" fmla="val 4211"/>
            </a:avLst>
          </a:prstGeom>
          <a:solidFill>
            <a:srgbClr val="FFFFFF"/>
          </a:solidFill>
          <a:ln w="19050">
            <a:solidFill>
              <a:srgbClr val="15171C"/>
            </a:solidFill>
            <a:prstDash val="solid"/>
          </a:ln>
        </p:spPr>
      </p:sp>
      <p:sp>
        <p:nvSpPr>
          <p:cNvPr id="20" name="Shape 18"/>
          <p:cNvSpPr/>
          <p:nvPr/>
        </p:nvSpPr>
        <p:spPr>
          <a:xfrm>
            <a:off x="9205493" y="2157984"/>
            <a:ext cx="2272970" cy="292608"/>
          </a:xfrm>
          <a:prstGeom prst="roundRect">
            <a:avLst>
              <a:gd name="adj" fmla="val 50000"/>
            </a:avLst>
          </a:prstGeom>
          <a:solidFill>
            <a:srgbClr val="E7EAFC"/>
          </a:solidFill>
          <a:ln/>
        </p:spPr>
      </p:sp>
      <p:sp>
        <p:nvSpPr>
          <p:cNvPr id="21" name="Text 19"/>
          <p:cNvSpPr txBox="1"/>
          <p:nvPr/>
        </p:nvSpPr>
        <p:spPr>
          <a:xfrm>
            <a:off x="9205493" y="215798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TCL</a:t>
            </a:r>
            <a:endParaRPr lang="en-US" sz="1100" dirty="0"/>
          </a:p>
        </p:txBody>
      </p:sp>
      <p:sp>
        <p:nvSpPr>
          <p:cNvPr id="22" name="Text 20"/>
          <p:cNvSpPr txBox="1"/>
          <p:nvPr/>
        </p:nvSpPr>
        <p:spPr>
          <a:xfrm>
            <a:off x="9205493" y="2523744"/>
            <a:ext cx="2272970" cy="1097280"/>
          </a:xfrm>
          <a:prstGeom prst="rect">
            <a:avLst/>
          </a:prstGeom>
          <a:noFill/>
          <a:ln/>
        </p:spPr>
        <p:txBody>
          <a:bodyPr wrap="square" lIns="0" tIns="0" rIns="0" bIns="0" rtlCol="0" anchor="t"/>
          <a:lstStyle/>
          <a:p>
            <a:pPr indent="0" marL="0">
              <a:buNone/>
            </a:pPr>
            <a:r>
              <a:rPr lang="en-US" sz="1150" dirty="0">
                <a:solidFill>
                  <a:srgbClr val="4B4F58"/>
                </a:solidFill>
                <a:latin typeface="Calibri" pitchFamily="34" charset="0"/>
                <a:ea typeface="Calibri" pitchFamily="34" charset="-122"/>
                <a:cs typeface="Calibri" pitchFamily="34" charset="-120"/>
              </a:rPr>
              <a:t>Controlar transacciones</a:t>
            </a:r>
            <a:endParaRPr lang="en-US" sz="1150" dirty="0"/>
          </a:p>
        </p:txBody>
      </p:sp>
      <p:sp>
        <p:nvSpPr>
          <p:cNvPr id="23" name="Text 21"/>
          <p:cNvSpPr txBox="1"/>
          <p:nvPr/>
        </p:nvSpPr>
        <p:spPr>
          <a:xfrm>
            <a:off x="9205493" y="3291840"/>
            <a:ext cx="2272970"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BEGIN · COMMIT · ROLLBACK</a:t>
            </a:r>
            <a:endParaRPr lang="en-US" sz="950" dirty="0"/>
          </a:p>
        </p:txBody>
      </p:sp>
      <p:sp>
        <p:nvSpPr>
          <p:cNvPr id="24" name="Shape 22"/>
          <p:cNvSpPr/>
          <p:nvPr/>
        </p:nvSpPr>
        <p:spPr>
          <a:xfrm>
            <a:off x="548640" y="4023360"/>
            <a:ext cx="11094415" cy="1554480"/>
          </a:xfrm>
          <a:prstGeom prst="roundRect">
            <a:avLst>
              <a:gd name="adj" fmla="val 4706"/>
            </a:avLst>
          </a:prstGeom>
          <a:solidFill>
            <a:srgbClr val="15171C"/>
          </a:solidFill>
          <a:ln/>
        </p:spPr>
      </p:sp>
      <p:sp>
        <p:nvSpPr>
          <p:cNvPr id="25" name="Text 23"/>
          <p:cNvSpPr txBox="1"/>
          <p:nvPr/>
        </p:nvSpPr>
        <p:spPr>
          <a:xfrm>
            <a:off x="777240" y="4187952"/>
            <a:ext cx="10637215" cy="1225296"/>
          </a:xfrm>
          <a:prstGeom prst="rect">
            <a:avLst/>
          </a:prstGeom>
          <a:noFill/>
          <a:ln/>
        </p:spPr>
        <p:txBody>
          <a:bodyPr wrap="square" lIns="0" tIns="0" rIns="0" bIns="0" rtlCol="0" anchor="t"/>
          <a:lstStyle/>
          <a:p>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coches Ferrari o Toyota</a:t>
            </a:r>
            <a:pPr indent="0" marL="0">
              <a:lnSpc>
                <a:spcPts val="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SELECT</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Marca, Modelo, Consumo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FROM</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Automoviles</a:t>
            </a:r>
            <a:pPr indent="0" marL="0">
              <a:lnSpc>
                <a:spcPts val="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WHERE</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Marca = 'Ferrari'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OR</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Marca = 'Toyota';</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914400"/>
            <a:ext cx="3108960" cy="3108960"/>
          </a:xfrm>
          <a:prstGeom prst="ellipse">
            <a:avLst/>
          </a:prstGeom>
          <a:solidFill>
            <a:srgbClr val="FF5A2E">
              <a:alpha val="16000"/>
            </a:srgbClr>
          </a:solidFill>
          <a:ln/>
        </p:spPr>
      </p:sp>
      <p:sp>
        <p:nvSpPr>
          <p:cNvPr id="3" name="Shape 1"/>
          <p:cNvSpPr/>
          <p:nvPr/>
        </p:nvSpPr>
        <p:spPr>
          <a:xfrm>
            <a:off x="548640" y="457200"/>
            <a:ext cx="502920" cy="502920"/>
          </a:xfrm>
          <a:prstGeom prst="ellipse">
            <a:avLst/>
          </a:prstGeom>
          <a:solidFill>
            <a:srgbClr val="FF5A2E"/>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FF5A2E"/>
                </a:solidFill>
                <a:latin typeface="Calibri" pitchFamily="34" charset="0"/>
                <a:ea typeface="Calibri" pitchFamily="34" charset="-122"/>
                <a:cs typeface="Calibri" pitchFamily="34" charset="-120"/>
              </a:rPr>
              <a:t>ACTIVIDAD INDIVIDUAL</a:t>
            </a:r>
            <a:endParaRPr lang="en-US" sz="1300" dirty="0"/>
          </a:p>
        </p:txBody>
      </p:sp>
      <p:sp>
        <p:nvSpPr>
          <p:cNvPr id="6" name="Text 4"/>
          <p:cNvSpPr txBox="1"/>
          <p:nvPr/>
        </p:nvSpPr>
        <p:spPr>
          <a:xfrm>
            <a:off x="548640" y="1005840"/>
            <a:ext cx="11094415" cy="640080"/>
          </a:xfrm>
          <a:prstGeom prst="rect">
            <a:avLst/>
          </a:prstGeom>
          <a:noFill/>
          <a:ln/>
        </p:spPr>
        <p:txBody>
          <a:bodyPr wrap="square" lIns="0" tIns="0" rIns="0" bIns="0" rtlCol="0" anchor="ctr"/>
          <a:lstStyle/>
          <a:p>
            <a:pPr indent="0" marL="0">
              <a:buNone/>
            </a:pPr>
            <a:r>
              <a:rPr lang="en-US" sz="2700" b="1" dirty="0">
                <a:solidFill>
                  <a:srgbClr val="15171C"/>
                </a:solidFill>
                <a:latin typeface="Arial" pitchFamily="34" charset="0"/>
                <a:ea typeface="Arial" pitchFamily="34" charset="-122"/>
                <a:cs typeface="Arial" pitchFamily="34" charset="-120"/>
              </a:rPr>
              <a:t>¿A qué sublenguaje pertenece?</a:t>
            </a:r>
            <a:endParaRPr lang="en-US" sz="2700" dirty="0"/>
          </a:p>
        </p:txBody>
      </p:sp>
      <p:sp>
        <p:nvSpPr>
          <p:cNvPr id="7" name="Text 5"/>
          <p:cNvSpPr txBox="1"/>
          <p:nvPr/>
        </p:nvSpPr>
        <p:spPr>
          <a:xfrm>
            <a:off x="548640" y="1691640"/>
            <a:ext cx="11094415" cy="45720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Clasifica tú solo/a cada instrucción en DDL, DML, DCL o TCL.</a:t>
            </a:r>
            <a:endParaRPr lang="en-US" sz="1400" dirty="0"/>
          </a:p>
        </p:txBody>
      </p:sp>
      <p:sp>
        <p:nvSpPr>
          <p:cNvPr id="8" name="Shape 6"/>
          <p:cNvSpPr/>
          <p:nvPr/>
        </p:nvSpPr>
        <p:spPr>
          <a:xfrm>
            <a:off x="548640" y="2240280"/>
            <a:ext cx="11094415" cy="1828800"/>
          </a:xfrm>
          <a:prstGeom prst="roundRect">
            <a:avLst>
              <a:gd name="adj" fmla="val 4000"/>
            </a:avLst>
          </a:prstGeom>
          <a:solidFill>
            <a:srgbClr val="15171C"/>
          </a:solidFill>
          <a:ln/>
        </p:spPr>
      </p:sp>
      <p:sp>
        <p:nvSpPr>
          <p:cNvPr id="9" name="Text 7"/>
          <p:cNvSpPr txBox="1"/>
          <p:nvPr/>
        </p:nvSpPr>
        <p:spPr>
          <a:xfrm>
            <a:off x="777240" y="2404872"/>
            <a:ext cx="10637215" cy="1499616"/>
          </a:xfrm>
          <a:prstGeom prst="rect">
            <a:avLst/>
          </a:prstGeom>
          <a:noFill/>
          <a:ln/>
        </p:spPr>
        <p:txBody>
          <a:bodyPr wrap="square" lIns="0" tIns="0" rIns="0" bIns="0" rtlCol="0" anchor="t"/>
          <a:lstStyle/>
          <a:p>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CREATE TABLE</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Alumnos (dni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VARCHAR</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(9)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PRIMARY KEY</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a:t>
            </a:r>
            <a:pPr indent="0" marL="0">
              <a:lnSpc>
                <a:spcPts val="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INSERT INTO</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Alumnos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VALUES</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('04512378Z', 'Lucía');</a:t>
            </a:r>
            <a:pPr indent="0" marL="0">
              <a:lnSpc>
                <a:spcPts val="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GRANT SELECT</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ON</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Alumnos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TO</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 profesor;</a:t>
            </a:r>
            <a:pPr indent="0" marL="0">
              <a:lnSpc>
                <a:spcPts val="2000"/>
              </a:lnSpc>
              <a:buNone/>
            </a:pPr>
            <a:r>
              <a:rPr lang="en-US" sz="1300" dirty="0">
                <a:solidFill>
                  <a:srgbClr val="000000"/>
                </a:solidFill>
                <a:latin typeface="Courier New" pitchFamily="34" charset="0"/>
                <a:ea typeface="Courier New" pitchFamily="34" charset="-122"/>
                <a:cs typeface="Courier New" pitchFamily="34" charset="-120"/>
              </a:rPr>
              <a:t>
</a:t>
            </a:r>
            <a:pPr indent="0" marL="0">
              <a:lnSpc>
                <a:spcPts val="2000"/>
              </a:lnSpc>
              <a:buNone/>
            </a:pPr>
            <a:r>
              <a:rPr lang="en-US" sz="1300" b="1" dirty="0">
                <a:solidFill>
                  <a:srgbClr val="8FD0AA"/>
                </a:solidFill>
                <a:latin typeface="Courier New" pitchFamily="34" charset="0"/>
                <a:ea typeface="Courier New" pitchFamily="34" charset="-122"/>
                <a:cs typeface="Courier New" pitchFamily="34" charset="-120"/>
              </a:rPr>
              <a:t>COMMIT</a:t>
            </a:r>
            <a:pPr indent="0" marL="0">
              <a:lnSpc>
                <a:spcPts val="2000"/>
              </a:lnSpc>
              <a:buNone/>
            </a:pPr>
            <a:r>
              <a:rPr lang="en-US" sz="1300" dirty="0">
                <a:solidFill>
                  <a:srgbClr val="E9ECF7"/>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48640" y="4343400"/>
            <a:ext cx="2602154" cy="731520"/>
          </a:xfrm>
          <a:prstGeom prst="roundRect">
            <a:avLst>
              <a:gd name="adj" fmla="val 10000"/>
            </a:avLst>
          </a:prstGeom>
          <a:solidFill>
            <a:srgbClr val="FFFFFF"/>
          </a:solidFill>
          <a:ln w="19050">
            <a:solidFill>
              <a:srgbClr val="15171C"/>
            </a:solidFill>
            <a:prstDash val="solid"/>
          </a:ln>
        </p:spPr>
      </p:sp>
      <p:sp>
        <p:nvSpPr>
          <p:cNvPr id="11" name="Shape 9"/>
          <p:cNvSpPr/>
          <p:nvPr/>
        </p:nvSpPr>
        <p:spPr>
          <a:xfrm>
            <a:off x="713232" y="4489704"/>
            <a:ext cx="2272970" cy="292608"/>
          </a:xfrm>
          <a:prstGeom prst="roundRect">
            <a:avLst>
              <a:gd name="adj" fmla="val 50000"/>
            </a:avLst>
          </a:prstGeom>
          <a:solidFill>
            <a:srgbClr val="E7EAFC"/>
          </a:solidFill>
          <a:ln/>
        </p:spPr>
      </p:sp>
      <p:sp>
        <p:nvSpPr>
          <p:cNvPr id="12" name="Text 10"/>
          <p:cNvSpPr txBox="1"/>
          <p:nvPr/>
        </p:nvSpPr>
        <p:spPr>
          <a:xfrm>
            <a:off x="713232" y="448970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DDL</a:t>
            </a:r>
            <a:endParaRPr lang="en-US" sz="1100" dirty="0"/>
          </a:p>
        </p:txBody>
      </p:sp>
      <p:sp>
        <p:nvSpPr>
          <p:cNvPr id="13" name="Shape 11"/>
          <p:cNvSpPr/>
          <p:nvPr/>
        </p:nvSpPr>
        <p:spPr>
          <a:xfrm>
            <a:off x="3379394" y="4343400"/>
            <a:ext cx="2602154" cy="731520"/>
          </a:xfrm>
          <a:prstGeom prst="roundRect">
            <a:avLst>
              <a:gd name="adj" fmla="val 10000"/>
            </a:avLst>
          </a:prstGeom>
          <a:solidFill>
            <a:srgbClr val="FFFFFF"/>
          </a:solidFill>
          <a:ln w="19050">
            <a:solidFill>
              <a:srgbClr val="15171C"/>
            </a:solidFill>
            <a:prstDash val="solid"/>
          </a:ln>
        </p:spPr>
      </p:sp>
      <p:sp>
        <p:nvSpPr>
          <p:cNvPr id="14" name="Shape 12"/>
          <p:cNvSpPr/>
          <p:nvPr/>
        </p:nvSpPr>
        <p:spPr>
          <a:xfrm>
            <a:off x="3543986" y="4489704"/>
            <a:ext cx="2272970" cy="292608"/>
          </a:xfrm>
          <a:prstGeom prst="roundRect">
            <a:avLst>
              <a:gd name="adj" fmla="val 50000"/>
            </a:avLst>
          </a:prstGeom>
          <a:solidFill>
            <a:srgbClr val="E7EAFC"/>
          </a:solidFill>
          <a:ln/>
        </p:spPr>
      </p:sp>
      <p:sp>
        <p:nvSpPr>
          <p:cNvPr id="15" name="Text 13"/>
          <p:cNvSpPr txBox="1"/>
          <p:nvPr/>
        </p:nvSpPr>
        <p:spPr>
          <a:xfrm>
            <a:off x="3543986" y="448970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DML</a:t>
            </a:r>
            <a:endParaRPr lang="en-US" sz="1100" dirty="0"/>
          </a:p>
        </p:txBody>
      </p:sp>
      <p:sp>
        <p:nvSpPr>
          <p:cNvPr id="16" name="Shape 14"/>
          <p:cNvSpPr/>
          <p:nvPr/>
        </p:nvSpPr>
        <p:spPr>
          <a:xfrm>
            <a:off x="6210148" y="4343400"/>
            <a:ext cx="2602154" cy="731520"/>
          </a:xfrm>
          <a:prstGeom prst="roundRect">
            <a:avLst>
              <a:gd name="adj" fmla="val 10000"/>
            </a:avLst>
          </a:prstGeom>
          <a:solidFill>
            <a:srgbClr val="FFFFFF"/>
          </a:solidFill>
          <a:ln w="19050">
            <a:solidFill>
              <a:srgbClr val="15171C"/>
            </a:solidFill>
            <a:prstDash val="solid"/>
          </a:ln>
        </p:spPr>
      </p:sp>
      <p:sp>
        <p:nvSpPr>
          <p:cNvPr id="17" name="Shape 15"/>
          <p:cNvSpPr/>
          <p:nvPr/>
        </p:nvSpPr>
        <p:spPr>
          <a:xfrm>
            <a:off x="6374740" y="4489704"/>
            <a:ext cx="2272970" cy="292608"/>
          </a:xfrm>
          <a:prstGeom prst="roundRect">
            <a:avLst>
              <a:gd name="adj" fmla="val 50000"/>
            </a:avLst>
          </a:prstGeom>
          <a:solidFill>
            <a:srgbClr val="E7EAFC"/>
          </a:solidFill>
          <a:ln/>
        </p:spPr>
      </p:sp>
      <p:sp>
        <p:nvSpPr>
          <p:cNvPr id="18" name="Text 16"/>
          <p:cNvSpPr txBox="1"/>
          <p:nvPr/>
        </p:nvSpPr>
        <p:spPr>
          <a:xfrm>
            <a:off x="6374740" y="448970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DCL</a:t>
            </a:r>
            <a:endParaRPr lang="en-US" sz="1100" dirty="0"/>
          </a:p>
        </p:txBody>
      </p:sp>
      <p:sp>
        <p:nvSpPr>
          <p:cNvPr id="19" name="Shape 17"/>
          <p:cNvSpPr/>
          <p:nvPr/>
        </p:nvSpPr>
        <p:spPr>
          <a:xfrm>
            <a:off x="9040901" y="4343400"/>
            <a:ext cx="2602154" cy="731520"/>
          </a:xfrm>
          <a:prstGeom prst="roundRect">
            <a:avLst>
              <a:gd name="adj" fmla="val 10000"/>
            </a:avLst>
          </a:prstGeom>
          <a:solidFill>
            <a:srgbClr val="FFFFFF"/>
          </a:solidFill>
          <a:ln w="19050">
            <a:solidFill>
              <a:srgbClr val="15171C"/>
            </a:solidFill>
            <a:prstDash val="solid"/>
          </a:ln>
        </p:spPr>
      </p:sp>
      <p:sp>
        <p:nvSpPr>
          <p:cNvPr id="20" name="Shape 18"/>
          <p:cNvSpPr/>
          <p:nvPr/>
        </p:nvSpPr>
        <p:spPr>
          <a:xfrm>
            <a:off x="9205493" y="4489704"/>
            <a:ext cx="2272970" cy="292608"/>
          </a:xfrm>
          <a:prstGeom prst="roundRect">
            <a:avLst>
              <a:gd name="adj" fmla="val 50000"/>
            </a:avLst>
          </a:prstGeom>
          <a:solidFill>
            <a:srgbClr val="E7EAFC"/>
          </a:solidFill>
          <a:ln/>
        </p:spPr>
      </p:sp>
      <p:sp>
        <p:nvSpPr>
          <p:cNvPr id="21" name="Text 19"/>
          <p:cNvSpPr txBox="1"/>
          <p:nvPr/>
        </p:nvSpPr>
        <p:spPr>
          <a:xfrm>
            <a:off x="9205493" y="4489704"/>
            <a:ext cx="2272970"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TCL</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1005840"/>
            <a:ext cx="3291840" cy="3291840"/>
          </a:xfrm>
          <a:prstGeom prst="ellipse">
            <a:avLst/>
          </a:prstGeom>
          <a:solidFill>
            <a:srgbClr val="8ED0AA">
              <a:alpha val="22000"/>
            </a:srgbClr>
          </a:solidFill>
          <a:ln/>
        </p:spPr>
      </p:sp>
      <p:sp>
        <p:nvSpPr>
          <p:cNvPr id="3" name="Shape 1"/>
          <p:cNvSpPr/>
          <p:nvPr/>
        </p:nvSpPr>
        <p:spPr>
          <a:xfrm>
            <a:off x="548640" y="457200"/>
            <a:ext cx="502920" cy="502920"/>
          </a:xfrm>
          <a:prstGeom prst="ellipse">
            <a:avLst/>
          </a:prstGeom>
          <a:solidFill>
            <a:srgbClr val="3F9468"/>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3F9468"/>
                </a:solidFill>
                <a:latin typeface="Calibri" pitchFamily="34" charset="0"/>
                <a:ea typeface="Calibri" pitchFamily="34" charset="-122"/>
                <a:cs typeface="Calibri" pitchFamily="34" charset="-120"/>
              </a:rPr>
              <a:t>SOLUCIÓN</a:t>
            </a:r>
            <a:endParaRPr lang="en-US" sz="1300" dirty="0"/>
          </a:p>
        </p:txBody>
      </p:sp>
      <p:sp>
        <p:nvSpPr>
          <p:cNvPr id="6" name="Text 4"/>
          <p:cNvSpPr txBox="1"/>
          <p:nvPr/>
        </p:nvSpPr>
        <p:spPr>
          <a:xfrm>
            <a:off x="548640" y="1005840"/>
            <a:ext cx="11094415" cy="548640"/>
          </a:xfrm>
          <a:prstGeom prst="rect">
            <a:avLst/>
          </a:prstGeom>
          <a:noFill/>
          <a:ln/>
        </p:spPr>
        <p:txBody>
          <a:bodyPr wrap="square" lIns="0" tIns="0" rIns="0" bIns="0" rtlCol="0" anchor="ctr"/>
          <a:lstStyle/>
          <a:p>
            <a:pPr indent="0" marL="0">
              <a:buNone/>
            </a:pPr>
            <a:r>
              <a:rPr lang="en-US" sz="2700" b="1" dirty="0">
                <a:solidFill>
                  <a:srgbClr val="15171C"/>
                </a:solidFill>
                <a:latin typeface="Arial" pitchFamily="34" charset="0"/>
                <a:ea typeface="Arial" pitchFamily="34" charset="-122"/>
                <a:cs typeface="Arial" pitchFamily="34" charset="-120"/>
              </a:rPr>
              <a:t>Cada orden, su sublenguaje</a:t>
            </a:r>
            <a:endParaRPr lang="en-US" sz="2700" dirty="0"/>
          </a:p>
        </p:txBody>
      </p:sp>
      <p:sp>
        <p:nvSpPr>
          <p:cNvPr id="7" name="Shape 5"/>
          <p:cNvSpPr/>
          <p:nvPr/>
        </p:nvSpPr>
        <p:spPr>
          <a:xfrm>
            <a:off x="548640" y="1920240"/>
            <a:ext cx="5432908" cy="1737360"/>
          </a:xfrm>
          <a:prstGeom prst="roundRect">
            <a:avLst>
              <a:gd name="adj" fmla="val 4211"/>
            </a:avLst>
          </a:prstGeom>
          <a:solidFill>
            <a:srgbClr val="FFFFFF"/>
          </a:solidFill>
          <a:ln w="19050">
            <a:solidFill>
              <a:srgbClr val="15171C"/>
            </a:solidFill>
            <a:prstDash val="solid"/>
          </a:ln>
        </p:spPr>
      </p:sp>
      <p:sp>
        <p:nvSpPr>
          <p:cNvPr id="8" name="Shape 6"/>
          <p:cNvSpPr/>
          <p:nvPr/>
        </p:nvSpPr>
        <p:spPr>
          <a:xfrm>
            <a:off x="713232" y="2066544"/>
            <a:ext cx="5103724" cy="292608"/>
          </a:xfrm>
          <a:prstGeom prst="roundRect">
            <a:avLst>
              <a:gd name="adj" fmla="val 50000"/>
            </a:avLst>
          </a:prstGeom>
          <a:solidFill>
            <a:srgbClr val="E7EAFC"/>
          </a:solidFill>
          <a:ln/>
        </p:spPr>
      </p:sp>
      <p:sp>
        <p:nvSpPr>
          <p:cNvPr id="9" name="Text 7"/>
          <p:cNvSpPr txBox="1"/>
          <p:nvPr/>
        </p:nvSpPr>
        <p:spPr>
          <a:xfrm>
            <a:off x="713232" y="206654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DDL</a:t>
            </a:r>
            <a:endParaRPr lang="en-US" sz="1100" dirty="0"/>
          </a:p>
        </p:txBody>
      </p:sp>
      <p:sp>
        <p:nvSpPr>
          <p:cNvPr id="10" name="Text 8"/>
          <p:cNvSpPr txBox="1"/>
          <p:nvPr/>
        </p:nvSpPr>
        <p:spPr>
          <a:xfrm>
            <a:off x="713232" y="3200400"/>
            <a:ext cx="5103724"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CREATE TABLE Alumnos (...)</a:t>
            </a:r>
            <a:endParaRPr lang="en-US" sz="950" dirty="0"/>
          </a:p>
        </p:txBody>
      </p:sp>
      <p:sp>
        <p:nvSpPr>
          <p:cNvPr id="11" name="Shape 9"/>
          <p:cNvSpPr/>
          <p:nvPr/>
        </p:nvSpPr>
        <p:spPr>
          <a:xfrm>
            <a:off x="6210148" y="1920240"/>
            <a:ext cx="5432908" cy="1737360"/>
          </a:xfrm>
          <a:prstGeom prst="roundRect">
            <a:avLst>
              <a:gd name="adj" fmla="val 4211"/>
            </a:avLst>
          </a:prstGeom>
          <a:solidFill>
            <a:srgbClr val="FFFFFF"/>
          </a:solidFill>
          <a:ln w="19050">
            <a:solidFill>
              <a:srgbClr val="15171C"/>
            </a:solidFill>
            <a:prstDash val="solid"/>
          </a:ln>
        </p:spPr>
      </p:sp>
      <p:sp>
        <p:nvSpPr>
          <p:cNvPr id="12" name="Shape 10"/>
          <p:cNvSpPr/>
          <p:nvPr/>
        </p:nvSpPr>
        <p:spPr>
          <a:xfrm>
            <a:off x="6374740" y="2066544"/>
            <a:ext cx="5103724" cy="292608"/>
          </a:xfrm>
          <a:prstGeom prst="roundRect">
            <a:avLst>
              <a:gd name="adj" fmla="val 50000"/>
            </a:avLst>
          </a:prstGeom>
          <a:solidFill>
            <a:srgbClr val="E7EAFC"/>
          </a:solidFill>
          <a:ln/>
        </p:spPr>
      </p:sp>
      <p:sp>
        <p:nvSpPr>
          <p:cNvPr id="13" name="Text 11"/>
          <p:cNvSpPr txBox="1"/>
          <p:nvPr/>
        </p:nvSpPr>
        <p:spPr>
          <a:xfrm>
            <a:off x="6374740" y="206654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DML</a:t>
            </a:r>
            <a:endParaRPr lang="en-US" sz="1100" dirty="0"/>
          </a:p>
        </p:txBody>
      </p:sp>
      <p:sp>
        <p:nvSpPr>
          <p:cNvPr id="14" name="Text 12"/>
          <p:cNvSpPr txBox="1"/>
          <p:nvPr/>
        </p:nvSpPr>
        <p:spPr>
          <a:xfrm>
            <a:off x="6374740" y="3200400"/>
            <a:ext cx="5103724"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INSERT INTO Alumnos VALUES (...)</a:t>
            </a:r>
            <a:endParaRPr lang="en-US" sz="950" dirty="0"/>
          </a:p>
        </p:txBody>
      </p:sp>
      <p:sp>
        <p:nvSpPr>
          <p:cNvPr id="15" name="Shape 13"/>
          <p:cNvSpPr/>
          <p:nvPr/>
        </p:nvSpPr>
        <p:spPr>
          <a:xfrm>
            <a:off x="548640" y="3886200"/>
            <a:ext cx="5432908" cy="1737360"/>
          </a:xfrm>
          <a:prstGeom prst="roundRect">
            <a:avLst>
              <a:gd name="adj" fmla="val 4211"/>
            </a:avLst>
          </a:prstGeom>
          <a:solidFill>
            <a:srgbClr val="FFFFFF"/>
          </a:solidFill>
          <a:ln w="19050">
            <a:solidFill>
              <a:srgbClr val="15171C"/>
            </a:solidFill>
            <a:prstDash val="solid"/>
          </a:ln>
        </p:spPr>
      </p:sp>
      <p:sp>
        <p:nvSpPr>
          <p:cNvPr id="16" name="Shape 14"/>
          <p:cNvSpPr/>
          <p:nvPr/>
        </p:nvSpPr>
        <p:spPr>
          <a:xfrm>
            <a:off x="713232" y="4032504"/>
            <a:ext cx="5103724" cy="292608"/>
          </a:xfrm>
          <a:prstGeom prst="roundRect">
            <a:avLst>
              <a:gd name="adj" fmla="val 50000"/>
            </a:avLst>
          </a:prstGeom>
          <a:solidFill>
            <a:srgbClr val="E7EAFC"/>
          </a:solidFill>
          <a:ln/>
        </p:spPr>
      </p:sp>
      <p:sp>
        <p:nvSpPr>
          <p:cNvPr id="17" name="Text 15"/>
          <p:cNvSpPr txBox="1"/>
          <p:nvPr/>
        </p:nvSpPr>
        <p:spPr>
          <a:xfrm>
            <a:off x="713232" y="403250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DCL</a:t>
            </a:r>
            <a:endParaRPr lang="en-US" sz="1100" dirty="0"/>
          </a:p>
        </p:txBody>
      </p:sp>
      <p:sp>
        <p:nvSpPr>
          <p:cNvPr id="18" name="Text 16"/>
          <p:cNvSpPr txBox="1"/>
          <p:nvPr/>
        </p:nvSpPr>
        <p:spPr>
          <a:xfrm>
            <a:off x="713232" y="5166360"/>
            <a:ext cx="5103724"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GRANT SELECT ON Alumnos TO profesor;</a:t>
            </a:r>
            <a:endParaRPr lang="en-US" sz="950" dirty="0"/>
          </a:p>
        </p:txBody>
      </p:sp>
      <p:sp>
        <p:nvSpPr>
          <p:cNvPr id="19" name="Shape 17"/>
          <p:cNvSpPr/>
          <p:nvPr/>
        </p:nvSpPr>
        <p:spPr>
          <a:xfrm>
            <a:off x="6210148" y="3886200"/>
            <a:ext cx="5432908" cy="1737360"/>
          </a:xfrm>
          <a:prstGeom prst="roundRect">
            <a:avLst>
              <a:gd name="adj" fmla="val 4211"/>
            </a:avLst>
          </a:prstGeom>
          <a:solidFill>
            <a:srgbClr val="FFFFFF"/>
          </a:solidFill>
          <a:ln w="19050">
            <a:solidFill>
              <a:srgbClr val="15171C"/>
            </a:solidFill>
            <a:prstDash val="solid"/>
          </a:ln>
        </p:spPr>
      </p:sp>
      <p:sp>
        <p:nvSpPr>
          <p:cNvPr id="20" name="Shape 18"/>
          <p:cNvSpPr/>
          <p:nvPr/>
        </p:nvSpPr>
        <p:spPr>
          <a:xfrm>
            <a:off x="6374740" y="4032504"/>
            <a:ext cx="5103724" cy="292608"/>
          </a:xfrm>
          <a:prstGeom prst="roundRect">
            <a:avLst>
              <a:gd name="adj" fmla="val 50000"/>
            </a:avLst>
          </a:prstGeom>
          <a:solidFill>
            <a:srgbClr val="E7EAFC"/>
          </a:solidFill>
          <a:ln/>
        </p:spPr>
      </p:sp>
      <p:sp>
        <p:nvSpPr>
          <p:cNvPr id="21" name="Text 19"/>
          <p:cNvSpPr txBox="1"/>
          <p:nvPr/>
        </p:nvSpPr>
        <p:spPr>
          <a:xfrm>
            <a:off x="6374740" y="4032504"/>
            <a:ext cx="5103724" cy="292608"/>
          </a:xfrm>
          <a:prstGeom prst="rect">
            <a:avLst/>
          </a:prstGeom>
          <a:noFill/>
          <a:ln/>
        </p:spPr>
        <p:txBody>
          <a:bodyPr wrap="square" lIns="0" tIns="0" rIns="0" bIns="0" rtlCol="0" anchor="ctr"/>
          <a:lstStyle/>
          <a:p>
            <a:pPr algn="ctr" indent="0" marL="0">
              <a:buNone/>
            </a:pPr>
            <a:r>
              <a:rPr lang="en-US" sz="1100" b="1" dirty="0">
                <a:solidFill>
                  <a:srgbClr val="0D1A7A"/>
                </a:solidFill>
                <a:latin typeface="Calibri" pitchFamily="34" charset="0"/>
                <a:ea typeface="Calibri" pitchFamily="34" charset="-122"/>
                <a:cs typeface="Calibri" pitchFamily="34" charset="-120"/>
              </a:rPr>
              <a:t>TCL</a:t>
            </a:r>
            <a:endParaRPr lang="en-US" sz="1100" dirty="0"/>
          </a:p>
        </p:txBody>
      </p:sp>
      <p:sp>
        <p:nvSpPr>
          <p:cNvPr id="22" name="Text 20"/>
          <p:cNvSpPr txBox="1"/>
          <p:nvPr/>
        </p:nvSpPr>
        <p:spPr>
          <a:xfrm>
            <a:off x="6374740" y="5166360"/>
            <a:ext cx="5103724" cy="365760"/>
          </a:xfrm>
          <a:prstGeom prst="rect">
            <a:avLst/>
          </a:prstGeom>
          <a:solidFill>
            <a:srgbClr val="15171C"/>
          </a:solidFill>
          <a:ln/>
        </p:spPr>
        <p:txBody>
          <a:bodyPr wrap="square" lIns="50800" tIns="50800" rIns="50800" bIns="50800" rtlCol="0" anchor="ctr"/>
          <a:lstStyle/>
          <a:p>
            <a:pPr algn="ctr" indent="0" marL="0">
              <a:buNone/>
            </a:pPr>
            <a:r>
              <a:rPr lang="en-US" sz="950" dirty="0">
                <a:solidFill>
                  <a:srgbClr val="E9ECF7"/>
                </a:solidFill>
                <a:latin typeface="Courier New" pitchFamily="34" charset="0"/>
                <a:ea typeface="Courier New" pitchFamily="34" charset="-122"/>
                <a:cs typeface="Courier New" pitchFamily="34" charset="-120"/>
              </a:rPr>
              <a:t>COMMIT;</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08 — DÓNDE VIVE UNA BASE DE DATOS</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En casi todas partes</a:t>
            </a:r>
            <a:endParaRPr lang="en-US" sz="3000" dirty="0"/>
          </a:p>
        </p:txBody>
      </p:sp>
      <p:sp>
        <p:nvSpPr>
          <p:cNvPr id="4" name="Shape 2"/>
          <p:cNvSpPr/>
          <p:nvPr/>
        </p:nvSpPr>
        <p:spPr>
          <a:xfrm>
            <a:off x="548640" y="2011680"/>
            <a:ext cx="2622728" cy="1371600"/>
          </a:xfrm>
          <a:prstGeom prst="roundRect">
            <a:avLst>
              <a:gd name="adj" fmla="val 5333"/>
            </a:avLst>
          </a:prstGeom>
          <a:solidFill>
            <a:srgbClr val="FFFFFF"/>
          </a:solidFill>
          <a:ln w="19050">
            <a:solidFill>
              <a:srgbClr val="15171C"/>
            </a:solidFill>
            <a:prstDash val="solid"/>
          </a:ln>
        </p:spPr>
      </p:sp>
      <p:sp>
        <p:nvSpPr>
          <p:cNvPr id="5" name="Text 3"/>
          <p:cNvSpPr txBox="1"/>
          <p:nvPr/>
        </p:nvSpPr>
        <p:spPr>
          <a:xfrm>
            <a:off x="685800" y="213969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Administrativas</a:t>
            </a:r>
            <a:endParaRPr lang="en-US" sz="1300" dirty="0"/>
          </a:p>
        </p:txBody>
      </p:sp>
      <p:sp>
        <p:nvSpPr>
          <p:cNvPr id="6" name="Text 4"/>
          <p:cNvSpPr txBox="1"/>
          <p:nvPr/>
        </p:nvSpPr>
        <p:spPr>
          <a:xfrm>
            <a:off x="685800" y="251460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Clientes, pedidos, facturas.</a:t>
            </a:r>
            <a:endParaRPr lang="en-US" sz="1050" dirty="0"/>
          </a:p>
        </p:txBody>
      </p:sp>
      <p:sp>
        <p:nvSpPr>
          <p:cNvPr id="7" name="Shape 5"/>
          <p:cNvSpPr/>
          <p:nvPr/>
        </p:nvSpPr>
        <p:spPr>
          <a:xfrm>
            <a:off x="3372536" y="2011680"/>
            <a:ext cx="2622728" cy="1371600"/>
          </a:xfrm>
          <a:prstGeom prst="roundRect">
            <a:avLst>
              <a:gd name="adj" fmla="val 5333"/>
            </a:avLst>
          </a:prstGeom>
          <a:solidFill>
            <a:srgbClr val="FFFFFF"/>
          </a:solidFill>
          <a:ln w="19050">
            <a:solidFill>
              <a:srgbClr val="15171C"/>
            </a:solidFill>
            <a:prstDash val="solid"/>
          </a:ln>
        </p:spPr>
      </p:sp>
      <p:sp>
        <p:nvSpPr>
          <p:cNvPr id="8" name="Text 6"/>
          <p:cNvSpPr txBox="1"/>
          <p:nvPr/>
        </p:nvSpPr>
        <p:spPr>
          <a:xfrm>
            <a:off x="3509696" y="213969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Contables</a:t>
            </a:r>
            <a:endParaRPr lang="en-US" sz="1300" dirty="0"/>
          </a:p>
        </p:txBody>
      </p:sp>
      <p:sp>
        <p:nvSpPr>
          <p:cNvPr id="9" name="Text 7"/>
          <p:cNvSpPr txBox="1"/>
          <p:nvPr/>
        </p:nvSpPr>
        <p:spPr>
          <a:xfrm>
            <a:off x="3509696" y="251460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Pagos, balances, impuestos.</a:t>
            </a:r>
            <a:endParaRPr lang="en-US" sz="1050" dirty="0"/>
          </a:p>
        </p:txBody>
      </p:sp>
      <p:sp>
        <p:nvSpPr>
          <p:cNvPr id="10" name="Shape 8"/>
          <p:cNvSpPr/>
          <p:nvPr/>
        </p:nvSpPr>
        <p:spPr>
          <a:xfrm>
            <a:off x="6196432" y="2011680"/>
            <a:ext cx="2622728" cy="1371600"/>
          </a:xfrm>
          <a:prstGeom prst="roundRect">
            <a:avLst>
              <a:gd name="adj" fmla="val 5333"/>
            </a:avLst>
          </a:prstGeom>
          <a:solidFill>
            <a:srgbClr val="FFFFFF"/>
          </a:solidFill>
          <a:ln w="19050">
            <a:solidFill>
              <a:srgbClr val="15171C"/>
            </a:solidFill>
            <a:prstDash val="solid"/>
          </a:ln>
        </p:spPr>
      </p:sp>
      <p:sp>
        <p:nvSpPr>
          <p:cNvPr id="11" name="Text 9"/>
          <p:cNvSpPr txBox="1"/>
          <p:nvPr/>
        </p:nvSpPr>
        <p:spPr>
          <a:xfrm>
            <a:off x="6333592" y="213969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Motores de búsqueda</a:t>
            </a:r>
            <a:endParaRPr lang="en-US" sz="1300" dirty="0"/>
          </a:p>
        </p:txBody>
      </p:sp>
      <p:sp>
        <p:nvSpPr>
          <p:cNvPr id="12" name="Text 10"/>
          <p:cNvSpPr txBox="1"/>
          <p:nvPr/>
        </p:nvSpPr>
        <p:spPr>
          <a:xfrm>
            <a:off x="6333592" y="251460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Google indexa casi todo internet.</a:t>
            </a:r>
            <a:endParaRPr lang="en-US" sz="1050" dirty="0"/>
          </a:p>
        </p:txBody>
      </p:sp>
      <p:sp>
        <p:nvSpPr>
          <p:cNvPr id="13" name="Shape 11"/>
          <p:cNvSpPr/>
          <p:nvPr/>
        </p:nvSpPr>
        <p:spPr>
          <a:xfrm>
            <a:off x="9020327" y="2011680"/>
            <a:ext cx="2622728" cy="1371600"/>
          </a:xfrm>
          <a:prstGeom prst="roundRect">
            <a:avLst>
              <a:gd name="adj" fmla="val 5333"/>
            </a:avLst>
          </a:prstGeom>
          <a:solidFill>
            <a:srgbClr val="FFFFFF"/>
          </a:solidFill>
          <a:ln w="19050">
            <a:solidFill>
              <a:srgbClr val="15171C"/>
            </a:solidFill>
            <a:prstDash val="solid"/>
          </a:ln>
        </p:spPr>
      </p:sp>
      <p:sp>
        <p:nvSpPr>
          <p:cNvPr id="14" name="Text 12"/>
          <p:cNvSpPr txBox="1"/>
          <p:nvPr/>
        </p:nvSpPr>
        <p:spPr>
          <a:xfrm>
            <a:off x="9157487" y="2139696"/>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Científicas</a:t>
            </a:r>
            <a:endParaRPr lang="en-US" sz="1300" dirty="0"/>
          </a:p>
        </p:txBody>
      </p:sp>
      <p:sp>
        <p:nvSpPr>
          <p:cNvPr id="15" name="Text 13"/>
          <p:cNvSpPr txBox="1"/>
          <p:nvPr/>
        </p:nvSpPr>
        <p:spPr>
          <a:xfrm>
            <a:off x="9157487" y="2514600"/>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Datos climáticos, genómicos.</a:t>
            </a:r>
            <a:endParaRPr lang="en-US" sz="1050" dirty="0"/>
          </a:p>
        </p:txBody>
      </p:sp>
      <p:sp>
        <p:nvSpPr>
          <p:cNvPr id="16" name="Shape 14"/>
          <p:cNvSpPr/>
          <p:nvPr/>
        </p:nvSpPr>
        <p:spPr>
          <a:xfrm>
            <a:off x="548640" y="3584448"/>
            <a:ext cx="2622728" cy="1371600"/>
          </a:xfrm>
          <a:prstGeom prst="roundRect">
            <a:avLst>
              <a:gd name="adj" fmla="val 5333"/>
            </a:avLst>
          </a:prstGeom>
          <a:solidFill>
            <a:srgbClr val="FFFFFF"/>
          </a:solidFill>
          <a:ln w="19050">
            <a:solidFill>
              <a:srgbClr val="15171C"/>
            </a:solidFill>
            <a:prstDash val="solid"/>
          </a:ln>
        </p:spPr>
      </p:sp>
      <p:sp>
        <p:nvSpPr>
          <p:cNvPr id="17" name="Text 15"/>
          <p:cNvSpPr txBox="1"/>
          <p:nvPr/>
        </p:nvSpPr>
        <p:spPr>
          <a:xfrm>
            <a:off x="685800" y="3712464"/>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Bibliotecas</a:t>
            </a:r>
            <a:endParaRPr lang="en-US" sz="1300" dirty="0"/>
          </a:p>
        </p:txBody>
      </p:sp>
      <p:sp>
        <p:nvSpPr>
          <p:cNvPr id="18" name="Text 16"/>
          <p:cNvSpPr txBox="1"/>
          <p:nvPr/>
        </p:nvSpPr>
        <p:spPr>
          <a:xfrm>
            <a:off x="685800" y="4087368"/>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Del instituto a Amazon.</a:t>
            </a:r>
            <a:endParaRPr lang="en-US" sz="1050" dirty="0"/>
          </a:p>
        </p:txBody>
      </p:sp>
      <p:sp>
        <p:nvSpPr>
          <p:cNvPr id="19" name="Shape 17"/>
          <p:cNvSpPr/>
          <p:nvPr/>
        </p:nvSpPr>
        <p:spPr>
          <a:xfrm>
            <a:off x="3372536" y="3584448"/>
            <a:ext cx="2622728" cy="1371600"/>
          </a:xfrm>
          <a:prstGeom prst="roundRect">
            <a:avLst>
              <a:gd name="adj" fmla="val 5333"/>
            </a:avLst>
          </a:prstGeom>
          <a:solidFill>
            <a:srgbClr val="FFFFFF"/>
          </a:solidFill>
          <a:ln w="19050">
            <a:solidFill>
              <a:srgbClr val="15171C"/>
            </a:solidFill>
            <a:prstDash val="solid"/>
          </a:ln>
        </p:spPr>
      </p:sp>
      <p:sp>
        <p:nvSpPr>
          <p:cNvPr id="20" name="Text 18"/>
          <p:cNvSpPr txBox="1"/>
          <p:nvPr/>
        </p:nvSpPr>
        <p:spPr>
          <a:xfrm>
            <a:off x="3509696" y="3712464"/>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Censos</a:t>
            </a:r>
            <a:endParaRPr lang="en-US" sz="1300" dirty="0"/>
          </a:p>
        </p:txBody>
      </p:sp>
      <p:sp>
        <p:nvSpPr>
          <p:cNvPr id="21" name="Text 19"/>
          <p:cNvSpPr txBox="1"/>
          <p:nvPr/>
        </p:nvSpPr>
        <p:spPr>
          <a:xfrm>
            <a:off x="3509696" y="4087368"/>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Demografía de pueblos y países.</a:t>
            </a:r>
            <a:endParaRPr lang="en-US" sz="1050" dirty="0"/>
          </a:p>
        </p:txBody>
      </p:sp>
      <p:sp>
        <p:nvSpPr>
          <p:cNvPr id="22" name="Shape 20"/>
          <p:cNvSpPr/>
          <p:nvPr/>
        </p:nvSpPr>
        <p:spPr>
          <a:xfrm>
            <a:off x="6196432" y="3584448"/>
            <a:ext cx="2622728" cy="1371600"/>
          </a:xfrm>
          <a:prstGeom prst="roundRect">
            <a:avLst>
              <a:gd name="adj" fmla="val 5333"/>
            </a:avLst>
          </a:prstGeom>
          <a:solidFill>
            <a:srgbClr val="FFFFFF"/>
          </a:solidFill>
          <a:ln w="19050">
            <a:solidFill>
              <a:srgbClr val="15171C"/>
            </a:solidFill>
            <a:prstDash val="solid"/>
          </a:ln>
        </p:spPr>
      </p:sp>
      <p:sp>
        <p:nvSpPr>
          <p:cNvPr id="23" name="Text 21"/>
          <p:cNvSpPr txBox="1"/>
          <p:nvPr/>
        </p:nvSpPr>
        <p:spPr>
          <a:xfrm>
            <a:off x="6333592" y="3712464"/>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Antivirus</a:t>
            </a:r>
            <a:endParaRPr lang="en-US" sz="1300" dirty="0"/>
          </a:p>
        </p:txBody>
      </p:sp>
      <p:sp>
        <p:nvSpPr>
          <p:cNvPr id="24" name="Text 22"/>
          <p:cNvSpPr txBox="1"/>
          <p:nvPr/>
        </p:nvSpPr>
        <p:spPr>
          <a:xfrm>
            <a:off x="6333592" y="4087368"/>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Catálogos de malware conocido.</a:t>
            </a:r>
            <a:endParaRPr lang="en-US" sz="1050" dirty="0"/>
          </a:p>
        </p:txBody>
      </p:sp>
      <p:sp>
        <p:nvSpPr>
          <p:cNvPr id="25" name="Shape 23"/>
          <p:cNvSpPr/>
          <p:nvPr/>
        </p:nvSpPr>
        <p:spPr>
          <a:xfrm>
            <a:off x="9020327" y="3584448"/>
            <a:ext cx="2622728" cy="1371600"/>
          </a:xfrm>
          <a:prstGeom prst="roundRect">
            <a:avLst>
              <a:gd name="adj" fmla="val 5333"/>
            </a:avLst>
          </a:prstGeom>
          <a:solidFill>
            <a:srgbClr val="FFFFFF"/>
          </a:solidFill>
          <a:ln w="19050">
            <a:solidFill>
              <a:srgbClr val="15171C"/>
            </a:solidFill>
            <a:prstDash val="solid"/>
          </a:ln>
        </p:spPr>
      </p:sp>
      <p:sp>
        <p:nvSpPr>
          <p:cNvPr id="26" name="Text 24"/>
          <p:cNvSpPr txBox="1"/>
          <p:nvPr/>
        </p:nvSpPr>
        <p:spPr>
          <a:xfrm>
            <a:off x="9157487" y="3712464"/>
            <a:ext cx="2348408" cy="365760"/>
          </a:xfrm>
          <a:prstGeom prst="rect">
            <a:avLst/>
          </a:prstGeom>
          <a:noFill/>
          <a:ln/>
        </p:spPr>
        <p:txBody>
          <a:bodyPr wrap="square" lIns="0" tIns="0" rIns="0" bIns="0" rtlCol="0" anchor="ctr"/>
          <a:lstStyle/>
          <a:p>
            <a:pPr indent="0" marL="0">
              <a:buNone/>
            </a:pPr>
            <a:r>
              <a:rPr lang="en-US" sz="1300" b="1" dirty="0">
                <a:solidFill>
                  <a:srgbClr val="15171C"/>
                </a:solidFill>
                <a:latin typeface="Arial" pitchFamily="34" charset="0"/>
                <a:ea typeface="Arial" pitchFamily="34" charset="-122"/>
                <a:cs typeface="Arial" pitchFamily="34" charset="-120"/>
              </a:rPr>
              <a:t>Configuración</a:t>
            </a:r>
            <a:endParaRPr lang="en-US" sz="1300" dirty="0"/>
          </a:p>
        </p:txBody>
      </p:sp>
      <p:sp>
        <p:nvSpPr>
          <p:cNvPr id="27" name="Text 25"/>
          <p:cNvSpPr txBox="1"/>
          <p:nvPr/>
        </p:nvSpPr>
        <p:spPr>
          <a:xfrm>
            <a:off x="9157487" y="4087368"/>
            <a:ext cx="2348408" cy="777240"/>
          </a:xfrm>
          <a:prstGeom prst="rect">
            <a:avLst/>
          </a:prstGeom>
          <a:noFill/>
          <a:ln/>
        </p:spPr>
        <p:txBody>
          <a:bodyPr wrap="square" lIns="0" tIns="0" rIns="0" bIns="0" rtlCol="0" anchor="t"/>
          <a:lstStyle/>
          <a:p>
            <a:pPr indent="0" marL="0">
              <a:buNone/>
            </a:pPr>
            <a:r>
              <a:rPr lang="en-US" sz="1050" dirty="0">
                <a:solidFill>
                  <a:srgbClr val="4B4F58"/>
                </a:solidFill>
                <a:latin typeface="Calibri" pitchFamily="34" charset="0"/>
                <a:ea typeface="Calibri" pitchFamily="34" charset="-122"/>
                <a:cs typeface="Calibri" pitchFamily="34" charset="-120"/>
              </a:rPr>
              <a:t>El registro de Windows.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914400"/>
            <a:ext cx="3108960" cy="3108960"/>
          </a:xfrm>
          <a:prstGeom prst="ellipse">
            <a:avLst/>
          </a:prstGeom>
          <a:solidFill>
            <a:srgbClr val="FF5A2E">
              <a:alpha val="16000"/>
            </a:srgbClr>
          </a:solidFill>
          <a:ln/>
        </p:spPr>
      </p:sp>
      <p:sp>
        <p:nvSpPr>
          <p:cNvPr id="3" name="Shape 1"/>
          <p:cNvSpPr/>
          <p:nvPr/>
        </p:nvSpPr>
        <p:spPr>
          <a:xfrm>
            <a:off x="548640" y="457200"/>
            <a:ext cx="502920" cy="502920"/>
          </a:xfrm>
          <a:prstGeom prst="ellipse">
            <a:avLst/>
          </a:prstGeom>
          <a:solidFill>
            <a:srgbClr val="FF5A2E"/>
          </a:solidFill>
          <a:ln/>
        </p:spPr>
      </p:sp>
      <p:sp>
        <p:nvSpPr>
          <p:cNvPr id="4" name="Text 2"/>
          <p:cNvSpPr txBox="1"/>
          <p:nvPr/>
        </p:nvSpPr>
        <p:spPr>
          <a:xfrm>
            <a:off x="548640" y="457200"/>
            <a:ext cx="502920"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a:t>
            </a:r>
            <a:endParaRPr lang="en-US" sz="1650" dirty="0"/>
          </a:p>
        </p:txBody>
      </p:sp>
      <p:sp>
        <p:nvSpPr>
          <p:cNvPr id="5" name="Text 3"/>
          <p:cNvSpPr txBox="1"/>
          <p:nvPr/>
        </p:nvSpPr>
        <p:spPr>
          <a:xfrm>
            <a:off x="1188720" y="502920"/>
            <a:ext cx="10362895" cy="365760"/>
          </a:xfrm>
          <a:prstGeom prst="rect">
            <a:avLst/>
          </a:prstGeom>
          <a:noFill/>
          <a:ln/>
        </p:spPr>
        <p:txBody>
          <a:bodyPr wrap="square" lIns="0" tIns="0" rIns="0" bIns="0" rtlCol="0" anchor="ctr"/>
          <a:lstStyle/>
          <a:p>
            <a:pPr indent="0" marL="0">
              <a:buNone/>
            </a:pPr>
            <a:r>
              <a:rPr lang="en-US" sz="1300" b="1" dirty="0">
                <a:solidFill>
                  <a:srgbClr val="FF5A2E"/>
                </a:solidFill>
                <a:latin typeface="Calibri" pitchFamily="34" charset="0"/>
                <a:ea typeface="Calibri" pitchFamily="34" charset="-122"/>
                <a:cs typeface="Calibri" pitchFamily="34" charset="-120"/>
              </a:rPr>
              <a:t>LISTENING · ACTIVIDAD EN EQUIPO</a:t>
            </a:r>
            <a:endParaRPr lang="en-US" sz="1300" dirty="0"/>
          </a:p>
        </p:txBody>
      </p:sp>
      <p:sp>
        <p:nvSpPr>
          <p:cNvPr id="6" name="Text 4"/>
          <p:cNvSpPr txBox="1"/>
          <p:nvPr/>
        </p:nvSpPr>
        <p:spPr>
          <a:xfrm>
            <a:off x="548640" y="1005840"/>
            <a:ext cx="11094415" cy="640080"/>
          </a:xfrm>
          <a:prstGeom prst="rect">
            <a:avLst/>
          </a:prstGeom>
          <a:noFill/>
          <a:ln/>
        </p:spPr>
        <p:txBody>
          <a:bodyPr wrap="square" lIns="0" tIns="0" rIns="0" bIns="0" rtlCol="0" anchor="ctr"/>
          <a:lstStyle/>
          <a:p>
            <a:pPr indent="0" marL="0">
              <a:buNone/>
            </a:pPr>
            <a:r>
              <a:rPr lang="en-US" sz="2800" b="1" dirty="0">
                <a:solidFill>
                  <a:srgbClr val="15171C"/>
                </a:solidFill>
                <a:latin typeface="Arial" pitchFamily="34" charset="0"/>
                <a:ea typeface="Arial" pitchFamily="34" charset="-122"/>
                <a:cs typeface="Arial" pitchFamily="34" charset="-120"/>
              </a:rPr>
              <a:t>El problema de Ana</a:t>
            </a:r>
            <a:endParaRPr lang="en-US" sz="2800" dirty="0"/>
          </a:p>
        </p:txBody>
      </p:sp>
      <p:sp>
        <p:nvSpPr>
          <p:cNvPr id="7" name="Text 5"/>
          <p:cNvSpPr txBox="1"/>
          <p:nvPr/>
        </p:nvSpPr>
        <p:spPr>
          <a:xfrm>
            <a:off x="548640" y="1737360"/>
            <a:ext cx="11094415" cy="54864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Escuchad la grabación (una o dos veces) y luego debatid en equipo — intentad responder en inglés.</a:t>
            </a:r>
            <a:endParaRPr lang="en-US" sz="1400" dirty="0"/>
          </a:p>
        </p:txBody>
      </p:sp>
      <p:sp>
        <p:nvSpPr>
          <p:cNvPr id="8" name="Shape 6"/>
          <p:cNvSpPr/>
          <p:nvPr/>
        </p:nvSpPr>
        <p:spPr>
          <a:xfrm>
            <a:off x="548640" y="2377440"/>
            <a:ext cx="11094415" cy="640080"/>
          </a:xfrm>
          <a:prstGeom prst="roundRect">
            <a:avLst>
              <a:gd name="adj" fmla="val 14286"/>
            </a:avLst>
          </a:prstGeom>
          <a:solidFill>
            <a:srgbClr val="FFFFFF"/>
          </a:solidFill>
          <a:ln w="19050">
            <a:solidFill>
              <a:srgbClr val="15171C"/>
            </a:solidFill>
            <a:prstDash val="solid"/>
          </a:ln>
        </p:spPr>
      </p:sp>
      <p:sp>
        <p:nvSpPr>
          <p:cNvPr id="9" name="Text 7"/>
          <p:cNvSpPr txBox="1"/>
          <p:nvPr/>
        </p:nvSpPr>
        <p:spPr>
          <a:xfrm>
            <a:off x="777240" y="2377440"/>
            <a:ext cx="10637215" cy="640080"/>
          </a:xfrm>
          <a:prstGeom prst="rect">
            <a:avLst/>
          </a:prstGeom>
          <a:noFill/>
          <a:ln/>
        </p:spPr>
        <p:txBody>
          <a:bodyPr wrap="square" lIns="0" tIns="0" rIns="0" bIns="0" rtlCol="0" anchor="ctr"/>
          <a:lstStyle/>
          <a:p>
            <a:pPr algn="l" indent="0" marL="0">
              <a:buNone/>
            </a:pPr>
            <a:r>
              <a:rPr lang="en-US" sz="1300" b="1" dirty="0">
                <a:solidFill>
                  <a:srgbClr val="0D1A7A"/>
                </a:solidFill>
                <a:latin typeface="Calibri" pitchFamily="34" charset="0"/>
                <a:ea typeface="Calibri" pitchFamily="34" charset="-122"/>
                <a:cs typeface="Calibri" pitchFamily="34" charset="-120"/>
              </a:rPr>
              <a:t>🔊  Audio (inglés) — archivo: assets/audio/listening-anna.mp3</a:t>
            </a:r>
            <a:endParaRPr lang="en-US" sz="1300" dirty="0"/>
          </a:p>
        </p:txBody>
      </p:sp>
      <p:sp>
        <p:nvSpPr>
          <p:cNvPr id="10" name="Text 8"/>
          <p:cNvSpPr txBox="1"/>
          <p:nvPr/>
        </p:nvSpPr>
        <p:spPr>
          <a:xfrm>
            <a:off x="548640" y="3200400"/>
            <a:ext cx="11094415" cy="1554480"/>
          </a:xfrm>
          <a:prstGeom prst="rect">
            <a:avLst/>
          </a:prstGeom>
          <a:noFill/>
          <a:ln/>
        </p:spPr>
        <p:txBody>
          <a:bodyPr wrap="square" lIns="0" tIns="0" rIns="0" bIns="0" rtlCol="0" anchor="t"/>
          <a:lstStyle/>
          <a:p>
            <a:pPr indent="0" marL="0">
              <a:buNone/>
            </a:pPr>
            <a:r>
              <a:rPr lang="en-US" sz="1150" i="1" dirty="0">
                <a:solidFill>
                  <a:srgbClr val="4B4F58"/>
                </a:solidFill>
                <a:latin typeface="Calibri" pitchFamily="34" charset="0"/>
                <a:ea typeface="Calibri" pitchFamily="34" charset="-122"/>
                <a:cs typeface="Calibri" pitchFamily="34" charset="-120"/>
              </a:rPr>
              <a:t>Transcripción: Anna manages a small clothing shop. She keeps every sale in one spreadsheet, and every delivery in a different one. Last month, a customer returned a jacket. The return was recorded in the deliveries file… but nobody updated the sales file. When Anna checked her monthly report, the numbers didn't match, and she spent two hours looking for the mistake. Her brother, who studies Database Systems, told her: “You don't have a data problem. You have a redundancy and an inconsistency problem. A real database would solve this in seconds.”</a:t>
            </a:r>
            <a:endParaRPr lang="en-US" sz="1150" dirty="0"/>
          </a:p>
        </p:txBody>
      </p:sp>
      <p:sp>
        <p:nvSpPr>
          <p:cNvPr id="11" name="Shape 9"/>
          <p:cNvSpPr/>
          <p:nvPr/>
        </p:nvSpPr>
        <p:spPr>
          <a:xfrm>
            <a:off x="548640" y="4892040"/>
            <a:ext cx="11094415" cy="502920"/>
          </a:xfrm>
          <a:prstGeom prst="roundRect">
            <a:avLst>
              <a:gd name="adj" fmla="val 50909"/>
            </a:avLst>
          </a:prstGeom>
          <a:solidFill>
            <a:srgbClr val="FFFFFF"/>
          </a:solidFill>
          <a:ln w="19050">
            <a:solidFill>
              <a:srgbClr val="15171C"/>
            </a:solidFill>
            <a:prstDash val="solid"/>
          </a:ln>
        </p:spPr>
      </p:sp>
      <p:sp>
        <p:nvSpPr>
          <p:cNvPr id="12" name="Text 10"/>
          <p:cNvSpPr txBox="1"/>
          <p:nvPr/>
        </p:nvSpPr>
        <p:spPr>
          <a:xfrm>
            <a:off x="822960" y="4892040"/>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What two problems does Anna have?</a:t>
            </a:r>
            <a:endParaRPr lang="en-US" sz="1400" dirty="0"/>
          </a:p>
        </p:txBody>
      </p:sp>
      <p:sp>
        <p:nvSpPr>
          <p:cNvPr id="13" name="Shape 11"/>
          <p:cNvSpPr/>
          <p:nvPr/>
        </p:nvSpPr>
        <p:spPr>
          <a:xfrm>
            <a:off x="548640" y="5541264"/>
            <a:ext cx="11094415" cy="502920"/>
          </a:xfrm>
          <a:prstGeom prst="roundRect">
            <a:avLst>
              <a:gd name="adj" fmla="val 50909"/>
            </a:avLst>
          </a:prstGeom>
          <a:solidFill>
            <a:srgbClr val="FFFFFF"/>
          </a:solidFill>
          <a:ln w="19050">
            <a:solidFill>
              <a:srgbClr val="15171C"/>
            </a:solidFill>
            <a:prstDash val="solid"/>
          </a:ln>
        </p:spPr>
      </p:sp>
      <p:sp>
        <p:nvSpPr>
          <p:cNvPr id="14" name="Text 12"/>
          <p:cNvSpPr txBox="1"/>
          <p:nvPr/>
        </p:nvSpPr>
        <p:spPr>
          <a:xfrm>
            <a:off x="822960" y="5541264"/>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Which concepts from this unit do they relate to?</a:t>
            </a:r>
            <a:endParaRPr lang="en-US" sz="1400" dirty="0"/>
          </a:p>
        </p:txBody>
      </p:sp>
      <p:sp>
        <p:nvSpPr>
          <p:cNvPr id="15" name="Shape 13"/>
          <p:cNvSpPr/>
          <p:nvPr/>
        </p:nvSpPr>
        <p:spPr>
          <a:xfrm>
            <a:off x="548640" y="6190488"/>
            <a:ext cx="11094415" cy="502920"/>
          </a:xfrm>
          <a:prstGeom prst="roundRect">
            <a:avLst>
              <a:gd name="adj" fmla="val 50909"/>
            </a:avLst>
          </a:prstGeom>
          <a:solidFill>
            <a:srgbClr val="FFFFFF"/>
          </a:solidFill>
          <a:ln w="19050">
            <a:solidFill>
              <a:srgbClr val="15171C"/>
            </a:solidFill>
            <a:prstDash val="solid"/>
          </a:ln>
        </p:spPr>
      </p:sp>
      <p:sp>
        <p:nvSpPr>
          <p:cNvPr id="16" name="Text 14"/>
          <p:cNvSpPr txBox="1"/>
          <p:nvPr/>
        </p:nvSpPr>
        <p:spPr>
          <a:xfrm>
            <a:off x="822960" y="6190488"/>
            <a:ext cx="10545775" cy="502920"/>
          </a:xfrm>
          <a:prstGeom prst="rect">
            <a:avLst/>
          </a:prstGeom>
          <a:noFill/>
          <a:ln/>
        </p:spPr>
        <p:txBody>
          <a:bodyPr wrap="square" lIns="0" tIns="0" rIns="0" bIns="0" rtlCol="0" anchor="ctr"/>
          <a:lstStyle/>
          <a:p>
            <a:pPr algn="l" indent="0" marL="0">
              <a:buNone/>
            </a:pPr>
            <a:r>
              <a:rPr lang="en-US" sz="1400" b="1" dirty="0">
                <a:solidFill>
                  <a:srgbClr val="15171C"/>
                </a:solidFill>
                <a:latin typeface="Arial" pitchFamily="34" charset="0"/>
                <a:ea typeface="Arial" pitchFamily="34" charset="-122"/>
                <a:cs typeface="Arial" pitchFamily="34" charset="-120"/>
              </a:rPr>
              <a:t>What would you recommend to her?</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1188720"/>
            <a:ext cx="3474720" cy="3474720"/>
          </a:xfrm>
          <a:prstGeom prst="ellipse">
            <a:avLst/>
          </a:prstGeom>
          <a:solidFill>
            <a:srgbClr val="FFD23F">
              <a:alpha val="50000"/>
            </a:srgbClr>
          </a:solidFill>
          <a:ln/>
        </p:spPr>
      </p:sp>
      <p:sp>
        <p:nvSpPr>
          <p:cNvPr id="3" name="Text 1"/>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REPASO</a:t>
            </a:r>
            <a:endParaRPr lang="en-US" sz="1300" dirty="0"/>
          </a:p>
        </p:txBody>
      </p:sp>
      <p:sp>
        <p:nvSpPr>
          <p:cNvPr id="4" name="Text 2"/>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La ruleta de preguntas</a:t>
            </a:r>
            <a:endParaRPr lang="en-US" sz="3000" dirty="0"/>
          </a:p>
        </p:txBody>
      </p:sp>
      <p:sp>
        <p:nvSpPr>
          <p:cNvPr id="5" name="Text 3"/>
          <p:cNvSpPr txBox="1"/>
          <p:nvPr/>
        </p:nvSpPr>
        <p:spPr>
          <a:xfrm>
            <a:off x="548640" y="1417320"/>
            <a:ext cx="11094415" cy="457200"/>
          </a:xfrm>
          <a:prstGeom prst="rect">
            <a:avLst/>
          </a:prstGeom>
          <a:noFill/>
          <a:ln/>
        </p:spPr>
        <p:txBody>
          <a:bodyPr wrap="square" lIns="0" tIns="0" rIns="0" bIns="0" rtlCol="0" anchor="ctr"/>
          <a:lstStyle/>
          <a:p>
            <a:pPr indent="0" marL="0">
              <a:buNone/>
            </a:pPr>
            <a:r>
              <a:rPr lang="en-US" sz="1400" dirty="0">
                <a:solidFill>
                  <a:srgbClr val="4B4F58"/>
                </a:solidFill>
                <a:latin typeface="Calibri" pitchFamily="34" charset="0"/>
                <a:ea typeface="Calibri" pitchFamily="34" charset="-122"/>
                <a:cs typeface="Calibri" pitchFamily="34" charset="-120"/>
              </a:rPr>
              <a:t>Lanza la ruleta (o elige al azar) y responde en voz alta.</a:t>
            </a:r>
            <a:endParaRPr lang="en-US" sz="1400" dirty="0"/>
          </a:p>
        </p:txBody>
      </p:sp>
      <p:sp>
        <p:nvSpPr>
          <p:cNvPr id="6" name="Text 4"/>
          <p:cNvSpPr txBox="1"/>
          <p:nvPr/>
        </p:nvSpPr>
        <p:spPr>
          <a:xfrm>
            <a:off x="548640" y="2103120"/>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1.</a:t>
            </a:r>
            <a:endParaRPr lang="en-US" sz="1200" dirty="0"/>
          </a:p>
        </p:txBody>
      </p:sp>
      <p:sp>
        <p:nvSpPr>
          <p:cNvPr id="7" name="Text 5"/>
          <p:cNvSpPr txBox="1"/>
          <p:nvPr/>
        </p:nvSpPr>
        <p:spPr>
          <a:xfrm>
            <a:off x="914400" y="2103120"/>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¿Qué significa DML?</a:t>
            </a:r>
            <a:endParaRPr lang="en-US" sz="1150" dirty="0"/>
          </a:p>
        </p:txBody>
      </p:sp>
      <p:sp>
        <p:nvSpPr>
          <p:cNvPr id="8" name="Text 6"/>
          <p:cNvSpPr txBox="1"/>
          <p:nvPr/>
        </p:nvSpPr>
        <p:spPr>
          <a:xfrm>
            <a:off x="548640" y="2523744"/>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2.</a:t>
            </a:r>
            <a:endParaRPr lang="en-US" sz="1200" dirty="0"/>
          </a:p>
        </p:txBody>
      </p:sp>
      <p:sp>
        <p:nvSpPr>
          <p:cNvPr id="9" name="Text 7"/>
          <p:cNvSpPr txBox="1"/>
          <p:nvPr/>
        </p:nvSpPr>
        <p:spPr>
          <a:xfrm>
            <a:off x="914400" y="2523744"/>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¿Para qué sirve un gestor de base de datos?</a:t>
            </a:r>
            <a:endParaRPr lang="en-US" sz="1150" dirty="0"/>
          </a:p>
        </p:txBody>
      </p:sp>
      <p:sp>
        <p:nvSpPr>
          <p:cNvPr id="10" name="Text 8"/>
          <p:cNvSpPr txBox="1"/>
          <p:nvPr/>
        </p:nvSpPr>
        <p:spPr>
          <a:xfrm>
            <a:off x="548640" y="2944368"/>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3.</a:t>
            </a:r>
            <a:endParaRPr lang="en-US" sz="1200" dirty="0"/>
          </a:p>
        </p:txBody>
      </p:sp>
      <p:sp>
        <p:nvSpPr>
          <p:cNvPr id="11" name="Text 9"/>
          <p:cNvSpPr txBox="1"/>
          <p:nvPr/>
        </p:nvSpPr>
        <p:spPr>
          <a:xfrm>
            <a:off x="914400" y="2944368"/>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¿En qué consiste la redundancia de datos?</a:t>
            </a:r>
            <a:endParaRPr lang="en-US" sz="1150" dirty="0"/>
          </a:p>
        </p:txBody>
      </p:sp>
      <p:sp>
        <p:nvSpPr>
          <p:cNvPr id="12" name="Text 10"/>
          <p:cNvSpPr txBox="1"/>
          <p:nvPr/>
        </p:nvSpPr>
        <p:spPr>
          <a:xfrm>
            <a:off x="548640" y="3364992"/>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4.</a:t>
            </a:r>
            <a:endParaRPr lang="en-US" sz="1200" dirty="0"/>
          </a:p>
        </p:txBody>
      </p:sp>
      <p:sp>
        <p:nvSpPr>
          <p:cNvPr id="13" name="Text 11"/>
          <p:cNvSpPr txBox="1"/>
          <p:nvPr/>
        </p:nvSpPr>
        <p:spPr>
          <a:xfrm>
            <a:off x="914400" y="3364992"/>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¿Qué ventaja tiene la integridad de las bases de datos?</a:t>
            </a:r>
            <a:endParaRPr lang="en-US" sz="1150" dirty="0"/>
          </a:p>
        </p:txBody>
      </p:sp>
      <p:sp>
        <p:nvSpPr>
          <p:cNvPr id="14" name="Text 12"/>
          <p:cNvSpPr txBox="1"/>
          <p:nvPr/>
        </p:nvSpPr>
        <p:spPr>
          <a:xfrm>
            <a:off x="548640" y="3785616"/>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5.</a:t>
            </a:r>
            <a:endParaRPr lang="en-US" sz="1200" dirty="0"/>
          </a:p>
        </p:txBody>
      </p:sp>
      <p:sp>
        <p:nvSpPr>
          <p:cNvPr id="15" name="Text 13"/>
          <p:cNvSpPr txBox="1"/>
          <p:nvPr/>
        </p:nvSpPr>
        <p:spPr>
          <a:xfrm>
            <a:off x="914400" y="3785616"/>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¿Cómo se llama el nivel que describe toda la estructura de la BBDD?</a:t>
            </a:r>
            <a:endParaRPr lang="en-US" sz="1150" dirty="0"/>
          </a:p>
        </p:txBody>
      </p:sp>
      <p:sp>
        <p:nvSpPr>
          <p:cNvPr id="16" name="Text 14"/>
          <p:cNvSpPr txBox="1"/>
          <p:nvPr/>
        </p:nvSpPr>
        <p:spPr>
          <a:xfrm>
            <a:off x="6095848" y="2103120"/>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6.</a:t>
            </a:r>
            <a:endParaRPr lang="en-US" sz="1200" dirty="0"/>
          </a:p>
        </p:txBody>
      </p:sp>
      <p:sp>
        <p:nvSpPr>
          <p:cNvPr id="17" name="Text 15"/>
          <p:cNvSpPr txBox="1"/>
          <p:nvPr/>
        </p:nvSpPr>
        <p:spPr>
          <a:xfrm>
            <a:off x="6461608" y="2103120"/>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¿Sabrías dar un ejemplo de clave primaria en la vida real?</a:t>
            </a:r>
            <a:endParaRPr lang="en-US" sz="1150" dirty="0"/>
          </a:p>
        </p:txBody>
      </p:sp>
      <p:sp>
        <p:nvSpPr>
          <p:cNvPr id="18" name="Text 16"/>
          <p:cNvSpPr txBox="1"/>
          <p:nvPr/>
        </p:nvSpPr>
        <p:spPr>
          <a:xfrm>
            <a:off x="6095848" y="2523744"/>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7.</a:t>
            </a:r>
            <a:endParaRPr lang="en-US" sz="1200" dirty="0"/>
          </a:p>
        </p:txBody>
      </p:sp>
      <p:sp>
        <p:nvSpPr>
          <p:cNvPr id="19" name="Text 17"/>
          <p:cNvSpPr txBox="1"/>
          <p:nvPr/>
        </p:nvSpPr>
        <p:spPr>
          <a:xfrm>
            <a:off x="6461608" y="2523744"/>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¿Cuál es el objetivo de la base de datos?</a:t>
            </a:r>
            <a:endParaRPr lang="en-US" sz="1150" dirty="0"/>
          </a:p>
        </p:txBody>
      </p:sp>
      <p:sp>
        <p:nvSpPr>
          <p:cNvPr id="20" name="Text 18"/>
          <p:cNvSpPr txBox="1"/>
          <p:nvPr/>
        </p:nvSpPr>
        <p:spPr>
          <a:xfrm>
            <a:off x="6095848" y="2944368"/>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8.</a:t>
            </a:r>
            <a:endParaRPr lang="en-US" sz="1200" dirty="0"/>
          </a:p>
        </p:txBody>
      </p:sp>
      <p:sp>
        <p:nvSpPr>
          <p:cNvPr id="21" name="Text 19"/>
          <p:cNvSpPr txBox="1"/>
          <p:nvPr/>
        </p:nvSpPr>
        <p:spPr>
          <a:xfrm>
            <a:off x="6461608" y="2944368"/>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¿Para qué sirve una base de datos?</a:t>
            </a:r>
            <a:endParaRPr lang="en-US" sz="1150" dirty="0"/>
          </a:p>
        </p:txBody>
      </p:sp>
      <p:sp>
        <p:nvSpPr>
          <p:cNvPr id="22" name="Text 20"/>
          <p:cNvSpPr txBox="1"/>
          <p:nvPr/>
        </p:nvSpPr>
        <p:spPr>
          <a:xfrm>
            <a:off x="6095848" y="3364992"/>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9.</a:t>
            </a:r>
            <a:endParaRPr lang="en-US" sz="1200" dirty="0"/>
          </a:p>
        </p:txBody>
      </p:sp>
      <p:sp>
        <p:nvSpPr>
          <p:cNvPr id="23" name="Text 21"/>
          <p:cNvSpPr txBox="1"/>
          <p:nvPr/>
        </p:nvSpPr>
        <p:spPr>
          <a:xfrm>
            <a:off x="6461608" y="3364992"/>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Menciona algunos tipos de bases de datos</a:t>
            </a:r>
            <a:endParaRPr lang="en-US" sz="1150" dirty="0"/>
          </a:p>
        </p:txBody>
      </p:sp>
      <p:sp>
        <p:nvSpPr>
          <p:cNvPr id="24" name="Text 22"/>
          <p:cNvSpPr txBox="1"/>
          <p:nvPr/>
        </p:nvSpPr>
        <p:spPr>
          <a:xfrm>
            <a:off x="6095848" y="3785616"/>
            <a:ext cx="365760" cy="420624"/>
          </a:xfrm>
          <a:prstGeom prst="rect">
            <a:avLst/>
          </a:prstGeom>
          <a:noFill/>
          <a:ln/>
        </p:spPr>
        <p:txBody>
          <a:bodyPr wrap="square" lIns="0" tIns="0" rIns="0" bIns="0" rtlCol="0" anchor="ctr"/>
          <a:lstStyle/>
          <a:p>
            <a:pPr indent="0" marL="0">
              <a:buNone/>
            </a:pPr>
            <a:r>
              <a:rPr lang="en-US" sz="1200" b="1" dirty="0">
                <a:solidFill>
                  <a:srgbClr val="1B39E6"/>
                </a:solidFill>
                <a:latin typeface="Courier New" pitchFamily="34" charset="0"/>
                <a:ea typeface="Courier New" pitchFamily="34" charset="-122"/>
                <a:cs typeface="Courier New" pitchFamily="34" charset="-120"/>
              </a:rPr>
              <a:t>10.</a:t>
            </a:r>
            <a:endParaRPr lang="en-US" sz="1200" dirty="0"/>
          </a:p>
        </p:txBody>
      </p:sp>
      <p:sp>
        <p:nvSpPr>
          <p:cNvPr id="25" name="Text 23"/>
          <p:cNvSpPr txBox="1"/>
          <p:nvPr/>
        </p:nvSpPr>
        <p:spPr>
          <a:xfrm>
            <a:off x="6461608" y="3785616"/>
            <a:ext cx="5090008" cy="420624"/>
          </a:xfrm>
          <a:prstGeom prst="rect">
            <a:avLst/>
          </a:prstGeom>
          <a:noFill/>
          <a:ln/>
        </p:spPr>
        <p:txBody>
          <a:bodyPr wrap="square" lIns="0" tIns="0" rIns="0" bIns="0" rtlCol="0" anchor="ctr"/>
          <a:lstStyle/>
          <a:p>
            <a:pPr indent="0" marL="0">
              <a:buNone/>
            </a:pPr>
            <a:r>
              <a:rPr lang="en-US" sz="1150" dirty="0">
                <a:solidFill>
                  <a:srgbClr val="15171C"/>
                </a:solidFill>
                <a:latin typeface="Calibri" pitchFamily="34" charset="0"/>
                <a:ea typeface="Calibri" pitchFamily="34" charset="-122"/>
                <a:cs typeface="Calibri" pitchFamily="34" charset="-120"/>
              </a:rPr>
              <a:t>¿Tipos de ficheros según su contenido?</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65760"/>
          </a:xfrm>
          <a:prstGeom prst="rect">
            <a:avLst/>
          </a:prstGeom>
          <a:noFill/>
          <a:ln/>
        </p:spPr>
        <p:txBody>
          <a:bodyPr wrap="square" lIns="0" tIns="0" rIns="0" bIns="0" rtlCol="0" anchor="ctr"/>
          <a:lstStyle/>
          <a:p>
            <a:pPr algn="l" indent="0" marL="0">
              <a:buNone/>
            </a:pPr>
            <a:r>
              <a:rPr lang="en-US" sz="1300" b="1" spc="100" kern="0" dirty="0">
                <a:solidFill>
                  <a:srgbClr val="0D1A7A"/>
                </a:solidFill>
                <a:latin typeface="Calibri" pitchFamily="34" charset="0"/>
                <a:ea typeface="Calibri" pitchFamily="34" charset="-122"/>
                <a:cs typeface="Calibri" pitchFamily="34" charset="-120"/>
              </a:rPr>
              <a:t>EN RESUMEN</a:t>
            </a:r>
            <a:endParaRPr lang="en-US" sz="1300" dirty="0"/>
          </a:p>
        </p:txBody>
      </p:sp>
      <p:sp>
        <p:nvSpPr>
          <p:cNvPr id="3" name="Text 1"/>
          <p:cNvSpPr txBox="1"/>
          <p:nvPr/>
        </p:nvSpPr>
        <p:spPr>
          <a:xfrm>
            <a:off x="548640" y="841248"/>
            <a:ext cx="11094415" cy="914400"/>
          </a:xfrm>
          <a:prstGeom prst="rect">
            <a:avLst/>
          </a:prstGeom>
          <a:noFill/>
          <a:ln/>
        </p:spPr>
        <p:txBody>
          <a:bodyPr wrap="square" lIns="0" tIns="0" rIns="0" bIns="0" rtlCol="0" anchor="t"/>
          <a:lstStyle/>
          <a:p>
            <a:pPr algn="l" indent="0" marL="0">
              <a:buNone/>
            </a:pPr>
            <a:r>
              <a:rPr lang="en-US" sz="3000" b="1" dirty="0">
                <a:solidFill>
                  <a:srgbClr val="15171C"/>
                </a:solidFill>
                <a:latin typeface="Arial" pitchFamily="34" charset="0"/>
                <a:ea typeface="Arial" pitchFamily="34" charset="-122"/>
                <a:cs typeface="Arial" pitchFamily="34" charset="-120"/>
              </a:rPr>
              <a:t>Cinco ideas para llevarse</a:t>
            </a:r>
            <a:endParaRPr lang="en-US" sz="3000" dirty="0"/>
          </a:p>
        </p:txBody>
      </p:sp>
      <p:sp>
        <p:nvSpPr>
          <p:cNvPr id="4" name="Shape 2"/>
          <p:cNvSpPr/>
          <p:nvPr/>
        </p:nvSpPr>
        <p:spPr>
          <a:xfrm>
            <a:off x="548640" y="1645920"/>
            <a:ext cx="365760" cy="365760"/>
          </a:xfrm>
          <a:prstGeom prst="ellipse">
            <a:avLst/>
          </a:prstGeom>
          <a:solidFill>
            <a:srgbClr val="15171C"/>
          </a:solidFill>
          <a:ln/>
        </p:spPr>
      </p:sp>
      <p:sp>
        <p:nvSpPr>
          <p:cNvPr id="5" name="Text 3"/>
          <p:cNvSpPr txBox="1"/>
          <p:nvPr/>
        </p:nvSpPr>
        <p:spPr>
          <a:xfrm>
            <a:off x="54864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51560" y="1600200"/>
            <a:ext cx="10591495" cy="502920"/>
          </a:xfrm>
          <a:prstGeom prst="rect">
            <a:avLst/>
          </a:prstGeom>
          <a:noFill/>
          <a:ln/>
        </p:spPr>
        <p:txBody>
          <a:bodyPr wrap="square" lIns="0" tIns="0" rIns="0" bIns="0" rtlCol="0" anchor="ctr"/>
          <a:lstStyle/>
          <a:p>
            <a:pPr indent="0" marL="0">
              <a:buNone/>
            </a:pPr>
            <a:r>
              <a:rPr lang="en-US" sz="1400" b="1" dirty="0">
                <a:solidFill>
                  <a:srgbClr val="15171C"/>
                </a:solidFill>
                <a:latin typeface="Calibri" pitchFamily="34" charset="0"/>
                <a:ea typeface="Calibri" pitchFamily="34" charset="-122"/>
                <a:cs typeface="Calibri" pitchFamily="34" charset="-120"/>
              </a:rPr>
              <a:t>Un fichero </a:t>
            </a:r>
            <a:pPr indent="0" marL="0">
              <a:buNone/>
            </a:pPr>
            <a:r>
              <a:rPr lang="en-US" sz="1400" dirty="0">
                <a:solidFill>
                  <a:srgbClr val="4B4F58"/>
                </a:solidFill>
                <a:latin typeface="Calibri" pitchFamily="34" charset="0"/>
                <a:ea typeface="Calibri" pitchFamily="34" charset="-122"/>
                <a:cs typeface="Calibri" pitchFamily="34" charset="-120"/>
              </a:rPr>
              <a:t>es una estructura del sistema operativo para guardar información.</a:t>
            </a:r>
            <a:endParaRPr lang="en-US" sz="1400" dirty="0"/>
          </a:p>
        </p:txBody>
      </p:sp>
      <p:sp>
        <p:nvSpPr>
          <p:cNvPr id="7" name="Shape 5"/>
          <p:cNvSpPr/>
          <p:nvPr/>
        </p:nvSpPr>
        <p:spPr>
          <a:xfrm>
            <a:off x="548640" y="2304288"/>
            <a:ext cx="365760" cy="365760"/>
          </a:xfrm>
          <a:prstGeom prst="ellipse">
            <a:avLst/>
          </a:prstGeom>
          <a:solidFill>
            <a:srgbClr val="15171C"/>
          </a:solidFill>
          <a:ln/>
        </p:spPr>
      </p:sp>
      <p:sp>
        <p:nvSpPr>
          <p:cNvPr id="8" name="Text 6"/>
          <p:cNvSpPr txBox="1"/>
          <p:nvPr/>
        </p:nvSpPr>
        <p:spPr>
          <a:xfrm>
            <a:off x="548640" y="23042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51560" y="2258568"/>
            <a:ext cx="10591495" cy="502920"/>
          </a:xfrm>
          <a:prstGeom prst="rect">
            <a:avLst/>
          </a:prstGeom>
          <a:noFill/>
          <a:ln/>
        </p:spPr>
        <p:txBody>
          <a:bodyPr wrap="square" lIns="0" tIns="0" rIns="0" bIns="0" rtlCol="0" anchor="ctr"/>
          <a:lstStyle/>
          <a:p>
            <a:pPr indent="0" marL="0">
              <a:buNone/>
            </a:pPr>
            <a:r>
              <a:rPr lang="en-US" sz="1400" b="1" dirty="0">
                <a:solidFill>
                  <a:srgbClr val="15171C"/>
                </a:solidFill>
                <a:latin typeface="Calibri" pitchFamily="34" charset="0"/>
                <a:ea typeface="Calibri" pitchFamily="34" charset="-122"/>
                <a:cs typeface="Calibri" pitchFamily="34" charset="-120"/>
              </a:rPr>
              <a:t>Una base de datos </a:t>
            </a:r>
            <a:pPr indent="0" marL="0">
              <a:buNone/>
            </a:pPr>
            <a:r>
              <a:rPr lang="en-US" sz="1400" dirty="0">
                <a:solidFill>
                  <a:srgbClr val="4B4F58"/>
                </a:solidFill>
                <a:latin typeface="Calibri" pitchFamily="34" charset="0"/>
                <a:ea typeface="Calibri" pitchFamily="34" charset="-122"/>
                <a:cs typeface="Calibri" pitchFamily="34" charset="-120"/>
              </a:rPr>
              <a:t>se organiza en tablas con registros y campos relacionados.</a:t>
            </a:r>
            <a:endParaRPr lang="en-US" sz="1400" dirty="0"/>
          </a:p>
        </p:txBody>
      </p:sp>
      <p:sp>
        <p:nvSpPr>
          <p:cNvPr id="10" name="Shape 8"/>
          <p:cNvSpPr/>
          <p:nvPr/>
        </p:nvSpPr>
        <p:spPr>
          <a:xfrm>
            <a:off x="548640" y="2962656"/>
            <a:ext cx="365760" cy="365760"/>
          </a:xfrm>
          <a:prstGeom prst="ellipse">
            <a:avLst/>
          </a:prstGeom>
          <a:solidFill>
            <a:srgbClr val="15171C"/>
          </a:solidFill>
          <a:ln/>
        </p:spPr>
      </p:sp>
      <p:sp>
        <p:nvSpPr>
          <p:cNvPr id="11" name="Text 9"/>
          <p:cNvSpPr txBox="1"/>
          <p:nvPr/>
        </p:nvSpPr>
        <p:spPr>
          <a:xfrm>
            <a:off x="548640" y="2962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051560" y="2916936"/>
            <a:ext cx="10591495" cy="502920"/>
          </a:xfrm>
          <a:prstGeom prst="rect">
            <a:avLst/>
          </a:prstGeom>
          <a:noFill/>
          <a:ln/>
        </p:spPr>
        <p:txBody>
          <a:bodyPr wrap="square" lIns="0" tIns="0" rIns="0" bIns="0" rtlCol="0" anchor="ctr"/>
          <a:lstStyle/>
          <a:p>
            <a:pPr indent="0" marL="0">
              <a:buNone/>
            </a:pPr>
            <a:r>
              <a:rPr lang="en-US" sz="1400" b="1" dirty="0">
                <a:solidFill>
                  <a:srgbClr val="15171C"/>
                </a:solidFill>
                <a:latin typeface="Calibri" pitchFamily="34" charset="0"/>
                <a:ea typeface="Calibri" pitchFamily="34" charset="-122"/>
                <a:cs typeface="Calibri" pitchFamily="34" charset="-120"/>
              </a:rPr>
              <a:t>Los modelos de datos </a:t>
            </a:r>
            <a:pPr indent="0" marL="0">
              <a:buNone/>
            </a:pPr>
            <a:r>
              <a:rPr lang="en-US" sz="1400" dirty="0">
                <a:solidFill>
                  <a:srgbClr val="4B4F58"/>
                </a:solidFill>
                <a:latin typeface="Calibri" pitchFamily="34" charset="0"/>
                <a:ea typeface="Calibri" pitchFamily="34" charset="-122"/>
                <a:cs typeface="Calibri" pitchFamily="34" charset="-120"/>
              </a:rPr>
              <a:t>han evolucionado del jerárquico al relacional y al NoSQL.</a:t>
            </a:r>
            <a:endParaRPr lang="en-US" sz="1400" dirty="0"/>
          </a:p>
        </p:txBody>
      </p:sp>
      <p:sp>
        <p:nvSpPr>
          <p:cNvPr id="13" name="Shape 11"/>
          <p:cNvSpPr/>
          <p:nvPr/>
        </p:nvSpPr>
        <p:spPr>
          <a:xfrm>
            <a:off x="548640" y="3621024"/>
            <a:ext cx="365760" cy="365760"/>
          </a:xfrm>
          <a:prstGeom prst="ellipse">
            <a:avLst/>
          </a:prstGeom>
          <a:solidFill>
            <a:srgbClr val="15171C"/>
          </a:solidFill>
          <a:ln/>
        </p:spPr>
      </p:sp>
      <p:sp>
        <p:nvSpPr>
          <p:cNvPr id="14" name="Text 12"/>
          <p:cNvSpPr txBox="1"/>
          <p:nvPr/>
        </p:nvSpPr>
        <p:spPr>
          <a:xfrm>
            <a:off x="548640" y="3621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051560" y="3575304"/>
            <a:ext cx="10591495" cy="502920"/>
          </a:xfrm>
          <a:prstGeom prst="rect">
            <a:avLst/>
          </a:prstGeom>
          <a:noFill/>
          <a:ln/>
        </p:spPr>
        <p:txBody>
          <a:bodyPr wrap="square" lIns="0" tIns="0" rIns="0" bIns="0" rtlCol="0" anchor="ctr"/>
          <a:lstStyle/>
          <a:p>
            <a:pPr indent="0" marL="0">
              <a:buNone/>
            </a:pPr>
            <a:r>
              <a:rPr lang="en-US" sz="1400" b="1" dirty="0">
                <a:solidFill>
                  <a:srgbClr val="15171C"/>
                </a:solidFill>
                <a:latin typeface="Calibri" pitchFamily="34" charset="0"/>
                <a:ea typeface="Calibri" pitchFamily="34" charset="-122"/>
                <a:cs typeface="Calibri" pitchFamily="34" charset="-120"/>
              </a:rPr>
              <a:t>Un SGBD </a:t>
            </a:r>
            <a:pPr indent="0" marL="0">
              <a:buNone/>
            </a:pPr>
            <a:r>
              <a:rPr lang="en-US" sz="1400" dirty="0">
                <a:solidFill>
                  <a:srgbClr val="4B4F58"/>
                </a:solidFill>
                <a:latin typeface="Calibri" pitchFamily="34" charset="0"/>
                <a:ea typeface="Calibri" pitchFamily="34" charset="-122"/>
                <a:cs typeface="Calibri" pitchFamily="34" charset="-120"/>
              </a:rPr>
              <a:t>garantiza integridad, seguridad, concurrencia y recuperación.</a:t>
            </a:r>
            <a:endParaRPr lang="en-US" sz="1400" dirty="0"/>
          </a:p>
        </p:txBody>
      </p:sp>
      <p:sp>
        <p:nvSpPr>
          <p:cNvPr id="16" name="Shape 14"/>
          <p:cNvSpPr/>
          <p:nvPr/>
        </p:nvSpPr>
        <p:spPr>
          <a:xfrm>
            <a:off x="548640" y="4279392"/>
            <a:ext cx="365760" cy="365760"/>
          </a:xfrm>
          <a:prstGeom prst="ellipse">
            <a:avLst/>
          </a:prstGeom>
          <a:solidFill>
            <a:srgbClr val="15171C"/>
          </a:solidFill>
          <a:ln/>
        </p:spPr>
      </p:sp>
      <p:sp>
        <p:nvSpPr>
          <p:cNvPr id="17" name="Text 15"/>
          <p:cNvSpPr txBox="1"/>
          <p:nvPr/>
        </p:nvSpPr>
        <p:spPr>
          <a:xfrm>
            <a:off x="548640" y="4279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051560" y="4233672"/>
            <a:ext cx="10591495" cy="502920"/>
          </a:xfrm>
          <a:prstGeom prst="rect">
            <a:avLst/>
          </a:prstGeom>
          <a:noFill/>
          <a:ln/>
        </p:spPr>
        <p:txBody>
          <a:bodyPr wrap="square" lIns="0" tIns="0" rIns="0" bIns="0" rtlCol="0" anchor="ctr"/>
          <a:lstStyle/>
          <a:p>
            <a:pPr indent="0" marL="0">
              <a:buNone/>
            </a:pPr>
            <a:r>
              <a:rPr lang="en-US" sz="1400" b="1" dirty="0">
                <a:solidFill>
                  <a:srgbClr val="15171C"/>
                </a:solidFill>
                <a:latin typeface="Calibri" pitchFamily="34" charset="0"/>
                <a:ea typeface="Calibri" pitchFamily="34" charset="-122"/>
                <a:cs typeface="Calibri" pitchFamily="34" charset="-120"/>
              </a:rPr>
              <a:t>SQL </a:t>
            </a:r>
            <a:pPr indent="0" marL="0">
              <a:buNone/>
            </a:pPr>
            <a:r>
              <a:rPr lang="en-US" sz="1400" dirty="0">
                <a:solidFill>
                  <a:srgbClr val="4B4F58"/>
                </a:solidFill>
                <a:latin typeface="Calibri" pitchFamily="34" charset="0"/>
                <a:ea typeface="Calibri" pitchFamily="34" charset="-122"/>
                <a:cs typeface="Calibri" pitchFamily="34" charset="-120"/>
              </a:rPr>
              <a:t>se divide en DML, DDL, DCL y TCL.</a:t>
            </a:r>
            <a:endParaRPr lang="en-US" sz="1400" dirty="0"/>
          </a:p>
        </p:txBody>
      </p:sp>
      <p:sp>
        <p:nvSpPr>
          <p:cNvPr id="19" name="Text 17"/>
          <p:cNvSpPr txBox="1"/>
          <p:nvPr/>
        </p:nvSpPr>
        <p:spPr>
          <a:xfrm>
            <a:off x="548640" y="5212080"/>
            <a:ext cx="11094415" cy="731520"/>
          </a:xfrm>
          <a:prstGeom prst="rect">
            <a:avLst/>
          </a:prstGeom>
          <a:noFill/>
          <a:ln/>
        </p:spPr>
        <p:txBody>
          <a:bodyPr wrap="square" lIns="0" tIns="0" rIns="0" bIns="0" rtlCol="0" anchor="t"/>
          <a:lstStyle/>
          <a:p>
            <a:pPr indent="0" marL="0">
              <a:buNone/>
            </a:pPr>
            <a:r>
              <a:rPr lang="en-US" sz="1000" i="1" dirty="0">
                <a:solidFill>
                  <a:srgbClr val="767C8A"/>
                </a:solidFill>
                <a:latin typeface="Calibri" pitchFamily="34" charset="0"/>
                <a:ea typeface="Calibri" pitchFamily="34" charset="-122"/>
                <a:cs typeface="Calibri" pitchFamily="34" charset="-120"/>
              </a:rPr>
              <a:t>Resumen elaborado a partir de UT1 · Sistemas de almacenamiento de la información — Base de datos, 1º DAM — Marina Preciados Agapito, con materiales de Aitor Medrano (CC BY-NC-SA 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2026-09-14T06:51:12Z</dcterms:created>
  <dcterms:modified xsi:type="dcterms:W3CDTF">2026-09-14T06:51:12Z</dcterms:modified>
</cp:coreProperties>
</file>